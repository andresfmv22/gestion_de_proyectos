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slides/slide6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5.xml" ContentType="application/vnd.openxmlformats-officedocument.presentationml.slide+xml"/>
  <Override PartName="/ppt/slides/slide29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5" r:id="rId34"/>
    <p:sldId id="296" r:id="rId35"/>
    <p:sldId id="297" r:id="rId36"/>
    <p:sldId id="298" r:id="rId37"/>
  </p:sldIdLst>
  <p:sldSz cx="9144000" cy="5143500" type="screen16x9"/>
  <p:notesSz cx="9144000" cy="51435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A16C5-AD25-4574-AF4F-7F2DC1A4317F}" type="datetimeFigureOut">
              <a:rPr lang="es-419" smtClean="0"/>
              <a:t>2/2/2023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DF8A5-BD57-41E5-9CBF-AE58226F3B7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16630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1DF8A5-BD57-41E5-9CBF-AE58226F3B79}" type="slidenum">
              <a:rPr lang="es-419" smtClean="0"/>
              <a:t>7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1796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4646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4646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8340" y="1308354"/>
            <a:ext cx="3708400" cy="3067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4646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129411"/>
            <a:ext cx="533400" cy="171450"/>
          </a:xfrm>
          <a:custGeom>
            <a:avLst/>
            <a:gdLst/>
            <a:ahLst/>
            <a:cxnLst/>
            <a:rect l="l" t="t" r="r" b="b"/>
            <a:pathLst>
              <a:path w="533400" h="171450">
                <a:moveTo>
                  <a:pt x="0" y="171450"/>
                </a:moveTo>
                <a:lnTo>
                  <a:pt x="533400" y="171450"/>
                </a:lnTo>
                <a:lnTo>
                  <a:pt x="533400" y="0"/>
                </a:ln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0550" y="1129411"/>
            <a:ext cx="8553450" cy="171450"/>
          </a:xfrm>
          <a:custGeom>
            <a:avLst/>
            <a:gdLst/>
            <a:ahLst/>
            <a:cxnLst/>
            <a:rect l="l" t="t" r="r" b="b"/>
            <a:pathLst>
              <a:path w="8553450" h="171450">
                <a:moveTo>
                  <a:pt x="0" y="171450"/>
                </a:moveTo>
                <a:lnTo>
                  <a:pt x="8553450" y="171450"/>
                </a:lnTo>
                <a:lnTo>
                  <a:pt x="8553450" y="0"/>
                </a:ln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42692" y="336626"/>
            <a:ext cx="365861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>
                <a:solidFill>
                  <a:srgbClr val="4646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0168" y="1451610"/>
            <a:ext cx="6010275" cy="2546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py5W9MsRjEY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hyperlink" Target="http://www.youtube.com/watch?v=fnD_ltsUIrE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mi.org/" TargetMode="Externa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g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7" Type="http://schemas.openxmlformats.org/officeDocument/2006/relationships/image" Target="../media/image59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g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26" Type="http://schemas.openxmlformats.org/officeDocument/2006/relationships/image" Target="../media/image84.png"/><Relationship Id="rId3" Type="http://schemas.openxmlformats.org/officeDocument/2006/relationships/image" Target="../media/image61.pn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2" Type="http://schemas.openxmlformats.org/officeDocument/2006/relationships/image" Target="../media/image60.png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82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Relationship Id="rId27" Type="http://schemas.openxmlformats.org/officeDocument/2006/relationships/image" Target="../media/image8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4478655"/>
          </a:xfrm>
          <a:custGeom>
            <a:avLst/>
            <a:gdLst/>
            <a:ahLst/>
            <a:cxnLst/>
            <a:rect l="l" t="t" r="r" b="b"/>
            <a:pathLst>
              <a:path w="9144000" h="4478655">
                <a:moveTo>
                  <a:pt x="0" y="4478274"/>
                </a:moveTo>
                <a:lnTo>
                  <a:pt x="9144000" y="4478274"/>
                </a:lnTo>
                <a:lnTo>
                  <a:pt x="9144000" y="0"/>
                </a:lnTo>
                <a:lnTo>
                  <a:pt x="0" y="0"/>
                </a:lnTo>
                <a:lnTo>
                  <a:pt x="0" y="4478274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478273"/>
            <a:ext cx="9144000" cy="665480"/>
          </a:xfrm>
          <a:custGeom>
            <a:avLst/>
            <a:gdLst/>
            <a:ahLst/>
            <a:cxnLst/>
            <a:rect l="l" t="t" r="r" b="b"/>
            <a:pathLst>
              <a:path w="9144000" h="665479">
                <a:moveTo>
                  <a:pt x="0" y="665226"/>
                </a:moveTo>
                <a:lnTo>
                  <a:pt x="9144000" y="665226"/>
                </a:lnTo>
                <a:lnTo>
                  <a:pt x="9144000" y="0"/>
                </a:lnTo>
                <a:lnTo>
                  <a:pt x="0" y="0"/>
                </a:lnTo>
                <a:lnTo>
                  <a:pt x="0" y="6652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39996"/>
            <a:ext cx="2240280" cy="535305"/>
          </a:xfrm>
          <a:custGeom>
            <a:avLst/>
            <a:gdLst/>
            <a:ahLst/>
            <a:cxnLst/>
            <a:rect l="l" t="t" r="r" b="b"/>
            <a:pathLst>
              <a:path w="2240280" h="535304">
                <a:moveTo>
                  <a:pt x="0" y="534923"/>
                </a:moveTo>
                <a:lnTo>
                  <a:pt x="2240280" y="534923"/>
                </a:lnTo>
                <a:lnTo>
                  <a:pt x="2240280" y="0"/>
                </a:lnTo>
                <a:lnTo>
                  <a:pt x="0" y="0"/>
                </a:lnTo>
                <a:lnTo>
                  <a:pt x="0" y="534923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9151" y="4533138"/>
            <a:ext cx="6784975" cy="535305"/>
          </a:xfrm>
          <a:custGeom>
            <a:avLst/>
            <a:gdLst/>
            <a:ahLst/>
            <a:cxnLst/>
            <a:rect l="l" t="t" r="r" b="b"/>
            <a:pathLst>
              <a:path w="6784975" h="535304">
                <a:moveTo>
                  <a:pt x="0" y="534924"/>
                </a:moveTo>
                <a:lnTo>
                  <a:pt x="6784848" y="534924"/>
                </a:lnTo>
                <a:lnTo>
                  <a:pt x="6784848" y="0"/>
                </a:lnTo>
                <a:lnTo>
                  <a:pt x="0" y="0"/>
                </a:lnTo>
                <a:lnTo>
                  <a:pt x="0" y="534924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36394" y="2162683"/>
            <a:ext cx="527304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0" i="0" spc="-465" dirty="0">
                <a:solidFill>
                  <a:srgbClr val="DEF5F9"/>
                </a:solidFill>
                <a:latin typeface="Arial"/>
                <a:cs typeface="Arial"/>
              </a:rPr>
              <a:t>GERENCIA </a:t>
            </a:r>
            <a:r>
              <a:rPr sz="3800" b="0" i="0" spc="-660" dirty="0">
                <a:solidFill>
                  <a:srgbClr val="DEF5F9"/>
                </a:solidFill>
                <a:latin typeface="Arial"/>
                <a:cs typeface="Arial"/>
              </a:rPr>
              <a:t>DE</a:t>
            </a:r>
            <a:r>
              <a:rPr sz="3800" b="0" i="0" spc="-605" dirty="0">
                <a:solidFill>
                  <a:srgbClr val="DEF5F9"/>
                </a:solidFill>
                <a:latin typeface="Arial"/>
                <a:cs typeface="Arial"/>
              </a:rPr>
              <a:t> </a:t>
            </a:r>
            <a:r>
              <a:rPr sz="3800" b="0" i="0" spc="-530" dirty="0">
                <a:solidFill>
                  <a:srgbClr val="DEF5F9"/>
                </a:solidFill>
                <a:latin typeface="Arial"/>
                <a:cs typeface="Arial"/>
              </a:rPr>
              <a:t>PROYECTOS</a:t>
            </a:r>
            <a:endParaRPr sz="3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41194" y="4579111"/>
            <a:ext cx="6099175" cy="3816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405"/>
              </a:spcBef>
            </a:pPr>
            <a:r>
              <a:rPr sz="1300" spc="-60" dirty="0">
                <a:solidFill>
                  <a:srgbClr val="FFFFFF"/>
                </a:solidFill>
                <a:latin typeface="Arial"/>
                <a:cs typeface="Arial"/>
              </a:rPr>
              <a:t>disciplina </a:t>
            </a:r>
            <a:r>
              <a:rPr sz="1300" spc="-80" dirty="0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sz="1300" spc="-150" dirty="0">
                <a:solidFill>
                  <a:srgbClr val="FFFFFF"/>
                </a:solidFill>
                <a:latin typeface="Arial"/>
                <a:cs typeface="Arial"/>
              </a:rPr>
              <a:t>nos 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permite </a:t>
            </a:r>
            <a:r>
              <a:rPr sz="1300" spc="-85" dirty="0">
                <a:solidFill>
                  <a:srgbClr val="FFFFFF"/>
                </a:solidFill>
                <a:latin typeface="Arial"/>
                <a:cs typeface="Arial"/>
              </a:rPr>
              <a:t>estructurar, 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planear, 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organizar </a:t>
            </a:r>
            <a:r>
              <a:rPr sz="1300" spc="-5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coordinar </a:t>
            </a:r>
            <a:r>
              <a:rPr sz="1300" spc="-120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forma 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ordenada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la  </a:t>
            </a:r>
            <a:r>
              <a:rPr sz="1300" spc="-95" dirty="0">
                <a:solidFill>
                  <a:srgbClr val="FFFFFF"/>
                </a:solidFill>
                <a:latin typeface="Arial"/>
                <a:cs typeface="Arial"/>
              </a:rPr>
              <a:t>ejecución 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300" spc="-80" dirty="0">
                <a:solidFill>
                  <a:srgbClr val="FFFFFF"/>
                </a:solidFill>
                <a:latin typeface="Arial"/>
                <a:cs typeface="Arial"/>
              </a:rPr>
              <a:t>proyectos 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diferente </a:t>
            </a:r>
            <a:r>
              <a:rPr sz="1300" spc="-70" dirty="0">
                <a:solidFill>
                  <a:srgbClr val="FFFFFF"/>
                </a:solidFill>
                <a:latin typeface="Arial"/>
                <a:cs typeface="Arial"/>
              </a:rPr>
              <a:t>índole alineándolos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a la 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estrategia</a:t>
            </a:r>
            <a:r>
              <a:rPr sz="13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Arial"/>
                <a:cs typeface="Arial"/>
              </a:rPr>
              <a:t>organizacional.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35737"/>
            <a:ext cx="220345" cy="440690"/>
          </a:xfrm>
          <a:custGeom>
            <a:avLst/>
            <a:gdLst/>
            <a:ahLst/>
            <a:cxnLst/>
            <a:rect l="l" t="t" r="r" b="b"/>
            <a:pathLst>
              <a:path w="220345" h="440690">
                <a:moveTo>
                  <a:pt x="220268" y="0"/>
                </a:moveTo>
                <a:lnTo>
                  <a:pt x="175876" y="4477"/>
                </a:lnTo>
                <a:lnTo>
                  <a:pt x="134529" y="17319"/>
                </a:lnTo>
                <a:lnTo>
                  <a:pt x="97113" y="37638"/>
                </a:lnTo>
                <a:lnTo>
                  <a:pt x="64514" y="64547"/>
                </a:lnTo>
                <a:lnTo>
                  <a:pt x="37617" y="97159"/>
                </a:lnTo>
                <a:lnTo>
                  <a:pt x="17309" y="134588"/>
                </a:lnTo>
                <a:lnTo>
                  <a:pt x="4474" y="175945"/>
                </a:lnTo>
                <a:lnTo>
                  <a:pt x="0" y="220345"/>
                </a:lnTo>
                <a:lnTo>
                  <a:pt x="4474" y="264702"/>
                </a:lnTo>
                <a:lnTo>
                  <a:pt x="17309" y="306028"/>
                </a:lnTo>
                <a:lnTo>
                  <a:pt x="37617" y="343434"/>
                </a:lnTo>
                <a:lnTo>
                  <a:pt x="64514" y="376031"/>
                </a:lnTo>
                <a:lnTo>
                  <a:pt x="97113" y="402931"/>
                </a:lnTo>
                <a:lnTo>
                  <a:pt x="134529" y="423245"/>
                </a:lnTo>
                <a:lnTo>
                  <a:pt x="175876" y="436085"/>
                </a:lnTo>
                <a:lnTo>
                  <a:pt x="220268" y="440563"/>
                </a:lnTo>
                <a:lnTo>
                  <a:pt x="220268" y="0"/>
                </a:lnTo>
                <a:close/>
              </a:path>
            </a:pathLst>
          </a:custGeom>
          <a:solidFill>
            <a:srgbClr val="3962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7468" y="435775"/>
            <a:ext cx="8009890" cy="440690"/>
          </a:xfrm>
          <a:prstGeom prst="rect">
            <a:avLst/>
          </a:prstGeom>
          <a:ln w="19050">
            <a:solidFill>
              <a:srgbClr val="39629D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2100" i="0" spc="-210" dirty="0">
                <a:solidFill>
                  <a:srgbClr val="000000"/>
                </a:solidFill>
                <a:latin typeface="Arial"/>
                <a:cs typeface="Arial"/>
              </a:rPr>
              <a:t>Conceptos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079" y="1438655"/>
            <a:ext cx="2836164" cy="516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3652" y="1757172"/>
            <a:ext cx="2828544" cy="26090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0791" y="1796795"/>
            <a:ext cx="2660904" cy="2154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2886" y="1766370"/>
            <a:ext cx="2749550" cy="2530475"/>
          </a:xfrm>
          <a:prstGeom prst="rect">
            <a:avLst/>
          </a:prstGeom>
          <a:solidFill>
            <a:srgbClr val="CDDFE8">
              <a:alpha val="90194"/>
            </a:srgbClr>
          </a:solidFill>
        </p:spPr>
        <p:txBody>
          <a:bodyPr vert="horz" wrap="square" lIns="0" tIns="67945" rIns="0" bIns="0" rtlCol="0">
            <a:spAutoFit/>
          </a:bodyPr>
          <a:lstStyle/>
          <a:p>
            <a:pPr marL="273050" indent="-172085">
              <a:lnSpc>
                <a:spcPct val="100000"/>
              </a:lnSpc>
              <a:spcBef>
                <a:spcPts val="535"/>
              </a:spcBef>
              <a:buChar char="•"/>
              <a:tabLst>
                <a:tab pos="273685" algn="l"/>
              </a:tabLst>
            </a:pPr>
            <a:r>
              <a:rPr sz="1800" spc="-55" dirty="0">
                <a:latin typeface="Arial"/>
                <a:cs typeface="Arial"/>
              </a:rPr>
              <a:t>Actividad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Planeada</a:t>
            </a:r>
            <a:endParaRPr sz="1800">
              <a:latin typeface="Arial"/>
              <a:cs typeface="Arial"/>
            </a:endParaRPr>
          </a:p>
          <a:p>
            <a:pPr marL="273050" indent="-172085">
              <a:lnSpc>
                <a:spcPts val="2060"/>
              </a:lnSpc>
              <a:spcBef>
                <a:spcPts val="95"/>
              </a:spcBef>
              <a:buChar char="•"/>
              <a:tabLst>
                <a:tab pos="273685" algn="l"/>
              </a:tabLst>
            </a:pPr>
            <a:r>
              <a:rPr sz="1800" spc="-100" dirty="0">
                <a:latin typeface="Arial"/>
                <a:cs typeface="Arial"/>
              </a:rPr>
              <a:t>No </a:t>
            </a:r>
            <a:r>
              <a:rPr sz="1800" spc="-204" dirty="0">
                <a:latin typeface="Arial"/>
                <a:cs typeface="Arial"/>
              </a:rPr>
              <a:t>es </a:t>
            </a:r>
            <a:r>
              <a:rPr sz="1800" spc="-215" dirty="0">
                <a:latin typeface="Arial"/>
                <a:cs typeface="Arial"/>
              </a:rPr>
              <a:t>un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trabajo</a:t>
            </a:r>
            <a:endParaRPr sz="1800">
              <a:latin typeface="Arial"/>
              <a:cs typeface="Arial"/>
            </a:endParaRPr>
          </a:p>
          <a:p>
            <a:pPr marL="273050">
              <a:lnSpc>
                <a:spcPts val="2060"/>
              </a:lnSpc>
            </a:pPr>
            <a:r>
              <a:rPr sz="1800" spc="-60" dirty="0">
                <a:latin typeface="Arial"/>
                <a:cs typeface="Arial"/>
              </a:rPr>
              <a:t>rutinario</a:t>
            </a:r>
            <a:endParaRPr sz="1800">
              <a:latin typeface="Arial"/>
              <a:cs typeface="Arial"/>
            </a:endParaRPr>
          </a:p>
          <a:p>
            <a:pPr marL="273050" indent="-172085">
              <a:lnSpc>
                <a:spcPct val="100000"/>
              </a:lnSpc>
              <a:spcBef>
                <a:spcPts val="100"/>
              </a:spcBef>
              <a:buChar char="•"/>
              <a:tabLst>
                <a:tab pos="273685" algn="l"/>
              </a:tabLst>
            </a:pPr>
            <a:r>
              <a:rPr sz="1800" spc="-110" dirty="0">
                <a:latin typeface="Arial"/>
                <a:cs typeface="Arial"/>
              </a:rPr>
              <a:t>Inicio </a:t>
            </a:r>
            <a:r>
              <a:rPr sz="1800" dirty="0">
                <a:latin typeface="Arial"/>
                <a:cs typeface="Arial"/>
              </a:rPr>
              <a:t>y </a:t>
            </a:r>
            <a:r>
              <a:rPr sz="1800" spc="-180" dirty="0">
                <a:latin typeface="Arial"/>
                <a:cs typeface="Arial"/>
              </a:rPr>
              <a:t>Fin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Definidos</a:t>
            </a:r>
            <a:endParaRPr sz="1800">
              <a:latin typeface="Arial"/>
              <a:cs typeface="Arial"/>
            </a:endParaRPr>
          </a:p>
          <a:p>
            <a:pPr marL="273050" indent="-172085">
              <a:lnSpc>
                <a:spcPts val="2060"/>
              </a:lnSpc>
              <a:spcBef>
                <a:spcPts val="95"/>
              </a:spcBef>
              <a:buChar char="•"/>
              <a:tabLst>
                <a:tab pos="273685" algn="l"/>
              </a:tabLst>
            </a:pPr>
            <a:r>
              <a:rPr sz="1800" spc="-80" dirty="0">
                <a:latin typeface="Arial"/>
                <a:cs typeface="Arial"/>
              </a:rPr>
              <a:t>Objetivos </a:t>
            </a:r>
            <a:r>
              <a:rPr sz="1800" spc="-145" dirty="0">
                <a:latin typeface="Arial"/>
                <a:cs typeface="Arial"/>
              </a:rPr>
              <a:t>Especificos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273050">
              <a:lnSpc>
                <a:spcPts val="2060"/>
              </a:lnSpc>
            </a:pPr>
            <a:r>
              <a:rPr sz="1800" spc="-125" dirty="0">
                <a:latin typeface="Arial"/>
                <a:cs typeface="Arial"/>
              </a:rPr>
              <a:t>Producto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Unico</a:t>
            </a:r>
            <a:endParaRPr sz="1800">
              <a:latin typeface="Arial"/>
              <a:cs typeface="Arial"/>
            </a:endParaRPr>
          </a:p>
          <a:p>
            <a:pPr marL="273050" indent="-172085">
              <a:lnSpc>
                <a:spcPct val="100000"/>
              </a:lnSpc>
              <a:spcBef>
                <a:spcPts val="95"/>
              </a:spcBef>
              <a:buChar char="•"/>
              <a:tabLst>
                <a:tab pos="273685" algn="l"/>
              </a:tabLst>
            </a:pPr>
            <a:r>
              <a:rPr sz="1800" spc="-100" dirty="0">
                <a:latin typeface="Arial"/>
                <a:cs typeface="Arial"/>
              </a:rPr>
              <a:t>Elaboracion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Progresiva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81755" y="1371600"/>
            <a:ext cx="2836164" cy="5166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1088" y="1697735"/>
            <a:ext cx="2828543" cy="27355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49752" y="1714500"/>
            <a:ext cx="2767583" cy="14828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11427" y="1707937"/>
            <a:ext cx="2749550" cy="2671885"/>
          </a:xfrm>
          <a:prstGeom prst="rect">
            <a:avLst/>
          </a:prstGeom>
          <a:solidFill>
            <a:srgbClr val="CDDFE8">
              <a:alpha val="90194"/>
            </a:srgbClr>
          </a:solidFill>
        </p:spPr>
        <p:txBody>
          <a:bodyPr vert="horz" wrap="square" lIns="0" tIns="93345" rIns="0" bIns="0" rtlCol="0">
            <a:spAutoFit/>
          </a:bodyPr>
          <a:lstStyle/>
          <a:p>
            <a:pPr marL="273685" marR="262255" indent="-172085">
              <a:lnSpc>
                <a:spcPts val="1760"/>
              </a:lnSpc>
              <a:spcBef>
                <a:spcPts val="735"/>
              </a:spcBef>
              <a:buChar char="•"/>
              <a:tabLst>
                <a:tab pos="274320" algn="l"/>
              </a:tabLst>
            </a:pPr>
            <a:r>
              <a:rPr sz="1800" spc="-210" dirty="0">
                <a:latin typeface="Arial"/>
                <a:cs typeface="Arial"/>
              </a:rPr>
              <a:t>El </a:t>
            </a:r>
            <a:r>
              <a:rPr sz="1800" spc="-125" dirty="0">
                <a:latin typeface="Arial"/>
                <a:cs typeface="Arial"/>
              </a:rPr>
              <a:t>Producto </a:t>
            </a:r>
            <a:r>
              <a:rPr sz="1800" spc="-40" dirty="0">
                <a:latin typeface="Arial"/>
                <a:cs typeface="Arial"/>
              </a:rPr>
              <a:t>del </a:t>
            </a:r>
            <a:r>
              <a:rPr sz="1800" spc="-120" dirty="0">
                <a:latin typeface="Arial"/>
                <a:cs typeface="Arial"/>
              </a:rPr>
              <a:t>Proyecto  </a:t>
            </a:r>
            <a:r>
              <a:rPr sz="1800" spc="-204" dirty="0">
                <a:latin typeface="Arial"/>
                <a:cs typeface="Arial"/>
              </a:rPr>
              <a:t>es </a:t>
            </a:r>
            <a:r>
              <a:rPr sz="1800" spc="-80" dirty="0">
                <a:latin typeface="Arial"/>
                <a:cs typeface="Arial"/>
              </a:rPr>
              <a:t>visible </a:t>
            </a:r>
            <a:r>
              <a:rPr sz="1800" spc="395" dirty="0">
                <a:latin typeface="Arial"/>
                <a:cs typeface="Arial"/>
              </a:rPr>
              <a:t>/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Medible/</a:t>
            </a:r>
            <a:endParaRPr sz="1800" dirty="0">
              <a:latin typeface="Arial"/>
              <a:cs typeface="Arial"/>
            </a:endParaRPr>
          </a:p>
          <a:p>
            <a:pPr marL="273685" marR="304165" indent="-172085">
              <a:lnSpc>
                <a:spcPts val="1760"/>
              </a:lnSpc>
              <a:spcBef>
                <a:spcPts val="295"/>
              </a:spcBef>
              <a:buChar char="•"/>
              <a:tabLst>
                <a:tab pos="274320" algn="l"/>
              </a:tabLst>
            </a:pPr>
            <a:r>
              <a:rPr sz="1800" spc="-204" dirty="0">
                <a:latin typeface="Arial"/>
                <a:cs typeface="Arial"/>
              </a:rPr>
              <a:t>Se </a:t>
            </a:r>
            <a:r>
              <a:rPr sz="1800" spc="-85" dirty="0">
                <a:latin typeface="Arial"/>
                <a:cs typeface="Arial"/>
              </a:rPr>
              <a:t>requieren </a:t>
            </a:r>
            <a:r>
              <a:rPr sz="1800" spc="-155" dirty="0">
                <a:latin typeface="Arial"/>
                <a:cs typeface="Arial"/>
              </a:rPr>
              <a:t>recursos </a:t>
            </a:r>
            <a:r>
              <a:rPr sz="1800" dirty="0">
                <a:latin typeface="Arial"/>
                <a:cs typeface="Arial"/>
              </a:rPr>
              <a:t>&amp;  </a:t>
            </a:r>
            <a:r>
              <a:rPr sz="1800" spc="-85" dirty="0">
                <a:latin typeface="Arial"/>
                <a:cs typeface="Arial"/>
              </a:rPr>
              <a:t>materiales</a:t>
            </a:r>
            <a:endParaRPr sz="1800" dirty="0">
              <a:latin typeface="Arial"/>
              <a:cs typeface="Arial"/>
            </a:endParaRPr>
          </a:p>
          <a:p>
            <a:pPr marL="273685" indent="-172085">
              <a:lnSpc>
                <a:spcPts val="2080"/>
              </a:lnSpc>
              <a:buChar char="•"/>
              <a:tabLst>
                <a:tab pos="274320" algn="l"/>
              </a:tabLst>
            </a:pPr>
            <a:r>
              <a:rPr sz="1800" spc="-360" dirty="0">
                <a:latin typeface="Arial"/>
                <a:cs typeface="Arial"/>
              </a:rPr>
              <a:t>Es </a:t>
            </a:r>
            <a:r>
              <a:rPr lang="es-ES" sz="1800" spc="-360" dirty="0">
                <a:latin typeface="Arial"/>
                <a:cs typeface="Arial"/>
              </a:rPr>
              <a:t>  </a:t>
            </a:r>
            <a:r>
              <a:rPr sz="1800" spc="-215" dirty="0">
                <a:latin typeface="Arial"/>
                <a:cs typeface="Arial"/>
              </a:rPr>
              <a:t>un </a:t>
            </a:r>
            <a:r>
              <a:rPr sz="1800" spc="-105" dirty="0" err="1">
                <a:latin typeface="Arial"/>
                <a:cs typeface="Arial"/>
              </a:rPr>
              <a:t>esfuerzo</a:t>
            </a:r>
            <a:r>
              <a:rPr sz="1800" spc="-190" dirty="0">
                <a:latin typeface="Arial"/>
                <a:cs typeface="Arial"/>
              </a:rPr>
              <a:t> </a:t>
            </a:r>
            <a:r>
              <a:rPr sz="1800" spc="-125" dirty="0">
                <a:latin typeface="Arial"/>
                <a:cs typeface="Arial"/>
              </a:rPr>
              <a:t>Temporal</a:t>
            </a:r>
            <a:endParaRPr lang="es-ES" sz="1800" spc="-125" dirty="0">
              <a:latin typeface="Arial"/>
              <a:cs typeface="Arial"/>
            </a:endParaRPr>
          </a:p>
          <a:p>
            <a:pPr marL="273685" indent="-172085">
              <a:lnSpc>
                <a:spcPts val="2080"/>
              </a:lnSpc>
              <a:buChar char="•"/>
              <a:tabLst>
                <a:tab pos="274320" algn="l"/>
              </a:tabLst>
            </a:pPr>
            <a:endParaRPr lang="es-ES" spc="-125" dirty="0">
              <a:latin typeface="Arial"/>
              <a:cs typeface="Arial"/>
            </a:endParaRPr>
          </a:p>
          <a:p>
            <a:pPr marL="273685" indent="-172085">
              <a:lnSpc>
                <a:spcPts val="2080"/>
              </a:lnSpc>
              <a:buChar char="•"/>
              <a:tabLst>
                <a:tab pos="274320" algn="l"/>
              </a:tabLst>
            </a:pPr>
            <a:endParaRPr lang="es-ES" sz="1800" spc="-125" dirty="0">
              <a:latin typeface="Arial"/>
              <a:cs typeface="Arial"/>
            </a:endParaRPr>
          </a:p>
          <a:p>
            <a:pPr marL="273685" indent="-172085">
              <a:lnSpc>
                <a:spcPts val="2080"/>
              </a:lnSpc>
              <a:buChar char="•"/>
              <a:tabLst>
                <a:tab pos="274320" algn="l"/>
              </a:tabLst>
            </a:pPr>
            <a:endParaRPr lang="es-ES" spc="-125" dirty="0">
              <a:latin typeface="Arial"/>
              <a:cs typeface="Arial"/>
            </a:endParaRPr>
          </a:p>
          <a:p>
            <a:pPr marL="273685" indent="-172085">
              <a:lnSpc>
                <a:spcPts val="2080"/>
              </a:lnSpc>
              <a:buChar char="•"/>
              <a:tabLst>
                <a:tab pos="274320" algn="l"/>
              </a:tabLst>
            </a:pPr>
            <a:endParaRPr lang="es-ES" sz="1800" spc="-125" dirty="0">
              <a:latin typeface="Arial"/>
              <a:cs typeface="Arial"/>
            </a:endParaRPr>
          </a:p>
          <a:p>
            <a:pPr marL="101600">
              <a:lnSpc>
                <a:spcPts val="2080"/>
              </a:lnSpc>
              <a:tabLst>
                <a:tab pos="274320" algn="l"/>
              </a:tabLst>
            </a:pPr>
            <a:endParaRPr sz="18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4791075"/>
            <a:ext cx="9144000" cy="352425"/>
          </a:xfrm>
          <a:custGeom>
            <a:avLst/>
            <a:gdLst/>
            <a:ahLst/>
            <a:cxnLst/>
            <a:rect l="l" t="t" r="r" b="b"/>
            <a:pathLst>
              <a:path w="9144000" h="352425">
                <a:moveTo>
                  <a:pt x="9085199" y="0"/>
                </a:moveTo>
                <a:lnTo>
                  <a:pt x="58738" y="0"/>
                </a:lnTo>
                <a:lnTo>
                  <a:pt x="35874" y="4616"/>
                </a:lnTo>
                <a:lnTo>
                  <a:pt x="17204" y="17205"/>
                </a:lnTo>
                <a:lnTo>
                  <a:pt x="4615" y="35875"/>
                </a:lnTo>
                <a:lnTo>
                  <a:pt x="0" y="58737"/>
                </a:lnTo>
                <a:lnTo>
                  <a:pt x="0" y="293684"/>
                </a:lnTo>
                <a:lnTo>
                  <a:pt x="4615" y="316549"/>
                </a:lnTo>
                <a:lnTo>
                  <a:pt x="17204" y="335220"/>
                </a:lnTo>
                <a:lnTo>
                  <a:pt x="35874" y="347808"/>
                </a:lnTo>
                <a:lnTo>
                  <a:pt x="58738" y="352424"/>
                </a:lnTo>
                <a:lnTo>
                  <a:pt x="9085199" y="352424"/>
                </a:lnTo>
                <a:lnTo>
                  <a:pt x="9108102" y="347808"/>
                </a:lnTo>
                <a:lnTo>
                  <a:pt x="9126791" y="335220"/>
                </a:lnTo>
                <a:lnTo>
                  <a:pt x="9139384" y="316549"/>
                </a:lnTo>
                <a:lnTo>
                  <a:pt x="9144000" y="293684"/>
                </a:lnTo>
                <a:lnTo>
                  <a:pt x="9144000" y="58737"/>
                </a:lnTo>
                <a:lnTo>
                  <a:pt x="9139384" y="35875"/>
                </a:lnTo>
                <a:lnTo>
                  <a:pt x="9126791" y="17205"/>
                </a:lnTo>
                <a:lnTo>
                  <a:pt x="9108102" y="4616"/>
                </a:lnTo>
                <a:lnTo>
                  <a:pt x="9085199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4791075"/>
            <a:ext cx="9144000" cy="352425"/>
          </a:xfrm>
          <a:custGeom>
            <a:avLst/>
            <a:gdLst/>
            <a:ahLst/>
            <a:cxnLst/>
            <a:rect l="l" t="t" r="r" b="b"/>
            <a:pathLst>
              <a:path w="9144000" h="352425">
                <a:moveTo>
                  <a:pt x="0" y="58737"/>
                </a:moveTo>
                <a:lnTo>
                  <a:pt x="4615" y="35875"/>
                </a:lnTo>
                <a:lnTo>
                  <a:pt x="17204" y="17205"/>
                </a:lnTo>
                <a:lnTo>
                  <a:pt x="35874" y="4616"/>
                </a:lnTo>
                <a:lnTo>
                  <a:pt x="58738" y="0"/>
                </a:lnTo>
                <a:lnTo>
                  <a:pt x="9085199" y="0"/>
                </a:lnTo>
                <a:lnTo>
                  <a:pt x="9108102" y="4616"/>
                </a:lnTo>
                <a:lnTo>
                  <a:pt x="9126791" y="17205"/>
                </a:lnTo>
                <a:lnTo>
                  <a:pt x="9139384" y="35875"/>
                </a:lnTo>
                <a:lnTo>
                  <a:pt x="9144000" y="58737"/>
                </a:lnTo>
                <a:lnTo>
                  <a:pt x="9144000" y="293684"/>
                </a:lnTo>
                <a:lnTo>
                  <a:pt x="9139384" y="316549"/>
                </a:lnTo>
                <a:lnTo>
                  <a:pt x="9126791" y="335220"/>
                </a:lnTo>
                <a:lnTo>
                  <a:pt x="9108102" y="347808"/>
                </a:lnTo>
                <a:lnTo>
                  <a:pt x="9085199" y="352424"/>
                </a:lnTo>
                <a:lnTo>
                  <a:pt x="58738" y="352424"/>
                </a:lnTo>
                <a:lnTo>
                  <a:pt x="35874" y="347808"/>
                </a:lnTo>
                <a:lnTo>
                  <a:pt x="17204" y="335220"/>
                </a:lnTo>
                <a:lnTo>
                  <a:pt x="4615" y="316549"/>
                </a:lnTo>
                <a:lnTo>
                  <a:pt x="0" y="293684"/>
                </a:lnTo>
                <a:lnTo>
                  <a:pt x="0" y="58737"/>
                </a:lnTo>
                <a:close/>
              </a:path>
            </a:pathLst>
          </a:custGeom>
          <a:ln w="19050">
            <a:solidFill>
              <a:srgbClr val="1E76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93307" y="1885950"/>
            <a:ext cx="2598420" cy="1637628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1143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90"/>
              </a:spcBef>
            </a:pPr>
            <a:r>
              <a:rPr sz="1900" spc="-165" dirty="0">
                <a:solidFill>
                  <a:srgbClr val="FFFFFF"/>
                </a:solidFill>
                <a:latin typeface="Arial"/>
                <a:cs typeface="Arial"/>
              </a:rPr>
              <a:t>Ejemplos</a:t>
            </a:r>
            <a:endParaRPr sz="1900" dirty="0">
              <a:latin typeface="Arial"/>
              <a:cs typeface="Arial"/>
            </a:endParaRPr>
          </a:p>
          <a:p>
            <a:pPr marL="187325" indent="-114300">
              <a:lnSpc>
                <a:spcPts val="1760"/>
              </a:lnSpc>
              <a:spcBef>
                <a:spcPts val="409"/>
              </a:spcBef>
              <a:buChar char="•"/>
              <a:tabLst>
                <a:tab pos="187960" algn="l"/>
              </a:tabLst>
            </a:pPr>
            <a:r>
              <a:rPr sz="1500" spc="-95" dirty="0">
                <a:solidFill>
                  <a:srgbClr val="FFFFFF"/>
                </a:solidFill>
                <a:latin typeface="Arial"/>
                <a:cs typeface="Arial"/>
              </a:rPr>
              <a:t>Tranvia</a:t>
            </a:r>
            <a:r>
              <a:rPr sz="15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05" dirty="0">
                <a:solidFill>
                  <a:srgbClr val="FFFFFF"/>
                </a:solidFill>
                <a:latin typeface="Arial"/>
                <a:cs typeface="Arial"/>
              </a:rPr>
              <a:t>ayacucho</a:t>
            </a:r>
            <a:endParaRPr sz="1500" dirty="0">
              <a:latin typeface="Arial"/>
              <a:cs typeface="Arial"/>
            </a:endParaRPr>
          </a:p>
          <a:p>
            <a:pPr marL="187325" indent="-114300">
              <a:lnSpc>
                <a:spcPts val="1590"/>
              </a:lnSpc>
              <a:buChar char="•"/>
              <a:tabLst>
                <a:tab pos="187960" algn="l"/>
              </a:tabLst>
            </a:pPr>
            <a:r>
              <a:rPr sz="1500" spc="-85" dirty="0">
                <a:solidFill>
                  <a:srgbClr val="FFFFFF"/>
                </a:solidFill>
                <a:latin typeface="Arial"/>
                <a:cs typeface="Arial"/>
              </a:rPr>
              <a:t>Metroplus</a:t>
            </a:r>
            <a:r>
              <a:rPr sz="15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85" dirty="0">
                <a:solidFill>
                  <a:srgbClr val="FFFFFF"/>
                </a:solidFill>
                <a:latin typeface="Arial"/>
                <a:cs typeface="Arial"/>
              </a:rPr>
              <a:t>Envigado/Tunel</a:t>
            </a:r>
            <a:endParaRPr sz="1500" dirty="0">
              <a:latin typeface="Arial"/>
              <a:cs typeface="Arial"/>
            </a:endParaRPr>
          </a:p>
          <a:p>
            <a:pPr marL="187325">
              <a:lnSpc>
                <a:spcPts val="1590"/>
              </a:lnSpc>
            </a:pPr>
            <a:r>
              <a:rPr sz="1500" spc="-70" dirty="0">
                <a:solidFill>
                  <a:srgbClr val="FFFFFF"/>
                </a:solidFill>
                <a:latin typeface="Arial"/>
                <a:cs typeface="Arial"/>
              </a:rPr>
              <a:t>Verde</a:t>
            </a:r>
            <a:endParaRPr sz="1500" dirty="0">
              <a:latin typeface="Arial"/>
              <a:cs typeface="Arial"/>
            </a:endParaRPr>
          </a:p>
          <a:p>
            <a:pPr marL="187325" indent="-114300">
              <a:lnSpc>
                <a:spcPts val="1714"/>
              </a:lnSpc>
              <a:buChar char="•"/>
              <a:tabLst>
                <a:tab pos="187960" algn="l"/>
              </a:tabLst>
            </a:pPr>
            <a:r>
              <a:rPr sz="1500" spc="-110" dirty="0">
                <a:solidFill>
                  <a:srgbClr val="FFFFFF"/>
                </a:solidFill>
                <a:latin typeface="Arial"/>
                <a:cs typeface="Arial"/>
              </a:rPr>
              <a:t>Nuevo </a:t>
            </a:r>
            <a:r>
              <a:rPr sz="1500" spc="-125" dirty="0">
                <a:solidFill>
                  <a:srgbClr val="FFFFFF"/>
                </a:solidFill>
                <a:latin typeface="Arial"/>
                <a:cs typeface="Arial"/>
              </a:rPr>
              <a:t>Sistema </a:t>
            </a: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5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FFFFFF"/>
                </a:solidFill>
                <a:latin typeface="Arial"/>
                <a:cs typeface="Arial"/>
              </a:rPr>
              <a:t>Pasaportes</a:t>
            </a:r>
            <a:endParaRPr sz="1500" dirty="0">
              <a:latin typeface="Arial"/>
              <a:cs typeface="Arial"/>
            </a:endParaRPr>
          </a:p>
          <a:p>
            <a:pPr marL="187325" marR="131445" indent="-114300">
              <a:lnSpc>
                <a:spcPts val="1480"/>
              </a:lnSpc>
              <a:spcBef>
                <a:spcPts val="275"/>
              </a:spcBef>
              <a:buChar char="•"/>
              <a:tabLst>
                <a:tab pos="187960" algn="l"/>
              </a:tabLst>
            </a:pPr>
            <a:r>
              <a:rPr sz="1500" spc="-80" dirty="0">
                <a:solidFill>
                  <a:srgbClr val="FFFFFF"/>
                </a:solidFill>
                <a:latin typeface="Arial"/>
                <a:cs typeface="Arial"/>
              </a:rPr>
              <a:t>Programa </a:t>
            </a:r>
            <a:r>
              <a:rPr sz="1500" spc="-95" dirty="0" err="1">
                <a:solidFill>
                  <a:srgbClr val="FFFFFF"/>
                </a:solidFill>
                <a:latin typeface="Arial"/>
                <a:cs typeface="Arial"/>
              </a:rPr>
              <a:t>Profesional</a:t>
            </a:r>
            <a:r>
              <a:rPr lang="es-419" sz="1500" spc="-9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500" spc="-95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1500" spc="-90" dirty="0">
                <a:solidFill>
                  <a:srgbClr val="FFFFFF"/>
                </a:solidFill>
                <a:latin typeface="Arial"/>
                <a:cs typeface="Arial"/>
              </a:rPr>
              <a:t>que  </a:t>
            </a:r>
            <a:r>
              <a:rPr sz="1500" spc="-80" dirty="0">
                <a:solidFill>
                  <a:srgbClr val="FFFFFF"/>
                </a:solidFill>
                <a:latin typeface="Arial"/>
                <a:cs typeface="Arial"/>
              </a:rPr>
              <a:t>regresan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al </a:t>
            </a:r>
            <a:r>
              <a:rPr sz="1500" spc="-70" dirty="0">
                <a:solidFill>
                  <a:srgbClr val="FFFFFF"/>
                </a:solidFill>
                <a:latin typeface="Arial"/>
                <a:cs typeface="Arial"/>
              </a:rPr>
              <a:t>pais </a:t>
            </a:r>
            <a:r>
              <a:rPr sz="1500" spc="-85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150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10" dirty="0">
                <a:solidFill>
                  <a:srgbClr val="FFFFFF"/>
                </a:solidFill>
                <a:latin typeface="Arial"/>
                <a:cs typeface="Arial"/>
              </a:rPr>
              <a:t>Colciencias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1140" y="4427321"/>
            <a:ext cx="43783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spc="-65" dirty="0">
                <a:latin typeface="Arial"/>
                <a:cs typeface="Arial"/>
              </a:rPr>
              <a:t>Video </a:t>
            </a:r>
            <a:r>
              <a:rPr sz="1100" b="1" spc="-95" dirty="0">
                <a:latin typeface="Arial"/>
                <a:cs typeface="Arial"/>
              </a:rPr>
              <a:t>Puente </a:t>
            </a:r>
            <a:r>
              <a:rPr sz="1100" b="1" spc="-50" dirty="0">
                <a:latin typeface="Arial"/>
                <a:cs typeface="Arial"/>
              </a:rPr>
              <a:t>Milleau: </a:t>
            </a:r>
            <a:r>
              <a:rPr sz="1100" b="1" u="sng" spc="-6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8"/>
              </a:rPr>
              <a:t>https://www.youtube.com/watch?v=py5W9MsRjEY </a:t>
            </a:r>
            <a:r>
              <a:rPr sz="1100" b="1" spc="-60" dirty="0">
                <a:solidFill>
                  <a:srgbClr val="FF8118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latin typeface="Arial"/>
                <a:cs typeface="Arial"/>
              </a:rPr>
              <a:t>Canal </a:t>
            </a:r>
            <a:r>
              <a:rPr sz="1100" b="1" spc="-85" dirty="0">
                <a:latin typeface="Arial"/>
                <a:cs typeface="Arial"/>
              </a:rPr>
              <a:t>de </a:t>
            </a:r>
            <a:r>
              <a:rPr sz="1100" b="1" spc="-60" dirty="0">
                <a:latin typeface="Arial"/>
                <a:cs typeface="Arial"/>
              </a:rPr>
              <a:t>panama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60" dirty="0">
                <a:latin typeface="Arial"/>
                <a:cs typeface="Arial"/>
              </a:rPr>
              <a:t>https://</a:t>
            </a:r>
            <a:r>
              <a:rPr sz="1100" b="1" spc="-60" dirty="0">
                <a:latin typeface="Arial"/>
                <a:cs typeface="Arial"/>
                <a:hlinkClick r:id="rId9"/>
              </a:rPr>
              <a:t>www.youtube.com/watch?v=fnD_ltsUIrE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35737"/>
            <a:ext cx="254000" cy="507365"/>
          </a:xfrm>
          <a:custGeom>
            <a:avLst/>
            <a:gdLst/>
            <a:ahLst/>
            <a:cxnLst/>
            <a:rect l="l" t="t" r="r" b="b"/>
            <a:pathLst>
              <a:path w="254000" h="507365">
                <a:moveTo>
                  <a:pt x="253606" y="0"/>
                </a:moveTo>
                <a:lnTo>
                  <a:pt x="208018" y="4085"/>
                </a:lnTo>
                <a:lnTo>
                  <a:pt x="165112" y="15865"/>
                </a:lnTo>
                <a:lnTo>
                  <a:pt x="125603" y="34623"/>
                </a:lnTo>
                <a:lnTo>
                  <a:pt x="90208" y="59644"/>
                </a:lnTo>
                <a:lnTo>
                  <a:pt x="59643" y="90210"/>
                </a:lnTo>
                <a:lnTo>
                  <a:pt x="34623" y="125607"/>
                </a:lnTo>
                <a:lnTo>
                  <a:pt x="15865" y="165118"/>
                </a:lnTo>
                <a:lnTo>
                  <a:pt x="4085" y="208027"/>
                </a:lnTo>
                <a:lnTo>
                  <a:pt x="0" y="253618"/>
                </a:lnTo>
                <a:lnTo>
                  <a:pt x="4085" y="299210"/>
                </a:lnTo>
                <a:lnTo>
                  <a:pt x="15865" y="342119"/>
                </a:lnTo>
                <a:lnTo>
                  <a:pt x="34623" y="381630"/>
                </a:lnTo>
                <a:lnTo>
                  <a:pt x="59643" y="417027"/>
                </a:lnTo>
                <a:lnTo>
                  <a:pt x="90208" y="447593"/>
                </a:lnTo>
                <a:lnTo>
                  <a:pt x="125603" y="472614"/>
                </a:lnTo>
                <a:lnTo>
                  <a:pt x="165112" y="491372"/>
                </a:lnTo>
                <a:lnTo>
                  <a:pt x="208018" y="503152"/>
                </a:lnTo>
                <a:lnTo>
                  <a:pt x="253606" y="507238"/>
                </a:lnTo>
                <a:lnTo>
                  <a:pt x="253606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0806" y="435775"/>
            <a:ext cx="7976234" cy="507365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45"/>
              </a:spcBef>
            </a:pPr>
            <a:r>
              <a:rPr sz="2500" i="0" spc="-235" dirty="0">
                <a:solidFill>
                  <a:srgbClr val="000000"/>
                </a:solidFill>
                <a:latin typeface="Arial"/>
                <a:cs typeface="Arial"/>
              </a:rPr>
              <a:t>Proyecto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1297686"/>
            <a:ext cx="8193405" cy="2852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indent="-320040">
              <a:lnSpc>
                <a:spcPts val="2220"/>
              </a:lnSpc>
              <a:spcBef>
                <a:spcPts val="95"/>
              </a:spcBef>
              <a:buClr>
                <a:srgbClr val="DA1F28"/>
              </a:buClr>
              <a:buSzPct val="6052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900" spc="-95" dirty="0">
                <a:latin typeface="Arial"/>
                <a:cs typeface="Arial"/>
              </a:rPr>
              <a:t>Temporalidad</a:t>
            </a:r>
            <a:endParaRPr sz="1900" dirty="0">
              <a:latin typeface="Arial"/>
              <a:cs typeface="Arial"/>
            </a:endParaRPr>
          </a:p>
          <a:p>
            <a:pPr marL="652780" lvl="1" indent="-274320">
              <a:lnSpc>
                <a:spcPts val="2280"/>
              </a:lnSpc>
              <a:buClr>
                <a:srgbClr val="2CA1BE"/>
              </a:buClr>
              <a:buSzPct val="70000"/>
              <a:buChar char=""/>
              <a:tabLst>
                <a:tab pos="652780" algn="l"/>
              </a:tabLst>
            </a:pPr>
            <a:r>
              <a:rPr sz="2000" spc="-65" dirty="0">
                <a:latin typeface="Arial"/>
                <a:cs typeface="Arial"/>
              </a:rPr>
              <a:t>Cada </a:t>
            </a:r>
            <a:r>
              <a:rPr sz="2000" spc="-90" dirty="0">
                <a:latin typeface="Arial"/>
                <a:cs typeface="Arial"/>
              </a:rPr>
              <a:t>proyecto </a:t>
            </a:r>
            <a:r>
              <a:rPr sz="2000" spc="-95" dirty="0">
                <a:latin typeface="Arial"/>
                <a:cs typeface="Arial"/>
              </a:rPr>
              <a:t>tiene </a:t>
            </a:r>
            <a:r>
              <a:rPr sz="2000" spc="-240" dirty="0">
                <a:latin typeface="Arial"/>
                <a:cs typeface="Arial"/>
              </a:rPr>
              <a:t>un  </a:t>
            </a:r>
            <a:r>
              <a:rPr sz="2000" spc="-100" dirty="0">
                <a:latin typeface="Arial"/>
                <a:cs typeface="Arial"/>
              </a:rPr>
              <a:t>inicio </a:t>
            </a:r>
            <a:r>
              <a:rPr sz="2000" dirty="0">
                <a:latin typeface="Arial"/>
                <a:cs typeface="Arial"/>
              </a:rPr>
              <a:t>y </a:t>
            </a:r>
            <a:r>
              <a:rPr sz="2000" spc="-45" dirty="0">
                <a:latin typeface="Arial"/>
                <a:cs typeface="Arial"/>
              </a:rPr>
              <a:t>fin </a:t>
            </a:r>
            <a:r>
              <a:rPr sz="2000" spc="-80" dirty="0">
                <a:latin typeface="Arial"/>
                <a:cs typeface="Arial"/>
              </a:rPr>
              <a:t>definidos </a:t>
            </a:r>
            <a:r>
              <a:rPr sz="2000" spc="-135" dirty="0">
                <a:latin typeface="Arial"/>
                <a:cs typeface="Arial"/>
              </a:rPr>
              <a:t>(Duracion</a:t>
            </a:r>
            <a:r>
              <a:rPr sz="2000" spc="16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finita)</a:t>
            </a:r>
            <a:endParaRPr sz="2000" dirty="0">
              <a:latin typeface="Arial"/>
              <a:cs typeface="Arial"/>
            </a:endParaRPr>
          </a:p>
          <a:p>
            <a:pPr marL="652780" lvl="1" indent="-274320">
              <a:lnSpc>
                <a:spcPts val="2340"/>
              </a:lnSpc>
              <a:buClr>
                <a:srgbClr val="2CA1BE"/>
              </a:buClr>
              <a:buSzPct val="70000"/>
              <a:buChar char=""/>
              <a:tabLst>
                <a:tab pos="652780" algn="l"/>
              </a:tabLst>
            </a:pPr>
            <a:r>
              <a:rPr sz="2000" spc="-110" dirty="0">
                <a:latin typeface="Arial"/>
                <a:cs typeface="Arial"/>
              </a:rPr>
              <a:t>No </a:t>
            </a:r>
            <a:r>
              <a:rPr sz="2000" spc="-45" dirty="0">
                <a:latin typeface="Arial"/>
                <a:cs typeface="Arial"/>
              </a:rPr>
              <a:t>aplica </a:t>
            </a:r>
            <a:r>
              <a:rPr sz="2000" spc="-15" dirty="0">
                <a:latin typeface="Arial"/>
                <a:cs typeface="Arial"/>
              </a:rPr>
              <a:t>para </a:t>
            </a:r>
            <a:r>
              <a:rPr sz="2000" spc="-60" dirty="0">
                <a:latin typeface="Arial"/>
                <a:cs typeface="Arial"/>
              </a:rPr>
              <a:t>el </a:t>
            </a:r>
            <a:r>
              <a:rPr sz="2000" spc="-95" dirty="0">
                <a:latin typeface="Arial"/>
                <a:cs typeface="Arial"/>
              </a:rPr>
              <a:t>producto </a:t>
            </a:r>
            <a:r>
              <a:rPr sz="2000" spc="-114" dirty="0">
                <a:latin typeface="Arial"/>
                <a:cs typeface="Arial"/>
              </a:rPr>
              <a:t>o </a:t>
            </a:r>
            <a:r>
              <a:rPr sz="2000" spc="-105" dirty="0">
                <a:latin typeface="Arial"/>
                <a:cs typeface="Arial"/>
              </a:rPr>
              <a:t>servicio </a:t>
            </a:r>
            <a:r>
              <a:rPr sz="2000" spc="-95" dirty="0">
                <a:latin typeface="Arial"/>
                <a:cs typeface="Arial"/>
              </a:rPr>
              <a:t>resultado </a:t>
            </a:r>
            <a:r>
              <a:rPr sz="2000" spc="-45" dirty="0">
                <a:latin typeface="Arial"/>
                <a:cs typeface="Arial"/>
              </a:rPr>
              <a:t>del 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proyecto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2CA1BE"/>
              </a:buClr>
              <a:buFont typeface="Arial"/>
              <a:buChar char=""/>
            </a:pPr>
            <a:endParaRPr sz="2000" dirty="0">
              <a:latin typeface="Times New Roman"/>
              <a:cs typeface="Times New Roman"/>
            </a:endParaRPr>
          </a:p>
          <a:p>
            <a:pPr marL="332740" indent="-320040">
              <a:lnSpc>
                <a:spcPts val="2225"/>
              </a:lnSpc>
              <a:buClr>
                <a:srgbClr val="DA1F28"/>
              </a:buClr>
              <a:buSzPct val="6052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900" spc="-135" dirty="0">
                <a:latin typeface="Arial"/>
                <a:cs typeface="Arial"/>
              </a:rPr>
              <a:t>Producto </a:t>
            </a:r>
            <a:r>
              <a:rPr sz="1900" spc="-165" dirty="0">
                <a:latin typeface="Arial"/>
                <a:cs typeface="Arial"/>
              </a:rPr>
              <a:t>Unico, </a:t>
            </a:r>
            <a:r>
              <a:rPr sz="1900" spc="-105" dirty="0">
                <a:latin typeface="Arial"/>
                <a:cs typeface="Arial"/>
              </a:rPr>
              <a:t>Servicio </a:t>
            </a:r>
            <a:r>
              <a:rPr sz="1900" spc="-55" dirty="0">
                <a:latin typeface="Arial"/>
                <a:cs typeface="Arial"/>
              </a:rPr>
              <a:t>o</a:t>
            </a:r>
            <a:r>
              <a:rPr sz="1900" spc="-350" dirty="0">
                <a:latin typeface="Arial"/>
                <a:cs typeface="Arial"/>
              </a:rPr>
              <a:t> </a:t>
            </a:r>
            <a:r>
              <a:rPr sz="1900" spc="-145" dirty="0">
                <a:latin typeface="Arial"/>
                <a:cs typeface="Arial"/>
              </a:rPr>
              <a:t>Resultado</a:t>
            </a:r>
            <a:endParaRPr sz="1900" dirty="0">
              <a:latin typeface="Arial"/>
              <a:cs typeface="Arial"/>
            </a:endParaRPr>
          </a:p>
          <a:p>
            <a:pPr marL="652780" lvl="1" indent="-274320">
              <a:lnSpc>
                <a:spcPts val="1985"/>
              </a:lnSpc>
              <a:buClr>
                <a:srgbClr val="2CA1BE"/>
              </a:buClr>
              <a:buSzPct val="70000"/>
              <a:buChar char=""/>
              <a:tabLst>
                <a:tab pos="652780" algn="l"/>
              </a:tabLst>
            </a:pPr>
            <a:r>
              <a:rPr sz="2000" spc="-235" dirty="0">
                <a:latin typeface="Arial"/>
                <a:cs typeface="Arial"/>
              </a:rPr>
              <a:t>El </a:t>
            </a:r>
            <a:r>
              <a:rPr sz="2000" spc="-105" dirty="0">
                <a:latin typeface="Arial"/>
                <a:cs typeface="Arial"/>
              </a:rPr>
              <a:t>producto, servicio </a:t>
            </a:r>
            <a:r>
              <a:rPr sz="2000" spc="-114" dirty="0">
                <a:latin typeface="Arial"/>
                <a:cs typeface="Arial"/>
              </a:rPr>
              <a:t>o </a:t>
            </a:r>
            <a:r>
              <a:rPr sz="2000" spc="-95" dirty="0">
                <a:latin typeface="Arial"/>
                <a:cs typeface="Arial"/>
              </a:rPr>
              <a:t>resultado </a:t>
            </a:r>
            <a:r>
              <a:rPr sz="2000" spc="-45" dirty="0">
                <a:latin typeface="Arial"/>
                <a:cs typeface="Arial"/>
              </a:rPr>
              <a:t>del </a:t>
            </a:r>
            <a:r>
              <a:rPr sz="2000" spc="-90" dirty="0">
                <a:latin typeface="Arial"/>
                <a:cs typeface="Arial"/>
              </a:rPr>
              <a:t>proyecto </a:t>
            </a:r>
            <a:r>
              <a:rPr sz="2000" spc="-220" dirty="0">
                <a:latin typeface="Arial"/>
                <a:cs typeface="Arial"/>
              </a:rPr>
              <a:t>es </a:t>
            </a:r>
            <a:r>
              <a:rPr sz="2000" spc="-165" dirty="0">
                <a:latin typeface="Arial"/>
                <a:cs typeface="Arial"/>
              </a:rPr>
              <a:t>unico, </a:t>
            </a:r>
            <a:r>
              <a:rPr sz="2000" spc="-190" dirty="0">
                <a:latin typeface="Arial"/>
                <a:cs typeface="Arial"/>
              </a:rPr>
              <a:t>nunca </a:t>
            </a:r>
            <a:r>
              <a:rPr sz="2000" spc="-170" dirty="0" err="1">
                <a:latin typeface="Arial"/>
                <a:cs typeface="Arial"/>
              </a:rPr>
              <a:t>hecho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ant</a:t>
            </a:r>
            <a:r>
              <a:rPr lang="es-419" sz="2000" spc="-150" dirty="0">
                <a:latin typeface="Arial"/>
                <a:cs typeface="Arial"/>
              </a:rPr>
              <a:t>e</a:t>
            </a:r>
            <a:r>
              <a:rPr sz="2000" spc="-150" dirty="0">
                <a:latin typeface="Arial"/>
                <a:cs typeface="Arial"/>
              </a:rPr>
              <a:t>s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475" dirty="0">
                <a:latin typeface="Arial"/>
                <a:cs typeface="Arial"/>
              </a:rPr>
              <a:t>en</a:t>
            </a:r>
            <a:endParaRPr sz="2000" dirty="0">
              <a:latin typeface="Arial"/>
              <a:cs typeface="Arial"/>
            </a:endParaRPr>
          </a:p>
          <a:p>
            <a:pPr marL="652145">
              <a:lnSpc>
                <a:spcPts val="2039"/>
              </a:lnSpc>
            </a:pPr>
            <a:r>
              <a:rPr sz="2000" spc="-60" dirty="0">
                <a:latin typeface="Arial"/>
                <a:cs typeface="Arial"/>
              </a:rPr>
              <a:t>el </a:t>
            </a:r>
            <a:r>
              <a:rPr sz="2000" spc="-225" dirty="0">
                <a:latin typeface="Arial"/>
                <a:cs typeface="Arial"/>
              </a:rPr>
              <a:t>mismo </a:t>
            </a:r>
            <a:r>
              <a:rPr sz="2000" spc="-105" dirty="0">
                <a:latin typeface="Arial"/>
                <a:cs typeface="Arial"/>
              </a:rPr>
              <a:t>ambiente </a:t>
            </a:r>
            <a:r>
              <a:rPr sz="2000" spc="-110" dirty="0">
                <a:latin typeface="Arial"/>
                <a:cs typeface="Arial"/>
              </a:rPr>
              <a:t>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background)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32740" indent="-320040">
              <a:lnSpc>
                <a:spcPts val="2220"/>
              </a:lnSpc>
              <a:buClr>
                <a:srgbClr val="DA1F28"/>
              </a:buClr>
              <a:buSzPct val="6052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900" spc="-110" dirty="0">
                <a:latin typeface="Arial"/>
                <a:cs typeface="Arial"/>
              </a:rPr>
              <a:t>Elaboracion</a:t>
            </a:r>
            <a:r>
              <a:rPr sz="1900" spc="20" dirty="0">
                <a:latin typeface="Arial"/>
                <a:cs typeface="Arial"/>
              </a:rPr>
              <a:t> </a:t>
            </a:r>
            <a:r>
              <a:rPr sz="1900" spc="-110" dirty="0">
                <a:latin typeface="Arial"/>
                <a:cs typeface="Arial"/>
              </a:rPr>
              <a:t>Progresiva</a:t>
            </a:r>
            <a:endParaRPr sz="1900" dirty="0">
              <a:latin typeface="Arial"/>
              <a:cs typeface="Arial"/>
            </a:endParaRPr>
          </a:p>
          <a:p>
            <a:pPr marL="652780" lvl="1" indent="-274320">
              <a:lnSpc>
                <a:spcPts val="2340"/>
              </a:lnSpc>
              <a:buClr>
                <a:srgbClr val="2CA1BE"/>
              </a:buClr>
              <a:buSzPct val="70000"/>
              <a:buChar char=""/>
              <a:tabLst>
                <a:tab pos="652780" algn="l"/>
              </a:tabLst>
            </a:pPr>
            <a:r>
              <a:rPr sz="2000" spc="-220" dirty="0">
                <a:latin typeface="Arial"/>
                <a:cs typeface="Arial"/>
              </a:rPr>
              <a:t>Se </a:t>
            </a:r>
            <a:r>
              <a:rPr sz="2000" spc="-130" dirty="0" err="1">
                <a:latin typeface="Arial"/>
                <a:cs typeface="Arial"/>
              </a:rPr>
              <a:t>descubre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lang="es-419" sz="2000" spc="-130" dirty="0">
                <a:latin typeface="Arial"/>
                <a:cs typeface="Arial"/>
              </a:rPr>
              <a:t>e</a:t>
            </a:r>
            <a:r>
              <a:rPr sz="2000" spc="-235" dirty="0">
                <a:latin typeface="Arial"/>
                <a:cs typeface="Arial"/>
              </a:rPr>
              <a:t>n </a:t>
            </a:r>
            <a:r>
              <a:rPr sz="2000" spc="-10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medida </a:t>
            </a:r>
            <a:r>
              <a:rPr sz="2000" spc="-125" dirty="0">
                <a:latin typeface="Arial"/>
                <a:cs typeface="Arial"/>
              </a:rPr>
              <a:t>que </a:t>
            </a:r>
            <a:r>
              <a:rPr sz="2000" spc="-225" dirty="0">
                <a:latin typeface="Arial"/>
                <a:cs typeface="Arial"/>
              </a:rPr>
              <a:t>se </a:t>
            </a:r>
            <a:r>
              <a:rPr sz="2000" spc="-95" dirty="0">
                <a:latin typeface="Arial"/>
                <a:cs typeface="Arial"/>
              </a:rPr>
              <a:t>avanza,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incertidumbre.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00" y="4324350"/>
            <a:ext cx="8229600" cy="591185"/>
          </a:xfrm>
          <a:prstGeom prst="rect">
            <a:avLst/>
          </a:prstGeom>
          <a:solidFill>
            <a:srgbClr val="E7E7E7"/>
          </a:solidFill>
        </p:spPr>
        <p:txBody>
          <a:bodyPr vert="horz" wrap="square" lIns="0" tIns="38735" rIns="0" bIns="0" rtlCol="0">
            <a:spAutoFit/>
          </a:bodyPr>
          <a:lstStyle/>
          <a:p>
            <a:pPr marL="91440" marR="250190">
              <a:lnSpc>
                <a:spcPts val="1939"/>
              </a:lnSpc>
              <a:spcBef>
                <a:spcPts val="305"/>
              </a:spcBef>
            </a:pPr>
            <a:r>
              <a:rPr sz="1800" spc="-215" dirty="0">
                <a:solidFill>
                  <a:srgbClr val="000082"/>
                </a:solidFill>
                <a:latin typeface="Arial"/>
                <a:cs typeface="Arial"/>
              </a:rPr>
              <a:t>Un </a:t>
            </a:r>
            <a:r>
              <a:rPr sz="1800" i="1" spc="-110" dirty="0">
                <a:solidFill>
                  <a:srgbClr val="000082"/>
                </a:solidFill>
                <a:latin typeface="Arial"/>
                <a:cs typeface="Arial"/>
              </a:rPr>
              <a:t>proyecto </a:t>
            </a:r>
            <a:r>
              <a:rPr sz="1800" i="1" spc="-260" dirty="0">
                <a:solidFill>
                  <a:srgbClr val="000082"/>
                </a:solidFill>
                <a:latin typeface="Arial"/>
                <a:cs typeface="Arial"/>
              </a:rPr>
              <a:t>es </a:t>
            </a:r>
            <a:r>
              <a:rPr sz="1800" i="1" spc="-215" dirty="0">
                <a:solidFill>
                  <a:srgbClr val="000082"/>
                </a:solidFill>
                <a:latin typeface="Arial"/>
                <a:cs typeface="Arial"/>
              </a:rPr>
              <a:t>un </a:t>
            </a:r>
            <a:r>
              <a:rPr sz="1800" i="1" spc="-135" dirty="0">
                <a:solidFill>
                  <a:srgbClr val="000082"/>
                </a:solidFill>
                <a:latin typeface="Arial"/>
                <a:cs typeface="Arial"/>
              </a:rPr>
              <a:t>esfuerzo </a:t>
            </a:r>
            <a:r>
              <a:rPr sz="1800" i="1" spc="-110" dirty="0">
                <a:solidFill>
                  <a:srgbClr val="000082"/>
                </a:solidFill>
                <a:latin typeface="Arial"/>
                <a:cs typeface="Arial"/>
              </a:rPr>
              <a:t>temporal </a:t>
            </a:r>
            <a:r>
              <a:rPr sz="1800" i="1" spc="-120" dirty="0">
                <a:solidFill>
                  <a:srgbClr val="000082"/>
                </a:solidFill>
                <a:latin typeface="Arial"/>
                <a:cs typeface="Arial"/>
              </a:rPr>
              <a:t>tomado </a:t>
            </a:r>
            <a:r>
              <a:rPr sz="1800" i="1" spc="-80" dirty="0">
                <a:solidFill>
                  <a:srgbClr val="000082"/>
                </a:solidFill>
                <a:latin typeface="Arial"/>
                <a:cs typeface="Arial"/>
              </a:rPr>
              <a:t>para </a:t>
            </a:r>
            <a:r>
              <a:rPr sz="1800" i="1" spc="-105" dirty="0">
                <a:solidFill>
                  <a:srgbClr val="000082"/>
                </a:solidFill>
                <a:latin typeface="Arial"/>
                <a:cs typeface="Arial"/>
              </a:rPr>
              <a:t>crear </a:t>
            </a:r>
            <a:r>
              <a:rPr sz="1800" i="1" spc="-215" dirty="0">
                <a:solidFill>
                  <a:srgbClr val="000082"/>
                </a:solidFill>
                <a:latin typeface="Arial"/>
                <a:cs typeface="Arial"/>
              </a:rPr>
              <a:t>un </a:t>
            </a:r>
            <a:r>
              <a:rPr sz="1800" i="1" spc="-114" dirty="0">
                <a:solidFill>
                  <a:srgbClr val="000082"/>
                </a:solidFill>
                <a:latin typeface="Arial"/>
                <a:cs typeface="Arial"/>
              </a:rPr>
              <a:t>producto, servicio </a:t>
            </a:r>
            <a:r>
              <a:rPr sz="1800" i="1" spc="-105" dirty="0">
                <a:solidFill>
                  <a:srgbClr val="000082"/>
                </a:solidFill>
                <a:latin typeface="Arial"/>
                <a:cs typeface="Arial"/>
              </a:rPr>
              <a:t>o </a:t>
            </a:r>
            <a:r>
              <a:rPr sz="1800" i="1" spc="-120" dirty="0">
                <a:solidFill>
                  <a:srgbClr val="000082"/>
                </a:solidFill>
                <a:latin typeface="Arial"/>
                <a:cs typeface="Arial"/>
              </a:rPr>
              <a:t>resultado </a:t>
            </a:r>
            <a:r>
              <a:rPr sz="1800" i="1" spc="260" dirty="0">
                <a:solidFill>
                  <a:srgbClr val="000082"/>
                </a:solidFill>
                <a:latin typeface="Arial"/>
                <a:cs typeface="Arial"/>
              </a:rPr>
              <a:t> </a:t>
            </a:r>
            <a:r>
              <a:rPr sz="1800" i="1" spc="-150" dirty="0">
                <a:solidFill>
                  <a:srgbClr val="000082"/>
                </a:solidFill>
                <a:latin typeface="Arial"/>
                <a:cs typeface="Arial"/>
              </a:rPr>
              <a:t>unico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35737"/>
            <a:ext cx="254000" cy="507365"/>
          </a:xfrm>
          <a:custGeom>
            <a:avLst/>
            <a:gdLst/>
            <a:ahLst/>
            <a:cxnLst/>
            <a:rect l="l" t="t" r="r" b="b"/>
            <a:pathLst>
              <a:path w="254000" h="507365">
                <a:moveTo>
                  <a:pt x="253606" y="0"/>
                </a:moveTo>
                <a:lnTo>
                  <a:pt x="208018" y="4085"/>
                </a:lnTo>
                <a:lnTo>
                  <a:pt x="165112" y="15865"/>
                </a:lnTo>
                <a:lnTo>
                  <a:pt x="125603" y="34623"/>
                </a:lnTo>
                <a:lnTo>
                  <a:pt x="90208" y="59644"/>
                </a:lnTo>
                <a:lnTo>
                  <a:pt x="59643" y="90210"/>
                </a:lnTo>
                <a:lnTo>
                  <a:pt x="34623" y="125607"/>
                </a:lnTo>
                <a:lnTo>
                  <a:pt x="15865" y="165118"/>
                </a:lnTo>
                <a:lnTo>
                  <a:pt x="4085" y="208027"/>
                </a:lnTo>
                <a:lnTo>
                  <a:pt x="0" y="253618"/>
                </a:lnTo>
                <a:lnTo>
                  <a:pt x="4085" y="299210"/>
                </a:lnTo>
                <a:lnTo>
                  <a:pt x="15865" y="342119"/>
                </a:lnTo>
                <a:lnTo>
                  <a:pt x="34623" y="381630"/>
                </a:lnTo>
                <a:lnTo>
                  <a:pt x="59643" y="417027"/>
                </a:lnTo>
                <a:lnTo>
                  <a:pt x="90208" y="447593"/>
                </a:lnTo>
                <a:lnTo>
                  <a:pt x="125603" y="472614"/>
                </a:lnTo>
                <a:lnTo>
                  <a:pt x="165112" y="491372"/>
                </a:lnTo>
                <a:lnTo>
                  <a:pt x="208018" y="503152"/>
                </a:lnTo>
                <a:lnTo>
                  <a:pt x="253606" y="507238"/>
                </a:lnTo>
                <a:lnTo>
                  <a:pt x="253606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0806" y="435775"/>
            <a:ext cx="7976234" cy="507365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2210435">
              <a:lnSpc>
                <a:spcPct val="100000"/>
              </a:lnSpc>
              <a:spcBef>
                <a:spcPts val="145"/>
              </a:spcBef>
            </a:pPr>
            <a:r>
              <a:rPr sz="2500" i="0" spc="-270" dirty="0">
                <a:solidFill>
                  <a:srgbClr val="000000"/>
                </a:solidFill>
                <a:latin typeface="Arial"/>
                <a:cs typeface="Arial"/>
              </a:rPr>
              <a:t>Retos </a:t>
            </a:r>
            <a:r>
              <a:rPr sz="2500" i="0" spc="-200" dirty="0">
                <a:solidFill>
                  <a:srgbClr val="000000"/>
                </a:solidFill>
                <a:latin typeface="Arial"/>
                <a:cs typeface="Arial"/>
              </a:rPr>
              <a:t>Gestion de</a:t>
            </a:r>
            <a:r>
              <a:rPr sz="2500" i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500" i="0" spc="-245" dirty="0">
                <a:solidFill>
                  <a:srgbClr val="000000"/>
                </a:solidFill>
                <a:latin typeface="Arial"/>
                <a:cs typeface="Arial"/>
              </a:rPr>
              <a:t>Proyectos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838" y="1200031"/>
            <a:ext cx="4998085" cy="86741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400" b="1" spc="-160" dirty="0">
                <a:solidFill>
                  <a:srgbClr val="222222"/>
                </a:solidFill>
                <a:latin typeface="Arial"/>
                <a:cs typeface="Arial"/>
              </a:rPr>
              <a:t>Que </a:t>
            </a:r>
            <a:r>
              <a:rPr sz="2400" b="1" spc="-250" dirty="0">
                <a:solidFill>
                  <a:srgbClr val="222222"/>
                </a:solidFill>
                <a:latin typeface="Arial"/>
                <a:cs typeface="Arial"/>
              </a:rPr>
              <a:t>es </a:t>
            </a:r>
            <a:r>
              <a:rPr sz="2400" b="1" spc="-190" dirty="0">
                <a:solidFill>
                  <a:srgbClr val="222222"/>
                </a:solidFill>
                <a:latin typeface="Arial"/>
                <a:cs typeface="Arial"/>
              </a:rPr>
              <a:t>gestion de</a:t>
            </a:r>
            <a:r>
              <a:rPr sz="2400" b="1" spc="-409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400" b="1" spc="-220" dirty="0">
                <a:solidFill>
                  <a:srgbClr val="222222"/>
                </a:solidFill>
                <a:latin typeface="Arial"/>
                <a:cs typeface="Arial"/>
              </a:rPr>
              <a:t>Proyectos.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  <a:tabLst>
                <a:tab pos="3999865" algn="l"/>
              </a:tabLst>
            </a:pPr>
            <a:r>
              <a:rPr sz="1400" spc="265" dirty="0">
                <a:solidFill>
                  <a:srgbClr val="2CA1BE"/>
                </a:solidFill>
                <a:latin typeface="Arial"/>
                <a:cs typeface="Arial"/>
              </a:rPr>
              <a:t> </a:t>
            </a:r>
            <a:r>
              <a:rPr sz="1400" spc="130" dirty="0">
                <a:solidFill>
                  <a:srgbClr val="2CA1BE"/>
                </a:solidFill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Ba</a:t>
            </a:r>
            <a:r>
              <a:rPr sz="2000" spc="-50" dirty="0">
                <a:latin typeface="Arial"/>
                <a:cs typeface="Arial"/>
              </a:rPr>
              <a:t>l</a:t>
            </a:r>
            <a:r>
              <a:rPr sz="2000" spc="-165" dirty="0">
                <a:latin typeface="Arial"/>
                <a:cs typeface="Arial"/>
              </a:rPr>
              <a:t>an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40" dirty="0">
                <a:latin typeface="Arial"/>
                <a:cs typeface="Arial"/>
              </a:rPr>
              <a:t>ear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la</a:t>
            </a:r>
            <a:r>
              <a:rPr sz="2000" spc="-135" dirty="0">
                <a:latin typeface="Arial"/>
                <a:cs typeface="Arial"/>
              </a:rPr>
              <a:t>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competencia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75" dirty="0">
                <a:latin typeface="Arial"/>
                <a:cs typeface="Arial"/>
              </a:rPr>
              <a:t>en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35" dirty="0">
                <a:latin typeface="Arial"/>
                <a:cs typeface="Arial"/>
              </a:rPr>
              <a:t>e</a:t>
            </a:r>
            <a:r>
              <a:rPr sz="2000" spc="-204" dirty="0">
                <a:latin typeface="Arial"/>
                <a:cs typeface="Arial"/>
              </a:rPr>
              <a:t>s</a:t>
            </a:r>
            <a:r>
              <a:rPr sz="2000" spc="-155" dirty="0">
                <a:latin typeface="Arial"/>
                <a:cs typeface="Arial"/>
              </a:rPr>
              <a:t>tos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80" dirty="0">
                <a:latin typeface="Arial"/>
                <a:cs typeface="Arial"/>
              </a:rPr>
              <a:t>El</a:t>
            </a:r>
            <a:r>
              <a:rPr sz="2000" spc="-215" dirty="0">
                <a:latin typeface="Arial"/>
                <a:cs typeface="Arial"/>
              </a:rPr>
              <a:t>e</a:t>
            </a:r>
            <a:r>
              <a:rPr sz="2000" spc="-190" dirty="0">
                <a:latin typeface="Arial"/>
                <a:cs typeface="Arial"/>
              </a:rPr>
              <a:t>mentos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48175" y="1745488"/>
            <a:ext cx="3124200" cy="1684020"/>
          </a:xfrm>
          <a:custGeom>
            <a:avLst/>
            <a:gdLst/>
            <a:ahLst/>
            <a:cxnLst/>
            <a:rect l="l" t="t" r="r" b="b"/>
            <a:pathLst>
              <a:path w="3124200" h="1684020">
                <a:moveTo>
                  <a:pt x="1533398" y="0"/>
                </a:moveTo>
                <a:lnTo>
                  <a:pt x="0" y="1683512"/>
                </a:lnTo>
                <a:lnTo>
                  <a:pt x="3124200" y="1683512"/>
                </a:lnTo>
                <a:lnTo>
                  <a:pt x="15333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48175" y="1745488"/>
            <a:ext cx="3124200" cy="1684020"/>
          </a:xfrm>
          <a:custGeom>
            <a:avLst/>
            <a:gdLst/>
            <a:ahLst/>
            <a:cxnLst/>
            <a:rect l="l" t="t" r="r" b="b"/>
            <a:pathLst>
              <a:path w="3124200" h="1684020">
                <a:moveTo>
                  <a:pt x="0" y="1683512"/>
                </a:moveTo>
                <a:lnTo>
                  <a:pt x="1533398" y="0"/>
                </a:lnTo>
                <a:lnTo>
                  <a:pt x="3124200" y="1683512"/>
                </a:lnTo>
                <a:lnTo>
                  <a:pt x="0" y="16835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00604" y="2530856"/>
            <a:ext cx="1870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Costo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(recursos)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34859" y="2693035"/>
            <a:ext cx="11791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Tiempo  (d</a:t>
            </a:r>
            <a:r>
              <a:rPr sz="2000" spc="-10" dirty="0">
                <a:latin typeface="Tahoma"/>
                <a:cs typeface="Tahoma"/>
              </a:rPr>
              <a:t>u</a:t>
            </a:r>
            <a:r>
              <a:rPr sz="2000" spc="-40" dirty="0">
                <a:latin typeface="Tahoma"/>
                <a:cs typeface="Tahoma"/>
              </a:rPr>
              <a:t>r</a:t>
            </a:r>
            <a:r>
              <a:rPr sz="2000" dirty="0">
                <a:latin typeface="Tahoma"/>
                <a:cs typeface="Tahoma"/>
              </a:rPr>
              <a:t>acion)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2330" y="2610104"/>
            <a:ext cx="8432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ahoma"/>
                <a:cs typeface="Tahoma"/>
              </a:rPr>
              <a:t>Calidad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16292" y="2082545"/>
            <a:ext cx="379983" cy="243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06385" y="2072639"/>
            <a:ext cx="730885" cy="0"/>
          </a:xfrm>
          <a:custGeom>
            <a:avLst/>
            <a:gdLst/>
            <a:ahLst/>
            <a:cxnLst/>
            <a:rect l="l" t="t" r="r" b="b"/>
            <a:pathLst>
              <a:path w="730884">
                <a:moveTo>
                  <a:pt x="0" y="0"/>
                </a:moveTo>
                <a:lnTo>
                  <a:pt x="73037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06385" y="2072639"/>
            <a:ext cx="0" cy="547370"/>
          </a:xfrm>
          <a:custGeom>
            <a:avLst/>
            <a:gdLst/>
            <a:ahLst/>
            <a:cxnLst/>
            <a:rect l="l" t="t" r="r" b="b"/>
            <a:pathLst>
              <a:path h="547369">
                <a:moveTo>
                  <a:pt x="0" y="0"/>
                </a:moveTo>
                <a:lnTo>
                  <a:pt x="0" y="547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06385" y="2620010"/>
            <a:ext cx="730885" cy="0"/>
          </a:xfrm>
          <a:custGeom>
            <a:avLst/>
            <a:gdLst/>
            <a:ahLst/>
            <a:cxnLst/>
            <a:rect l="l" t="t" r="r" b="b"/>
            <a:pathLst>
              <a:path w="730884">
                <a:moveTo>
                  <a:pt x="0" y="0"/>
                </a:moveTo>
                <a:lnTo>
                  <a:pt x="73037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36763" y="2072639"/>
            <a:ext cx="0" cy="547370"/>
          </a:xfrm>
          <a:custGeom>
            <a:avLst/>
            <a:gdLst/>
            <a:ahLst/>
            <a:cxnLst/>
            <a:rect l="l" t="t" r="r" b="b"/>
            <a:pathLst>
              <a:path h="547369">
                <a:moveTo>
                  <a:pt x="0" y="54737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66792" y="2160523"/>
            <a:ext cx="379857" cy="243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56886" y="2150617"/>
            <a:ext cx="730885" cy="0"/>
          </a:xfrm>
          <a:custGeom>
            <a:avLst/>
            <a:gdLst/>
            <a:ahLst/>
            <a:cxnLst/>
            <a:rect l="l" t="t" r="r" b="b"/>
            <a:pathLst>
              <a:path w="730885">
                <a:moveTo>
                  <a:pt x="0" y="0"/>
                </a:moveTo>
                <a:lnTo>
                  <a:pt x="7303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56886" y="2150617"/>
            <a:ext cx="0" cy="547370"/>
          </a:xfrm>
          <a:custGeom>
            <a:avLst/>
            <a:gdLst/>
            <a:ahLst/>
            <a:cxnLst/>
            <a:rect l="l" t="t" r="r" b="b"/>
            <a:pathLst>
              <a:path h="547369">
                <a:moveTo>
                  <a:pt x="0" y="0"/>
                </a:moveTo>
                <a:lnTo>
                  <a:pt x="0" y="5473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56886" y="2697988"/>
            <a:ext cx="730885" cy="0"/>
          </a:xfrm>
          <a:custGeom>
            <a:avLst/>
            <a:gdLst/>
            <a:ahLst/>
            <a:cxnLst/>
            <a:rect l="l" t="t" r="r" b="b"/>
            <a:pathLst>
              <a:path w="730885">
                <a:moveTo>
                  <a:pt x="0" y="0"/>
                </a:moveTo>
                <a:lnTo>
                  <a:pt x="7303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87264" y="2150617"/>
            <a:ext cx="0" cy="547370"/>
          </a:xfrm>
          <a:custGeom>
            <a:avLst/>
            <a:gdLst/>
            <a:ahLst/>
            <a:cxnLst/>
            <a:rect l="l" t="t" r="r" b="b"/>
            <a:pathLst>
              <a:path h="547369">
                <a:moveTo>
                  <a:pt x="0" y="54736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38800" y="2959798"/>
            <a:ext cx="580390" cy="396875"/>
          </a:xfrm>
          <a:custGeom>
            <a:avLst/>
            <a:gdLst/>
            <a:ahLst/>
            <a:cxnLst/>
            <a:rect l="l" t="t" r="r" b="b"/>
            <a:pathLst>
              <a:path w="580389" h="396875">
                <a:moveTo>
                  <a:pt x="580341" y="396738"/>
                </a:moveTo>
                <a:lnTo>
                  <a:pt x="580341" y="52853"/>
                </a:lnTo>
                <a:lnTo>
                  <a:pt x="574804" y="32280"/>
                </a:lnTo>
                <a:lnTo>
                  <a:pt x="559692" y="15480"/>
                </a:lnTo>
                <a:lnTo>
                  <a:pt x="537249" y="4153"/>
                </a:lnTo>
                <a:lnTo>
                  <a:pt x="509722" y="0"/>
                </a:lnTo>
                <a:lnTo>
                  <a:pt x="69614" y="0"/>
                </a:lnTo>
                <a:lnTo>
                  <a:pt x="42145" y="4153"/>
                </a:lnTo>
                <a:lnTo>
                  <a:pt x="19733" y="15480"/>
                </a:lnTo>
                <a:lnTo>
                  <a:pt x="4633" y="32280"/>
                </a:lnTo>
                <a:lnTo>
                  <a:pt x="0" y="49506"/>
                </a:lnTo>
              </a:path>
            </a:pathLst>
          </a:custGeom>
          <a:ln w="24703">
            <a:solidFill>
              <a:srgbClr val="00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85268" y="2739050"/>
            <a:ext cx="610235" cy="725170"/>
          </a:xfrm>
          <a:custGeom>
            <a:avLst/>
            <a:gdLst/>
            <a:ahLst/>
            <a:cxnLst/>
            <a:rect l="l" t="t" r="r" b="b"/>
            <a:pathLst>
              <a:path w="610235" h="725170">
                <a:moveTo>
                  <a:pt x="68713" y="337926"/>
                </a:moveTo>
                <a:lnTo>
                  <a:pt x="0" y="534414"/>
                </a:lnTo>
                <a:lnTo>
                  <a:pt x="235318" y="724950"/>
                </a:lnTo>
                <a:lnTo>
                  <a:pt x="343522" y="539968"/>
                </a:lnTo>
                <a:lnTo>
                  <a:pt x="192179" y="539968"/>
                </a:lnTo>
                <a:lnTo>
                  <a:pt x="68713" y="337926"/>
                </a:lnTo>
                <a:close/>
              </a:path>
              <a:path w="610235" h="725170">
                <a:moveTo>
                  <a:pt x="609954" y="0"/>
                </a:moveTo>
                <a:lnTo>
                  <a:pt x="192179" y="539968"/>
                </a:lnTo>
                <a:lnTo>
                  <a:pt x="343522" y="539968"/>
                </a:lnTo>
                <a:lnTo>
                  <a:pt x="609954" y="84488"/>
                </a:lnTo>
                <a:lnTo>
                  <a:pt x="6099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38800" y="3714750"/>
            <a:ext cx="457200" cy="342900"/>
          </a:xfrm>
          <a:custGeom>
            <a:avLst/>
            <a:gdLst/>
            <a:ahLst/>
            <a:cxnLst/>
            <a:rect l="l" t="t" r="r" b="b"/>
            <a:pathLst>
              <a:path w="457200" h="342900">
                <a:moveTo>
                  <a:pt x="320039" y="274319"/>
                </a:moveTo>
                <a:lnTo>
                  <a:pt x="137160" y="274319"/>
                </a:lnTo>
                <a:lnTo>
                  <a:pt x="228600" y="342900"/>
                </a:lnTo>
                <a:lnTo>
                  <a:pt x="320039" y="274319"/>
                </a:lnTo>
                <a:close/>
              </a:path>
              <a:path w="457200" h="342900">
                <a:moveTo>
                  <a:pt x="274320" y="205740"/>
                </a:moveTo>
                <a:lnTo>
                  <a:pt x="182879" y="205740"/>
                </a:lnTo>
                <a:lnTo>
                  <a:pt x="182879" y="274319"/>
                </a:lnTo>
                <a:lnTo>
                  <a:pt x="274320" y="274319"/>
                </a:lnTo>
                <a:lnTo>
                  <a:pt x="274320" y="205740"/>
                </a:lnTo>
                <a:close/>
              </a:path>
              <a:path w="457200" h="342900">
                <a:moveTo>
                  <a:pt x="91439" y="102869"/>
                </a:moveTo>
                <a:lnTo>
                  <a:pt x="0" y="171450"/>
                </a:lnTo>
                <a:lnTo>
                  <a:pt x="91439" y="240030"/>
                </a:lnTo>
                <a:lnTo>
                  <a:pt x="91439" y="205740"/>
                </a:lnTo>
                <a:lnTo>
                  <a:pt x="411479" y="205740"/>
                </a:lnTo>
                <a:lnTo>
                  <a:pt x="457200" y="171450"/>
                </a:lnTo>
                <a:lnTo>
                  <a:pt x="411479" y="137159"/>
                </a:lnTo>
                <a:lnTo>
                  <a:pt x="91439" y="137159"/>
                </a:lnTo>
                <a:lnTo>
                  <a:pt x="91439" y="102869"/>
                </a:lnTo>
                <a:close/>
              </a:path>
              <a:path w="457200" h="342900">
                <a:moveTo>
                  <a:pt x="411479" y="205740"/>
                </a:moveTo>
                <a:lnTo>
                  <a:pt x="365760" y="205740"/>
                </a:lnTo>
                <a:lnTo>
                  <a:pt x="365760" y="240030"/>
                </a:lnTo>
                <a:lnTo>
                  <a:pt x="411479" y="205740"/>
                </a:lnTo>
                <a:close/>
              </a:path>
              <a:path w="457200" h="342900">
                <a:moveTo>
                  <a:pt x="274320" y="68580"/>
                </a:moveTo>
                <a:lnTo>
                  <a:pt x="182879" y="68580"/>
                </a:lnTo>
                <a:lnTo>
                  <a:pt x="182879" y="137159"/>
                </a:lnTo>
                <a:lnTo>
                  <a:pt x="274320" y="137159"/>
                </a:lnTo>
                <a:lnTo>
                  <a:pt x="274320" y="68580"/>
                </a:lnTo>
                <a:close/>
              </a:path>
              <a:path w="457200" h="342900">
                <a:moveTo>
                  <a:pt x="365760" y="102869"/>
                </a:moveTo>
                <a:lnTo>
                  <a:pt x="365760" y="137159"/>
                </a:lnTo>
                <a:lnTo>
                  <a:pt x="411479" y="137159"/>
                </a:lnTo>
                <a:lnTo>
                  <a:pt x="365760" y="102869"/>
                </a:lnTo>
                <a:close/>
              </a:path>
              <a:path w="457200" h="342900">
                <a:moveTo>
                  <a:pt x="228600" y="0"/>
                </a:moveTo>
                <a:lnTo>
                  <a:pt x="137160" y="68580"/>
                </a:lnTo>
                <a:lnTo>
                  <a:pt x="320039" y="68580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38800" y="3714750"/>
            <a:ext cx="457200" cy="342900"/>
          </a:xfrm>
          <a:custGeom>
            <a:avLst/>
            <a:gdLst/>
            <a:ahLst/>
            <a:cxnLst/>
            <a:rect l="l" t="t" r="r" b="b"/>
            <a:pathLst>
              <a:path w="457200" h="342900">
                <a:moveTo>
                  <a:pt x="228600" y="0"/>
                </a:moveTo>
                <a:lnTo>
                  <a:pt x="137160" y="68580"/>
                </a:lnTo>
                <a:lnTo>
                  <a:pt x="182879" y="68580"/>
                </a:lnTo>
                <a:lnTo>
                  <a:pt x="182879" y="137159"/>
                </a:lnTo>
                <a:lnTo>
                  <a:pt x="91439" y="137159"/>
                </a:lnTo>
                <a:lnTo>
                  <a:pt x="91439" y="102869"/>
                </a:lnTo>
                <a:lnTo>
                  <a:pt x="0" y="171450"/>
                </a:lnTo>
                <a:lnTo>
                  <a:pt x="91439" y="240030"/>
                </a:lnTo>
                <a:lnTo>
                  <a:pt x="91439" y="205740"/>
                </a:lnTo>
                <a:lnTo>
                  <a:pt x="182879" y="205740"/>
                </a:lnTo>
                <a:lnTo>
                  <a:pt x="182879" y="274319"/>
                </a:lnTo>
                <a:lnTo>
                  <a:pt x="137160" y="274319"/>
                </a:lnTo>
                <a:lnTo>
                  <a:pt x="228600" y="342900"/>
                </a:lnTo>
                <a:lnTo>
                  <a:pt x="320039" y="274319"/>
                </a:lnTo>
                <a:lnTo>
                  <a:pt x="274320" y="274319"/>
                </a:lnTo>
                <a:lnTo>
                  <a:pt x="274320" y="205740"/>
                </a:lnTo>
                <a:lnTo>
                  <a:pt x="365760" y="205740"/>
                </a:lnTo>
                <a:lnTo>
                  <a:pt x="365760" y="240030"/>
                </a:lnTo>
                <a:lnTo>
                  <a:pt x="457200" y="171450"/>
                </a:lnTo>
                <a:lnTo>
                  <a:pt x="365760" y="102869"/>
                </a:lnTo>
                <a:lnTo>
                  <a:pt x="365760" y="137159"/>
                </a:lnTo>
                <a:lnTo>
                  <a:pt x="274320" y="137159"/>
                </a:lnTo>
                <a:lnTo>
                  <a:pt x="274320" y="68580"/>
                </a:lnTo>
                <a:lnTo>
                  <a:pt x="320039" y="68580"/>
                </a:lnTo>
                <a:lnTo>
                  <a:pt x="2286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0" y="4789144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4142816"/>
            <a:ext cx="9144000" cy="646430"/>
          </a:xfrm>
          <a:custGeom>
            <a:avLst/>
            <a:gdLst/>
            <a:ahLst/>
            <a:cxnLst/>
            <a:rect l="l" t="t" r="r" b="b"/>
            <a:pathLst>
              <a:path w="9144000" h="646429">
                <a:moveTo>
                  <a:pt x="9144000" y="0"/>
                </a:moveTo>
                <a:lnTo>
                  <a:pt x="0" y="0"/>
                </a:lnTo>
                <a:lnTo>
                  <a:pt x="0" y="64632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8739" y="3451986"/>
            <a:ext cx="8509000" cy="1289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1236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ahoma"/>
                <a:cs typeface="Tahoma"/>
              </a:rPr>
              <a:t>Alcance(trabajo)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 marR="5080">
              <a:lnSpc>
                <a:spcPct val="100600"/>
              </a:lnSpc>
            </a:pPr>
            <a:r>
              <a:rPr sz="1800" spc="-100" dirty="0">
                <a:latin typeface="Arial"/>
                <a:cs typeface="Arial"/>
              </a:rPr>
              <a:t>Disciplina </a:t>
            </a:r>
            <a:r>
              <a:rPr sz="1800" spc="-110" dirty="0">
                <a:latin typeface="Arial"/>
                <a:cs typeface="Arial"/>
              </a:rPr>
              <a:t>que </a:t>
            </a:r>
            <a:r>
              <a:rPr sz="1800" spc="-204" dirty="0">
                <a:latin typeface="Arial"/>
                <a:cs typeface="Arial"/>
              </a:rPr>
              <a:t>nos </a:t>
            </a:r>
            <a:r>
              <a:rPr sz="1800" spc="-55" dirty="0">
                <a:latin typeface="Arial"/>
                <a:cs typeface="Arial"/>
              </a:rPr>
              <a:t>ayuda </a:t>
            </a:r>
            <a:r>
              <a:rPr sz="1800" spc="-10" dirty="0">
                <a:latin typeface="Arial"/>
                <a:cs typeface="Arial"/>
              </a:rPr>
              <a:t>a </a:t>
            </a:r>
            <a:r>
              <a:rPr sz="1800" spc="-105" dirty="0">
                <a:latin typeface="Arial"/>
                <a:cs typeface="Arial"/>
              </a:rPr>
              <a:t>estructurar, </a:t>
            </a:r>
            <a:r>
              <a:rPr sz="1800" spc="-75" dirty="0">
                <a:latin typeface="Arial"/>
                <a:cs typeface="Arial"/>
              </a:rPr>
              <a:t>planear, </a:t>
            </a:r>
            <a:r>
              <a:rPr sz="1800" spc="-55" dirty="0">
                <a:latin typeface="Arial"/>
                <a:cs typeface="Arial"/>
              </a:rPr>
              <a:t>organizar </a:t>
            </a:r>
            <a:r>
              <a:rPr sz="1800" dirty="0">
                <a:latin typeface="Arial"/>
                <a:cs typeface="Arial"/>
              </a:rPr>
              <a:t>y </a:t>
            </a:r>
            <a:r>
              <a:rPr sz="1800" spc="-75" dirty="0">
                <a:latin typeface="Arial"/>
                <a:cs typeface="Arial"/>
              </a:rPr>
              <a:t>coordinar </a:t>
            </a:r>
            <a:r>
              <a:rPr sz="1800" spc="-160" dirty="0">
                <a:latin typeface="Arial"/>
                <a:cs typeface="Arial"/>
              </a:rPr>
              <a:t>en </a:t>
            </a:r>
            <a:r>
              <a:rPr sz="1800" spc="-65" dirty="0">
                <a:latin typeface="Arial"/>
                <a:cs typeface="Arial"/>
              </a:rPr>
              <a:t>forma </a:t>
            </a:r>
            <a:r>
              <a:rPr sz="1800" spc="-60" dirty="0">
                <a:latin typeface="Arial"/>
                <a:cs typeface="Arial"/>
              </a:rPr>
              <a:t>ordenada </a:t>
            </a:r>
            <a:r>
              <a:rPr sz="1800" spc="-15" dirty="0">
                <a:latin typeface="Arial"/>
                <a:cs typeface="Arial"/>
              </a:rPr>
              <a:t>la  </a:t>
            </a:r>
            <a:r>
              <a:rPr sz="1800" spc="-130" dirty="0">
                <a:latin typeface="Arial"/>
                <a:cs typeface="Arial"/>
              </a:rPr>
              <a:t>ejecución </a:t>
            </a:r>
            <a:r>
              <a:rPr sz="1800" spc="-55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proyectos </a:t>
            </a:r>
            <a:r>
              <a:rPr sz="1800" spc="-55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diferente </a:t>
            </a:r>
            <a:r>
              <a:rPr sz="1800" spc="-90" dirty="0">
                <a:latin typeface="Arial"/>
                <a:cs typeface="Arial"/>
              </a:rPr>
              <a:t>índole alineándolos </a:t>
            </a:r>
            <a:r>
              <a:rPr sz="1800" spc="-10" dirty="0">
                <a:latin typeface="Arial"/>
                <a:cs typeface="Arial"/>
              </a:rPr>
              <a:t>a la </a:t>
            </a:r>
            <a:r>
              <a:rPr sz="1800" spc="-60" dirty="0">
                <a:latin typeface="Arial"/>
                <a:cs typeface="Arial"/>
              </a:rPr>
              <a:t>estrategia</a:t>
            </a:r>
            <a:r>
              <a:rPr sz="1800" spc="14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organizacional.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387" y="1364741"/>
            <a:ext cx="7411084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b="1" spc="-190" dirty="0">
                <a:latin typeface="Arial"/>
                <a:cs typeface="Arial"/>
              </a:rPr>
              <a:t>Que </a:t>
            </a:r>
            <a:r>
              <a:rPr sz="2900" b="1" spc="-175" dirty="0">
                <a:latin typeface="Arial"/>
                <a:cs typeface="Arial"/>
              </a:rPr>
              <a:t>diferencia </a:t>
            </a:r>
            <a:r>
              <a:rPr sz="2900" b="1" spc="-130" dirty="0">
                <a:latin typeface="Arial"/>
                <a:cs typeface="Arial"/>
              </a:rPr>
              <a:t>hay </a:t>
            </a:r>
            <a:r>
              <a:rPr sz="2900" b="1" spc="-215" dirty="0">
                <a:latin typeface="Arial"/>
                <a:cs typeface="Arial"/>
              </a:rPr>
              <a:t>entre </a:t>
            </a:r>
            <a:r>
              <a:rPr sz="2900" b="1" spc="-245" dirty="0">
                <a:latin typeface="Arial"/>
                <a:cs typeface="Arial"/>
              </a:rPr>
              <a:t>estructurar </a:t>
            </a:r>
            <a:r>
              <a:rPr sz="2900" b="1" spc="-75" dirty="0">
                <a:latin typeface="Arial"/>
                <a:cs typeface="Arial"/>
              </a:rPr>
              <a:t>y </a:t>
            </a:r>
            <a:r>
              <a:rPr sz="2900" b="1" spc="-150" dirty="0">
                <a:latin typeface="Arial"/>
                <a:cs typeface="Arial"/>
              </a:rPr>
              <a:t>evaluar  </a:t>
            </a:r>
            <a:r>
              <a:rPr sz="2900" b="1" spc="-260" dirty="0">
                <a:latin typeface="Arial"/>
                <a:cs typeface="Arial"/>
              </a:rPr>
              <a:t>proyectos </a:t>
            </a:r>
            <a:r>
              <a:rPr sz="2900" b="1" spc="-75" dirty="0">
                <a:latin typeface="Arial"/>
                <a:cs typeface="Arial"/>
              </a:rPr>
              <a:t>y </a:t>
            </a:r>
            <a:r>
              <a:rPr sz="2900" b="1" spc="-65" dirty="0">
                <a:latin typeface="Arial"/>
                <a:cs typeface="Arial"/>
              </a:rPr>
              <a:t>la </a:t>
            </a:r>
            <a:r>
              <a:rPr sz="2900" b="1" spc="-204" dirty="0">
                <a:latin typeface="Arial"/>
                <a:cs typeface="Arial"/>
              </a:rPr>
              <a:t>gerencia </a:t>
            </a:r>
            <a:r>
              <a:rPr sz="2900" b="1" spc="-225" dirty="0">
                <a:latin typeface="Arial"/>
                <a:cs typeface="Arial"/>
              </a:rPr>
              <a:t>de</a:t>
            </a:r>
            <a:r>
              <a:rPr sz="2900" b="1" spc="-190" dirty="0">
                <a:latin typeface="Arial"/>
                <a:cs typeface="Arial"/>
              </a:rPr>
              <a:t> </a:t>
            </a:r>
            <a:r>
              <a:rPr sz="2900" b="1" spc="-285" dirty="0">
                <a:latin typeface="Arial"/>
                <a:cs typeface="Arial"/>
              </a:rPr>
              <a:t>proyectos</a:t>
            </a:r>
            <a:r>
              <a:rPr sz="2900" spc="-285" dirty="0">
                <a:latin typeface="Arial"/>
                <a:cs typeface="Arial"/>
              </a:rPr>
              <a:t>?</a:t>
            </a:r>
            <a:endParaRPr sz="2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95096"/>
            <a:ext cx="19761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i="0" spc="-1055" dirty="0">
                <a:latin typeface="Arial"/>
                <a:cs typeface="Arial"/>
              </a:rPr>
              <a:t>R</a:t>
            </a:r>
            <a:r>
              <a:rPr sz="4200" b="0" i="0" spc="-10" dirty="0">
                <a:latin typeface="Arial"/>
                <a:cs typeface="Arial"/>
              </a:rPr>
              <a:t>efl</a:t>
            </a:r>
            <a:r>
              <a:rPr sz="4200" b="0" i="0" spc="-345" dirty="0">
                <a:latin typeface="Arial"/>
                <a:cs typeface="Arial"/>
              </a:rPr>
              <a:t>e</a:t>
            </a:r>
            <a:r>
              <a:rPr sz="4200" b="0" i="0" spc="-190" dirty="0">
                <a:latin typeface="Arial"/>
                <a:cs typeface="Arial"/>
              </a:rPr>
              <a:t>xiòn</a:t>
            </a:r>
            <a:endParaRPr sz="4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53200" y="2716623"/>
            <a:ext cx="2371725" cy="2179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35737"/>
            <a:ext cx="254000" cy="507365"/>
          </a:xfrm>
          <a:custGeom>
            <a:avLst/>
            <a:gdLst/>
            <a:ahLst/>
            <a:cxnLst/>
            <a:rect l="l" t="t" r="r" b="b"/>
            <a:pathLst>
              <a:path w="254000" h="507365">
                <a:moveTo>
                  <a:pt x="253606" y="0"/>
                </a:moveTo>
                <a:lnTo>
                  <a:pt x="208018" y="4085"/>
                </a:lnTo>
                <a:lnTo>
                  <a:pt x="165112" y="15865"/>
                </a:lnTo>
                <a:lnTo>
                  <a:pt x="125603" y="34623"/>
                </a:lnTo>
                <a:lnTo>
                  <a:pt x="90208" y="59644"/>
                </a:lnTo>
                <a:lnTo>
                  <a:pt x="59643" y="90210"/>
                </a:lnTo>
                <a:lnTo>
                  <a:pt x="34623" y="125607"/>
                </a:lnTo>
                <a:lnTo>
                  <a:pt x="15865" y="165118"/>
                </a:lnTo>
                <a:lnTo>
                  <a:pt x="4085" y="208027"/>
                </a:lnTo>
                <a:lnTo>
                  <a:pt x="0" y="253618"/>
                </a:lnTo>
                <a:lnTo>
                  <a:pt x="4085" y="299210"/>
                </a:lnTo>
                <a:lnTo>
                  <a:pt x="15865" y="342119"/>
                </a:lnTo>
                <a:lnTo>
                  <a:pt x="34623" y="381630"/>
                </a:lnTo>
                <a:lnTo>
                  <a:pt x="59643" y="417027"/>
                </a:lnTo>
                <a:lnTo>
                  <a:pt x="90208" y="447593"/>
                </a:lnTo>
                <a:lnTo>
                  <a:pt x="125603" y="472614"/>
                </a:lnTo>
                <a:lnTo>
                  <a:pt x="165112" y="491372"/>
                </a:lnTo>
                <a:lnTo>
                  <a:pt x="208018" y="503152"/>
                </a:lnTo>
                <a:lnTo>
                  <a:pt x="253606" y="507238"/>
                </a:lnTo>
                <a:lnTo>
                  <a:pt x="253606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0806" y="435775"/>
            <a:ext cx="7976234" cy="507365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2080895">
              <a:lnSpc>
                <a:spcPct val="100000"/>
              </a:lnSpc>
              <a:spcBef>
                <a:spcPts val="145"/>
              </a:spcBef>
            </a:pPr>
            <a:r>
              <a:rPr sz="2500" i="0" spc="-270" dirty="0">
                <a:solidFill>
                  <a:srgbClr val="000000"/>
                </a:solidFill>
                <a:latin typeface="Arial"/>
                <a:cs typeface="Arial"/>
              </a:rPr>
              <a:t>La </a:t>
            </a:r>
            <a:r>
              <a:rPr sz="2500" i="0" spc="-185" dirty="0">
                <a:solidFill>
                  <a:srgbClr val="000000"/>
                </a:solidFill>
                <a:latin typeface="Arial"/>
                <a:cs typeface="Arial"/>
              </a:rPr>
              <a:t>Estrategia </a:t>
            </a:r>
            <a:r>
              <a:rPr sz="2500" i="0" spc="-70" dirty="0">
                <a:solidFill>
                  <a:srgbClr val="000000"/>
                </a:solidFill>
                <a:latin typeface="Arial"/>
                <a:cs typeface="Arial"/>
              </a:rPr>
              <a:t>y </a:t>
            </a:r>
            <a:r>
              <a:rPr sz="2500" i="0" spc="-330" dirty="0">
                <a:solidFill>
                  <a:srgbClr val="000000"/>
                </a:solidFill>
                <a:latin typeface="Arial"/>
                <a:cs typeface="Arial"/>
              </a:rPr>
              <a:t>Los</a:t>
            </a:r>
            <a:r>
              <a:rPr sz="2500" i="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500" i="0" spc="-245" dirty="0">
                <a:solidFill>
                  <a:srgbClr val="000000"/>
                </a:solidFill>
                <a:latin typeface="Arial"/>
                <a:cs typeface="Arial"/>
              </a:rPr>
              <a:t>Proyectos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1291589"/>
            <a:ext cx="7301230" cy="342392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32740" marR="5080" indent="-320040">
              <a:lnSpc>
                <a:spcPct val="70000"/>
              </a:lnSpc>
              <a:spcBef>
                <a:spcPts val="82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265" dirty="0">
                <a:solidFill>
                  <a:srgbClr val="222222"/>
                </a:solidFill>
                <a:latin typeface="Arial"/>
                <a:cs typeface="Arial"/>
              </a:rPr>
              <a:t>Los </a:t>
            </a:r>
            <a:r>
              <a:rPr sz="2000" spc="-114" dirty="0">
                <a:solidFill>
                  <a:srgbClr val="222222"/>
                </a:solidFill>
                <a:latin typeface="Arial"/>
                <a:cs typeface="Arial"/>
              </a:rPr>
              <a:t>proyectos </a:t>
            </a:r>
            <a:r>
              <a:rPr sz="2000" spc="-225" dirty="0">
                <a:solidFill>
                  <a:srgbClr val="222222"/>
                </a:solidFill>
                <a:latin typeface="Arial"/>
                <a:cs typeface="Arial"/>
              </a:rPr>
              <a:t>son </a:t>
            </a:r>
            <a:r>
              <a:rPr sz="2000" spc="-150" dirty="0">
                <a:solidFill>
                  <a:srgbClr val="222222"/>
                </a:solidFill>
                <a:latin typeface="Arial"/>
                <a:cs typeface="Arial"/>
              </a:rPr>
              <a:t>medios </a:t>
            </a:r>
            <a:r>
              <a:rPr sz="2000" spc="-15" dirty="0">
                <a:solidFill>
                  <a:srgbClr val="222222"/>
                </a:solidFill>
                <a:latin typeface="Arial"/>
                <a:cs typeface="Arial"/>
              </a:rPr>
              <a:t>para </a:t>
            </a:r>
            <a:r>
              <a:rPr sz="2000" spc="-55" dirty="0">
                <a:solidFill>
                  <a:srgbClr val="222222"/>
                </a:solidFill>
                <a:latin typeface="Arial"/>
                <a:cs typeface="Arial"/>
              </a:rPr>
              <a:t>materializar </a:t>
            </a:r>
            <a:r>
              <a:rPr sz="2000" spc="-150" dirty="0">
                <a:solidFill>
                  <a:srgbClr val="222222"/>
                </a:solidFill>
                <a:latin typeface="Arial"/>
                <a:cs typeface="Arial"/>
              </a:rPr>
              <a:t>los </a:t>
            </a:r>
            <a:r>
              <a:rPr sz="2000" spc="-100" dirty="0">
                <a:solidFill>
                  <a:srgbClr val="222222"/>
                </a:solidFill>
                <a:latin typeface="Arial"/>
                <a:cs typeface="Arial"/>
              </a:rPr>
              <a:t>objetivos </a:t>
            </a:r>
            <a:r>
              <a:rPr sz="2000" spc="-110" dirty="0">
                <a:solidFill>
                  <a:srgbClr val="222222"/>
                </a:solidFill>
                <a:latin typeface="Arial"/>
                <a:cs typeface="Arial"/>
              </a:rPr>
              <a:t>estrategicos  </a:t>
            </a:r>
            <a:r>
              <a:rPr sz="2000" spc="-100" dirty="0">
                <a:solidFill>
                  <a:srgbClr val="222222"/>
                </a:solidFill>
                <a:latin typeface="Arial"/>
                <a:cs typeface="Arial"/>
              </a:rPr>
              <a:t>organizacionales </a:t>
            </a:r>
            <a:r>
              <a:rPr sz="2000" spc="-125" dirty="0">
                <a:solidFill>
                  <a:srgbClr val="222222"/>
                </a:solidFill>
                <a:latin typeface="Arial"/>
                <a:cs typeface="Arial"/>
              </a:rPr>
              <a:t>que </a:t>
            </a:r>
            <a:r>
              <a:rPr sz="2000" spc="-175" dirty="0">
                <a:solidFill>
                  <a:srgbClr val="222222"/>
                </a:solidFill>
                <a:latin typeface="Arial"/>
                <a:cs typeface="Arial"/>
              </a:rPr>
              <a:t>no </a:t>
            </a:r>
            <a:r>
              <a:rPr sz="2000" spc="-55" dirty="0">
                <a:solidFill>
                  <a:srgbClr val="222222"/>
                </a:solidFill>
                <a:latin typeface="Arial"/>
                <a:cs typeface="Arial"/>
              </a:rPr>
              <a:t>podrian </a:t>
            </a:r>
            <a:r>
              <a:rPr sz="2000" spc="-150" dirty="0">
                <a:solidFill>
                  <a:srgbClr val="222222"/>
                </a:solidFill>
                <a:latin typeface="Arial"/>
                <a:cs typeface="Arial"/>
              </a:rPr>
              <a:t>ser </a:t>
            </a:r>
            <a:r>
              <a:rPr sz="2000" spc="-110" dirty="0">
                <a:solidFill>
                  <a:srgbClr val="222222"/>
                </a:solidFill>
                <a:latin typeface="Arial"/>
                <a:cs typeface="Arial"/>
              </a:rPr>
              <a:t>direccionados </a:t>
            </a:r>
            <a:r>
              <a:rPr sz="2000" spc="-10" dirty="0">
                <a:solidFill>
                  <a:srgbClr val="222222"/>
                </a:solidFill>
                <a:latin typeface="Arial"/>
                <a:cs typeface="Arial"/>
              </a:rPr>
              <a:t>a </a:t>
            </a:r>
            <a:r>
              <a:rPr sz="2000" spc="-110" dirty="0">
                <a:solidFill>
                  <a:srgbClr val="222222"/>
                </a:solidFill>
                <a:latin typeface="Arial"/>
                <a:cs typeface="Arial"/>
              </a:rPr>
              <a:t>traves </a:t>
            </a:r>
            <a:r>
              <a:rPr sz="2000" spc="-60" dirty="0">
                <a:solidFill>
                  <a:srgbClr val="222222"/>
                </a:solidFill>
                <a:latin typeface="Arial"/>
                <a:cs typeface="Arial"/>
              </a:rPr>
              <a:t>de </a:t>
            </a:r>
            <a:r>
              <a:rPr sz="2000" spc="-120" dirty="0">
                <a:solidFill>
                  <a:srgbClr val="222222"/>
                </a:solidFill>
                <a:latin typeface="Arial"/>
                <a:cs typeface="Arial"/>
              </a:rPr>
              <a:t>las  operaciones</a:t>
            </a:r>
            <a:r>
              <a:rPr sz="2000" spc="-5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000" spc="-140" dirty="0">
                <a:solidFill>
                  <a:srgbClr val="222222"/>
                </a:solidFill>
                <a:latin typeface="Arial"/>
                <a:cs typeface="Arial"/>
              </a:rPr>
              <a:t>normales</a:t>
            </a:r>
            <a:endParaRPr sz="2000" dirty="0">
              <a:latin typeface="Arial"/>
              <a:cs typeface="Arial"/>
            </a:endParaRPr>
          </a:p>
          <a:p>
            <a:pPr marL="332740" indent="-320040">
              <a:lnSpc>
                <a:spcPts val="2020"/>
              </a:lnSpc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265" dirty="0">
                <a:solidFill>
                  <a:srgbClr val="222222"/>
                </a:solidFill>
                <a:latin typeface="Arial"/>
                <a:cs typeface="Arial"/>
              </a:rPr>
              <a:t>Los </a:t>
            </a:r>
            <a:r>
              <a:rPr sz="2000" spc="-114" dirty="0">
                <a:solidFill>
                  <a:srgbClr val="222222"/>
                </a:solidFill>
                <a:latin typeface="Arial"/>
                <a:cs typeface="Arial"/>
              </a:rPr>
              <a:t>proyectos </a:t>
            </a:r>
            <a:r>
              <a:rPr sz="2000" spc="-225" dirty="0">
                <a:solidFill>
                  <a:srgbClr val="222222"/>
                </a:solidFill>
                <a:latin typeface="Arial"/>
                <a:cs typeface="Arial"/>
              </a:rPr>
              <a:t>son </a:t>
            </a:r>
            <a:r>
              <a:rPr sz="2000" spc="-90" dirty="0">
                <a:solidFill>
                  <a:srgbClr val="222222"/>
                </a:solidFill>
                <a:latin typeface="Arial"/>
                <a:cs typeface="Arial"/>
              </a:rPr>
              <a:t>utilizados </a:t>
            </a:r>
            <a:r>
              <a:rPr sz="2000" spc="-15" dirty="0">
                <a:solidFill>
                  <a:srgbClr val="222222"/>
                </a:solidFill>
                <a:latin typeface="Arial"/>
                <a:cs typeface="Arial"/>
              </a:rPr>
              <a:t>para </a:t>
            </a:r>
            <a:r>
              <a:rPr sz="2000" spc="-80" dirty="0">
                <a:solidFill>
                  <a:srgbClr val="222222"/>
                </a:solidFill>
                <a:latin typeface="Arial"/>
                <a:cs typeface="Arial"/>
              </a:rPr>
              <a:t>alcanzar </a:t>
            </a:r>
            <a:r>
              <a:rPr sz="2000" spc="-60" dirty="0">
                <a:solidFill>
                  <a:srgbClr val="222222"/>
                </a:solidFill>
                <a:latin typeface="Arial"/>
                <a:cs typeface="Arial"/>
              </a:rPr>
              <a:t>el </a:t>
            </a:r>
            <a:r>
              <a:rPr sz="2000" spc="-65" dirty="0">
                <a:solidFill>
                  <a:srgbClr val="222222"/>
                </a:solidFill>
                <a:latin typeface="Arial"/>
                <a:cs typeface="Arial"/>
              </a:rPr>
              <a:t>plan</a:t>
            </a:r>
            <a:r>
              <a:rPr sz="2000" spc="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222222"/>
                </a:solidFill>
                <a:latin typeface="Arial"/>
                <a:cs typeface="Arial"/>
              </a:rPr>
              <a:t>estrategico</a:t>
            </a:r>
            <a:endParaRPr sz="2000" dirty="0">
              <a:latin typeface="Arial"/>
              <a:cs typeface="Arial"/>
            </a:endParaRPr>
          </a:p>
          <a:p>
            <a:pPr marL="332105">
              <a:lnSpc>
                <a:spcPts val="2039"/>
              </a:lnSpc>
            </a:pPr>
            <a:r>
              <a:rPr sz="2000" spc="-85" dirty="0">
                <a:solidFill>
                  <a:srgbClr val="222222"/>
                </a:solidFill>
                <a:latin typeface="Arial"/>
                <a:cs typeface="Arial"/>
              </a:rPr>
              <a:t>organizacional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332740" indent="-320040">
              <a:lnSpc>
                <a:spcPts val="2395"/>
              </a:lnSpc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140" dirty="0" err="1">
                <a:solidFill>
                  <a:srgbClr val="222222"/>
                </a:solidFill>
                <a:latin typeface="Arial"/>
                <a:cs typeface="Arial"/>
              </a:rPr>
              <a:t>Consideraciones</a:t>
            </a:r>
            <a:r>
              <a:rPr sz="2000" spc="-4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000" spc="-105" dirty="0" err="1">
                <a:solidFill>
                  <a:srgbClr val="222222"/>
                </a:solidFill>
                <a:latin typeface="Arial"/>
                <a:cs typeface="Arial"/>
              </a:rPr>
              <a:t>estrat</a:t>
            </a:r>
            <a:r>
              <a:rPr lang="es-ES" sz="2000" spc="-105" dirty="0">
                <a:solidFill>
                  <a:srgbClr val="222222"/>
                </a:solidFill>
                <a:latin typeface="Arial"/>
                <a:cs typeface="Arial"/>
              </a:rPr>
              <a:t>é</a:t>
            </a:r>
            <a:r>
              <a:rPr sz="2000" spc="-105" dirty="0" err="1">
                <a:solidFill>
                  <a:srgbClr val="222222"/>
                </a:solidFill>
                <a:latin typeface="Arial"/>
                <a:cs typeface="Arial"/>
              </a:rPr>
              <a:t>gicas</a:t>
            </a:r>
            <a:endParaRPr sz="2000" dirty="0">
              <a:latin typeface="Arial"/>
              <a:cs typeface="Arial"/>
            </a:endParaRPr>
          </a:p>
          <a:p>
            <a:pPr marL="652780" lvl="1" indent="-274320">
              <a:lnSpc>
                <a:spcPts val="2030"/>
              </a:lnSpc>
              <a:buClr>
                <a:srgbClr val="2CA1BE"/>
              </a:buClr>
              <a:buSzPct val="70588"/>
              <a:buChar char=""/>
              <a:tabLst>
                <a:tab pos="652780" algn="l"/>
                <a:tab pos="653415" algn="l"/>
              </a:tabLst>
            </a:pPr>
            <a:r>
              <a:rPr sz="1700" spc="-135" dirty="0">
                <a:latin typeface="Arial"/>
                <a:cs typeface="Arial"/>
              </a:rPr>
              <a:t>Demandas </a:t>
            </a:r>
            <a:r>
              <a:rPr sz="1700" spc="-35" dirty="0">
                <a:latin typeface="Arial"/>
                <a:cs typeface="Arial"/>
              </a:rPr>
              <a:t>del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Mercado</a:t>
            </a:r>
            <a:endParaRPr sz="1700" dirty="0">
              <a:latin typeface="Arial"/>
              <a:cs typeface="Arial"/>
            </a:endParaRPr>
          </a:p>
          <a:p>
            <a:pPr marL="652780" lvl="1" indent="-274320">
              <a:lnSpc>
                <a:spcPts val="2030"/>
              </a:lnSpc>
              <a:buClr>
                <a:srgbClr val="2CA1BE"/>
              </a:buClr>
              <a:buSzPct val="67647"/>
              <a:buChar char=""/>
              <a:tabLst>
                <a:tab pos="652780" algn="l"/>
                <a:tab pos="653415" algn="l"/>
              </a:tabLst>
            </a:pPr>
            <a:r>
              <a:rPr sz="1700" spc="-110" dirty="0">
                <a:latin typeface="Arial"/>
                <a:cs typeface="Arial"/>
              </a:rPr>
              <a:t>Necesidades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Organizacionales</a:t>
            </a:r>
            <a:endParaRPr sz="1700" dirty="0">
              <a:latin typeface="Arial"/>
              <a:cs typeface="Arial"/>
            </a:endParaRPr>
          </a:p>
          <a:p>
            <a:pPr marL="652780" lvl="1" indent="-274320">
              <a:lnSpc>
                <a:spcPts val="2030"/>
              </a:lnSpc>
              <a:buClr>
                <a:srgbClr val="2CA1BE"/>
              </a:buClr>
              <a:buSzPct val="67647"/>
              <a:buChar char=""/>
              <a:tabLst>
                <a:tab pos="652780" algn="l"/>
                <a:tab pos="653415" algn="l"/>
              </a:tabLst>
            </a:pPr>
            <a:r>
              <a:rPr sz="1700" spc="-110" dirty="0">
                <a:latin typeface="Arial"/>
                <a:cs typeface="Arial"/>
              </a:rPr>
              <a:t>Solicitudes </a:t>
            </a:r>
            <a:r>
              <a:rPr sz="1700" spc="-35" dirty="0">
                <a:latin typeface="Arial"/>
                <a:cs typeface="Arial"/>
              </a:rPr>
              <a:t>del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Cliente</a:t>
            </a:r>
            <a:endParaRPr sz="1700" dirty="0">
              <a:latin typeface="Arial"/>
              <a:cs typeface="Arial"/>
            </a:endParaRPr>
          </a:p>
          <a:p>
            <a:pPr marL="652780" lvl="1" indent="-274320">
              <a:lnSpc>
                <a:spcPts val="2030"/>
              </a:lnSpc>
              <a:buClr>
                <a:srgbClr val="2CA1BE"/>
              </a:buClr>
              <a:buSzPct val="67647"/>
              <a:buChar char=""/>
              <a:tabLst>
                <a:tab pos="652780" algn="l"/>
                <a:tab pos="653415" algn="l"/>
              </a:tabLst>
            </a:pPr>
            <a:r>
              <a:rPr sz="1700" spc="-135" dirty="0">
                <a:latin typeface="Arial"/>
                <a:cs typeface="Arial"/>
              </a:rPr>
              <a:t>Avance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Tecnologico</a:t>
            </a:r>
            <a:endParaRPr sz="1700" dirty="0">
              <a:latin typeface="Arial"/>
              <a:cs typeface="Arial"/>
            </a:endParaRPr>
          </a:p>
          <a:p>
            <a:pPr marL="652780" lvl="1" indent="-274320">
              <a:lnSpc>
                <a:spcPts val="2030"/>
              </a:lnSpc>
              <a:buClr>
                <a:srgbClr val="2CA1BE"/>
              </a:buClr>
              <a:buSzPct val="70588"/>
              <a:buChar char=""/>
              <a:tabLst>
                <a:tab pos="652780" algn="l"/>
                <a:tab pos="653415" algn="l"/>
              </a:tabLst>
            </a:pPr>
            <a:r>
              <a:rPr sz="1700" spc="-135" dirty="0">
                <a:latin typeface="Arial"/>
                <a:cs typeface="Arial"/>
              </a:rPr>
              <a:t>Requerimientos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legales</a:t>
            </a:r>
            <a:endParaRPr sz="1700" dirty="0">
              <a:latin typeface="Arial"/>
              <a:cs typeface="Arial"/>
            </a:endParaRPr>
          </a:p>
          <a:p>
            <a:pPr marL="652780" lvl="1" indent="-274320">
              <a:lnSpc>
                <a:spcPts val="2035"/>
              </a:lnSpc>
              <a:buClr>
                <a:srgbClr val="2CA1BE"/>
              </a:buClr>
              <a:buSzPct val="67647"/>
              <a:buChar char=""/>
              <a:tabLst>
                <a:tab pos="652780" algn="l"/>
                <a:tab pos="653415" algn="l"/>
              </a:tabLst>
            </a:pPr>
            <a:r>
              <a:rPr sz="1700" spc="-125" dirty="0" err="1">
                <a:latin typeface="Arial"/>
                <a:cs typeface="Arial"/>
              </a:rPr>
              <a:t>Innovaci</a:t>
            </a:r>
            <a:r>
              <a:rPr lang="es-ES" sz="1700" spc="-125" dirty="0" err="1">
                <a:latin typeface="Arial"/>
                <a:cs typeface="Arial"/>
              </a:rPr>
              <a:t>ó</a:t>
            </a:r>
            <a:r>
              <a:rPr sz="1700" spc="-125" dirty="0">
                <a:latin typeface="Arial"/>
                <a:cs typeface="Arial"/>
              </a:rPr>
              <a:t>n </a:t>
            </a:r>
            <a:r>
              <a:rPr sz="1700" dirty="0">
                <a:latin typeface="Arial"/>
                <a:cs typeface="Arial"/>
              </a:rPr>
              <a:t>-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Emprendimiento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7200" y="378586"/>
            <a:ext cx="254000" cy="507365"/>
          </a:xfrm>
          <a:custGeom>
            <a:avLst/>
            <a:gdLst/>
            <a:ahLst/>
            <a:cxnLst/>
            <a:rect l="l" t="t" r="r" b="b"/>
            <a:pathLst>
              <a:path w="254000" h="507365">
                <a:moveTo>
                  <a:pt x="253606" y="0"/>
                </a:moveTo>
                <a:lnTo>
                  <a:pt x="208018" y="4085"/>
                </a:lnTo>
                <a:lnTo>
                  <a:pt x="165112" y="15865"/>
                </a:lnTo>
                <a:lnTo>
                  <a:pt x="125603" y="34623"/>
                </a:lnTo>
                <a:lnTo>
                  <a:pt x="90208" y="59644"/>
                </a:lnTo>
                <a:lnTo>
                  <a:pt x="59643" y="90210"/>
                </a:lnTo>
                <a:lnTo>
                  <a:pt x="34623" y="125607"/>
                </a:lnTo>
                <a:lnTo>
                  <a:pt x="15865" y="165118"/>
                </a:lnTo>
                <a:lnTo>
                  <a:pt x="4085" y="208027"/>
                </a:lnTo>
                <a:lnTo>
                  <a:pt x="0" y="253618"/>
                </a:lnTo>
                <a:lnTo>
                  <a:pt x="4085" y="299210"/>
                </a:lnTo>
                <a:lnTo>
                  <a:pt x="15865" y="342119"/>
                </a:lnTo>
                <a:lnTo>
                  <a:pt x="34623" y="381630"/>
                </a:lnTo>
                <a:lnTo>
                  <a:pt x="59643" y="417027"/>
                </a:lnTo>
                <a:lnTo>
                  <a:pt x="90208" y="447593"/>
                </a:lnTo>
                <a:lnTo>
                  <a:pt x="125603" y="472614"/>
                </a:lnTo>
                <a:lnTo>
                  <a:pt x="165112" y="491372"/>
                </a:lnTo>
                <a:lnTo>
                  <a:pt x="208018" y="503152"/>
                </a:lnTo>
                <a:lnTo>
                  <a:pt x="253606" y="507238"/>
                </a:lnTo>
                <a:lnTo>
                  <a:pt x="253606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0806" y="378625"/>
            <a:ext cx="7976234" cy="507365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2268855">
              <a:lnSpc>
                <a:spcPct val="100000"/>
              </a:lnSpc>
              <a:spcBef>
                <a:spcPts val="145"/>
              </a:spcBef>
            </a:pPr>
            <a:r>
              <a:rPr sz="2500" i="0" spc="-245" dirty="0">
                <a:solidFill>
                  <a:srgbClr val="000000"/>
                </a:solidFill>
                <a:latin typeface="Arial"/>
                <a:cs typeface="Arial"/>
              </a:rPr>
              <a:t>Proyectos </a:t>
            </a:r>
            <a:r>
              <a:rPr sz="2500" i="0" spc="-200" dirty="0">
                <a:solidFill>
                  <a:srgbClr val="000000"/>
                </a:solidFill>
                <a:latin typeface="Arial"/>
                <a:cs typeface="Arial"/>
              </a:rPr>
              <a:t>vs </a:t>
            </a:r>
            <a:r>
              <a:rPr sz="2500" i="0" spc="-60" dirty="0">
                <a:solidFill>
                  <a:srgbClr val="000000"/>
                </a:solidFill>
                <a:latin typeface="Arial"/>
                <a:cs typeface="Arial"/>
              </a:rPr>
              <a:t>la</a:t>
            </a:r>
            <a:r>
              <a:rPr sz="2500" i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500" i="0" spc="-180" dirty="0">
                <a:solidFill>
                  <a:srgbClr val="000000"/>
                </a:solidFill>
                <a:latin typeface="Arial"/>
                <a:cs typeface="Arial"/>
              </a:rPr>
              <a:t>Operaciòn</a:t>
            </a:r>
            <a:endParaRPr sz="2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0" y="1253490"/>
            <a:ext cx="7955915" cy="46418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32740" marR="5080" indent="-320040">
              <a:lnSpc>
                <a:spcPct val="80000"/>
              </a:lnSpc>
              <a:spcBef>
                <a:spcPts val="480"/>
              </a:spcBef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600" spc="-190" dirty="0">
                <a:latin typeface="Arial"/>
                <a:cs typeface="Arial"/>
              </a:rPr>
              <a:t>El </a:t>
            </a:r>
            <a:r>
              <a:rPr sz="1600" spc="-30" dirty="0">
                <a:latin typeface="Arial"/>
                <a:cs typeface="Arial"/>
              </a:rPr>
              <a:t>trabajo </a:t>
            </a:r>
            <a:r>
              <a:rPr sz="1600" spc="-180" dirty="0">
                <a:latin typeface="Arial"/>
                <a:cs typeface="Arial"/>
              </a:rPr>
              <a:t>es </a:t>
            </a:r>
            <a:r>
              <a:rPr sz="1600" spc="-55" dirty="0">
                <a:latin typeface="Arial"/>
                <a:cs typeface="Arial"/>
              </a:rPr>
              <a:t>categorizado </a:t>
            </a:r>
            <a:r>
              <a:rPr sz="1600" spc="-145" dirty="0">
                <a:latin typeface="Arial"/>
                <a:cs typeface="Arial"/>
              </a:rPr>
              <a:t>en </a:t>
            </a:r>
            <a:r>
              <a:rPr sz="1600" spc="-125" dirty="0">
                <a:latin typeface="Arial"/>
                <a:cs typeface="Arial"/>
              </a:rPr>
              <a:t>dos </a:t>
            </a:r>
            <a:r>
              <a:rPr sz="1600" spc="-160" dirty="0">
                <a:latin typeface="Arial"/>
                <a:cs typeface="Arial"/>
              </a:rPr>
              <a:t>momentos </a:t>
            </a:r>
            <a:r>
              <a:rPr sz="1600" spc="-50" dirty="0">
                <a:latin typeface="Arial"/>
                <a:cs typeface="Arial"/>
              </a:rPr>
              <a:t>el </a:t>
            </a:r>
            <a:r>
              <a:rPr sz="1600" spc="-40" dirty="0">
                <a:latin typeface="Arial"/>
                <a:cs typeface="Arial"/>
              </a:rPr>
              <a:t>del </a:t>
            </a:r>
            <a:r>
              <a:rPr sz="1600" spc="-80" dirty="0">
                <a:latin typeface="Arial"/>
                <a:cs typeface="Arial"/>
              </a:rPr>
              <a:t>proyecto </a:t>
            </a:r>
            <a:r>
              <a:rPr sz="1600" spc="-5" dirty="0">
                <a:latin typeface="Arial"/>
                <a:cs typeface="Arial"/>
              </a:rPr>
              <a:t>y </a:t>
            </a:r>
            <a:r>
              <a:rPr sz="1600" spc="-50" dirty="0">
                <a:latin typeface="Arial"/>
                <a:cs typeface="Arial"/>
              </a:rPr>
              <a:t>el </a:t>
            </a:r>
            <a:r>
              <a:rPr sz="1600" spc="-145" dirty="0">
                <a:latin typeface="Arial"/>
                <a:cs typeface="Arial"/>
              </a:rPr>
              <a:t>momento </a:t>
            </a:r>
            <a:r>
              <a:rPr sz="1600" spc="-55" dirty="0">
                <a:latin typeface="Arial"/>
                <a:cs typeface="Arial"/>
              </a:rPr>
              <a:t>de </a:t>
            </a:r>
            <a:r>
              <a:rPr sz="1600" spc="-10" dirty="0">
                <a:latin typeface="Arial"/>
                <a:cs typeface="Arial"/>
              </a:rPr>
              <a:t>la </a:t>
            </a:r>
            <a:r>
              <a:rPr sz="1600" spc="-80" dirty="0">
                <a:latin typeface="Arial"/>
                <a:cs typeface="Arial"/>
              </a:rPr>
              <a:t>op</a:t>
            </a:r>
            <a:r>
              <a:rPr lang="es-419" sz="1600" spc="-80" dirty="0">
                <a:latin typeface="Arial"/>
                <a:cs typeface="Arial"/>
              </a:rPr>
              <a:t>e</a:t>
            </a:r>
            <a:r>
              <a:rPr sz="1600" spc="-80" dirty="0" err="1">
                <a:latin typeface="Arial"/>
                <a:cs typeface="Arial"/>
              </a:rPr>
              <a:t>racion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100" dirty="0">
                <a:latin typeface="Arial"/>
                <a:cs typeface="Arial"/>
              </a:rPr>
              <a:t>que  </a:t>
            </a:r>
            <a:r>
              <a:rPr sz="1600" spc="-75" dirty="0">
                <a:latin typeface="Arial"/>
                <a:cs typeface="Arial"/>
              </a:rPr>
              <a:t>inicia </a:t>
            </a:r>
            <a:r>
              <a:rPr sz="1600" spc="-120" dirty="0">
                <a:latin typeface="Arial"/>
                <a:cs typeface="Arial"/>
              </a:rPr>
              <a:t>cuando </a:t>
            </a:r>
            <a:r>
              <a:rPr sz="1600" spc="-50" dirty="0">
                <a:latin typeface="Arial"/>
                <a:cs typeface="Arial"/>
              </a:rPr>
              <a:t>el </a:t>
            </a:r>
            <a:r>
              <a:rPr sz="1600" spc="-80" dirty="0">
                <a:latin typeface="Arial"/>
                <a:cs typeface="Arial"/>
              </a:rPr>
              <a:t>proyecto </a:t>
            </a:r>
            <a:r>
              <a:rPr sz="1600" spc="-180" dirty="0">
                <a:latin typeface="Arial"/>
                <a:cs typeface="Arial"/>
              </a:rPr>
              <a:t>es </a:t>
            </a:r>
            <a:r>
              <a:rPr sz="1600" spc="-65" dirty="0">
                <a:latin typeface="Arial"/>
                <a:cs typeface="Arial"/>
              </a:rPr>
              <a:t>lanzado </a:t>
            </a:r>
            <a:r>
              <a:rPr sz="1600" spc="-5" dirty="0">
                <a:latin typeface="Arial"/>
                <a:cs typeface="Arial"/>
              </a:rPr>
              <a:t>y </a:t>
            </a:r>
            <a:r>
              <a:rPr sz="1600" spc="-65" dirty="0">
                <a:latin typeface="Arial"/>
                <a:cs typeface="Arial"/>
              </a:rPr>
              <a:t>entregado </a:t>
            </a:r>
            <a:r>
              <a:rPr sz="1600" spc="-10" dirty="0">
                <a:latin typeface="Arial"/>
                <a:cs typeface="Arial"/>
              </a:rPr>
              <a:t>al</a:t>
            </a:r>
            <a:r>
              <a:rPr sz="1600" spc="160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cliente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40" y="2197709"/>
            <a:ext cx="4240530" cy="55463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b="1" spc="-5" dirty="0">
                <a:latin typeface="Arial"/>
                <a:cs typeface="Arial"/>
              </a:rPr>
              <a:t>Ejemplos</a:t>
            </a:r>
            <a:endParaRPr sz="1400" dirty="0">
              <a:latin typeface="Arial"/>
              <a:cs typeface="Arial"/>
            </a:endParaRPr>
          </a:p>
          <a:p>
            <a:pPr marL="75565" indent="-62865">
              <a:lnSpc>
                <a:spcPct val="100000"/>
              </a:lnSpc>
              <a:spcBef>
                <a:spcPts val="670"/>
              </a:spcBef>
              <a:buSzPct val="92857"/>
              <a:buChar char="•"/>
              <a:tabLst>
                <a:tab pos="76200" algn="l"/>
              </a:tabLst>
            </a:pPr>
            <a:r>
              <a:rPr sz="1400" dirty="0" err="1">
                <a:latin typeface="Arial"/>
                <a:cs typeface="Arial"/>
              </a:rPr>
              <a:t>Desarrollar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un </a:t>
            </a:r>
            <a:r>
              <a:rPr sz="1400" spc="-5" dirty="0" err="1">
                <a:latin typeface="Arial"/>
                <a:cs typeface="Arial"/>
              </a:rPr>
              <a:t>nuevo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sistema </a:t>
            </a:r>
            <a:r>
              <a:rPr sz="1400" spc="-5" dirty="0">
                <a:latin typeface="Arial"/>
                <a:cs typeface="Arial"/>
              </a:rPr>
              <a:t>de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pagos/facturacion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3045" y="2824266"/>
            <a:ext cx="29673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indent="-111125">
              <a:lnSpc>
                <a:spcPct val="100000"/>
              </a:lnSpc>
              <a:spcBef>
                <a:spcPts val="100"/>
              </a:spcBef>
              <a:buChar char="•"/>
              <a:tabLst>
                <a:tab pos="124460" algn="l"/>
              </a:tabLst>
            </a:pPr>
            <a:r>
              <a:rPr sz="1400" dirty="0">
                <a:latin typeface="Arial"/>
                <a:cs typeface="Arial"/>
              </a:rPr>
              <a:t>Construir </a:t>
            </a:r>
            <a:r>
              <a:rPr sz="1400" spc="-5" dirty="0">
                <a:latin typeface="Arial"/>
                <a:cs typeface="Arial"/>
              </a:rPr>
              <a:t>un nuevo </a:t>
            </a:r>
            <a:r>
              <a:rPr sz="1400" dirty="0">
                <a:latin typeface="Arial"/>
                <a:cs typeface="Arial"/>
              </a:rPr>
              <a:t>modelo </a:t>
            </a:r>
            <a:r>
              <a:rPr sz="1400" spc="-5" dirty="0">
                <a:latin typeface="Arial"/>
                <a:cs typeface="Arial"/>
              </a:rPr>
              <a:t>de</a:t>
            </a:r>
            <a:r>
              <a:rPr sz="1400" spc="-1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carro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1140" y="3094355"/>
            <a:ext cx="16973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indent="-111125">
              <a:lnSpc>
                <a:spcPct val="100000"/>
              </a:lnSpc>
              <a:spcBef>
                <a:spcPts val="100"/>
              </a:spcBef>
              <a:buChar char="•"/>
              <a:tabLst>
                <a:tab pos="124460" algn="l"/>
              </a:tabLst>
            </a:pPr>
            <a:r>
              <a:rPr sz="1400" dirty="0">
                <a:latin typeface="Arial"/>
                <a:cs typeface="Arial"/>
              </a:rPr>
              <a:t>Construir </a:t>
            </a:r>
            <a:r>
              <a:rPr sz="1400" spc="-5" dirty="0">
                <a:latin typeface="Arial"/>
                <a:cs typeface="Arial"/>
              </a:rPr>
              <a:t>un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puente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1140" y="3257550"/>
            <a:ext cx="2162175" cy="15195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75565" indent="-62865">
              <a:lnSpc>
                <a:spcPct val="100000"/>
              </a:lnSpc>
              <a:spcBef>
                <a:spcPts val="770"/>
              </a:spcBef>
              <a:buSzPct val="92857"/>
              <a:buChar char="•"/>
              <a:tabLst>
                <a:tab pos="76200" algn="l"/>
              </a:tabLst>
            </a:pPr>
            <a:r>
              <a:rPr sz="1400" dirty="0">
                <a:latin typeface="Arial"/>
                <a:cs typeface="Arial"/>
              </a:rPr>
              <a:t>Disenar </a:t>
            </a:r>
            <a:r>
              <a:rPr sz="1400" spc="-5" dirty="0">
                <a:latin typeface="Arial"/>
                <a:cs typeface="Arial"/>
              </a:rPr>
              <a:t>un nuevo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proceso</a:t>
            </a:r>
          </a:p>
          <a:p>
            <a:pPr marL="75565" indent="-62865">
              <a:lnSpc>
                <a:spcPct val="100000"/>
              </a:lnSpc>
              <a:spcBef>
                <a:spcPts val="670"/>
              </a:spcBef>
              <a:buSzPct val="92857"/>
              <a:buChar char="•"/>
              <a:tabLst>
                <a:tab pos="76200" algn="l"/>
              </a:tabLst>
            </a:pPr>
            <a:r>
              <a:rPr sz="1400" spc="-5" dirty="0">
                <a:latin typeface="Arial"/>
                <a:cs typeface="Arial"/>
              </a:rPr>
              <a:t>Crear una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empresa</a:t>
            </a:r>
          </a:p>
          <a:p>
            <a:pPr marL="75565" indent="-62865">
              <a:lnSpc>
                <a:spcPct val="100000"/>
              </a:lnSpc>
              <a:spcBef>
                <a:spcPts val="675"/>
              </a:spcBef>
              <a:buSzPct val="92857"/>
              <a:buChar char="•"/>
              <a:tabLst>
                <a:tab pos="76200" algn="l"/>
              </a:tabLst>
            </a:pPr>
            <a:r>
              <a:rPr sz="1400" spc="-20" dirty="0">
                <a:latin typeface="Arial"/>
                <a:cs typeface="Arial"/>
              </a:rPr>
              <a:t>Tercerizar </a:t>
            </a:r>
            <a:r>
              <a:rPr sz="1400" dirty="0">
                <a:latin typeface="Arial"/>
                <a:cs typeface="Arial"/>
              </a:rPr>
              <a:t>un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proceso</a:t>
            </a:r>
          </a:p>
          <a:p>
            <a:pPr marL="75565" indent="-62865">
              <a:lnSpc>
                <a:spcPct val="100000"/>
              </a:lnSpc>
              <a:spcBef>
                <a:spcPts val="675"/>
              </a:spcBef>
              <a:buSzPct val="92857"/>
              <a:buChar char="•"/>
              <a:tabLst>
                <a:tab pos="76200" algn="l"/>
              </a:tabLst>
            </a:pPr>
            <a:r>
              <a:rPr sz="1400" dirty="0">
                <a:latin typeface="Arial"/>
                <a:cs typeface="Arial"/>
              </a:rPr>
              <a:t>Construir </a:t>
            </a:r>
            <a:r>
              <a:rPr sz="1400" spc="-5" dirty="0">
                <a:latin typeface="Arial"/>
                <a:cs typeface="Arial"/>
              </a:rPr>
              <a:t>un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edificio</a:t>
            </a:r>
          </a:p>
          <a:p>
            <a:pPr marL="75565" indent="-62865">
              <a:lnSpc>
                <a:spcPct val="100000"/>
              </a:lnSpc>
              <a:spcBef>
                <a:spcPts val="670"/>
              </a:spcBef>
              <a:buSzPct val="92857"/>
              <a:buChar char="•"/>
              <a:tabLst>
                <a:tab pos="76200" algn="l"/>
              </a:tabLst>
            </a:pPr>
            <a:r>
              <a:rPr sz="1400" spc="-5" dirty="0">
                <a:latin typeface="Arial"/>
                <a:cs typeface="Arial"/>
              </a:rPr>
              <a:t>Crear una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empresa</a:t>
            </a:r>
          </a:p>
        </p:txBody>
      </p:sp>
      <p:sp>
        <p:nvSpPr>
          <p:cNvPr id="12" name="object 12"/>
          <p:cNvSpPr/>
          <p:nvPr/>
        </p:nvSpPr>
        <p:spPr>
          <a:xfrm>
            <a:off x="4719867" y="2038350"/>
            <a:ext cx="4165600" cy="2738755"/>
          </a:xfrm>
          <a:custGeom>
            <a:avLst/>
            <a:gdLst/>
            <a:ahLst/>
            <a:cxnLst/>
            <a:rect l="l" t="t" r="r" b="b"/>
            <a:pathLst>
              <a:path w="4165600" h="2957829">
                <a:moveTo>
                  <a:pt x="0" y="2957703"/>
                </a:moveTo>
                <a:lnTo>
                  <a:pt x="4165600" y="2957703"/>
                </a:lnTo>
                <a:lnTo>
                  <a:pt x="4165600" y="0"/>
                </a:lnTo>
                <a:lnTo>
                  <a:pt x="0" y="0"/>
                </a:lnTo>
                <a:lnTo>
                  <a:pt x="0" y="2957703"/>
                </a:lnTo>
                <a:close/>
              </a:path>
            </a:pathLst>
          </a:custGeom>
          <a:ln w="952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47311" y="2151812"/>
            <a:ext cx="3656329" cy="10928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b="1" spc="-5" dirty="0">
                <a:latin typeface="Arial"/>
                <a:cs typeface="Arial"/>
              </a:rPr>
              <a:t>Ejemplos</a:t>
            </a:r>
            <a:endParaRPr sz="1400" dirty="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spcBef>
                <a:spcPts val="170"/>
              </a:spcBef>
              <a:buClr>
                <a:srgbClr val="DEF5F9"/>
              </a:buClr>
              <a:buChar char="•"/>
              <a:tabLst>
                <a:tab pos="124460" algn="l"/>
              </a:tabLst>
            </a:pPr>
            <a:r>
              <a:rPr sz="1400" spc="-5" dirty="0">
                <a:latin typeface="Arial"/>
                <a:cs typeface="Arial"/>
              </a:rPr>
              <a:t>Preparar un </a:t>
            </a:r>
            <a:r>
              <a:rPr sz="1400" dirty="0">
                <a:latin typeface="Arial"/>
                <a:cs typeface="Arial"/>
              </a:rPr>
              <a:t>reporte mensual de la</a:t>
            </a:r>
            <a:r>
              <a:rPr sz="1400" spc="-1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compania</a:t>
            </a:r>
          </a:p>
          <a:p>
            <a:pPr marL="75565" indent="-62865">
              <a:lnSpc>
                <a:spcPct val="100000"/>
              </a:lnSpc>
              <a:spcBef>
                <a:spcPts val="675"/>
              </a:spcBef>
              <a:buClr>
                <a:srgbClr val="DEF5F9"/>
              </a:buClr>
              <a:buChar char="•"/>
              <a:tabLst>
                <a:tab pos="76200" algn="l"/>
              </a:tabLst>
            </a:pPr>
            <a:r>
              <a:rPr sz="1400" dirty="0">
                <a:latin typeface="Arial"/>
                <a:cs typeface="Arial"/>
              </a:rPr>
              <a:t>Ejecutar soporte a </a:t>
            </a:r>
            <a:r>
              <a:rPr sz="1400" spc="-5" dirty="0">
                <a:latin typeface="Arial"/>
                <a:cs typeface="Arial"/>
              </a:rPr>
              <a:t>traves </a:t>
            </a:r>
            <a:r>
              <a:rPr sz="1400" dirty="0">
                <a:latin typeface="Arial"/>
                <a:cs typeface="Arial"/>
              </a:rPr>
              <a:t>de un help</a:t>
            </a:r>
            <a:r>
              <a:rPr sz="1400" spc="-1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desk</a:t>
            </a:r>
          </a:p>
          <a:p>
            <a:pPr marL="75565" indent="-62865">
              <a:lnSpc>
                <a:spcPct val="100000"/>
              </a:lnSpc>
              <a:spcBef>
                <a:spcPts val="670"/>
              </a:spcBef>
              <a:buClr>
                <a:srgbClr val="DEF5F9"/>
              </a:buClr>
              <a:buChar char="•"/>
              <a:tabLst>
                <a:tab pos="76200" algn="l"/>
              </a:tabLst>
            </a:pPr>
            <a:r>
              <a:rPr sz="1400" dirty="0">
                <a:latin typeface="Arial"/>
                <a:cs typeface="Arial"/>
              </a:rPr>
              <a:t>Recibir y atender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reclamos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47311" y="3303600"/>
            <a:ext cx="30099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 indent="-62865">
              <a:lnSpc>
                <a:spcPct val="100000"/>
              </a:lnSpc>
              <a:spcBef>
                <a:spcPts val="100"/>
              </a:spcBef>
              <a:buSzPct val="92857"/>
              <a:buChar char="•"/>
              <a:tabLst>
                <a:tab pos="76200" algn="l"/>
              </a:tabLst>
            </a:pPr>
            <a:r>
              <a:rPr sz="1400" dirty="0">
                <a:latin typeface="Arial"/>
                <a:cs typeface="Arial"/>
              </a:rPr>
              <a:t>Impresion y distribucion </a:t>
            </a:r>
            <a:r>
              <a:rPr sz="1400" spc="-5" dirty="0">
                <a:latin typeface="Arial"/>
                <a:cs typeface="Arial"/>
              </a:rPr>
              <a:t>del</a:t>
            </a:r>
            <a:r>
              <a:rPr sz="1400" spc="-1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periodico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47311" y="3517265"/>
            <a:ext cx="3502660" cy="922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75565" indent="-62865">
              <a:lnSpc>
                <a:spcPct val="100000"/>
              </a:lnSpc>
              <a:spcBef>
                <a:spcPts val="770"/>
              </a:spcBef>
              <a:buSzPct val="92857"/>
              <a:buChar char="•"/>
              <a:tabLst>
                <a:tab pos="76200" algn="l"/>
              </a:tabLst>
            </a:pPr>
            <a:r>
              <a:rPr sz="1400" spc="-15" dirty="0">
                <a:latin typeface="Arial"/>
                <a:cs typeface="Arial"/>
              </a:rPr>
              <a:t>Vender </a:t>
            </a:r>
            <a:r>
              <a:rPr sz="1400" dirty="0">
                <a:latin typeface="Arial"/>
                <a:cs typeface="Arial"/>
              </a:rPr>
              <a:t>el producto o </a:t>
            </a:r>
            <a:r>
              <a:rPr sz="1400" spc="-5" dirty="0">
                <a:latin typeface="Arial"/>
                <a:cs typeface="Arial"/>
              </a:rPr>
              <a:t>servicio </a:t>
            </a:r>
            <a:r>
              <a:rPr sz="1400" dirty="0">
                <a:latin typeface="Arial"/>
                <a:cs typeface="Arial"/>
              </a:rPr>
              <a:t>a los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clientes</a:t>
            </a:r>
            <a:endParaRPr sz="1400">
              <a:latin typeface="Arial"/>
              <a:cs typeface="Arial"/>
            </a:endParaRPr>
          </a:p>
          <a:p>
            <a:pPr marL="75565" indent="-62865">
              <a:lnSpc>
                <a:spcPct val="100000"/>
              </a:lnSpc>
              <a:spcBef>
                <a:spcPts val="675"/>
              </a:spcBef>
              <a:buSzPct val="92857"/>
              <a:buChar char="•"/>
              <a:tabLst>
                <a:tab pos="76200" algn="l"/>
              </a:tabLst>
            </a:pPr>
            <a:r>
              <a:rPr sz="1400" dirty="0">
                <a:latin typeface="Arial"/>
                <a:cs typeface="Arial"/>
              </a:rPr>
              <a:t>Contabilizar las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operaciones</a:t>
            </a:r>
            <a:endParaRPr sz="1400">
              <a:latin typeface="Arial"/>
              <a:cs typeface="Arial"/>
            </a:endParaRPr>
          </a:p>
          <a:p>
            <a:pPr marL="75565" indent="-62865">
              <a:lnSpc>
                <a:spcPct val="100000"/>
              </a:lnSpc>
              <a:spcBef>
                <a:spcPts val="675"/>
              </a:spcBef>
              <a:buSzPct val="92857"/>
              <a:buChar char="•"/>
              <a:tabLst>
                <a:tab pos="76200" algn="l"/>
              </a:tabLst>
            </a:pPr>
            <a:r>
              <a:rPr sz="1400" dirty="0">
                <a:latin typeface="Arial"/>
                <a:cs typeface="Arial"/>
              </a:rPr>
              <a:t>Cobranzas a los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clientes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Grupo 18"/>
          <p:cNvGrpSpPr/>
          <p:nvPr/>
        </p:nvGrpSpPr>
        <p:grpSpPr>
          <a:xfrm>
            <a:off x="4720184" y="1788059"/>
            <a:ext cx="4165283" cy="363753"/>
            <a:chOff x="4930775" y="1791030"/>
            <a:chExt cx="4213542" cy="307975"/>
          </a:xfrm>
        </p:grpSpPr>
        <p:sp>
          <p:nvSpPr>
            <p:cNvPr id="16" name="object 16"/>
            <p:cNvSpPr/>
            <p:nvPr/>
          </p:nvSpPr>
          <p:spPr>
            <a:xfrm>
              <a:off x="4930775" y="1791030"/>
              <a:ext cx="4213225" cy="307975"/>
            </a:xfrm>
            <a:custGeom>
              <a:avLst/>
              <a:gdLst/>
              <a:ahLst/>
              <a:cxnLst/>
              <a:rect l="l" t="t" r="r" b="b"/>
              <a:pathLst>
                <a:path w="4213225" h="307975">
                  <a:moveTo>
                    <a:pt x="0" y="307771"/>
                  </a:moveTo>
                  <a:lnTo>
                    <a:pt x="4213225" y="307771"/>
                  </a:lnTo>
                  <a:lnTo>
                    <a:pt x="4213225" y="0"/>
                  </a:lnTo>
                  <a:lnTo>
                    <a:pt x="0" y="0"/>
                  </a:lnTo>
                  <a:lnTo>
                    <a:pt x="0" y="30777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4935537" y="1795792"/>
              <a:ext cx="4208780" cy="298450"/>
            </a:xfrm>
            <a:prstGeom prst="rect">
              <a:avLst/>
            </a:prstGeom>
            <a:solidFill>
              <a:srgbClr val="95C0ED"/>
            </a:solidFill>
            <a:ln w="19050">
              <a:solidFill>
                <a:schemeClr val="tx1"/>
              </a:solidFill>
            </a:ln>
          </p:spPr>
          <p:txBody>
            <a:bodyPr vert="horz" wrap="square" lIns="0" tIns="1270" rIns="0" bIns="0" rtlCol="0">
              <a:spAutoFit/>
            </a:bodyPr>
            <a:lstStyle/>
            <a:p>
              <a:pPr marL="873125">
                <a:lnSpc>
                  <a:spcPct val="100000"/>
                </a:lnSpc>
                <a:spcBef>
                  <a:spcPts val="10"/>
                </a:spcBef>
              </a:pPr>
              <a:r>
                <a:rPr sz="1400" b="1" spc="-105" dirty="0">
                  <a:latin typeface="Arial"/>
                  <a:cs typeface="Arial"/>
                </a:rPr>
                <a:t>Operaciones</a:t>
              </a:r>
              <a:endParaRPr sz="1400" dirty="0">
                <a:latin typeface="Arial"/>
                <a:cs typeface="Arial"/>
              </a:endParaRPr>
            </a:p>
          </p:txBody>
        </p:sp>
      </p:grpSp>
      <p:sp>
        <p:nvSpPr>
          <p:cNvPr id="7" name="object 7"/>
          <p:cNvSpPr/>
          <p:nvPr/>
        </p:nvSpPr>
        <p:spPr>
          <a:xfrm>
            <a:off x="152400" y="2038350"/>
            <a:ext cx="4470400" cy="2743171"/>
          </a:xfrm>
          <a:custGeom>
            <a:avLst/>
            <a:gdLst/>
            <a:ahLst/>
            <a:cxnLst/>
            <a:rect l="l" t="t" r="r" b="b"/>
            <a:pathLst>
              <a:path w="4527550" h="2952750">
                <a:moveTo>
                  <a:pt x="4527550" y="2952718"/>
                </a:moveTo>
                <a:lnTo>
                  <a:pt x="4527550" y="0"/>
                </a:lnTo>
                <a:lnTo>
                  <a:pt x="0" y="0"/>
                </a:lnTo>
                <a:lnTo>
                  <a:pt x="0" y="2952718"/>
                </a:lnTo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2400" y="1808136"/>
            <a:ext cx="4470400" cy="307975"/>
          </a:xfrm>
          <a:prstGeom prst="rect">
            <a:avLst/>
          </a:prstGeom>
          <a:solidFill>
            <a:srgbClr val="95C0ED"/>
          </a:solidFill>
          <a:ln w="19050">
            <a:solidFill>
              <a:schemeClr val="tx1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R="236220" algn="ctr">
              <a:lnSpc>
                <a:spcPct val="100000"/>
              </a:lnSpc>
              <a:spcBef>
                <a:spcPts val="225"/>
              </a:spcBef>
            </a:pPr>
            <a:r>
              <a:rPr sz="1400" b="1" spc="-135" dirty="0">
                <a:latin typeface="Arial"/>
                <a:cs typeface="Arial"/>
              </a:rPr>
              <a:t>Proyectos</a:t>
            </a:r>
            <a:endParaRPr sz="1400" dirty="0">
              <a:latin typeface="Arial"/>
              <a:cs typeface="Arial"/>
            </a:endParaRPr>
          </a:p>
        </p:txBody>
      </p:sp>
      <p:cxnSp>
        <p:nvCxnSpPr>
          <p:cNvPr id="21" name="Conector recto 20"/>
          <p:cNvCxnSpPr/>
          <p:nvPr/>
        </p:nvCxnSpPr>
        <p:spPr>
          <a:xfrm>
            <a:off x="152400" y="4777105"/>
            <a:ext cx="4470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35737"/>
            <a:ext cx="220345" cy="440690"/>
          </a:xfrm>
          <a:custGeom>
            <a:avLst/>
            <a:gdLst/>
            <a:ahLst/>
            <a:cxnLst/>
            <a:rect l="l" t="t" r="r" b="b"/>
            <a:pathLst>
              <a:path w="220345" h="440690">
                <a:moveTo>
                  <a:pt x="220268" y="0"/>
                </a:moveTo>
                <a:lnTo>
                  <a:pt x="175876" y="4477"/>
                </a:lnTo>
                <a:lnTo>
                  <a:pt x="134529" y="17319"/>
                </a:lnTo>
                <a:lnTo>
                  <a:pt x="97113" y="37638"/>
                </a:lnTo>
                <a:lnTo>
                  <a:pt x="64514" y="64547"/>
                </a:lnTo>
                <a:lnTo>
                  <a:pt x="37617" y="97159"/>
                </a:lnTo>
                <a:lnTo>
                  <a:pt x="17309" y="134588"/>
                </a:lnTo>
                <a:lnTo>
                  <a:pt x="4474" y="175945"/>
                </a:lnTo>
                <a:lnTo>
                  <a:pt x="0" y="220345"/>
                </a:lnTo>
                <a:lnTo>
                  <a:pt x="4474" y="264702"/>
                </a:lnTo>
                <a:lnTo>
                  <a:pt x="17309" y="306028"/>
                </a:lnTo>
                <a:lnTo>
                  <a:pt x="37617" y="343434"/>
                </a:lnTo>
                <a:lnTo>
                  <a:pt x="64514" y="376031"/>
                </a:lnTo>
                <a:lnTo>
                  <a:pt x="97113" y="402931"/>
                </a:lnTo>
                <a:lnTo>
                  <a:pt x="134529" y="423245"/>
                </a:lnTo>
                <a:lnTo>
                  <a:pt x="175876" y="436085"/>
                </a:lnTo>
                <a:lnTo>
                  <a:pt x="220268" y="440563"/>
                </a:lnTo>
                <a:lnTo>
                  <a:pt x="22026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7468" y="435775"/>
            <a:ext cx="8009890" cy="440690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2100" i="0" spc="-200" dirty="0">
                <a:solidFill>
                  <a:srgbClr val="000000"/>
                </a:solidFill>
                <a:latin typeface="Arial"/>
                <a:cs typeface="Arial"/>
              </a:rPr>
              <a:t>Proyectos  </a:t>
            </a:r>
            <a:r>
              <a:rPr sz="2100" i="0" spc="-190" dirty="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sz="2100" i="0" spc="-25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100" i="0" spc="-150" dirty="0">
                <a:solidFill>
                  <a:srgbClr val="000000"/>
                </a:solidFill>
                <a:latin typeface="Arial"/>
                <a:cs typeface="Arial"/>
              </a:rPr>
              <a:t>Operaciòn</a:t>
            </a:r>
            <a:endParaRPr sz="2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973731"/>
              </p:ext>
            </p:extLst>
          </p:nvPr>
        </p:nvGraphicFramePr>
        <p:xfrm>
          <a:off x="755650" y="1428750"/>
          <a:ext cx="8077200" cy="3555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4222633916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-1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Proyectos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2CA1B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-1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Operacion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solidFill>
                      <a:srgbClr val="2CA1BE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 marL="0" marR="0" marT="0" marB="0">
                    <a:solidFill>
                      <a:srgbClr val="2CA1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630">
                <a:tc grid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spc="-130" dirty="0">
                          <a:latin typeface="Arial"/>
                          <a:cs typeface="Arial"/>
                        </a:rPr>
                        <a:t>Temporales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spc="-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60" dirty="0">
                          <a:latin typeface="Arial"/>
                          <a:cs typeface="Arial"/>
                        </a:rPr>
                        <a:t>Unicos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7790" marR="600710">
                        <a:lnSpc>
                          <a:spcPct val="100000"/>
                        </a:lnSpc>
                      </a:pPr>
                      <a:r>
                        <a:rPr sz="1600" spc="-100" dirty="0" err="1">
                          <a:latin typeface="Arial"/>
                          <a:cs typeface="Arial"/>
                        </a:rPr>
                        <a:t>Proposito</a:t>
                      </a:r>
                      <a:r>
                        <a:rPr sz="1600" spc="-270" dirty="0" err="1">
                          <a:latin typeface="Arial"/>
                          <a:cs typeface="Arial"/>
                        </a:rPr>
                        <a:t>s</a:t>
                      </a:r>
                      <a:r>
                        <a:rPr lang="es-419" sz="1600" spc="-2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para </a:t>
                      </a:r>
                      <a:r>
                        <a:rPr sz="1600" spc="-65" dirty="0">
                          <a:latin typeface="Arial"/>
                          <a:cs typeface="Arial"/>
                        </a:rPr>
                        <a:t>atender </a:t>
                      </a:r>
                      <a:r>
                        <a:rPr sz="1600" spc="-130" dirty="0">
                          <a:latin typeface="Arial"/>
                          <a:cs typeface="Arial"/>
                        </a:rPr>
                        <a:t>los </a:t>
                      </a:r>
                      <a:r>
                        <a:rPr sz="1600" spc="-85" dirty="0">
                          <a:latin typeface="Arial"/>
                          <a:cs typeface="Arial"/>
                        </a:rPr>
                        <a:t>objetivos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y  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cerrarlo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7790" marR="179705">
                        <a:lnSpc>
                          <a:spcPct val="100000"/>
                        </a:lnSpc>
                      </a:pPr>
                      <a:r>
                        <a:rPr sz="1600" spc="-125" dirty="0">
                          <a:latin typeface="Arial"/>
                          <a:cs typeface="Arial"/>
                        </a:rPr>
                        <a:t>Concluye </a:t>
                      </a:r>
                      <a:r>
                        <a:rPr sz="1600" spc="-120" dirty="0">
                          <a:latin typeface="Arial"/>
                          <a:cs typeface="Arial"/>
                        </a:rPr>
                        <a:t>cuando </a:t>
                      </a:r>
                      <a:r>
                        <a:rPr sz="1600" spc="-130" dirty="0">
                          <a:latin typeface="Arial"/>
                          <a:cs typeface="Arial"/>
                        </a:rPr>
                        <a:t>los </a:t>
                      </a:r>
                      <a:r>
                        <a:rPr sz="1600" spc="-85" dirty="0">
                          <a:latin typeface="Arial"/>
                          <a:cs typeface="Arial"/>
                        </a:rPr>
                        <a:t>objetivos </a:t>
                      </a:r>
                      <a:r>
                        <a:rPr sz="1600" spc="-185" dirty="0">
                          <a:latin typeface="Arial"/>
                          <a:cs typeface="Arial"/>
                        </a:rPr>
                        <a:t>se </a:t>
                      </a:r>
                      <a:r>
                        <a:rPr sz="1600" spc="-95" dirty="0" err="1">
                          <a:latin typeface="Arial"/>
                          <a:cs typeface="Arial"/>
                        </a:rPr>
                        <a:t>alcanzan</a:t>
                      </a:r>
                      <a:endParaRPr lang="es-ES" sz="1600" spc="-95" dirty="0">
                        <a:latin typeface="Arial"/>
                        <a:cs typeface="Arial"/>
                      </a:endParaRPr>
                    </a:p>
                    <a:p>
                      <a:pPr marL="97790" marR="179705">
                        <a:lnSpc>
                          <a:spcPct val="100000"/>
                        </a:lnSpc>
                      </a:pPr>
                      <a:r>
                        <a:rPr sz="1600" spc="-245" dirty="0">
                          <a:latin typeface="Arial"/>
                          <a:cs typeface="Arial"/>
                        </a:rPr>
                        <a:t>Sus </a:t>
                      </a:r>
                      <a:r>
                        <a:rPr sz="1600" spc="-110" dirty="0">
                          <a:latin typeface="Arial"/>
                          <a:cs typeface="Arial"/>
                        </a:rPr>
                        <a:t>metricas </a:t>
                      </a:r>
                      <a:r>
                        <a:rPr sz="1600" spc="-185" dirty="0">
                          <a:latin typeface="Arial"/>
                          <a:cs typeface="Arial"/>
                        </a:rPr>
                        <a:t>son </a:t>
                      </a:r>
                      <a:r>
                        <a:rPr sz="1600" spc="-95" dirty="0">
                          <a:latin typeface="Arial"/>
                          <a:cs typeface="Arial"/>
                        </a:rPr>
                        <a:t>sobre </a:t>
                      </a:r>
                      <a:r>
                        <a:rPr sz="1600" spc="-85" dirty="0">
                          <a:latin typeface="Arial"/>
                          <a:cs typeface="Arial"/>
                        </a:rPr>
                        <a:t>objetivos 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1600" spc="-85" dirty="0">
                          <a:latin typeface="Arial"/>
                          <a:cs typeface="Arial"/>
                        </a:rPr>
                        <a:t>producto  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75" dirty="0">
                          <a:latin typeface="Arial"/>
                          <a:cs typeface="Arial"/>
                        </a:rPr>
                        <a:t>proyecto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2CA1BE"/>
                      </a:solidFill>
                      <a:prstDash val="solid"/>
                    </a:lnL>
                    <a:lnB w="12700">
                      <a:solidFill>
                        <a:srgbClr val="2CA1BE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spc="-190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1600" spc="-75" dirty="0">
                          <a:latin typeface="Arial"/>
                          <a:cs typeface="Arial"/>
                        </a:rPr>
                        <a:t>proposito </a:t>
                      </a:r>
                      <a:r>
                        <a:rPr sz="1600" spc="-180" dirty="0">
                          <a:latin typeface="Arial"/>
                          <a:cs typeface="Arial"/>
                        </a:rPr>
                        <a:t>es </a:t>
                      </a:r>
                      <a:r>
                        <a:rPr sz="1600" spc="-110" dirty="0">
                          <a:latin typeface="Arial"/>
                          <a:cs typeface="Arial"/>
                        </a:rPr>
                        <a:t>mantener 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1600" spc="-2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0" dirty="0">
                          <a:latin typeface="Arial"/>
                          <a:cs typeface="Arial"/>
                        </a:rPr>
                        <a:t>negocio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200025" marR="283845">
                        <a:lnSpc>
                          <a:spcPct val="100000"/>
                        </a:lnSpc>
                      </a:pPr>
                      <a:r>
                        <a:rPr sz="1600" spc="-45" dirty="0">
                          <a:latin typeface="Arial"/>
                          <a:cs typeface="Arial"/>
                        </a:rPr>
                        <a:t>Adopta </a:t>
                      </a:r>
                      <a:r>
                        <a:rPr sz="1600" spc="-165" dirty="0">
                          <a:latin typeface="Arial"/>
                          <a:cs typeface="Arial"/>
                        </a:rPr>
                        <a:t>nuevos </a:t>
                      </a:r>
                      <a:r>
                        <a:rPr sz="1600" spc="-85" dirty="0">
                          <a:latin typeface="Arial"/>
                          <a:cs typeface="Arial"/>
                        </a:rPr>
                        <a:t>objetivos </a:t>
                      </a:r>
                      <a:r>
                        <a:rPr sz="1600" spc="-120" dirty="0">
                          <a:latin typeface="Arial"/>
                          <a:cs typeface="Arial"/>
                        </a:rPr>
                        <a:t>continuamente </a:t>
                      </a:r>
                      <a:r>
                        <a:rPr sz="1600" spc="-160" dirty="0">
                          <a:latin typeface="Arial"/>
                          <a:cs typeface="Arial"/>
                        </a:rPr>
                        <a:t>como 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parte 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16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0" dirty="0">
                          <a:latin typeface="Arial"/>
                          <a:cs typeface="Arial"/>
                        </a:rPr>
                        <a:t>mejoramiento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200025" marR="669925">
                        <a:lnSpc>
                          <a:spcPct val="100000"/>
                        </a:lnSpc>
                      </a:pPr>
                      <a:r>
                        <a:rPr sz="1600" spc="-245" dirty="0" err="1">
                          <a:latin typeface="Arial"/>
                          <a:cs typeface="Arial"/>
                        </a:rPr>
                        <a:t>Sus</a:t>
                      </a:r>
                      <a:r>
                        <a:rPr sz="1600" spc="-24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419" sz="1600" spc="-2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10" dirty="0" err="1">
                          <a:latin typeface="Arial"/>
                          <a:cs typeface="Arial"/>
                        </a:rPr>
                        <a:t>metricas</a:t>
                      </a:r>
                      <a:r>
                        <a:rPr sz="16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85" dirty="0">
                          <a:latin typeface="Arial"/>
                          <a:cs typeface="Arial"/>
                        </a:rPr>
                        <a:t>son </a:t>
                      </a:r>
                      <a:r>
                        <a:rPr sz="1600" spc="-95" dirty="0">
                          <a:latin typeface="Arial"/>
                          <a:cs typeface="Arial"/>
                        </a:rPr>
                        <a:t>sobre </a:t>
                      </a:r>
                      <a:r>
                        <a:rPr sz="1600" spc="-130" dirty="0">
                          <a:latin typeface="Arial"/>
                          <a:cs typeface="Arial"/>
                        </a:rPr>
                        <a:t>los </a:t>
                      </a:r>
                      <a:r>
                        <a:rPr sz="1600" spc="-100" dirty="0">
                          <a:latin typeface="Arial"/>
                          <a:cs typeface="Arial"/>
                        </a:rPr>
                        <a:t>resultados 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del  </a:t>
                      </a:r>
                      <a:r>
                        <a:rPr sz="1600" spc="-85" dirty="0">
                          <a:latin typeface="Arial"/>
                          <a:cs typeface="Arial"/>
                        </a:rPr>
                        <a:t>producto </a:t>
                      </a:r>
                      <a:r>
                        <a:rPr sz="1600" spc="-95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1600" spc="-90" dirty="0">
                          <a:latin typeface="Arial"/>
                          <a:cs typeface="Arial"/>
                        </a:rPr>
                        <a:t>servicio </a:t>
                      </a:r>
                      <a:r>
                        <a:rPr sz="1600" spc="-145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6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80" dirty="0">
                          <a:latin typeface="Arial"/>
                          <a:cs typeface="Arial"/>
                        </a:rPr>
                        <a:t>operacion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R w="12700">
                      <a:solidFill>
                        <a:srgbClr val="2CA1BE"/>
                      </a:solidFill>
                      <a:prstDash val="solid"/>
                    </a:lnR>
                    <a:lnB w="12700">
                      <a:solidFill>
                        <a:srgbClr val="2CA1BE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2CA1BE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b="1" spc="-1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Elementos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Comunes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2CA1BE"/>
                      </a:solidFill>
                      <a:prstDash val="solid"/>
                    </a:lnT>
                    <a:solidFill>
                      <a:srgbClr val="DA1F2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2CA1BE"/>
                      </a:solidFill>
                      <a:prstDash val="soli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2700">
                      <a:solidFill>
                        <a:srgbClr val="2CA1BE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97790" marR="37782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spc="-90" dirty="0">
                          <a:latin typeface="Arial"/>
                          <a:cs typeface="Arial"/>
                        </a:rPr>
                        <a:t>Desarrollados 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1600" spc="-165" dirty="0">
                          <a:latin typeface="Arial"/>
                          <a:cs typeface="Arial"/>
                        </a:rPr>
                        <a:t>Personas  </a:t>
                      </a:r>
                      <a:r>
                        <a:rPr sz="1600" spc="-110" dirty="0">
                          <a:latin typeface="Arial"/>
                          <a:cs typeface="Arial"/>
                        </a:rPr>
                        <a:t>Limitados 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por</a:t>
                      </a:r>
                      <a:r>
                        <a:rPr sz="1600" spc="-2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40" dirty="0">
                          <a:latin typeface="Arial"/>
                          <a:cs typeface="Arial"/>
                        </a:rPr>
                        <a:t>recursos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1600" spc="-185" dirty="0">
                          <a:latin typeface="Arial"/>
                          <a:cs typeface="Arial"/>
                        </a:rPr>
                        <a:t>Son </a:t>
                      </a:r>
                      <a:r>
                        <a:rPr sz="1600" spc="-85" dirty="0">
                          <a:latin typeface="Arial"/>
                          <a:cs typeface="Arial"/>
                        </a:rPr>
                        <a:t>planeados, </a:t>
                      </a:r>
                      <a:r>
                        <a:rPr sz="1600" spc="-100" dirty="0">
                          <a:latin typeface="Arial"/>
                          <a:cs typeface="Arial"/>
                        </a:rPr>
                        <a:t>ejecutados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spc="-2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95" dirty="0">
                          <a:latin typeface="Arial"/>
                          <a:cs typeface="Arial"/>
                        </a:rPr>
                        <a:t>controlados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solidFill>
                      <a:srgbClr val="CDDF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2700">
                      <a:solidFill>
                        <a:srgbClr val="2CA1BE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02691"/>
            <a:ext cx="737298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spc="-245" dirty="0">
                <a:latin typeface="Arial"/>
                <a:cs typeface="Arial"/>
              </a:rPr>
              <a:t>Responsabilidades </a:t>
            </a:r>
            <a:r>
              <a:rPr i="0" spc="-185" dirty="0">
                <a:latin typeface="Arial"/>
                <a:cs typeface="Arial"/>
              </a:rPr>
              <a:t>del </a:t>
            </a:r>
            <a:r>
              <a:rPr i="0" spc="-240" dirty="0">
                <a:latin typeface="Arial"/>
                <a:cs typeface="Arial"/>
              </a:rPr>
              <a:t>gerente </a:t>
            </a:r>
            <a:r>
              <a:rPr i="0" spc="-185" dirty="0">
                <a:latin typeface="Arial"/>
                <a:cs typeface="Arial"/>
              </a:rPr>
              <a:t>del</a:t>
            </a:r>
            <a:r>
              <a:rPr i="0" spc="455" dirty="0">
                <a:latin typeface="Arial"/>
                <a:cs typeface="Arial"/>
              </a:rPr>
              <a:t> </a:t>
            </a:r>
            <a:r>
              <a:rPr i="0" spc="-270" dirty="0">
                <a:latin typeface="Arial"/>
                <a:cs typeface="Arial"/>
              </a:rPr>
              <a:t>proyecto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7672" y="1671363"/>
            <a:ext cx="8013700" cy="206094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marR="5080" indent="-342900" algn="just">
              <a:lnSpc>
                <a:spcPts val="3030"/>
              </a:lnSpc>
              <a:spcBef>
                <a:spcPts val="475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2400" spc="-150" dirty="0">
                <a:latin typeface="Arial"/>
                <a:cs typeface="Arial"/>
              </a:rPr>
              <a:t>Asegurar </a:t>
            </a:r>
            <a:r>
              <a:rPr sz="2400" spc="-170" dirty="0">
                <a:latin typeface="Arial"/>
                <a:cs typeface="Arial"/>
              </a:rPr>
              <a:t>que </a:t>
            </a:r>
            <a:r>
              <a:rPr sz="2400" spc="-85" dirty="0">
                <a:latin typeface="Arial"/>
                <a:cs typeface="Arial"/>
              </a:rPr>
              <a:t>el </a:t>
            </a:r>
            <a:r>
              <a:rPr sz="2400" spc="-170" dirty="0">
                <a:latin typeface="Arial"/>
                <a:cs typeface="Arial"/>
              </a:rPr>
              <a:t>alcance </a:t>
            </a:r>
            <a:r>
              <a:rPr sz="2400" spc="-60" dirty="0">
                <a:latin typeface="Arial"/>
                <a:cs typeface="Arial"/>
              </a:rPr>
              <a:t>del </a:t>
            </a:r>
            <a:r>
              <a:rPr sz="2400" spc="-40" dirty="0">
                <a:latin typeface="Arial"/>
                <a:cs typeface="Arial"/>
              </a:rPr>
              <a:t>trabajo </a:t>
            </a:r>
            <a:r>
              <a:rPr sz="2400" spc="-315" dirty="0">
                <a:latin typeface="Arial"/>
                <a:cs typeface="Arial"/>
              </a:rPr>
              <a:t>se </a:t>
            </a:r>
            <a:r>
              <a:rPr sz="2400" spc="-140" dirty="0">
                <a:latin typeface="Arial"/>
                <a:cs typeface="Arial"/>
              </a:rPr>
              <a:t>determine </a:t>
            </a:r>
            <a:r>
              <a:rPr sz="2400" spc="-275" dirty="0">
                <a:latin typeface="Arial"/>
                <a:cs typeface="Arial"/>
              </a:rPr>
              <a:t>con  </a:t>
            </a:r>
            <a:r>
              <a:rPr sz="2400" spc="-70" dirty="0">
                <a:latin typeface="Arial"/>
                <a:cs typeface="Arial"/>
              </a:rPr>
              <a:t>calidad, </a:t>
            </a:r>
            <a:r>
              <a:rPr sz="2400" spc="-125" dirty="0">
                <a:latin typeface="Arial"/>
                <a:cs typeface="Arial"/>
              </a:rPr>
              <a:t>dentro </a:t>
            </a:r>
            <a:r>
              <a:rPr sz="2400" spc="-60" dirty="0">
                <a:latin typeface="Arial"/>
                <a:cs typeface="Arial"/>
              </a:rPr>
              <a:t>del </a:t>
            </a:r>
            <a:r>
              <a:rPr sz="2400" spc="-195" dirty="0">
                <a:latin typeface="Arial"/>
                <a:cs typeface="Arial"/>
              </a:rPr>
              <a:t>presupuesto </a:t>
            </a:r>
            <a:r>
              <a:rPr sz="2400" spc="-5" dirty="0">
                <a:latin typeface="Arial"/>
                <a:cs typeface="Arial"/>
              </a:rPr>
              <a:t>y </a:t>
            </a:r>
            <a:r>
              <a:rPr sz="2400" spc="-15" dirty="0">
                <a:latin typeface="Arial"/>
                <a:cs typeface="Arial"/>
              </a:rPr>
              <a:t>a </a:t>
            </a:r>
            <a:r>
              <a:rPr sz="2400" spc="-140" dirty="0" err="1">
                <a:latin typeface="Arial"/>
                <a:cs typeface="Arial"/>
              </a:rPr>
              <a:t>tiempo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para</a:t>
            </a:r>
            <a:r>
              <a:rPr lang="es-ES" sz="2400" spc="-15">
                <a:latin typeface="Arial"/>
                <a:cs typeface="Arial"/>
              </a:rPr>
              <a:t> </a:t>
            </a:r>
            <a:r>
              <a:rPr sz="2400" spc="-135">
                <a:latin typeface="Arial"/>
                <a:cs typeface="Arial"/>
              </a:rPr>
              <a:t>satisfacer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al</a:t>
            </a:r>
            <a:r>
              <a:rPr sz="2400" spc="13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cliente.</a:t>
            </a:r>
            <a:endParaRPr sz="2400" dirty="0">
              <a:latin typeface="Arial"/>
              <a:cs typeface="Arial"/>
            </a:endParaRPr>
          </a:p>
          <a:p>
            <a:pPr marL="355600" marR="243204" indent="-342900">
              <a:lnSpc>
                <a:spcPts val="3020"/>
              </a:lnSpc>
              <a:spcBef>
                <a:spcPts val="79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spc="-180" dirty="0">
                <a:latin typeface="Arial"/>
                <a:cs typeface="Arial"/>
              </a:rPr>
              <a:t>Debe </a:t>
            </a:r>
            <a:r>
              <a:rPr sz="2400" spc="-105" dirty="0">
                <a:latin typeface="Arial"/>
                <a:cs typeface="Arial"/>
              </a:rPr>
              <a:t>proporcionar </a:t>
            </a:r>
            <a:r>
              <a:rPr sz="2400" spc="-65" dirty="0">
                <a:latin typeface="Arial"/>
                <a:cs typeface="Arial"/>
              </a:rPr>
              <a:t>liderazgo </a:t>
            </a:r>
            <a:r>
              <a:rPr sz="2400" spc="-245" dirty="0">
                <a:latin typeface="Arial"/>
                <a:cs typeface="Arial"/>
              </a:rPr>
              <a:t>en </a:t>
            </a:r>
            <a:r>
              <a:rPr sz="2400" spc="-15" dirty="0">
                <a:latin typeface="Arial"/>
                <a:cs typeface="Arial"/>
              </a:rPr>
              <a:t>la </a:t>
            </a:r>
            <a:r>
              <a:rPr sz="2400" spc="-140" dirty="0">
                <a:latin typeface="Arial"/>
                <a:cs typeface="Arial"/>
              </a:rPr>
              <a:t>planeación,  </a:t>
            </a:r>
            <a:r>
              <a:rPr sz="2400" spc="-135" dirty="0">
                <a:latin typeface="Arial"/>
                <a:cs typeface="Arial"/>
              </a:rPr>
              <a:t>organización </a:t>
            </a:r>
            <a:r>
              <a:rPr sz="2400" spc="-5" dirty="0">
                <a:latin typeface="Arial"/>
                <a:cs typeface="Arial"/>
              </a:rPr>
              <a:t>y </a:t>
            </a:r>
            <a:r>
              <a:rPr sz="2400" spc="-155" dirty="0">
                <a:latin typeface="Arial"/>
                <a:cs typeface="Arial"/>
              </a:rPr>
              <a:t>control </a:t>
            </a:r>
            <a:r>
              <a:rPr sz="2400" spc="-60" dirty="0">
                <a:latin typeface="Arial"/>
                <a:cs typeface="Arial"/>
              </a:rPr>
              <a:t>del </a:t>
            </a:r>
            <a:r>
              <a:rPr sz="2400" spc="-165" dirty="0">
                <a:latin typeface="Arial"/>
                <a:cs typeface="Arial"/>
              </a:rPr>
              <a:t>esfuerzo </a:t>
            </a:r>
            <a:r>
              <a:rPr sz="2400" spc="-90" dirty="0">
                <a:latin typeface="Arial"/>
                <a:cs typeface="Arial"/>
              </a:rPr>
              <a:t>de </a:t>
            </a:r>
            <a:r>
              <a:rPr sz="2400" spc="-35" dirty="0">
                <a:latin typeface="Arial"/>
                <a:cs typeface="Arial"/>
              </a:rPr>
              <a:t>trabajo </a:t>
            </a:r>
            <a:r>
              <a:rPr sz="2400" spc="-15" dirty="0">
                <a:latin typeface="Arial"/>
                <a:cs typeface="Arial"/>
              </a:rPr>
              <a:t>para  </a:t>
            </a:r>
            <a:r>
              <a:rPr sz="2400" spc="-40" dirty="0">
                <a:latin typeface="Arial"/>
                <a:cs typeface="Arial"/>
              </a:rPr>
              <a:t>lograr </a:t>
            </a:r>
            <a:r>
              <a:rPr sz="2400" spc="-80" dirty="0">
                <a:latin typeface="Arial"/>
                <a:cs typeface="Arial"/>
              </a:rPr>
              <a:t>el </a:t>
            </a:r>
            <a:r>
              <a:rPr sz="2400" spc="-100" dirty="0">
                <a:latin typeface="Arial"/>
                <a:cs typeface="Arial"/>
              </a:rPr>
              <a:t>objetivo</a:t>
            </a:r>
            <a:r>
              <a:rPr sz="2400" spc="11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establecido.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67400" y="3790950"/>
            <a:ext cx="2178050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00600" y="1581150"/>
            <a:ext cx="2595499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00600" y="1581150"/>
            <a:ext cx="2595880" cy="1714500"/>
          </a:xfrm>
          <a:custGeom>
            <a:avLst/>
            <a:gdLst/>
            <a:ahLst/>
            <a:cxnLst/>
            <a:rect l="l" t="t" r="r" b="b"/>
            <a:pathLst>
              <a:path w="2595879" h="1714500">
                <a:moveTo>
                  <a:pt x="0" y="857250"/>
                </a:moveTo>
                <a:lnTo>
                  <a:pt x="1264" y="819063"/>
                </a:lnTo>
                <a:lnTo>
                  <a:pt x="11221" y="744010"/>
                </a:lnTo>
                <a:lnTo>
                  <a:pt x="30732" y="670946"/>
                </a:lnTo>
                <a:lnTo>
                  <a:pt x="59373" y="600151"/>
                </a:lnTo>
                <a:lnTo>
                  <a:pt x="76987" y="565691"/>
                </a:lnTo>
                <a:lnTo>
                  <a:pt x="96724" y="531903"/>
                </a:lnTo>
                <a:lnTo>
                  <a:pt x="118534" y="498821"/>
                </a:lnTo>
                <a:lnTo>
                  <a:pt x="142362" y="466481"/>
                </a:lnTo>
                <a:lnTo>
                  <a:pt x="168157" y="434917"/>
                </a:lnTo>
                <a:lnTo>
                  <a:pt x="195866" y="404165"/>
                </a:lnTo>
                <a:lnTo>
                  <a:pt x="225435" y="374258"/>
                </a:lnTo>
                <a:lnTo>
                  <a:pt x="256812" y="345231"/>
                </a:lnTo>
                <a:lnTo>
                  <a:pt x="289945" y="317121"/>
                </a:lnTo>
                <a:lnTo>
                  <a:pt x="324780" y="289961"/>
                </a:lnTo>
                <a:lnTo>
                  <a:pt x="361266" y="263786"/>
                </a:lnTo>
                <a:lnTo>
                  <a:pt x="399348" y="238631"/>
                </a:lnTo>
                <a:lnTo>
                  <a:pt x="438975" y="214531"/>
                </a:lnTo>
                <a:lnTo>
                  <a:pt x="480093" y="191521"/>
                </a:lnTo>
                <a:lnTo>
                  <a:pt x="522650" y="169635"/>
                </a:lnTo>
                <a:lnTo>
                  <a:pt x="566594" y="148909"/>
                </a:lnTo>
                <a:lnTo>
                  <a:pt x="611871" y="129377"/>
                </a:lnTo>
                <a:lnTo>
                  <a:pt x="658428" y="111075"/>
                </a:lnTo>
                <a:lnTo>
                  <a:pt x="706214" y="94036"/>
                </a:lnTo>
                <a:lnTo>
                  <a:pt x="755174" y="78297"/>
                </a:lnTo>
                <a:lnTo>
                  <a:pt x="805257" y="63890"/>
                </a:lnTo>
                <a:lnTo>
                  <a:pt x="856410" y="50853"/>
                </a:lnTo>
                <a:lnTo>
                  <a:pt x="908580" y="39219"/>
                </a:lnTo>
                <a:lnTo>
                  <a:pt x="961714" y="29023"/>
                </a:lnTo>
                <a:lnTo>
                  <a:pt x="1015759" y="20300"/>
                </a:lnTo>
                <a:lnTo>
                  <a:pt x="1070663" y="13084"/>
                </a:lnTo>
                <a:lnTo>
                  <a:pt x="1126374" y="7412"/>
                </a:lnTo>
                <a:lnTo>
                  <a:pt x="1182837" y="3317"/>
                </a:lnTo>
                <a:lnTo>
                  <a:pt x="1240001" y="835"/>
                </a:lnTo>
                <a:lnTo>
                  <a:pt x="1297813" y="0"/>
                </a:lnTo>
                <a:lnTo>
                  <a:pt x="1355614" y="835"/>
                </a:lnTo>
                <a:lnTo>
                  <a:pt x="1412769" y="3317"/>
                </a:lnTo>
                <a:lnTo>
                  <a:pt x="1469223" y="7412"/>
                </a:lnTo>
                <a:lnTo>
                  <a:pt x="1524925" y="13084"/>
                </a:lnTo>
                <a:lnTo>
                  <a:pt x="1579821" y="20300"/>
                </a:lnTo>
                <a:lnTo>
                  <a:pt x="1633859" y="29023"/>
                </a:lnTo>
                <a:lnTo>
                  <a:pt x="1686986" y="39219"/>
                </a:lnTo>
                <a:lnTo>
                  <a:pt x="1739149" y="50853"/>
                </a:lnTo>
                <a:lnTo>
                  <a:pt x="1790296" y="63890"/>
                </a:lnTo>
                <a:lnTo>
                  <a:pt x="1840373" y="78297"/>
                </a:lnTo>
                <a:lnTo>
                  <a:pt x="1889328" y="94036"/>
                </a:lnTo>
                <a:lnTo>
                  <a:pt x="1937109" y="111075"/>
                </a:lnTo>
                <a:lnTo>
                  <a:pt x="1983662" y="129377"/>
                </a:lnTo>
                <a:lnTo>
                  <a:pt x="2028935" y="148909"/>
                </a:lnTo>
                <a:lnTo>
                  <a:pt x="2072874" y="169635"/>
                </a:lnTo>
                <a:lnTo>
                  <a:pt x="2115428" y="191521"/>
                </a:lnTo>
                <a:lnTo>
                  <a:pt x="2156543" y="214531"/>
                </a:lnTo>
                <a:lnTo>
                  <a:pt x="2196167" y="238631"/>
                </a:lnTo>
                <a:lnTo>
                  <a:pt x="2234247" y="263786"/>
                </a:lnTo>
                <a:lnTo>
                  <a:pt x="2270730" y="289961"/>
                </a:lnTo>
                <a:lnTo>
                  <a:pt x="2305563" y="317121"/>
                </a:lnTo>
                <a:lnTo>
                  <a:pt x="2338694" y="345231"/>
                </a:lnTo>
                <a:lnTo>
                  <a:pt x="2370070" y="374258"/>
                </a:lnTo>
                <a:lnTo>
                  <a:pt x="2399638" y="404165"/>
                </a:lnTo>
                <a:lnTo>
                  <a:pt x="2427345" y="434917"/>
                </a:lnTo>
                <a:lnTo>
                  <a:pt x="2453139" y="466481"/>
                </a:lnTo>
                <a:lnTo>
                  <a:pt x="2476967" y="498821"/>
                </a:lnTo>
                <a:lnTo>
                  <a:pt x="2498776" y="531903"/>
                </a:lnTo>
                <a:lnTo>
                  <a:pt x="2518513" y="565691"/>
                </a:lnTo>
                <a:lnTo>
                  <a:pt x="2536125" y="600151"/>
                </a:lnTo>
                <a:lnTo>
                  <a:pt x="2551561" y="635247"/>
                </a:lnTo>
                <a:lnTo>
                  <a:pt x="2575689" y="707212"/>
                </a:lnTo>
                <a:lnTo>
                  <a:pt x="2590476" y="781305"/>
                </a:lnTo>
                <a:lnTo>
                  <a:pt x="2595499" y="857250"/>
                </a:lnTo>
                <a:lnTo>
                  <a:pt x="2594234" y="895436"/>
                </a:lnTo>
                <a:lnTo>
                  <a:pt x="2584277" y="970489"/>
                </a:lnTo>
                <a:lnTo>
                  <a:pt x="2564766" y="1043553"/>
                </a:lnTo>
                <a:lnTo>
                  <a:pt x="2536125" y="1114348"/>
                </a:lnTo>
                <a:lnTo>
                  <a:pt x="2518513" y="1148808"/>
                </a:lnTo>
                <a:lnTo>
                  <a:pt x="2498776" y="1182596"/>
                </a:lnTo>
                <a:lnTo>
                  <a:pt x="2476967" y="1215678"/>
                </a:lnTo>
                <a:lnTo>
                  <a:pt x="2453139" y="1248018"/>
                </a:lnTo>
                <a:lnTo>
                  <a:pt x="2427345" y="1279582"/>
                </a:lnTo>
                <a:lnTo>
                  <a:pt x="2399638" y="1310334"/>
                </a:lnTo>
                <a:lnTo>
                  <a:pt x="2370070" y="1340241"/>
                </a:lnTo>
                <a:lnTo>
                  <a:pt x="2338694" y="1369268"/>
                </a:lnTo>
                <a:lnTo>
                  <a:pt x="2305563" y="1397378"/>
                </a:lnTo>
                <a:lnTo>
                  <a:pt x="2270730" y="1424538"/>
                </a:lnTo>
                <a:lnTo>
                  <a:pt x="2234247" y="1450713"/>
                </a:lnTo>
                <a:lnTo>
                  <a:pt x="2196167" y="1475868"/>
                </a:lnTo>
                <a:lnTo>
                  <a:pt x="2156543" y="1499968"/>
                </a:lnTo>
                <a:lnTo>
                  <a:pt x="2115428" y="1522978"/>
                </a:lnTo>
                <a:lnTo>
                  <a:pt x="2072874" y="1544864"/>
                </a:lnTo>
                <a:lnTo>
                  <a:pt x="2028935" y="1565590"/>
                </a:lnTo>
                <a:lnTo>
                  <a:pt x="1983662" y="1585122"/>
                </a:lnTo>
                <a:lnTo>
                  <a:pt x="1937109" y="1603424"/>
                </a:lnTo>
                <a:lnTo>
                  <a:pt x="1889328" y="1620463"/>
                </a:lnTo>
                <a:lnTo>
                  <a:pt x="1840373" y="1636202"/>
                </a:lnTo>
                <a:lnTo>
                  <a:pt x="1790296" y="1650609"/>
                </a:lnTo>
                <a:lnTo>
                  <a:pt x="1739149" y="1663646"/>
                </a:lnTo>
                <a:lnTo>
                  <a:pt x="1686986" y="1675280"/>
                </a:lnTo>
                <a:lnTo>
                  <a:pt x="1633859" y="1685476"/>
                </a:lnTo>
                <a:lnTo>
                  <a:pt x="1579821" y="1694199"/>
                </a:lnTo>
                <a:lnTo>
                  <a:pt x="1524925" y="1701415"/>
                </a:lnTo>
                <a:lnTo>
                  <a:pt x="1469223" y="1707087"/>
                </a:lnTo>
                <a:lnTo>
                  <a:pt x="1412769" y="1711182"/>
                </a:lnTo>
                <a:lnTo>
                  <a:pt x="1355614" y="1713664"/>
                </a:lnTo>
                <a:lnTo>
                  <a:pt x="1297813" y="1714500"/>
                </a:lnTo>
                <a:lnTo>
                  <a:pt x="1240001" y="1713664"/>
                </a:lnTo>
                <a:lnTo>
                  <a:pt x="1182837" y="1711182"/>
                </a:lnTo>
                <a:lnTo>
                  <a:pt x="1126374" y="1707087"/>
                </a:lnTo>
                <a:lnTo>
                  <a:pt x="1070663" y="1701415"/>
                </a:lnTo>
                <a:lnTo>
                  <a:pt x="1015759" y="1694199"/>
                </a:lnTo>
                <a:lnTo>
                  <a:pt x="961714" y="1685476"/>
                </a:lnTo>
                <a:lnTo>
                  <a:pt x="908580" y="1675280"/>
                </a:lnTo>
                <a:lnTo>
                  <a:pt x="856410" y="1663646"/>
                </a:lnTo>
                <a:lnTo>
                  <a:pt x="805257" y="1650609"/>
                </a:lnTo>
                <a:lnTo>
                  <a:pt x="755174" y="1636202"/>
                </a:lnTo>
                <a:lnTo>
                  <a:pt x="706214" y="1620463"/>
                </a:lnTo>
                <a:lnTo>
                  <a:pt x="658428" y="1603424"/>
                </a:lnTo>
                <a:lnTo>
                  <a:pt x="611871" y="1585122"/>
                </a:lnTo>
                <a:lnTo>
                  <a:pt x="566594" y="1565590"/>
                </a:lnTo>
                <a:lnTo>
                  <a:pt x="522650" y="1544864"/>
                </a:lnTo>
                <a:lnTo>
                  <a:pt x="480093" y="1522978"/>
                </a:lnTo>
                <a:lnTo>
                  <a:pt x="438975" y="1499968"/>
                </a:lnTo>
                <a:lnTo>
                  <a:pt x="399348" y="1475868"/>
                </a:lnTo>
                <a:lnTo>
                  <a:pt x="361266" y="1450713"/>
                </a:lnTo>
                <a:lnTo>
                  <a:pt x="324780" y="1424538"/>
                </a:lnTo>
                <a:lnTo>
                  <a:pt x="289945" y="1397378"/>
                </a:lnTo>
                <a:lnTo>
                  <a:pt x="256812" y="1369268"/>
                </a:lnTo>
                <a:lnTo>
                  <a:pt x="225435" y="1340241"/>
                </a:lnTo>
                <a:lnTo>
                  <a:pt x="195866" y="1310334"/>
                </a:lnTo>
                <a:lnTo>
                  <a:pt x="168157" y="1279582"/>
                </a:lnTo>
                <a:lnTo>
                  <a:pt x="142362" y="1248018"/>
                </a:lnTo>
                <a:lnTo>
                  <a:pt x="118534" y="1215678"/>
                </a:lnTo>
                <a:lnTo>
                  <a:pt x="96724" y="1182596"/>
                </a:lnTo>
                <a:lnTo>
                  <a:pt x="76987" y="1148808"/>
                </a:lnTo>
                <a:lnTo>
                  <a:pt x="59373" y="1114348"/>
                </a:lnTo>
                <a:lnTo>
                  <a:pt x="43938" y="1079252"/>
                </a:lnTo>
                <a:lnTo>
                  <a:pt x="19809" y="1007287"/>
                </a:lnTo>
                <a:lnTo>
                  <a:pt x="5022" y="933194"/>
                </a:lnTo>
                <a:lnTo>
                  <a:pt x="0" y="8572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26162" y="2003425"/>
            <a:ext cx="212852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000" spc="-5" dirty="0" err="1">
                <a:latin typeface="Tahoma"/>
                <a:cs typeface="Tahoma"/>
              </a:rPr>
              <a:t>Entendimiento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del</a:t>
            </a:r>
            <a:r>
              <a:rPr lang="es-419" sz="2000" dirty="0">
                <a:latin typeface="Tahoma"/>
                <a:cs typeface="Tahoma"/>
              </a:rPr>
              <a:t> </a:t>
            </a:r>
            <a:r>
              <a:rPr sz="2000" spc="-5" dirty="0" err="1">
                <a:latin typeface="Tahoma"/>
                <a:cs typeface="Tahoma"/>
              </a:rPr>
              <a:t>Entorno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2038350"/>
            <a:ext cx="2546350" cy="1745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4800" y="2038350"/>
            <a:ext cx="2546350" cy="1745614"/>
          </a:xfrm>
          <a:custGeom>
            <a:avLst/>
            <a:gdLst/>
            <a:ahLst/>
            <a:cxnLst/>
            <a:rect l="l" t="t" r="r" b="b"/>
            <a:pathLst>
              <a:path w="2546350" h="1745614">
                <a:moveTo>
                  <a:pt x="0" y="872744"/>
                </a:moveTo>
                <a:lnTo>
                  <a:pt x="1240" y="833871"/>
                </a:lnTo>
                <a:lnTo>
                  <a:pt x="4927" y="795434"/>
                </a:lnTo>
                <a:lnTo>
                  <a:pt x="11009" y="757467"/>
                </a:lnTo>
                <a:lnTo>
                  <a:pt x="19433" y="720006"/>
                </a:lnTo>
                <a:lnTo>
                  <a:pt x="30149" y="683087"/>
                </a:lnTo>
                <a:lnTo>
                  <a:pt x="43105" y="646745"/>
                </a:lnTo>
                <a:lnTo>
                  <a:pt x="58248" y="611016"/>
                </a:lnTo>
                <a:lnTo>
                  <a:pt x="75527" y="575935"/>
                </a:lnTo>
                <a:lnTo>
                  <a:pt x="94891" y="541537"/>
                </a:lnTo>
                <a:lnTo>
                  <a:pt x="116287" y="507858"/>
                </a:lnTo>
                <a:lnTo>
                  <a:pt x="139663" y="474934"/>
                </a:lnTo>
                <a:lnTo>
                  <a:pt x="164969" y="442800"/>
                </a:lnTo>
                <a:lnTo>
                  <a:pt x="192152" y="411491"/>
                </a:lnTo>
                <a:lnTo>
                  <a:pt x="221160" y="381043"/>
                </a:lnTo>
                <a:lnTo>
                  <a:pt x="251943" y="351492"/>
                </a:lnTo>
                <a:lnTo>
                  <a:pt x="284447" y="322873"/>
                </a:lnTo>
                <a:lnTo>
                  <a:pt x="318621" y="295221"/>
                </a:lnTo>
                <a:lnTo>
                  <a:pt x="354414" y="268572"/>
                </a:lnTo>
                <a:lnTo>
                  <a:pt x="391774" y="242961"/>
                </a:lnTo>
                <a:lnTo>
                  <a:pt x="430649" y="218425"/>
                </a:lnTo>
                <a:lnTo>
                  <a:pt x="470987" y="194998"/>
                </a:lnTo>
                <a:lnTo>
                  <a:pt x="512737" y="172715"/>
                </a:lnTo>
                <a:lnTo>
                  <a:pt x="555846" y="151614"/>
                </a:lnTo>
                <a:lnTo>
                  <a:pt x="600263" y="131727"/>
                </a:lnTo>
                <a:lnTo>
                  <a:pt x="645937" y="113093"/>
                </a:lnTo>
                <a:lnTo>
                  <a:pt x="692815" y="95745"/>
                </a:lnTo>
                <a:lnTo>
                  <a:pt x="740846" y="79719"/>
                </a:lnTo>
                <a:lnTo>
                  <a:pt x="789978" y="65052"/>
                </a:lnTo>
                <a:lnTo>
                  <a:pt x="840160" y="51777"/>
                </a:lnTo>
                <a:lnTo>
                  <a:pt x="891338" y="39932"/>
                </a:lnTo>
                <a:lnTo>
                  <a:pt x="943463" y="29550"/>
                </a:lnTo>
                <a:lnTo>
                  <a:pt x="996482" y="20669"/>
                </a:lnTo>
                <a:lnTo>
                  <a:pt x="1050343" y="13322"/>
                </a:lnTo>
                <a:lnTo>
                  <a:pt x="1104994" y="7547"/>
                </a:lnTo>
                <a:lnTo>
                  <a:pt x="1160385" y="3378"/>
                </a:lnTo>
                <a:lnTo>
                  <a:pt x="1216462" y="850"/>
                </a:lnTo>
                <a:lnTo>
                  <a:pt x="1273175" y="0"/>
                </a:lnTo>
                <a:lnTo>
                  <a:pt x="1329890" y="850"/>
                </a:lnTo>
                <a:lnTo>
                  <a:pt x="1385970" y="3378"/>
                </a:lnTo>
                <a:lnTo>
                  <a:pt x="1441363" y="7547"/>
                </a:lnTo>
                <a:lnTo>
                  <a:pt x="1496016" y="13322"/>
                </a:lnTo>
                <a:lnTo>
                  <a:pt x="1549879" y="20669"/>
                </a:lnTo>
                <a:lnTo>
                  <a:pt x="1602899" y="29550"/>
                </a:lnTo>
                <a:lnTo>
                  <a:pt x="1655025" y="39932"/>
                </a:lnTo>
                <a:lnTo>
                  <a:pt x="1706205" y="51777"/>
                </a:lnTo>
                <a:lnTo>
                  <a:pt x="1756387" y="65052"/>
                </a:lnTo>
                <a:lnTo>
                  <a:pt x="1805519" y="79719"/>
                </a:lnTo>
                <a:lnTo>
                  <a:pt x="1853550" y="95745"/>
                </a:lnTo>
                <a:lnTo>
                  <a:pt x="1900429" y="113093"/>
                </a:lnTo>
                <a:lnTo>
                  <a:pt x="1946102" y="131727"/>
                </a:lnTo>
                <a:lnTo>
                  <a:pt x="1990520" y="151614"/>
                </a:lnTo>
                <a:lnTo>
                  <a:pt x="2033629" y="172715"/>
                </a:lnTo>
                <a:lnTo>
                  <a:pt x="2075378" y="194998"/>
                </a:lnTo>
                <a:lnTo>
                  <a:pt x="2115715" y="218425"/>
                </a:lnTo>
                <a:lnTo>
                  <a:pt x="2154589" y="242961"/>
                </a:lnTo>
                <a:lnTo>
                  <a:pt x="2191949" y="268572"/>
                </a:lnTo>
                <a:lnTo>
                  <a:pt x="2227741" y="295221"/>
                </a:lnTo>
                <a:lnTo>
                  <a:pt x="2261914" y="322873"/>
                </a:lnTo>
                <a:lnTo>
                  <a:pt x="2294418" y="351492"/>
                </a:lnTo>
                <a:lnTo>
                  <a:pt x="2325199" y="381043"/>
                </a:lnTo>
                <a:lnTo>
                  <a:pt x="2354206" y="411491"/>
                </a:lnTo>
                <a:lnTo>
                  <a:pt x="2381388" y="442800"/>
                </a:lnTo>
                <a:lnTo>
                  <a:pt x="2406693" y="474934"/>
                </a:lnTo>
                <a:lnTo>
                  <a:pt x="2430069" y="507858"/>
                </a:lnTo>
                <a:lnTo>
                  <a:pt x="2451463" y="541537"/>
                </a:lnTo>
                <a:lnTo>
                  <a:pt x="2470826" y="575935"/>
                </a:lnTo>
                <a:lnTo>
                  <a:pt x="2488104" y="611016"/>
                </a:lnTo>
                <a:lnTo>
                  <a:pt x="2503247" y="646745"/>
                </a:lnTo>
                <a:lnTo>
                  <a:pt x="2516201" y="683087"/>
                </a:lnTo>
                <a:lnTo>
                  <a:pt x="2526917" y="720006"/>
                </a:lnTo>
                <a:lnTo>
                  <a:pt x="2535341" y="757467"/>
                </a:lnTo>
                <a:lnTo>
                  <a:pt x="2541422" y="795434"/>
                </a:lnTo>
                <a:lnTo>
                  <a:pt x="2545109" y="833871"/>
                </a:lnTo>
                <a:lnTo>
                  <a:pt x="2546350" y="872744"/>
                </a:lnTo>
                <a:lnTo>
                  <a:pt x="2545109" y="911616"/>
                </a:lnTo>
                <a:lnTo>
                  <a:pt x="2541422" y="950053"/>
                </a:lnTo>
                <a:lnTo>
                  <a:pt x="2535341" y="988020"/>
                </a:lnTo>
                <a:lnTo>
                  <a:pt x="2526917" y="1025481"/>
                </a:lnTo>
                <a:lnTo>
                  <a:pt x="2516201" y="1062400"/>
                </a:lnTo>
                <a:lnTo>
                  <a:pt x="2503247" y="1098742"/>
                </a:lnTo>
                <a:lnTo>
                  <a:pt x="2488104" y="1134471"/>
                </a:lnTo>
                <a:lnTo>
                  <a:pt x="2470826" y="1169552"/>
                </a:lnTo>
                <a:lnTo>
                  <a:pt x="2451463" y="1203950"/>
                </a:lnTo>
                <a:lnTo>
                  <a:pt x="2430069" y="1237629"/>
                </a:lnTo>
                <a:lnTo>
                  <a:pt x="2406693" y="1270553"/>
                </a:lnTo>
                <a:lnTo>
                  <a:pt x="2381388" y="1302687"/>
                </a:lnTo>
                <a:lnTo>
                  <a:pt x="2354206" y="1333996"/>
                </a:lnTo>
                <a:lnTo>
                  <a:pt x="2325199" y="1364444"/>
                </a:lnTo>
                <a:lnTo>
                  <a:pt x="2294418" y="1393995"/>
                </a:lnTo>
                <a:lnTo>
                  <a:pt x="2261914" y="1422614"/>
                </a:lnTo>
                <a:lnTo>
                  <a:pt x="2227741" y="1450266"/>
                </a:lnTo>
                <a:lnTo>
                  <a:pt x="2191949" y="1476915"/>
                </a:lnTo>
                <a:lnTo>
                  <a:pt x="2154589" y="1502526"/>
                </a:lnTo>
                <a:lnTo>
                  <a:pt x="2115715" y="1527062"/>
                </a:lnTo>
                <a:lnTo>
                  <a:pt x="2075378" y="1550489"/>
                </a:lnTo>
                <a:lnTo>
                  <a:pt x="2033629" y="1572772"/>
                </a:lnTo>
                <a:lnTo>
                  <a:pt x="1990520" y="1593873"/>
                </a:lnTo>
                <a:lnTo>
                  <a:pt x="1946102" y="1613760"/>
                </a:lnTo>
                <a:lnTo>
                  <a:pt x="1900429" y="1632394"/>
                </a:lnTo>
                <a:lnTo>
                  <a:pt x="1853550" y="1649742"/>
                </a:lnTo>
                <a:lnTo>
                  <a:pt x="1805519" y="1665768"/>
                </a:lnTo>
                <a:lnTo>
                  <a:pt x="1756387" y="1680435"/>
                </a:lnTo>
                <a:lnTo>
                  <a:pt x="1706205" y="1693710"/>
                </a:lnTo>
                <a:lnTo>
                  <a:pt x="1655025" y="1705555"/>
                </a:lnTo>
                <a:lnTo>
                  <a:pt x="1602899" y="1715937"/>
                </a:lnTo>
                <a:lnTo>
                  <a:pt x="1549879" y="1724818"/>
                </a:lnTo>
                <a:lnTo>
                  <a:pt x="1496016" y="1732165"/>
                </a:lnTo>
                <a:lnTo>
                  <a:pt x="1441363" y="1737940"/>
                </a:lnTo>
                <a:lnTo>
                  <a:pt x="1385970" y="1742109"/>
                </a:lnTo>
                <a:lnTo>
                  <a:pt x="1329890" y="1744637"/>
                </a:lnTo>
                <a:lnTo>
                  <a:pt x="1273175" y="1745488"/>
                </a:lnTo>
                <a:lnTo>
                  <a:pt x="1216462" y="1744637"/>
                </a:lnTo>
                <a:lnTo>
                  <a:pt x="1160385" y="1742109"/>
                </a:lnTo>
                <a:lnTo>
                  <a:pt x="1104994" y="1737940"/>
                </a:lnTo>
                <a:lnTo>
                  <a:pt x="1050343" y="1732165"/>
                </a:lnTo>
                <a:lnTo>
                  <a:pt x="996482" y="1724818"/>
                </a:lnTo>
                <a:lnTo>
                  <a:pt x="943463" y="1715937"/>
                </a:lnTo>
                <a:lnTo>
                  <a:pt x="891338" y="1705555"/>
                </a:lnTo>
                <a:lnTo>
                  <a:pt x="840160" y="1693710"/>
                </a:lnTo>
                <a:lnTo>
                  <a:pt x="789978" y="1680435"/>
                </a:lnTo>
                <a:lnTo>
                  <a:pt x="740846" y="1665768"/>
                </a:lnTo>
                <a:lnTo>
                  <a:pt x="692815" y="1649742"/>
                </a:lnTo>
                <a:lnTo>
                  <a:pt x="645937" y="1632394"/>
                </a:lnTo>
                <a:lnTo>
                  <a:pt x="600263" y="1613760"/>
                </a:lnTo>
                <a:lnTo>
                  <a:pt x="555846" y="1593873"/>
                </a:lnTo>
                <a:lnTo>
                  <a:pt x="512737" y="1572772"/>
                </a:lnTo>
                <a:lnTo>
                  <a:pt x="470987" y="1550489"/>
                </a:lnTo>
                <a:lnTo>
                  <a:pt x="430649" y="1527062"/>
                </a:lnTo>
                <a:lnTo>
                  <a:pt x="391774" y="1502526"/>
                </a:lnTo>
                <a:lnTo>
                  <a:pt x="354414" y="1476915"/>
                </a:lnTo>
                <a:lnTo>
                  <a:pt x="318621" y="1450266"/>
                </a:lnTo>
                <a:lnTo>
                  <a:pt x="284447" y="1422614"/>
                </a:lnTo>
                <a:lnTo>
                  <a:pt x="251943" y="1393995"/>
                </a:lnTo>
                <a:lnTo>
                  <a:pt x="221160" y="1364444"/>
                </a:lnTo>
                <a:lnTo>
                  <a:pt x="192152" y="1333996"/>
                </a:lnTo>
                <a:lnTo>
                  <a:pt x="164969" y="1302687"/>
                </a:lnTo>
                <a:lnTo>
                  <a:pt x="139663" y="1270553"/>
                </a:lnTo>
                <a:lnTo>
                  <a:pt x="116287" y="1237629"/>
                </a:lnTo>
                <a:lnTo>
                  <a:pt x="94891" y="1203950"/>
                </a:lnTo>
                <a:lnTo>
                  <a:pt x="75527" y="1169552"/>
                </a:lnTo>
                <a:lnTo>
                  <a:pt x="58248" y="1134471"/>
                </a:lnTo>
                <a:lnTo>
                  <a:pt x="43105" y="1098742"/>
                </a:lnTo>
                <a:lnTo>
                  <a:pt x="30149" y="1062400"/>
                </a:lnTo>
                <a:lnTo>
                  <a:pt x="19433" y="1025481"/>
                </a:lnTo>
                <a:lnTo>
                  <a:pt x="11009" y="988020"/>
                </a:lnTo>
                <a:lnTo>
                  <a:pt x="4927" y="950053"/>
                </a:lnTo>
                <a:lnTo>
                  <a:pt x="1240" y="911616"/>
                </a:lnTo>
                <a:lnTo>
                  <a:pt x="0" y="87274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4495" y="2495550"/>
            <a:ext cx="2196175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419" sz="2000" spc="-5" dirty="0">
                <a:latin typeface="Tahoma"/>
                <a:cs typeface="Tahoma"/>
              </a:rPr>
              <a:t>Habilidades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419" sz="2000" spc="-5" dirty="0">
                <a:latin typeface="Tahoma"/>
                <a:cs typeface="Tahoma"/>
              </a:rPr>
              <a:t>Interpersonales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200" y="342900"/>
            <a:ext cx="224154" cy="447675"/>
          </a:xfrm>
          <a:custGeom>
            <a:avLst/>
            <a:gdLst/>
            <a:ahLst/>
            <a:cxnLst/>
            <a:rect l="l" t="t" r="r" b="b"/>
            <a:pathLst>
              <a:path w="224154" h="447675">
                <a:moveTo>
                  <a:pt x="223837" y="0"/>
                </a:moveTo>
                <a:lnTo>
                  <a:pt x="178726" y="4546"/>
                </a:lnTo>
                <a:lnTo>
                  <a:pt x="136709" y="17587"/>
                </a:lnTo>
                <a:lnTo>
                  <a:pt x="98687" y="38221"/>
                </a:lnTo>
                <a:lnTo>
                  <a:pt x="65560" y="65547"/>
                </a:lnTo>
                <a:lnTo>
                  <a:pt x="38227" y="98666"/>
                </a:lnTo>
                <a:lnTo>
                  <a:pt x="17590" y="136677"/>
                </a:lnTo>
                <a:lnTo>
                  <a:pt x="4547" y="178680"/>
                </a:lnTo>
                <a:lnTo>
                  <a:pt x="0" y="223774"/>
                </a:lnTo>
                <a:lnTo>
                  <a:pt x="4547" y="268909"/>
                </a:lnTo>
                <a:lnTo>
                  <a:pt x="17590" y="310943"/>
                </a:lnTo>
                <a:lnTo>
                  <a:pt x="38227" y="348977"/>
                </a:lnTo>
                <a:lnTo>
                  <a:pt x="65560" y="382111"/>
                </a:lnTo>
                <a:lnTo>
                  <a:pt x="98687" y="409447"/>
                </a:lnTo>
                <a:lnTo>
                  <a:pt x="136709" y="430085"/>
                </a:lnTo>
                <a:lnTo>
                  <a:pt x="178726" y="443127"/>
                </a:lnTo>
                <a:lnTo>
                  <a:pt x="223837" y="447675"/>
                </a:lnTo>
                <a:lnTo>
                  <a:pt x="223837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0037" y="342900"/>
            <a:ext cx="7713980" cy="447675"/>
          </a:xfrm>
          <a:custGeom>
            <a:avLst/>
            <a:gdLst/>
            <a:ahLst/>
            <a:cxnLst/>
            <a:rect l="l" t="t" r="r" b="b"/>
            <a:pathLst>
              <a:path w="7713980" h="447675">
                <a:moveTo>
                  <a:pt x="0" y="447675"/>
                </a:moveTo>
                <a:lnTo>
                  <a:pt x="7713599" y="447675"/>
                </a:lnTo>
                <a:lnTo>
                  <a:pt x="7713599" y="0"/>
                </a:lnTo>
                <a:lnTo>
                  <a:pt x="0" y="0"/>
                </a:lnTo>
                <a:lnTo>
                  <a:pt x="0" y="447675"/>
                </a:lnTo>
                <a:close/>
              </a:path>
            </a:pathLst>
          </a:custGeom>
          <a:ln w="19050">
            <a:solidFill>
              <a:srgbClr val="2CA1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948688" y="214376"/>
            <a:ext cx="4417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375" dirty="0">
                <a:solidFill>
                  <a:srgbClr val="000000"/>
                </a:solidFill>
                <a:latin typeface="Arial"/>
                <a:cs typeface="Arial"/>
              </a:rPr>
              <a:t>El </a:t>
            </a:r>
            <a:r>
              <a:rPr sz="3600" i="0" spc="-275" dirty="0">
                <a:solidFill>
                  <a:srgbClr val="000000"/>
                </a:solidFill>
                <a:latin typeface="Arial"/>
                <a:cs typeface="Arial"/>
              </a:rPr>
              <a:t>Gerente </a:t>
            </a:r>
            <a:r>
              <a:rPr sz="3600" i="0" spc="-215" dirty="0">
                <a:solidFill>
                  <a:srgbClr val="000000"/>
                </a:solidFill>
                <a:latin typeface="Arial"/>
                <a:cs typeface="Arial"/>
              </a:rPr>
              <a:t>del</a:t>
            </a:r>
            <a:r>
              <a:rPr sz="3600" i="0" spc="-1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330" dirty="0">
                <a:solidFill>
                  <a:srgbClr val="000000"/>
                </a:solidFill>
                <a:latin typeface="Arial"/>
                <a:cs typeface="Arial"/>
              </a:rPr>
              <a:t>Proyecto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2400" y="1276350"/>
            <a:ext cx="8324850" cy="3335020"/>
          </a:xfrm>
          <a:custGeom>
            <a:avLst/>
            <a:gdLst/>
            <a:ahLst/>
            <a:cxnLst/>
            <a:rect l="l" t="t" r="r" b="b"/>
            <a:pathLst>
              <a:path w="8610600" h="3335020">
                <a:moveTo>
                  <a:pt x="0" y="1667510"/>
                </a:moveTo>
                <a:lnTo>
                  <a:pt x="2048" y="1615567"/>
                </a:lnTo>
                <a:lnTo>
                  <a:pt x="8155" y="1564021"/>
                </a:lnTo>
                <a:lnTo>
                  <a:pt x="18260" y="1512894"/>
                </a:lnTo>
                <a:lnTo>
                  <a:pt x="32303" y="1462208"/>
                </a:lnTo>
                <a:lnTo>
                  <a:pt x="50226" y="1411987"/>
                </a:lnTo>
                <a:lnTo>
                  <a:pt x="71968" y="1362255"/>
                </a:lnTo>
                <a:lnTo>
                  <a:pt x="97470" y="1313033"/>
                </a:lnTo>
                <a:lnTo>
                  <a:pt x="126673" y="1264346"/>
                </a:lnTo>
                <a:lnTo>
                  <a:pt x="159517" y="1216215"/>
                </a:lnTo>
                <a:lnTo>
                  <a:pt x="195943" y="1168665"/>
                </a:lnTo>
                <a:lnTo>
                  <a:pt x="235890" y="1121718"/>
                </a:lnTo>
                <a:lnTo>
                  <a:pt x="279299" y="1075397"/>
                </a:lnTo>
                <a:lnTo>
                  <a:pt x="326112" y="1029726"/>
                </a:lnTo>
                <a:lnTo>
                  <a:pt x="376267" y="984727"/>
                </a:lnTo>
                <a:lnTo>
                  <a:pt x="429706" y="940424"/>
                </a:lnTo>
                <a:lnTo>
                  <a:pt x="486370" y="896839"/>
                </a:lnTo>
                <a:lnTo>
                  <a:pt x="546198" y="853996"/>
                </a:lnTo>
                <a:lnTo>
                  <a:pt x="609131" y="811917"/>
                </a:lnTo>
                <a:lnTo>
                  <a:pt x="641743" y="791172"/>
                </a:lnTo>
                <a:lnTo>
                  <a:pt x="675110" y="770626"/>
                </a:lnTo>
                <a:lnTo>
                  <a:pt x="709222" y="750283"/>
                </a:lnTo>
                <a:lnTo>
                  <a:pt x="744074" y="730146"/>
                </a:lnTo>
                <a:lnTo>
                  <a:pt x="779658" y="710217"/>
                </a:lnTo>
                <a:lnTo>
                  <a:pt x="815965" y="690499"/>
                </a:lnTo>
                <a:lnTo>
                  <a:pt x="852989" y="670996"/>
                </a:lnTo>
                <a:lnTo>
                  <a:pt x="890723" y="651710"/>
                </a:lnTo>
                <a:lnTo>
                  <a:pt x="929158" y="632644"/>
                </a:lnTo>
                <a:lnTo>
                  <a:pt x="968288" y="613800"/>
                </a:lnTo>
                <a:lnTo>
                  <a:pt x="1008105" y="595182"/>
                </a:lnTo>
                <a:lnTo>
                  <a:pt x="1048601" y="576793"/>
                </a:lnTo>
                <a:lnTo>
                  <a:pt x="1089769" y="558636"/>
                </a:lnTo>
                <a:lnTo>
                  <a:pt x="1131602" y="540713"/>
                </a:lnTo>
                <a:lnTo>
                  <a:pt x="1174092" y="523027"/>
                </a:lnTo>
                <a:lnTo>
                  <a:pt x="1217232" y="505581"/>
                </a:lnTo>
                <a:lnTo>
                  <a:pt x="1261014" y="488378"/>
                </a:lnTo>
                <a:lnTo>
                  <a:pt x="1305431" y="471421"/>
                </a:lnTo>
                <a:lnTo>
                  <a:pt x="1350476" y="454713"/>
                </a:lnTo>
                <a:lnTo>
                  <a:pt x="1396140" y="438257"/>
                </a:lnTo>
                <a:lnTo>
                  <a:pt x="1442417" y="422055"/>
                </a:lnTo>
                <a:lnTo>
                  <a:pt x="1489298" y="406110"/>
                </a:lnTo>
                <a:lnTo>
                  <a:pt x="1536778" y="390426"/>
                </a:lnTo>
                <a:lnTo>
                  <a:pt x="1584848" y="375005"/>
                </a:lnTo>
                <a:lnTo>
                  <a:pt x="1633500" y="359851"/>
                </a:lnTo>
                <a:lnTo>
                  <a:pt x="1682728" y="344965"/>
                </a:lnTo>
                <a:lnTo>
                  <a:pt x="1732523" y="330351"/>
                </a:lnTo>
                <a:lnTo>
                  <a:pt x="1782879" y="316011"/>
                </a:lnTo>
                <a:lnTo>
                  <a:pt x="1833788" y="301950"/>
                </a:lnTo>
                <a:lnTo>
                  <a:pt x="1885243" y="288168"/>
                </a:lnTo>
                <a:lnTo>
                  <a:pt x="1937235" y="274671"/>
                </a:lnTo>
                <a:lnTo>
                  <a:pt x="1989758" y="261459"/>
                </a:lnTo>
                <a:lnTo>
                  <a:pt x="2042805" y="248536"/>
                </a:lnTo>
                <a:lnTo>
                  <a:pt x="2096367" y="235906"/>
                </a:lnTo>
                <a:lnTo>
                  <a:pt x="2150437" y="223570"/>
                </a:lnTo>
                <a:lnTo>
                  <a:pt x="2205008" y="211533"/>
                </a:lnTo>
                <a:lnTo>
                  <a:pt x="2260073" y="199796"/>
                </a:lnTo>
                <a:lnTo>
                  <a:pt x="2315624" y="188362"/>
                </a:lnTo>
                <a:lnTo>
                  <a:pt x="2371653" y="177235"/>
                </a:lnTo>
                <a:lnTo>
                  <a:pt x="2428153" y="166417"/>
                </a:lnTo>
                <a:lnTo>
                  <a:pt x="2485117" y="155911"/>
                </a:lnTo>
                <a:lnTo>
                  <a:pt x="2542537" y="145721"/>
                </a:lnTo>
                <a:lnTo>
                  <a:pt x="2600406" y="135848"/>
                </a:lnTo>
                <a:lnTo>
                  <a:pt x="2658717" y="126296"/>
                </a:lnTo>
                <a:lnTo>
                  <a:pt x="2717461" y="117068"/>
                </a:lnTo>
                <a:lnTo>
                  <a:pt x="2776631" y="108166"/>
                </a:lnTo>
                <a:lnTo>
                  <a:pt x="2836221" y="99594"/>
                </a:lnTo>
                <a:lnTo>
                  <a:pt x="2896222" y="91355"/>
                </a:lnTo>
                <a:lnTo>
                  <a:pt x="2956627" y="83450"/>
                </a:lnTo>
                <a:lnTo>
                  <a:pt x="3017429" y="75884"/>
                </a:lnTo>
                <a:lnTo>
                  <a:pt x="3078620" y="68659"/>
                </a:lnTo>
                <a:lnTo>
                  <a:pt x="3140192" y="61777"/>
                </a:lnTo>
                <a:lnTo>
                  <a:pt x="3202139" y="55242"/>
                </a:lnTo>
                <a:lnTo>
                  <a:pt x="3264453" y="49057"/>
                </a:lnTo>
                <a:lnTo>
                  <a:pt x="3327127" y="43225"/>
                </a:lnTo>
                <a:lnTo>
                  <a:pt x="3390152" y="37748"/>
                </a:lnTo>
                <a:lnTo>
                  <a:pt x="3453522" y="32629"/>
                </a:lnTo>
                <a:lnTo>
                  <a:pt x="3517229" y="27871"/>
                </a:lnTo>
                <a:lnTo>
                  <a:pt x="3581266" y="23478"/>
                </a:lnTo>
                <a:lnTo>
                  <a:pt x="3645625" y="19451"/>
                </a:lnTo>
                <a:lnTo>
                  <a:pt x="3710299" y="15794"/>
                </a:lnTo>
                <a:lnTo>
                  <a:pt x="3775280" y="12510"/>
                </a:lnTo>
                <a:lnTo>
                  <a:pt x="3840561" y="9601"/>
                </a:lnTo>
                <a:lnTo>
                  <a:pt x="3906134" y="7071"/>
                </a:lnTo>
                <a:lnTo>
                  <a:pt x="3971993" y="4922"/>
                </a:lnTo>
                <a:lnTo>
                  <a:pt x="4038129" y="3158"/>
                </a:lnTo>
                <a:lnTo>
                  <a:pt x="4104535" y="1780"/>
                </a:lnTo>
                <a:lnTo>
                  <a:pt x="4171204" y="793"/>
                </a:lnTo>
                <a:lnTo>
                  <a:pt x="4238128" y="198"/>
                </a:lnTo>
                <a:lnTo>
                  <a:pt x="4305300" y="0"/>
                </a:lnTo>
                <a:lnTo>
                  <a:pt x="4372471" y="198"/>
                </a:lnTo>
                <a:lnTo>
                  <a:pt x="4439395" y="793"/>
                </a:lnTo>
                <a:lnTo>
                  <a:pt x="4506064" y="1780"/>
                </a:lnTo>
                <a:lnTo>
                  <a:pt x="4572470" y="3158"/>
                </a:lnTo>
                <a:lnTo>
                  <a:pt x="4638606" y="4922"/>
                </a:lnTo>
                <a:lnTo>
                  <a:pt x="4704465" y="7071"/>
                </a:lnTo>
                <a:lnTo>
                  <a:pt x="4770038" y="9601"/>
                </a:lnTo>
                <a:lnTo>
                  <a:pt x="4835319" y="12510"/>
                </a:lnTo>
                <a:lnTo>
                  <a:pt x="4900300" y="15794"/>
                </a:lnTo>
                <a:lnTo>
                  <a:pt x="4964974" y="19451"/>
                </a:lnTo>
                <a:lnTo>
                  <a:pt x="5029333" y="23478"/>
                </a:lnTo>
                <a:lnTo>
                  <a:pt x="5093370" y="27871"/>
                </a:lnTo>
                <a:lnTo>
                  <a:pt x="5157077" y="32629"/>
                </a:lnTo>
                <a:lnTo>
                  <a:pt x="5220447" y="37748"/>
                </a:lnTo>
                <a:lnTo>
                  <a:pt x="5283472" y="43225"/>
                </a:lnTo>
                <a:lnTo>
                  <a:pt x="5346146" y="49057"/>
                </a:lnTo>
                <a:lnTo>
                  <a:pt x="5408460" y="55242"/>
                </a:lnTo>
                <a:lnTo>
                  <a:pt x="5470407" y="61777"/>
                </a:lnTo>
                <a:lnTo>
                  <a:pt x="5531979" y="68659"/>
                </a:lnTo>
                <a:lnTo>
                  <a:pt x="5593170" y="75884"/>
                </a:lnTo>
                <a:lnTo>
                  <a:pt x="5653972" y="83450"/>
                </a:lnTo>
                <a:lnTo>
                  <a:pt x="5714377" y="91355"/>
                </a:lnTo>
                <a:lnTo>
                  <a:pt x="5774378" y="99594"/>
                </a:lnTo>
                <a:lnTo>
                  <a:pt x="5833968" y="108166"/>
                </a:lnTo>
                <a:lnTo>
                  <a:pt x="5893138" y="117068"/>
                </a:lnTo>
                <a:lnTo>
                  <a:pt x="5951882" y="126296"/>
                </a:lnTo>
                <a:lnTo>
                  <a:pt x="6010193" y="135848"/>
                </a:lnTo>
                <a:lnTo>
                  <a:pt x="6068062" y="145721"/>
                </a:lnTo>
                <a:lnTo>
                  <a:pt x="6125482" y="155911"/>
                </a:lnTo>
                <a:lnTo>
                  <a:pt x="6182446" y="166417"/>
                </a:lnTo>
                <a:lnTo>
                  <a:pt x="6238946" y="177235"/>
                </a:lnTo>
                <a:lnTo>
                  <a:pt x="6294975" y="188362"/>
                </a:lnTo>
                <a:lnTo>
                  <a:pt x="6350526" y="199796"/>
                </a:lnTo>
                <a:lnTo>
                  <a:pt x="6405591" y="211533"/>
                </a:lnTo>
                <a:lnTo>
                  <a:pt x="6460162" y="223570"/>
                </a:lnTo>
                <a:lnTo>
                  <a:pt x="6514232" y="235906"/>
                </a:lnTo>
                <a:lnTo>
                  <a:pt x="6567794" y="248536"/>
                </a:lnTo>
                <a:lnTo>
                  <a:pt x="6620841" y="261459"/>
                </a:lnTo>
                <a:lnTo>
                  <a:pt x="6673364" y="274671"/>
                </a:lnTo>
                <a:lnTo>
                  <a:pt x="6725356" y="288168"/>
                </a:lnTo>
                <a:lnTo>
                  <a:pt x="6776811" y="301950"/>
                </a:lnTo>
                <a:lnTo>
                  <a:pt x="6827720" y="316011"/>
                </a:lnTo>
                <a:lnTo>
                  <a:pt x="6878076" y="330351"/>
                </a:lnTo>
                <a:lnTo>
                  <a:pt x="6927871" y="344965"/>
                </a:lnTo>
                <a:lnTo>
                  <a:pt x="6977099" y="359851"/>
                </a:lnTo>
                <a:lnTo>
                  <a:pt x="7025751" y="375005"/>
                </a:lnTo>
                <a:lnTo>
                  <a:pt x="7073821" y="390426"/>
                </a:lnTo>
                <a:lnTo>
                  <a:pt x="7121301" y="406110"/>
                </a:lnTo>
                <a:lnTo>
                  <a:pt x="7168182" y="422055"/>
                </a:lnTo>
                <a:lnTo>
                  <a:pt x="7214459" y="438257"/>
                </a:lnTo>
                <a:lnTo>
                  <a:pt x="7260123" y="454713"/>
                </a:lnTo>
                <a:lnTo>
                  <a:pt x="7305168" y="471421"/>
                </a:lnTo>
                <a:lnTo>
                  <a:pt x="7349585" y="488378"/>
                </a:lnTo>
                <a:lnTo>
                  <a:pt x="7393367" y="505581"/>
                </a:lnTo>
                <a:lnTo>
                  <a:pt x="7436507" y="523027"/>
                </a:lnTo>
                <a:lnTo>
                  <a:pt x="7478997" y="540713"/>
                </a:lnTo>
                <a:lnTo>
                  <a:pt x="7520830" y="558636"/>
                </a:lnTo>
                <a:lnTo>
                  <a:pt x="7561998" y="576793"/>
                </a:lnTo>
                <a:lnTo>
                  <a:pt x="7602494" y="595182"/>
                </a:lnTo>
                <a:lnTo>
                  <a:pt x="7642311" y="613800"/>
                </a:lnTo>
                <a:lnTo>
                  <a:pt x="7681441" y="632644"/>
                </a:lnTo>
                <a:lnTo>
                  <a:pt x="7719876" y="651710"/>
                </a:lnTo>
                <a:lnTo>
                  <a:pt x="7757610" y="670996"/>
                </a:lnTo>
                <a:lnTo>
                  <a:pt x="7794634" y="690499"/>
                </a:lnTo>
                <a:lnTo>
                  <a:pt x="7830941" y="710217"/>
                </a:lnTo>
                <a:lnTo>
                  <a:pt x="7866525" y="730146"/>
                </a:lnTo>
                <a:lnTo>
                  <a:pt x="7901377" y="750283"/>
                </a:lnTo>
                <a:lnTo>
                  <a:pt x="7935489" y="770626"/>
                </a:lnTo>
                <a:lnTo>
                  <a:pt x="7968856" y="791172"/>
                </a:lnTo>
                <a:lnTo>
                  <a:pt x="8001468" y="811917"/>
                </a:lnTo>
                <a:lnTo>
                  <a:pt x="8033319" y="832859"/>
                </a:lnTo>
                <a:lnTo>
                  <a:pt x="8094707" y="875323"/>
                </a:lnTo>
                <a:lnTo>
                  <a:pt x="8152960" y="918540"/>
                </a:lnTo>
                <a:lnTo>
                  <a:pt x="8208019" y="962487"/>
                </a:lnTo>
                <a:lnTo>
                  <a:pt x="8259824" y="1007141"/>
                </a:lnTo>
                <a:lnTo>
                  <a:pt x="8308315" y="1052479"/>
                </a:lnTo>
                <a:lnTo>
                  <a:pt x="8353434" y="1098478"/>
                </a:lnTo>
                <a:lnTo>
                  <a:pt x="8395119" y="1145115"/>
                </a:lnTo>
                <a:lnTo>
                  <a:pt x="8433313" y="1192366"/>
                </a:lnTo>
                <a:lnTo>
                  <a:pt x="8467955" y="1240209"/>
                </a:lnTo>
                <a:lnTo>
                  <a:pt x="8498986" y="1288621"/>
                </a:lnTo>
                <a:lnTo>
                  <a:pt x="8526346" y="1337579"/>
                </a:lnTo>
                <a:lnTo>
                  <a:pt x="8549976" y="1387059"/>
                </a:lnTo>
                <a:lnTo>
                  <a:pt x="8569816" y="1437038"/>
                </a:lnTo>
                <a:lnTo>
                  <a:pt x="8585806" y="1487494"/>
                </a:lnTo>
                <a:lnTo>
                  <a:pt x="8597888" y="1538404"/>
                </a:lnTo>
                <a:lnTo>
                  <a:pt x="8606001" y="1589743"/>
                </a:lnTo>
                <a:lnTo>
                  <a:pt x="8610086" y="1641490"/>
                </a:lnTo>
                <a:lnTo>
                  <a:pt x="8610600" y="1667510"/>
                </a:lnTo>
                <a:lnTo>
                  <a:pt x="8610086" y="1693525"/>
                </a:lnTo>
                <a:lnTo>
                  <a:pt x="8606001" y="1745265"/>
                </a:lnTo>
                <a:lnTo>
                  <a:pt x="8597888" y="1796599"/>
                </a:lnTo>
                <a:lnTo>
                  <a:pt x="8585806" y="1847502"/>
                </a:lnTo>
                <a:lnTo>
                  <a:pt x="8569816" y="1897952"/>
                </a:lnTo>
                <a:lnTo>
                  <a:pt x="8549976" y="1947926"/>
                </a:lnTo>
                <a:lnTo>
                  <a:pt x="8526346" y="1997401"/>
                </a:lnTo>
                <a:lnTo>
                  <a:pt x="8498986" y="2046354"/>
                </a:lnTo>
                <a:lnTo>
                  <a:pt x="8467955" y="2094761"/>
                </a:lnTo>
                <a:lnTo>
                  <a:pt x="8433313" y="2142600"/>
                </a:lnTo>
                <a:lnTo>
                  <a:pt x="8395119" y="2189848"/>
                </a:lnTo>
                <a:lnTo>
                  <a:pt x="8353434" y="2236481"/>
                </a:lnTo>
                <a:lnTo>
                  <a:pt x="8308315" y="2282477"/>
                </a:lnTo>
                <a:lnTo>
                  <a:pt x="8259824" y="2327812"/>
                </a:lnTo>
                <a:lnTo>
                  <a:pt x="8208019" y="2372463"/>
                </a:lnTo>
                <a:lnTo>
                  <a:pt x="8152960" y="2416407"/>
                </a:lnTo>
                <a:lnTo>
                  <a:pt x="8094707" y="2459622"/>
                </a:lnTo>
                <a:lnTo>
                  <a:pt x="8033319" y="2502084"/>
                </a:lnTo>
                <a:lnTo>
                  <a:pt x="8001468" y="2523025"/>
                </a:lnTo>
                <a:lnTo>
                  <a:pt x="7968856" y="2543770"/>
                </a:lnTo>
                <a:lnTo>
                  <a:pt x="7935489" y="2564314"/>
                </a:lnTo>
                <a:lnTo>
                  <a:pt x="7901377" y="2584656"/>
                </a:lnTo>
                <a:lnTo>
                  <a:pt x="7866525" y="2604793"/>
                </a:lnTo>
                <a:lnTo>
                  <a:pt x="7830941" y="2624721"/>
                </a:lnTo>
                <a:lnTo>
                  <a:pt x="7794634" y="2644438"/>
                </a:lnTo>
                <a:lnTo>
                  <a:pt x="7757610" y="2663941"/>
                </a:lnTo>
                <a:lnTo>
                  <a:pt x="7719876" y="2683227"/>
                </a:lnTo>
                <a:lnTo>
                  <a:pt x="7681441" y="2702292"/>
                </a:lnTo>
                <a:lnTo>
                  <a:pt x="7642311" y="2721135"/>
                </a:lnTo>
                <a:lnTo>
                  <a:pt x="7602494" y="2739753"/>
                </a:lnTo>
                <a:lnTo>
                  <a:pt x="7561998" y="2758141"/>
                </a:lnTo>
                <a:lnTo>
                  <a:pt x="7520830" y="2776299"/>
                </a:lnTo>
                <a:lnTo>
                  <a:pt x="7478997" y="2794221"/>
                </a:lnTo>
                <a:lnTo>
                  <a:pt x="7436507" y="2811907"/>
                </a:lnTo>
                <a:lnTo>
                  <a:pt x="7393367" y="2829353"/>
                </a:lnTo>
                <a:lnTo>
                  <a:pt x="7349585" y="2846555"/>
                </a:lnTo>
                <a:lnTo>
                  <a:pt x="7305168" y="2863512"/>
                </a:lnTo>
                <a:lnTo>
                  <a:pt x="7260123" y="2880220"/>
                </a:lnTo>
                <a:lnTo>
                  <a:pt x="7214459" y="2896676"/>
                </a:lnTo>
                <a:lnTo>
                  <a:pt x="7168182" y="2912878"/>
                </a:lnTo>
                <a:lnTo>
                  <a:pt x="7121301" y="2928822"/>
                </a:lnTo>
                <a:lnTo>
                  <a:pt x="7073821" y="2944507"/>
                </a:lnTo>
                <a:lnTo>
                  <a:pt x="7025751" y="2959927"/>
                </a:lnTo>
                <a:lnTo>
                  <a:pt x="6977099" y="2975082"/>
                </a:lnTo>
                <a:lnTo>
                  <a:pt x="6927871" y="2989968"/>
                </a:lnTo>
                <a:lnTo>
                  <a:pt x="6878076" y="3004582"/>
                </a:lnTo>
                <a:lnTo>
                  <a:pt x="6827720" y="3018922"/>
                </a:lnTo>
                <a:lnTo>
                  <a:pt x="6776811" y="3032984"/>
                </a:lnTo>
                <a:lnTo>
                  <a:pt x="6725356" y="3046765"/>
                </a:lnTo>
                <a:lnTo>
                  <a:pt x="6673364" y="3060263"/>
                </a:lnTo>
                <a:lnTo>
                  <a:pt x="6620841" y="3073475"/>
                </a:lnTo>
                <a:lnTo>
                  <a:pt x="6567794" y="3086397"/>
                </a:lnTo>
                <a:lnTo>
                  <a:pt x="6514232" y="3099028"/>
                </a:lnTo>
                <a:lnTo>
                  <a:pt x="6460162" y="3111364"/>
                </a:lnTo>
                <a:lnTo>
                  <a:pt x="6405591" y="3123402"/>
                </a:lnTo>
                <a:lnTo>
                  <a:pt x="6350526" y="3135139"/>
                </a:lnTo>
                <a:lnTo>
                  <a:pt x="6294975" y="3146573"/>
                </a:lnTo>
                <a:lnTo>
                  <a:pt x="6238946" y="3157701"/>
                </a:lnTo>
                <a:lnTo>
                  <a:pt x="6182446" y="3168519"/>
                </a:lnTo>
                <a:lnTo>
                  <a:pt x="6125482" y="3179025"/>
                </a:lnTo>
                <a:lnTo>
                  <a:pt x="6068062" y="3189216"/>
                </a:lnTo>
                <a:lnTo>
                  <a:pt x="6010193" y="3199089"/>
                </a:lnTo>
                <a:lnTo>
                  <a:pt x="5951882" y="3208641"/>
                </a:lnTo>
                <a:lnTo>
                  <a:pt x="5893138" y="3217869"/>
                </a:lnTo>
                <a:lnTo>
                  <a:pt x="5833968" y="3226771"/>
                </a:lnTo>
                <a:lnTo>
                  <a:pt x="5774378" y="3235344"/>
                </a:lnTo>
                <a:lnTo>
                  <a:pt x="5714377" y="3243584"/>
                </a:lnTo>
                <a:lnTo>
                  <a:pt x="5653972" y="3251488"/>
                </a:lnTo>
                <a:lnTo>
                  <a:pt x="5593170" y="3259055"/>
                </a:lnTo>
                <a:lnTo>
                  <a:pt x="5531979" y="3266281"/>
                </a:lnTo>
                <a:lnTo>
                  <a:pt x="5470407" y="3273162"/>
                </a:lnTo>
                <a:lnTo>
                  <a:pt x="5408460" y="3279697"/>
                </a:lnTo>
                <a:lnTo>
                  <a:pt x="5346146" y="3285883"/>
                </a:lnTo>
                <a:lnTo>
                  <a:pt x="5283472" y="3291716"/>
                </a:lnTo>
                <a:lnTo>
                  <a:pt x="5220447" y="3297193"/>
                </a:lnTo>
                <a:lnTo>
                  <a:pt x="5157077" y="3302312"/>
                </a:lnTo>
                <a:lnTo>
                  <a:pt x="5093370" y="3307070"/>
                </a:lnTo>
                <a:lnTo>
                  <a:pt x="5029333" y="3311464"/>
                </a:lnTo>
                <a:lnTo>
                  <a:pt x="4964974" y="3315491"/>
                </a:lnTo>
                <a:lnTo>
                  <a:pt x="4900300" y="3319148"/>
                </a:lnTo>
                <a:lnTo>
                  <a:pt x="4835319" y="3322432"/>
                </a:lnTo>
                <a:lnTo>
                  <a:pt x="4770038" y="3325341"/>
                </a:lnTo>
                <a:lnTo>
                  <a:pt x="4704465" y="3327871"/>
                </a:lnTo>
                <a:lnTo>
                  <a:pt x="4638606" y="3330020"/>
                </a:lnTo>
                <a:lnTo>
                  <a:pt x="4572470" y="3331785"/>
                </a:lnTo>
                <a:lnTo>
                  <a:pt x="4506064" y="3333162"/>
                </a:lnTo>
                <a:lnTo>
                  <a:pt x="4439395" y="3334150"/>
                </a:lnTo>
                <a:lnTo>
                  <a:pt x="4372471" y="3334744"/>
                </a:lnTo>
                <a:lnTo>
                  <a:pt x="4305300" y="3334943"/>
                </a:lnTo>
                <a:lnTo>
                  <a:pt x="4238128" y="3334744"/>
                </a:lnTo>
                <a:lnTo>
                  <a:pt x="4171204" y="3334150"/>
                </a:lnTo>
                <a:lnTo>
                  <a:pt x="4104535" y="3333162"/>
                </a:lnTo>
                <a:lnTo>
                  <a:pt x="4038129" y="3331785"/>
                </a:lnTo>
                <a:lnTo>
                  <a:pt x="3971993" y="3330020"/>
                </a:lnTo>
                <a:lnTo>
                  <a:pt x="3906134" y="3327871"/>
                </a:lnTo>
                <a:lnTo>
                  <a:pt x="3840561" y="3325341"/>
                </a:lnTo>
                <a:lnTo>
                  <a:pt x="3775280" y="3322432"/>
                </a:lnTo>
                <a:lnTo>
                  <a:pt x="3710299" y="3319148"/>
                </a:lnTo>
                <a:lnTo>
                  <a:pt x="3645625" y="3315491"/>
                </a:lnTo>
                <a:lnTo>
                  <a:pt x="3581266" y="3311464"/>
                </a:lnTo>
                <a:lnTo>
                  <a:pt x="3517229" y="3307070"/>
                </a:lnTo>
                <a:lnTo>
                  <a:pt x="3453522" y="3302312"/>
                </a:lnTo>
                <a:lnTo>
                  <a:pt x="3390152" y="3297193"/>
                </a:lnTo>
                <a:lnTo>
                  <a:pt x="3327127" y="3291716"/>
                </a:lnTo>
                <a:lnTo>
                  <a:pt x="3264453" y="3285883"/>
                </a:lnTo>
                <a:lnTo>
                  <a:pt x="3202139" y="3279697"/>
                </a:lnTo>
                <a:lnTo>
                  <a:pt x="3140192" y="3273162"/>
                </a:lnTo>
                <a:lnTo>
                  <a:pt x="3078620" y="3266281"/>
                </a:lnTo>
                <a:lnTo>
                  <a:pt x="3017429" y="3259055"/>
                </a:lnTo>
                <a:lnTo>
                  <a:pt x="2956627" y="3251488"/>
                </a:lnTo>
                <a:lnTo>
                  <a:pt x="2896222" y="3243584"/>
                </a:lnTo>
                <a:lnTo>
                  <a:pt x="2836221" y="3235344"/>
                </a:lnTo>
                <a:lnTo>
                  <a:pt x="2776631" y="3226771"/>
                </a:lnTo>
                <a:lnTo>
                  <a:pt x="2717461" y="3217869"/>
                </a:lnTo>
                <a:lnTo>
                  <a:pt x="2658717" y="3208641"/>
                </a:lnTo>
                <a:lnTo>
                  <a:pt x="2600406" y="3199089"/>
                </a:lnTo>
                <a:lnTo>
                  <a:pt x="2542537" y="3189216"/>
                </a:lnTo>
                <a:lnTo>
                  <a:pt x="2485117" y="3179025"/>
                </a:lnTo>
                <a:lnTo>
                  <a:pt x="2428153" y="3168519"/>
                </a:lnTo>
                <a:lnTo>
                  <a:pt x="2371653" y="3157701"/>
                </a:lnTo>
                <a:lnTo>
                  <a:pt x="2315624" y="3146573"/>
                </a:lnTo>
                <a:lnTo>
                  <a:pt x="2260073" y="3135139"/>
                </a:lnTo>
                <a:lnTo>
                  <a:pt x="2205008" y="3123402"/>
                </a:lnTo>
                <a:lnTo>
                  <a:pt x="2150437" y="3111364"/>
                </a:lnTo>
                <a:lnTo>
                  <a:pt x="2096367" y="3099028"/>
                </a:lnTo>
                <a:lnTo>
                  <a:pt x="2042805" y="3086397"/>
                </a:lnTo>
                <a:lnTo>
                  <a:pt x="1989758" y="3073475"/>
                </a:lnTo>
                <a:lnTo>
                  <a:pt x="1937235" y="3060263"/>
                </a:lnTo>
                <a:lnTo>
                  <a:pt x="1885243" y="3046765"/>
                </a:lnTo>
                <a:lnTo>
                  <a:pt x="1833788" y="3032984"/>
                </a:lnTo>
                <a:lnTo>
                  <a:pt x="1782879" y="3018922"/>
                </a:lnTo>
                <a:lnTo>
                  <a:pt x="1732523" y="3004582"/>
                </a:lnTo>
                <a:lnTo>
                  <a:pt x="1682728" y="2989968"/>
                </a:lnTo>
                <a:lnTo>
                  <a:pt x="1633500" y="2975082"/>
                </a:lnTo>
                <a:lnTo>
                  <a:pt x="1584848" y="2959927"/>
                </a:lnTo>
                <a:lnTo>
                  <a:pt x="1536778" y="2944507"/>
                </a:lnTo>
                <a:lnTo>
                  <a:pt x="1489298" y="2928822"/>
                </a:lnTo>
                <a:lnTo>
                  <a:pt x="1442417" y="2912878"/>
                </a:lnTo>
                <a:lnTo>
                  <a:pt x="1396140" y="2896676"/>
                </a:lnTo>
                <a:lnTo>
                  <a:pt x="1350476" y="2880220"/>
                </a:lnTo>
                <a:lnTo>
                  <a:pt x="1305431" y="2863512"/>
                </a:lnTo>
                <a:lnTo>
                  <a:pt x="1261014" y="2846555"/>
                </a:lnTo>
                <a:lnTo>
                  <a:pt x="1217232" y="2829353"/>
                </a:lnTo>
                <a:lnTo>
                  <a:pt x="1174092" y="2811907"/>
                </a:lnTo>
                <a:lnTo>
                  <a:pt x="1131602" y="2794221"/>
                </a:lnTo>
                <a:lnTo>
                  <a:pt x="1089769" y="2776299"/>
                </a:lnTo>
                <a:lnTo>
                  <a:pt x="1048601" y="2758141"/>
                </a:lnTo>
                <a:lnTo>
                  <a:pt x="1008105" y="2739753"/>
                </a:lnTo>
                <a:lnTo>
                  <a:pt x="968288" y="2721135"/>
                </a:lnTo>
                <a:lnTo>
                  <a:pt x="929158" y="2702292"/>
                </a:lnTo>
                <a:lnTo>
                  <a:pt x="890723" y="2683227"/>
                </a:lnTo>
                <a:lnTo>
                  <a:pt x="852989" y="2663941"/>
                </a:lnTo>
                <a:lnTo>
                  <a:pt x="815965" y="2644438"/>
                </a:lnTo>
                <a:lnTo>
                  <a:pt x="779658" y="2624721"/>
                </a:lnTo>
                <a:lnTo>
                  <a:pt x="744074" y="2604793"/>
                </a:lnTo>
                <a:lnTo>
                  <a:pt x="709222" y="2584656"/>
                </a:lnTo>
                <a:lnTo>
                  <a:pt x="675110" y="2564314"/>
                </a:lnTo>
                <a:lnTo>
                  <a:pt x="641743" y="2543770"/>
                </a:lnTo>
                <a:lnTo>
                  <a:pt x="609131" y="2523025"/>
                </a:lnTo>
                <a:lnTo>
                  <a:pt x="577280" y="2502084"/>
                </a:lnTo>
                <a:lnTo>
                  <a:pt x="515892" y="2459622"/>
                </a:lnTo>
                <a:lnTo>
                  <a:pt x="457639" y="2416407"/>
                </a:lnTo>
                <a:lnTo>
                  <a:pt x="402580" y="2372463"/>
                </a:lnTo>
                <a:lnTo>
                  <a:pt x="350775" y="2327812"/>
                </a:lnTo>
                <a:lnTo>
                  <a:pt x="302284" y="2282477"/>
                </a:lnTo>
                <a:lnTo>
                  <a:pt x="257165" y="2236481"/>
                </a:lnTo>
                <a:lnTo>
                  <a:pt x="215480" y="2189848"/>
                </a:lnTo>
                <a:lnTo>
                  <a:pt x="177286" y="2142600"/>
                </a:lnTo>
                <a:lnTo>
                  <a:pt x="142644" y="2094761"/>
                </a:lnTo>
                <a:lnTo>
                  <a:pt x="111613" y="2046354"/>
                </a:lnTo>
                <a:lnTo>
                  <a:pt x="84253" y="1997401"/>
                </a:lnTo>
                <a:lnTo>
                  <a:pt x="60623" y="1947926"/>
                </a:lnTo>
                <a:lnTo>
                  <a:pt x="40783" y="1897952"/>
                </a:lnTo>
                <a:lnTo>
                  <a:pt x="24793" y="1847502"/>
                </a:lnTo>
                <a:lnTo>
                  <a:pt x="12711" y="1796599"/>
                </a:lnTo>
                <a:lnTo>
                  <a:pt x="4598" y="1745265"/>
                </a:lnTo>
                <a:lnTo>
                  <a:pt x="513" y="1693525"/>
                </a:lnTo>
                <a:lnTo>
                  <a:pt x="0" y="1667510"/>
                </a:lnTo>
                <a:close/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86200" y="2647950"/>
            <a:ext cx="3046730" cy="1828800"/>
          </a:xfrm>
          <a:custGeom>
            <a:avLst/>
            <a:gdLst/>
            <a:ahLst/>
            <a:cxnLst/>
            <a:rect l="l" t="t" r="r" b="b"/>
            <a:pathLst>
              <a:path w="3046729" h="1828800">
                <a:moveTo>
                  <a:pt x="1523238" y="0"/>
                </a:moveTo>
                <a:lnTo>
                  <a:pt x="1463426" y="692"/>
                </a:lnTo>
                <a:lnTo>
                  <a:pt x="1404199" y="2751"/>
                </a:lnTo>
                <a:lnTo>
                  <a:pt x="1345598" y="6152"/>
                </a:lnTo>
                <a:lnTo>
                  <a:pt x="1287666" y="10870"/>
                </a:lnTo>
                <a:lnTo>
                  <a:pt x="1230445" y="16878"/>
                </a:lnTo>
                <a:lnTo>
                  <a:pt x="1173977" y="24152"/>
                </a:lnTo>
                <a:lnTo>
                  <a:pt x="1118305" y="32667"/>
                </a:lnTo>
                <a:lnTo>
                  <a:pt x="1063471" y="42396"/>
                </a:lnTo>
                <a:lnTo>
                  <a:pt x="1009517" y="53314"/>
                </a:lnTo>
                <a:lnTo>
                  <a:pt x="956486" y="65396"/>
                </a:lnTo>
                <a:lnTo>
                  <a:pt x="904420" y="78617"/>
                </a:lnTo>
                <a:lnTo>
                  <a:pt x="853362" y="92950"/>
                </a:lnTo>
                <a:lnTo>
                  <a:pt x="803353" y="108371"/>
                </a:lnTo>
                <a:lnTo>
                  <a:pt x="754436" y="124855"/>
                </a:lnTo>
                <a:lnTo>
                  <a:pt x="706653" y="142375"/>
                </a:lnTo>
                <a:lnTo>
                  <a:pt x="660048" y="160906"/>
                </a:lnTo>
                <a:lnTo>
                  <a:pt x="614661" y="180423"/>
                </a:lnTo>
                <a:lnTo>
                  <a:pt x="570535" y="200901"/>
                </a:lnTo>
                <a:lnTo>
                  <a:pt x="527714" y="222314"/>
                </a:lnTo>
                <a:lnTo>
                  <a:pt x="486238" y="244636"/>
                </a:lnTo>
                <a:lnTo>
                  <a:pt x="446150" y="267842"/>
                </a:lnTo>
                <a:lnTo>
                  <a:pt x="407494" y="291908"/>
                </a:lnTo>
                <a:lnTo>
                  <a:pt x="370310" y="316806"/>
                </a:lnTo>
                <a:lnTo>
                  <a:pt x="334642" y="342513"/>
                </a:lnTo>
                <a:lnTo>
                  <a:pt x="300531" y="369002"/>
                </a:lnTo>
                <a:lnTo>
                  <a:pt x="268021" y="396248"/>
                </a:lnTo>
                <a:lnTo>
                  <a:pt x="237153" y="424226"/>
                </a:lnTo>
                <a:lnTo>
                  <a:pt x="207969" y="452910"/>
                </a:lnTo>
                <a:lnTo>
                  <a:pt x="180513" y="482274"/>
                </a:lnTo>
                <a:lnTo>
                  <a:pt x="154825" y="512295"/>
                </a:lnTo>
                <a:lnTo>
                  <a:pt x="130950" y="542945"/>
                </a:lnTo>
                <a:lnTo>
                  <a:pt x="108929" y="574199"/>
                </a:lnTo>
                <a:lnTo>
                  <a:pt x="70617" y="638420"/>
                </a:lnTo>
                <a:lnTo>
                  <a:pt x="40230" y="704754"/>
                </a:lnTo>
                <a:lnTo>
                  <a:pt x="18105" y="772997"/>
                </a:lnTo>
                <a:lnTo>
                  <a:pt x="4582" y="842947"/>
                </a:lnTo>
                <a:lnTo>
                  <a:pt x="0" y="914400"/>
                </a:lnTo>
                <a:lnTo>
                  <a:pt x="1152" y="950304"/>
                </a:lnTo>
                <a:lnTo>
                  <a:pt x="10248" y="1021037"/>
                </a:lnTo>
                <a:lnTo>
                  <a:pt x="28114" y="1090163"/>
                </a:lnTo>
                <a:lnTo>
                  <a:pt x="54412" y="1157481"/>
                </a:lnTo>
                <a:lnTo>
                  <a:pt x="88804" y="1222786"/>
                </a:lnTo>
                <a:lnTo>
                  <a:pt x="130950" y="1285876"/>
                </a:lnTo>
                <a:lnTo>
                  <a:pt x="154825" y="1316527"/>
                </a:lnTo>
                <a:lnTo>
                  <a:pt x="180513" y="1346547"/>
                </a:lnTo>
                <a:lnTo>
                  <a:pt x="207969" y="1375912"/>
                </a:lnTo>
                <a:lnTo>
                  <a:pt x="237153" y="1404596"/>
                </a:lnTo>
                <a:lnTo>
                  <a:pt x="268021" y="1432573"/>
                </a:lnTo>
                <a:lnTo>
                  <a:pt x="300531" y="1459819"/>
                </a:lnTo>
                <a:lnTo>
                  <a:pt x="334642" y="1486307"/>
                </a:lnTo>
                <a:lnTo>
                  <a:pt x="370310" y="1512013"/>
                </a:lnTo>
                <a:lnTo>
                  <a:pt x="407494" y="1536911"/>
                </a:lnTo>
                <a:lnTo>
                  <a:pt x="446151" y="1560976"/>
                </a:lnTo>
                <a:lnTo>
                  <a:pt x="486238" y="1584181"/>
                </a:lnTo>
                <a:lnTo>
                  <a:pt x="527714" y="1606502"/>
                </a:lnTo>
                <a:lnTo>
                  <a:pt x="570535" y="1627914"/>
                </a:lnTo>
                <a:lnTo>
                  <a:pt x="614661" y="1648391"/>
                </a:lnTo>
                <a:lnTo>
                  <a:pt x="660048" y="1667907"/>
                </a:lnTo>
                <a:lnTo>
                  <a:pt x="706653" y="1686437"/>
                </a:lnTo>
                <a:lnTo>
                  <a:pt x="754436" y="1703956"/>
                </a:lnTo>
                <a:lnTo>
                  <a:pt x="803353" y="1720438"/>
                </a:lnTo>
                <a:lnTo>
                  <a:pt x="853362" y="1735858"/>
                </a:lnTo>
                <a:lnTo>
                  <a:pt x="904420" y="1750190"/>
                </a:lnTo>
                <a:lnTo>
                  <a:pt x="956486" y="1763410"/>
                </a:lnTo>
                <a:lnTo>
                  <a:pt x="1009517" y="1775491"/>
                </a:lnTo>
                <a:lnTo>
                  <a:pt x="1063471" y="1786408"/>
                </a:lnTo>
                <a:lnTo>
                  <a:pt x="1118305" y="1796136"/>
                </a:lnTo>
                <a:lnTo>
                  <a:pt x="1173977" y="1804649"/>
                </a:lnTo>
                <a:lnTo>
                  <a:pt x="1230445" y="1811923"/>
                </a:lnTo>
                <a:lnTo>
                  <a:pt x="1287666" y="1817931"/>
                </a:lnTo>
                <a:lnTo>
                  <a:pt x="1345598" y="1822648"/>
                </a:lnTo>
                <a:lnTo>
                  <a:pt x="1404199" y="1826048"/>
                </a:lnTo>
                <a:lnTo>
                  <a:pt x="1463426" y="1828107"/>
                </a:lnTo>
                <a:lnTo>
                  <a:pt x="1523238" y="1828800"/>
                </a:lnTo>
                <a:lnTo>
                  <a:pt x="1583049" y="1828107"/>
                </a:lnTo>
                <a:lnTo>
                  <a:pt x="1642276" y="1826048"/>
                </a:lnTo>
                <a:lnTo>
                  <a:pt x="1700877" y="1822648"/>
                </a:lnTo>
                <a:lnTo>
                  <a:pt x="1758809" y="1817931"/>
                </a:lnTo>
                <a:lnTo>
                  <a:pt x="1816030" y="1811923"/>
                </a:lnTo>
                <a:lnTo>
                  <a:pt x="1872498" y="1804649"/>
                </a:lnTo>
                <a:lnTo>
                  <a:pt x="1928170" y="1796136"/>
                </a:lnTo>
                <a:lnTo>
                  <a:pt x="1983004" y="1786408"/>
                </a:lnTo>
                <a:lnTo>
                  <a:pt x="2036958" y="1775491"/>
                </a:lnTo>
                <a:lnTo>
                  <a:pt x="2089989" y="1763410"/>
                </a:lnTo>
                <a:lnTo>
                  <a:pt x="2142055" y="1750190"/>
                </a:lnTo>
                <a:lnTo>
                  <a:pt x="2193113" y="1735858"/>
                </a:lnTo>
                <a:lnTo>
                  <a:pt x="2243122" y="1720438"/>
                </a:lnTo>
                <a:lnTo>
                  <a:pt x="2292039" y="1703956"/>
                </a:lnTo>
                <a:lnTo>
                  <a:pt x="2339822" y="1686437"/>
                </a:lnTo>
                <a:lnTo>
                  <a:pt x="2386427" y="1667907"/>
                </a:lnTo>
                <a:lnTo>
                  <a:pt x="2431814" y="1648391"/>
                </a:lnTo>
                <a:lnTo>
                  <a:pt x="2475940" y="1627914"/>
                </a:lnTo>
                <a:lnTo>
                  <a:pt x="2518761" y="1606502"/>
                </a:lnTo>
                <a:lnTo>
                  <a:pt x="2560237" y="1584181"/>
                </a:lnTo>
                <a:lnTo>
                  <a:pt x="2600324" y="1560976"/>
                </a:lnTo>
                <a:lnTo>
                  <a:pt x="2638981" y="1536911"/>
                </a:lnTo>
                <a:lnTo>
                  <a:pt x="2676165" y="1512013"/>
                </a:lnTo>
                <a:lnTo>
                  <a:pt x="2711833" y="1486307"/>
                </a:lnTo>
                <a:lnTo>
                  <a:pt x="2745944" y="1459819"/>
                </a:lnTo>
                <a:lnTo>
                  <a:pt x="2778454" y="1432573"/>
                </a:lnTo>
                <a:lnTo>
                  <a:pt x="2809322" y="1404596"/>
                </a:lnTo>
                <a:lnTo>
                  <a:pt x="2838506" y="1375912"/>
                </a:lnTo>
                <a:lnTo>
                  <a:pt x="2865962" y="1346547"/>
                </a:lnTo>
                <a:lnTo>
                  <a:pt x="2891650" y="1316527"/>
                </a:lnTo>
                <a:lnTo>
                  <a:pt x="2915525" y="1285876"/>
                </a:lnTo>
                <a:lnTo>
                  <a:pt x="2937546" y="1254621"/>
                </a:lnTo>
                <a:lnTo>
                  <a:pt x="2975858" y="1190398"/>
                </a:lnTo>
                <a:lnTo>
                  <a:pt x="3006245" y="1124061"/>
                </a:lnTo>
                <a:lnTo>
                  <a:pt x="3028370" y="1055813"/>
                </a:lnTo>
                <a:lnTo>
                  <a:pt x="3041893" y="985858"/>
                </a:lnTo>
                <a:lnTo>
                  <a:pt x="3046476" y="914400"/>
                </a:lnTo>
                <a:lnTo>
                  <a:pt x="3045323" y="878498"/>
                </a:lnTo>
                <a:lnTo>
                  <a:pt x="3036227" y="807772"/>
                </a:lnTo>
                <a:lnTo>
                  <a:pt x="3018361" y="738650"/>
                </a:lnTo>
                <a:lnTo>
                  <a:pt x="2992063" y="671336"/>
                </a:lnTo>
                <a:lnTo>
                  <a:pt x="2957671" y="606033"/>
                </a:lnTo>
                <a:lnTo>
                  <a:pt x="2915525" y="542945"/>
                </a:lnTo>
                <a:lnTo>
                  <a:pt x="2891650" y="512295"/>
                </a:lnTo>
                <a:lnTo>
                  <a:pt x="2865962" y="482274"/>
                </a:lnTo>
                <a:lnTo>
                  <a:pt x="2838506" y="452910"/>
                </a:lnTo>
                <a:lnTo>
                  <a:pt x="2809322" y="424226"/>
                </a:lnTo>
                <a:lnTo>
                  <a:pt x="2778454" y="396248"/>
                </a:lnTo>
                <a:lnTo>
                  <a:pt x="2745944" y="369002"/>
                </a:lnTo>
                <a:lnTo>
                  <a:pt x="2711833" y="342513"/>
                </a:lnTo>
                <a:lnTo>
                  <a:pt x="2676165" y="316806"/>
                </a:lnTo>
                <a:lnTo>
                  <a:pt x="2638981" y="291908"/>
                </a:lnTo>
                <a:lnTo>
                  <a:pt x="2600324" y="267842"/>
                </a:lnTo>
                <a:lnTo>
                  <a:pt x="2560237" y="244636"/>
                </a:lnTo>
                <a:lnTo>
                  <a:pt x="2518761" y="222314"/>
                </a:lnTo>
                <a:lnTo>
                  <a:pt x="2475940" y="200901"/>
                </a:lnTo>
                <a:lnTo>
                  <a:pt x="2431814" y="180423"/>
                </a:lnTo>
                <a:lnTo>
                  <a:pt x="2386427" y="160906"/>
                </a:lnTo>
                <a:lnTo>
                  <a:pt x="2339822" y="142375"/>
                </a:lnTo>
                <a:lnTo>
                  <a:pt x="2292039" y="124855"/>
                </a:lnTo>
                <a:lnTo>
                  <a:pt x="2243122" y="108371"/>
                </a:lnTo>
                <a:lnTo>
                  <a:pt x="2193113" y="92950"/>
                </a:lnTo>
                <a:lnTo>
                  <a:pt x="2142055" y="78617"/>
                </a:lnTo>
                <a:lnTo>
                  <a:pt x="2089989" y="65396"/>
                </a:lnTo>
                <a:lnTo>
                  <a:pt x="2036958" y="53314"/>
                </a:lnTo>
                <a:lnTo>
                  <a:pt x="1983004" y="42396"/>
                </a:lnTo>
                <a:lnTo>
                  <a:pt x="1928170" y="32667"/>
                </a:lnTo>
                <a:lnTo>
                  <a:pt x="1872498" y="24152"/>
                </a:lnTo>
                <a:lnTo>
                  <a:pt x="1816030" y="16878"/>
                </a:lnTo>
                <a:lnTo>
                  <a:pt x="1758809" y="10870"/>
                </a:lnTo>
                <a:lnTo>
                  <a:pt x="1700877" y="6152"/>
                </a:lnTo>
                <a:lnTo>
                  <a:pt x="1642276" y="2751"/>
                </a:lnTo>
                <a:lnTo>
                  <a:pt x="1583049" y="692"/>
                </a:lnTo>
                <a:lnTo>
                  <a:pt x="1523238" y="0"/>
                </a:lnTo>
                <a:close/>
              </a:path>
            </a:pathLst>
          </a:custGeom>
          <a:solidFill>
            <a:srgbClr val="66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86200" y="2647950"/>
            <a:ext cx="3046730" cy="1828800"/>
          </a:xfrm>
          <a:custGeom>
            <a:avLst/>
            <a:gdLst/>
            <a:ahLst/>
            <a:cxnLst/>
            <a:rect l="l" t="t" r="r" b="b"/>
            <a:pathLst>
              <a:path w="3046729" h="1828800">
                <a:moveTo>
                  <a:pt x="0" y="914400"/>
                </a:moveTo>
                <a:lnTo>
                  <a:pt x="4582" y="842947"/>
                </a:lnTo>
                <a:lnTo>
                  <a:pt x="18105" y="772997"/>
                </a:lnTo>
                <a:lnTo>
                  <a:pt x="40230" y="704754"/>
                </a:lnTo>
                <a:lnTo>
                  <a:pt x="70617" y="638420"/>
                </a:lnTo>
                <a:lnTo>
                  <a:pt x="108929" y="574199"/>
                </a:lnTo>
                <a:lnTo>
                  <a:pt x="130950" y="542945"/>
                </a:lnTo>
                <a:lnTo>
                  <a:pt x="154825" y="512295"/>
                </a:lnTo>
                <a:lnTo>
                  <a:pt x="180513" y="482274"/>
                </a:lnTo>
                <a:lnTo>
                  <a:pt x="207969" y="452910"/>
                </a:lnTo>
                <a:lnTo>
                  <a:pt x="237153" y="424226"/>
                </a:lnTo>
                <a:lnTo>
                  <a:pt x="268021" y="396248"/>
                </a:lnTo>
                <a:lnTo>
                  <a:pt x="300531" y="369002"/>
                </a:lnTo>
                <a:lnTo>
                  <a:pt x="334642" y="342513"/>
                </a:lnTo>
                <a:lnTo>
                  <a:pt x="370310" y="316806"/>
                </a:lnTo>
                <a:lnTo>
                  <a:pt x="407494" y="291908"/>
                </a:lnTo>
                <a:lnTo>
                  <a:pt x="446150" y="267842"/>
                </a:lnTo>
                <a:lnTo>
                  <a:pt x="486238" y="244636"/>
                </a:lnTo>
                <a:lnTo>
                  <a:pt x="527714" y="222314"/>
                </a:lnTo>
                <a:lnTo>
                  <a:pt x="570535" y="200901"/>
                </a:lnTo>
                <a:lnTo>
                  <a:pt x="614661" y="180423"/>
                </a:lnTo>
                <a:lnTo>
                  <a:pt x="660048" y="160906"/>
                </a:lnTo>
                <a:lnTo>
                  <a:pt x="706653" y="142375"/>
                </a:lnTo>
                <a:lnTo>
                  <a:pt x="754436" y="124855"/>
                </a:lnTo>
                <a:lnTo>
                  <a:pt x="803353" y="108371"/>
                </a:lnTo>
                <a:lnTo>
                  <a:pt x="853362" y="92950"/>
                </a:lnTo>
                <a:lnTo>
                  <a:pt x="904420" y="78617"/>
                </a:lnTo>
                <a:lnTo>
                  <a:pt x="956486" y="65396"/>
                </a:lnTo>
                <a:lnTo>
                  <a:pt x="1009517" y="53314"/>
                </a:lnTo>
                <a:lnTo>
                  <a:pt x="1063471" y="42396"/>
                </a:lnTo>
                <a:lnTo>
                  <a:pt x="1118305" y="32667"/>
                </a:lnTo>
                <a:lnTo>
                  <a:pt x="1173977" y="24152"/>
                </a:lnTo>
                <a:lnTo>
                  <a:pt x="1230445" y="16878"/>
                </a:lnTo>
                <a:lnTo>
                  <a:pt x="1287666" y="10870"/>
                </a:lnTo>
                <a:lnTo>
                  <a:pt x="1345598" y="6152"/>
                </a:lnTo>
                <a:lnTo>
                  <a:pt x="1404199" y="2751"/>
                </a:lnTo>
                <a:lnTo>
                  <a:pt x="1463426" y="692"/>
                </a:lnTo>
                <a:lnTo>
                  <a:pt x="1523238" y="0"/>
                </a:lnTo>
                <a:lnTo>
                  <a:pt x="1583049" y="692"/>
                </a:lnTo>
                <a:lnTo>
                  <a:pt x="1642276" y="2751"/>
                </a:lnTo>
                <a:lnTo>
                  <a:pt x="1700877" y="6152"/>
                </a:lnTo>
                <a:lnTo>
                  <a:pt x="1758809" y="10870"/>
                </a:lnTo>
                <a:lnTo>
                  <a:pt x="1816030" y="16878"/>
                </a:lnTo>
                <a:lnTo>
                  <a:pt x="1872498" y="24152"/>
                </a:lnTo>
                <a:lnTo>
                  <a:pt x="1928170" y="32667"/>
                </a:lnTo>
                <a:lnTo>
                  <a:pt x="1983004" y="42396"/>
                </a:lnTo>
                <a:lnTo>
                  <a:pt x="2036958" y="53314"/>
                </a:lnTo>
                <a:lnTo>
                  <a:pt x="2089989" y="65396"/>
                </a:lnTo>
                <a:lnTo>
                  <a:pt x="2142055" y="78617"/>
                </a:lnTo>
                <a:lnTo>
                  <a:pt x="2193113" y="92950"/>
                </a:lnTo>
                <a:lnTo>
                  <a:pt x="2243122" y="108371"/>
                </a:lnTo>
                <a:lnTo>
                  <a:pt x="2292039" y="124855"/>
                </a:lnTo>
                <a:lnTo>
                  <a:pt x="2339822" y="142375"/>
                </a:lnTo>
                <a:lnTo>
                  <a:pt x="2386427" y="160906"/>
                </a:lnTo>
                <a:lnTo>
                  <a:pt x="2431814" y="180423"/>
                </a:lnTo>
                <a:lnTo>
                  <a:pt x="2475940" y="200901"/>
                </a:lnTo>
                <a:lnTo>
                  <a:pt x="2518761" y="222314"/>
                </a:lnTo>
                <a:lnTo>
                  <a:pt x="2560237" y="244636"/>
                </a:lnTo>
                <a:lnTo>
                  <a:pt x="2600324" y="267842"/>
                </a:lnTo>
                <a:lnTo>
                  <a:pt x="2638981" y="291908"/>
                </a:lnTo>
                <a:lnTo>
                  <a:pt x="2676165" y="316806"/>
                </a:lnTo>
                <a:lnTo>
                  <a:pt x="2711833" y="342513"/>
                </a:lnTo>
                <a:lnTo>
                  <a:pt x="2745944" y="369002"/>
                </a:lnTo>
                <a:lnTo>
                  <a:pt x="2778454" y="396248"/>
                </a:lnTo>
                <a:lnTo>
                  <a:pt x="2809322" y="424226"/>
                </a:lnTo>
                <a:lnTo>
                  <a:pt x="2838506" y="452910"/>
                </a:lnTo>
                <a:lnTo>
                  <a:pt x="2865962" y="482274"/>
                </a:lnTo>
                <a:lnTo>
                  <a:pt x="2891650" y="512295"/>
                </a:lnTo>
                <a:lnTo>
                  <a:pt x="2915525" y="542945"/>
                </a:lnTo>
                <a:lnTo>
                  <a:pt x="2937546" y="574199"/>
                </a:lnTo>
                <a:lnTo>
                  <a:pt x="2975858" y="638420"/>
                </a:lnTo>
                <a:lnTo>
                  <a:pt x="3006245" y="704754"/>
                </a:lnTo>
                <a:lnTo>
                  <a:pt x="3028370" y="772997"/>
                </a:lnTo>
                <a:lnTo>
                  <a:pt x="3041893" y="842947"/>
                </a:lnTo>
                <a:lnTo>
                  <a:pt x="3046476" y="914400"/>
                </a:lnTo>
                <a:lnTo>
                  <a:pt x="3045323" y="950304"/>
                </a:lnTo>
                <a:lnTo>
                  <a:pt x="3036227" y="1021037"/>
                </a:lnTo>
                <a:lnTo>
                  <a:pt x="3018361" y="1090163"/>
                </a:lnTo>
                <a:lnTo>
                  <a:pt x="2992063" y="1157481"/>
                </a:lnTo>
                <a:lnTo>
                  <a:pt x="2957671" y="1222786"/>
                </a:lnTo>
                <a:lnTo>
                  <a:pt x="2915525" y="1285876"/>
                </a:lnTo>
                <a:lnTo>
                  <a:pt x="2891650" y="1316527"/>
                </a:lnTo>
                <a:lnTo>
                  <a:pt x="2865962" y="1346547"/>
                </a:lnTo>
                <a:lnTo>
                  <a:pt x="2838506" y="1375912"/>
                </a:lnTo>
                <a:lnTo>
                  <a:pt x="2809322" y="1404596"/>
                </a:lnTo>
                <a:lnTo>
                  <a:pt x="2778454" y="1432573"/>
                </a:lnTo>
                <a:lnTo>
                  <a:pt x="2745944" y="1459819"/>
                </a:lnTo>
                <a:lnTo>
                  <a:pt x="2711833" y="1486307"/>
                </a:lnTo>
                <a:lnTo>
                  <a:pt x="2676165" y="1512013"/>
                </a:lnTo>
                <a:lnTo>
                  <a:pt x="2638981" y="1536911"/>
                </a:lnTo>
                <a:lnTo>
                  <a:pt x="2600324" y="1560976"/>
                </a:lnTo>
                <a:lnTo>
                  <a:pt x="2560237" y="1584181"/>
                </a:lnTo>
                <a:lnTo>
                  <a:pt x="2518761" y="1606502"/>
                </a:lnTo>
                <a:lnTo>
                  <a:pt x="2475940" y="1627914"/>
                </a:lnTo>
                <a:lnTo>
                  <a:pt x="2431814" y="1648391"/>
                </a:lnTo>
                <a:lnTo>
                  <a:pt x="2386427" y="1667907"/>
                </a:lnTo>
                <a:lnTo>
                  <a:pt x="2339822" y="1686437"/>
                </a:lnTo>
                <a:lnTo>
                  <a:pt x="2292039" y="1703956"/>
                </a:lnTo>
                <a:lnTo>
                  <a:pt x="2243122" y="1720438"/>
                </a:lnTo>
                <a:lnTo>
                  <a:pt x="2193113" y="1735858"/>
                </a:lnTo>
                <a:lnTo>
                  <a:pt x="2142055" y="1750190"/>
                </a:lnTo>
                <a:lnTo>
                  <a:pt x="2089989" y="1763410"/>
                </a:lnTo>
                <a:lnTo>
                  <a:pt x="2036958" y="1775491"/>
                </a:lnTo>
                <a:lnTo>
                  <a:pt x="1983004" y="1786408"/>
                </a:lnTo>
                <a:lnTo>
                  <a:pt x="1928170" y="1796136"/>
                </a:lnTo>
                <a:lnTo>
                  <a:pt x="1872498" y="1804649"/>
                </a:lnTo>
                <a:lnTo>
                  <a:pt x="1816030" y="1811923"/>
                </a:lnTo>
                <a:lnTo>
                  <a:pt x="1758809" y="1817931"/>
                </a:lnTo>
                <a:lnTo>
                  <a:pt x="1700877" y="1822648"/>
                </a:lnTo>
                <a:lnTo>
                  <a:pt x="1642276" y="1826048"/>
                </a:lnTo>
                <a:lnTo>
                  <a:pt x="1583049" y="1828107"/>
                </a:lnTo>
                <a:lnTo>
                  <a:pt x="1523238" y="1828800"/>
                </a:lnTo>
                <a:lnTo>
                  <a:pt x="1463426" y="1828107"/>
                </a:lnTo>
                <a:lnTo>
                  <a:pt x="1404199" y="1826048"/>
                </a:lnTo>
                <a:lnTo>
                  <a:pt x="1345598" y="1822648"/>
                </a:lnTo>
                <a:lnTo>
                  <a:pt x="1287666" y="1817931"/>
                </a:lnTo>
                <a:lnTo>
                  <a:pt x="1230445" y="1811923"/>
                </a:lnTo>
                <a:lnTo>
                  <a:pt x="1173977" y="1804649"/>
                </a:lnTo>
                <a:lnTo>
                  <a:pt x="1118305" y="1796136"/>
                </a:lnTo>
                <a:lnTo>
                  <a:pt x="1063471" y="1786408"/>
                </a:lnTo>
                <a:lnTo>
                  <a:pt x="1009517" y="1775491"/>
                </a:lnTo>
                <a:lnTo>
                  <a:pt x="956486" y="1763410"/>
                </a:lnTo>
                <a:lnTo>
                  <a:pt x="904420" y="1750190"/>
                </a:lnTo>
                <a:lnTo>
                  <a:pt x="853362" y="1735858"/>
                </a:lnTo>
                <a:lnTo>
                  <a:pt x="803353" y="1720438"/>
                </a:lnTo>
                <a:lnTo>
                  <a:pt x="754436" y="1703956"/>
                </a:lnTo>
                <a:lnTo>
                  <a:pt x="706653" y="1686437"/>
                </a:lnTo>
                <a:lnTo>
                  <a:pt x="660048" y="1667907"/>
                </a:lnTo>
                <a:lnTo>
                  <a:pt x="614661" y="1648391"/>
                </a:lnTo>
                <a:lnTo>
                  <a:pt x="570535" y="1627914"/>
                </a:lnTo>
                <a:lnTo>
                  <a:pt x="527714" y="1606502"/>
                </a:lnTo>
                <a:lnTo>
                  <a:pt x="486238" y="1584181"/>
                </a:lnTo>
                <a:lnTo>
                  <a:pt x="446151" y="1560976"/>
                </a:lnTo>
                <a:lnTo>
                  <a:pt x="407494" y="1536911"/>
                </a:lnTo>
                <a:lnTo>
                  <a:pt x="370310" y="1512013"/>
                </a:lnTo>
                <a:lnTo>
                  <a:pt x="334642" y="1486307"/>
                </a:lnTo>
                <a:lnTo>
                  <a:pt x="300531" y="1459819"/>
                </a:lnTo>
                <a:lnTo>
                  <a:pt x="268021" y="1432573"/>
                </a:lnTo>
                <a:lnTo>
                  <a:pt x="237153" y="1404596"/>
                </a:lnTo>
                <a:lnTo>
                  <a:pt x="207969" y="1375912"/>
                </a:lnTo>
                <a:lnTo>
                  <a:pt x="180513" y="1346547"/>
                </a:lnTo>
                <a:lnTo>
                  <a:pt x="154825" y="1316527"/>
                </a:lnTo>
                <a:lnTo>
                  <a:pt x="130950" y="1285876"/>
                </a:lnTo>
                <a:lnTo>
                  <a:pt x="108929" y="1254621"/>
                </a:lnTo>
                <a:lnTo>
                  <a:pt x="70617" y="1190398"/>
                </a:lnTo>
                <a:lnTo>
                  <a:pt x="40230" y="1124061"/>
                </a:lnTo>
                <a:lnTo>
                  <a:pt x="18105" y="1055813"/>
                </a:lnTo>
                <a:lnTo>
                  <a:pt x="4582" y="985858"/>
                </a:lnTo>
                <a:lnTo>
                  <a:pt x="0" y="914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62550" y="3264153"/>
            <a:ext cx="1543050" cy="6099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indent="575945" algn="ctr">
              <a:lnSpc>
                <a:spcPct val="103499"/>
              </a:lnSpc>
              <a:spcBef>
                <a:spcPts val="20"/>
              </a:spcBef>
            </a:pPr>
            <a:r>
              <a:rPr sz="2000" spc="-5" dirty="0">
                <a:latin typeface="Tahoma"/>
                <a:cs typeface="Tahoma"/>
              </a:rPr>
              <a:t>Area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lang="es-419" sz="2000" dirty="0">
                <a:latin typeface="Tahoma"/>
                <a:cs typeface="Tahoma"/>
              </a:rPr>
              <a:t> </a:t>
            </a:r>
            <a:r>
              <a:rPr sz="2000" dirty="0" err="1">
                <a:latin typeface="Tahoma"/>
                <a:cs typeface="Tahoma"/>
              </a:rPr>
              <a:t>Conocim</a:t>
            </a:r>
            <a:r>
              <a:rPr sz="2000" spc="-10" dirty="0" err="1">
                <a:latin typeface="Tahoma"/>
                <a:cs typeface="Tahoma"/>
              </a:rPr>
              <a:t>i</a:t>
            </a:r>
            <a:r>
              <a:rPr sz="2000" spc="-5" dirty="0" err="1">
                <a:latin typeface="Tahoma"/>
                <a:cs typeface="Tahoma"/>
              </a:rPr>
              <a:t>ento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86000" y="2571750"/>
            <a:ext cx="2743200" cy="1828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286000" y="2571750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914400"/>
                </a:moveTo>
                <a:lnTo>
                  <a:pt x="1203" y="875751"/>
                </a:lnTo>
                <a:lnTo>
                  <a:pt x="4781" y="837510"/>
                </a:lnTo>
                <a:lnTo>
                  <a:pt x="10686" y="799710"/>
                </a:lnTo>
                <a:lnTo>
                  <a:pt x="18870" y="762382"/>
                </a:lnTo>
                <a:lnTo>
                  <a:pt x="29286" y="725558"/>
                </a:lnTo>
                <a:lnTo>
                  <a:pt x="41887" y="689269"/>
                </a:lnTo>
                <a:lnTo>
                  <a:pt x="56624" y="653548"/>
                </a:lnTo>
                <a:lnTo>
                  <a:pt x="73451" y="618425"/>
                </a:lnTo>
                <a:lnTo>
                  <a:pt x="92319" y="583934"/>
                </a:lnTo>
                <a:lnTo>
                  <a:pt x="113181" y="550104"/>
                </a:lnTo>
                <a:lnTo>
                  <a:pt x="135989" y="516970"/>
                </a:lnTo>
                <a:lnTo>
                  <a:pt x="160696" y="484561"/>
                </a:lnTo>
                <a:lnTo>
                  <a:pt x="187254" y="452910"/>
                </a:lnTo>
                <a:lnTo>
                  <a:pt x="215616" y="422048"/>
                </a:lnTo>
                <a:lnTo>
                  <a:pt x="245733" y="392008"/>
                </a:lnTo>
                <a:lnTo>
                  <a:pt x="277559" y="362821"/>
                </a:lnTo>
                <a:lnTo>
                  <a:pt x="311046" y="334519"/>
                </a:lnTo>
                <a:lnTo>
                  <a:pt x="346146" y="307133"/>
                </a:lnTo>
                <a:lnTo>
                  <a:pt x="382811" y="280696"/>
                </a:lnTo>
                <a:lnTo>
                  <a:pt x="420995" y="255238"/>
                </a:lnTo>
                <a:lnTo>
                  <a:pt x="460649" y="230793"/>
                </a:lnTo>
                <a:lnTo>
                  <a:pt x="501725" y="207391"/>
                </a:lnTo>
                <a:lnTo>
                  <a:pt x="544177" y="185065"/>
                </a:lnTo>
                <a:lnTo>
                  <a:pt x="587957" y="163845"/>
                </a:lnTo>
                <a:lnTo>
                  <a:pt x="633016" y="143765"/>
                </a:lnTo>
                <a:lnTo>
                  <a:pt x="679308" y="124855"/>
                </a:lnTo>
                <a:lnTo>
                  <a:pt x="726785" y="107147"/>
                </a:lnTo>
                <a:lnTo>
                  <a:pt x="775399" y="90674"/>
                </a:lnTo>
                <a:lnTo>
                  <a:pt x="825103" y="75466"/>
                </a:lnTo>
                <a:lnTo>
                  <a:pt x="875849" y="61556"/>
                </a:lnTo>
                <a:lnTo>
                  <a:pt x="927589" y="48975"/>
                </a:lnTo>
                <a:lnTo>
                  <a:pt x="980276" y="37756"/>
                </a:lnTo>
                <a:lnTo>
                  <a:pt x="1033862" y="27930"/>
                </a:lnTo>
                <a:lnTo>
                  <a:pt x="1088300" y="19528"/>
                </a:lnTo>
                <a:lnTo>
                  <a:pt x="1143542" y="12582"/>
                </a:lnTo>
                <a:lnTo>
                  <a:pt x="1199541" y="7125"/>
                </a:lnTo>
                <a:lnTo>
                  <a:pt x="1256248" y="3188"/>
                </a:lnTo>
                <a:lnTo>
                  <a:pt x="1313617" y="802"/>
                </a:lnTo>
                <a:lnTo>
                  <a:pt x="1371600" y="0"/>
                </a:lnTo>
                <a:lnTo>
                  <a:pt x="1429582" y="802"/>
                </a:lnTo>
                <a:lnTo>
                  <a:pt x="1486951" y="3188"/>
                </a:lnTo>
                <a:lnTo>
                  <a:pt x="1543658" y="7125"/>
                </a:lnTo>
                <a:lnTo>
                  <a:pt x="1599657" y="12582"/>
                </a:lnTo>
                <a:lnTo>
                  <a:pt x="1654899" y="19528"/>
                </a:lnTo>
                <a:lnTo>
                  <a:pt x="1709337" y="27930"/>
                </a:lnTo>
                <a:lnTo>
                  <a:pt x="1762923" y="37756"/>
                </a:lnTo>
                <a:lnTo>
                  <a:pt x="1815610" y="48975"/>
                </a:lnTo>
                <a:lnTo>
                  <a:pt x="1867350" y="61556"/>
                </a:lnTo>
                <a:lnTo>
                  <a:pt x="1918096" y="75466"/>
                </a:lnTo>
                <a:lnTo>
                  <a:pt x="1967800" y="90674"/>
                </a:lnTo>
                <a:lnTo>
                  <a:pt x="2016414" y="107147"/>
                </a:lnTo>
                <a:lnTo>
                  <a:pt x="2063891" y="124855"/>
                </a:lnTo>
                <a:lnTo>
                  <a:pt x="2110183" y="143765"/>
                </a:lnTo>
                <a:lnTo>
                  <a:pt x="2155242" y="163845"/>
                </a:lnTo>
                <a:lnTo>
                  <a:pt x="2199022" y="185065"/>
                </a:lnTo>
                <a:lnTo>
                  <a:pt x="2241474" y="207391"/>
                </a:lnTo>
                <a:lnTo>
                  <a:pt x="2282550" y="230793"/>
                </a:lnTo>
                <a:lnTo>
                  <a:pt x="2322204" y="255238"/>
                </a:lnTo>
                <a:lnTo>
                  <a:pt x="2360388" y="280696"/>
                </a:lnTo>
                <a:lnTo>
                  <a:pt x="2397053" y="307133"/>
                </a:lnTo>
                <a:lnTo>
                  <a:pt x="2432153" y="334519"/>
                </a:lnTo>
                <a:lnTo>
                  <a:pt x="2465640" y="362821"/>
                </a:lnTo>
                <a:lnTo>
                  <a:pt x="2497466" y="392008"/>
                </a:lnTo>
                <a:lnTo>
                  <a:pt x="2527583" y="422048"/>
                </a:lnTo>
                <a:lnTo>
                  <a:pt x="2555945" y="452910"/>
                </a:lnTo>
                <a:lnTo>
                  <a:pt x="2582503" y="484561"/>
                </a:lnTo>
                <a:lnTo>
                  <a:pt x="2607210" y="516970"/>
                </a:lnTo>
                <a:lnTo>
                  <a:pt x="2630018" y="550104"/>
                </a:lnTo>
                <a:lnTo>
                  <a:pt x="2650880" y="583934"/>
                </a:lnTo>
                <a:lnTo>
                  <a:pt x="2669748" y="618425"/>
                </a:lnTo>
                <a:lnTo>
                  <a:pt x="2686575" y="653548"/>
                </a:lnTo>
                <a:lnTo>
                  <a:pt x="2701312" y="689269"/>
                </a:lnTo>
                <a:lnTo>
                  <a:pt x="2713913" y="725558"/>
                </a:lnTo>
                <a:lnTo>
                  <a:pt x="2724329" y="762382"/>
                </a:lnTo>
                <a:lnTo>
                  <a:pt x="2732513" y="799710"/>
                </a:lnTo>
                <a:lnTo>
                  <a:pt x="2738418" y="837510"/>
                </a:lnTo>
                <a:lnTo>
                  <a:pt x="2741996" y="875751"/>
                </a:lnTo>
                <a:lnTo>
                  <a:pt x="2743200" y="914400"/>
                </a:lnTo>
                <a:lnTo>
                  <a:pt x="2741996" y="953052"/>
                </a:lnTo>
                <a:lnTo>
                  <a:pt x="2738418" y="991296"/>
                </a:lnTo>
                <a:lnTo>
                  <a:pt x="2732513" y="1029099"/>
                </a:lnTo>
                <a:lnTo>
                  <a:pt x="2724329" y="1066429"/>
                </a:lnTo>
                <a:lnTo>
                  <a:pt x="2713913" y="1103256"/>
                </a:lnTo>
                <a:lnTo>
                  <a:pt x="2701312" y="1139547"/>
                </a:lnTo>
                <a:lnTo>
                  <a:pt x="2686575" y="1175270"/>
                </a:lnTo>
                <a:lnTo>
                  <a:pt x="2669748" y="1210393"/>
                </a:lnTo>
                <a:lnTo>
                  <a:pt x="2650880" y="1244886"/>
                </a:lnTo>
                <a:lnTo>
                  <a:pt x="2630018" y="1278716"/>
                </a:lnTo>
                <a:lnTo>
                  <a:pt x="2607210" y="1311852"/>
                </a:lnTo>
                <a:lnTo>
                  <a:pt x="2582503" y="1344261"/>
                </a:lnTo>
                <a:lnTo>
                  <a:pt x="2555945" y="1375912"/>
                </a:lnTo>
                <a:lnTo>
                  <a:pt x="2527583" y="1406773"/>
                </a:lnTo>
                <a:lnTo>
                  <a:pt x="2497466" y="1436813"/>
                </a:lnTo>
                <a:lnTo>
                  <a:pt x="2465640" y="1466000"/>
                </a:lnTo>
                <a:lnTo>
                  <a:pt x="2432153" y="1494301"/>
                </a:lnTo>
                <a:lnTo>
                  <a:pt x="2397053" y="1521686"/>
                </a:lnTo>
                <a:lnTo>
                  <a:pt x="2360388" y="1548123"/>
                </a:lnTo>
                <a:lnTo>
                  <a:pt x="2322204" y="1573579"/>
                </a:lnTo>
                <a:lnTo>
                  <a:pt x="2282550" y="1598024"/>
                </a:lnTo>
                <a:lnTo>
                  <a:pt x="2241474" y="1621424"/>
                </a:lnTo>
                <a:lnTo>
                  <a:pt x="2199022" y="1643750"/>
                </a:lnTo>
                <a:lnTo>
                  <a:pt x="2155242" y="1664968"/>
                </a:lnTo>
                <a:lnTo>
                  <a:pt x="2110183" y="1685047"/>
                </a:lnTo>
                <a:lnTo>
                  <a:pt x="2063891" y="1703956"/>
                </a:lnTo>
                <a:lnTo>
                  <a:pt x="2016414" y="1721662"/>
                </a:lnTo>
                <a:lnTo>
                  <a:pt x="1967800" y="1738134"/>
                </a:lnTo>
                <a:lnTo>
                  <a:pt x="1918096" y="1753340"/>
                </a:lnTo>
                <a:lnTo>
                  <a:pt x="1867350" y="1767249"/>
                </a:lnTo>
                <a:lnTo>
                  <a:pt x="1815610" y="1779829"/>
                </a:lnTo>
                <a:lnTo>
                  <a:pt x="1762923" y="1791047"/>
                </a:lnTo>
                <a:lnTo>
                  <a:pt x="1709337" y="1800872"/>
                </a:lnTo>
                <a:lnTo>
                  <a:pt x="1654899" y="1809273"/>
                </a:lnTo>
                <a:lnTo>
                  <a:pt x="1599657" y="1816218"/>
                </a:lnTo>
                <a:lnTo>
                  <a:pt x="1543658" y="1821675"/>
                </a:lnTo>
                <a:lnTo>
                  <a:pt x="1486951" y="1825612"/>
                </a:lnTo>
                <a:lnTo>
                  <a:pt x="1429582" y="1827997"/>
                </a:lnTo>
                <a:lnTo>
                  <a:pt x="1371600" y="1828800"/>
                </a:lnTo>
                <a:lnTo>
                  <a:pt x="1313617" y="1827997"/>
                </a:lnTo>
                <a:lnTo>
                  <a:pt x="1256248" y="1825612"/>
                </a:lnTo>
                <a:lnTo>
                  <a:pt x="1199541" y="1821675"/>
                </a:lnTo>
                <a:lnTo>
                  <a:pt x="1143542" y="1816218"/>
                </a:lnTo>
                <a:lnTo>
                  <a:pt x="1088300" y="1809273"/>
                </a:lnTo>
                <a:lnTo>
                  <a:pt x="1033862" y="1800872"/>
                </a:lnTo>
                <a:lnTo>
                  <a:pt x="980276" y="1791047"/>
                </a:lnTo>
                <a:lnTo>
                  <a:pt x="927589" y="1779829"/>
                </a:lnTo>
                <a:lnTo>
                  <a:pt x="875849" y="1767249"/>
                </a:lnTo>
                <a:lnTo>
                  <a:pt x="825103" y="1753340"/>
                </a:lnTo>
                <a:lnTo>
                  <a:pt x="775399" y="1738134"/>
                </a:lnTo>
                <a:lnTo>
                  <a:pt x="726785" y="1721662"/>
                </a:lnTo>
                <a:lnTo>
                  <a:pt x="679308" y="1703956"/>
                </a:lnTo>
                <a:lnTo>
                  <a:pt x="633016" y="1685047"/>
                </a:lnTo>
                <a:lnTo>
                  <a:pt x="587957" y="1664968"/>
                </a:lnTo>
                <a:lnTo>
                  <a:pt x="544177" y="1643750"/>
                </a:lnTo>
                <a:lnTo>
                  <a:pt x="501725" y="1621424"/>
                </a:lnTo>
                <a:lnTo>
                  <a:pt x="460649" y="1598024"/>
                </a:lnTo>
                <a:lnTo>
                  <a:pt x="420995" y="1573579"/>
                </a:lnTo>
                <a:lnTo>
                  <a:pt x="382811" y="1548123"/>
                </a:lnTo>
                <a:lnTo>
                  <a:pt x="346146" y="1521686"/>
                </a:lnTo>
                <a:lnTo>
                  <a:pt x="311046" y="1494301"/>
                </a:lnTo>
                <a:lnTo>
                  <a:pt x="277559" y="1466000"/>
                </a:lnTo>
                <a:lnTo>
                  <a:pt x="245733" y="1436813"/>
                </a:lnTo>
                <a:lnTo>
                  <a:pt x="215616" y="1406773"/>
                </a:lnTo>
                <a:lnTo>
                  <a:pt x="187254" y="1375912"/>
                </a:lnTo>
                <a:lnTo>
                  <a:pt x="160696" y="1344261"/>
                </a:lnTo>
                <a:lnTo>
                  <a:pt x="135989" y="1311852"/>
                </a:lnTo>
                <a:lnTo>
                  <a:pt x="113181" y="1278716"/>
                </a:lnTo>
                <a:lnTo>
                  <a:pt x="92319" y="1244886"/>
                </a:lnTo>
                <a:lnTo>
                  <a:pt x="73451" y="1210393"/>
                </a:lnTo>
                <a:lnTo>
                  <a:pt x="56624" y="1175270"/>
                </a:lnTo>
                <a:lnTo>
                  <a:pt x="41887" y="1139547"/>
                </a:lnTo>
                <a:lnTo>
                  <a:pt x="29286" y="1103256"/>
                </a:lnTo>
                <a:lnTo>
                  <a:pt x="18870" y="1066429"/>
                </a:lnTo>
                <a:lnTo>
                  <a:pt x="10686" y="1029099"/>
                </a:lnTo>
                <a:lnTo>
                  <a:pt x="4781" y="991296"/>
                </a:lnTo>
                <a:lnTo>
                  <a:pt x="1203" y="953052"/>
                </a:lnTo>
                <a:lnTo>
                  <a:pt x="0" y="914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654278" y="3010438"/>
            <a:ext cx="2057731" cy="1004762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35"/>
              </a:spcBef>
            </a:pPr>
            <a:r>
              <a:rPr sz="3000" spc="-37" baseline="-15277" dirty="0">
                <a:latin typeface="Tahoma"/>
                <a:cs typeface="Tahoma"/>
              </a:rPr>
              <a:t>Conocimiento</a:t>
            </a:r>
            <a:r>
              <a:rPr sz="3000" spc="-112" baseline="-15277" dirty="0">
                <a:latin typeface="Tahoma"/>
                <a:cs typeface="Tahoma"/>
              </a:rPr>
              <a:t> </a:t>
            </a:r>
            <a:r>
              <a:rPr sz="3000" baseline="-15277" dirty="0">
                <a:latin typeface="Tahoma"/>
                <a:cs typeface="Tahoma"/>
              </a:rPr>
              <a:t>y</a:t>
            </a:r>
            <a:r>
              <a:rPr lang="es-419" sz="3000" baseline="-15277" dirty="0">
                <a:latin typeface="Tahoma"/>
                <a:cs typeface="Tahoma"/>
              </a:rPr>
              <a:t> </a:t>
            </a:r>
            <a:r>
              <a:rPr sz="2000" spc="-10" dirty="0" err="1">
                <a:latin typeface="Tahoma"/>
                <a:cs typeface="Tahoma"/>
              </a:rPr>
              <a:t>pr</a:t>
            </a:r>
            <a:r>
              <a:rPr lang="es-ES" sz="2000" spc="-10" dirty="0">
                <a:latin typeface="Tahoma"/>
                <a:cs typeface="Tahoma"/>
              </a:rPr>
              <a:t>á</a:t>
            </a:r>
            <a:r>
              <a:rPr sz="2000" spc="-10" dirty="0" err="1">
                <a:latin typeface="Tahoma"/>
                <a:cs typeface="Tahoma"/>
              </a:rPr>
              <a:t>ctica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  admin</a:t>
            </a:r>
            <a:r>
              <a:rPr sz="2000" spc="-10" dirty="0">
                <a:latin typeface="Tahoma"/>
                <a:cs typeface="Tahoma"/>
              </a:rPr>
              <a:t>i</a:t>
            </a:r>
            <a:r>
              <a:rPr sz="2000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t</a:t>
            </a:r>
            <a:r>
              <a:rPr sz="2000" spc="-35" dirty="0">
                <a:latin typeface="Tahoma"/>
                <a:cs typeface="Tahoma"/>
              </a:rPr>
              <a:t>r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5" dirty="0">
                <a:latin typeface="Tahoma"/>
                <a:cs typeface="Tahoma"/>
              </a:rPr>
              <a:t>cion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66800" y="4629150"/>
            <a:ext cx="6087882" cy="349998"/>
          </a:xfrm>
          <a:custGeom>
            <a:avLst/>
            <a:gdLst/>
            <a:ahLst/>
            <a:cxnLst/>
            <a:rect l="l" t="t" r="r" b="b"/>
            <a:pathLst>
              <a:path w="7391400" h="369570">
                <a:moveTo>
                  <a:pt x="0" y="369328"/>
                </a:moveTo>
                <a:lnTo>
                  <a:pt x="7391400" y="369328"/>
                </a:lnTo>
                <a:lnTo>
                  <a:pt x="7391400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66800" y="4629149"/>
            <a:ext cx="6087882" cy="387603"/>
          </a:xfrm>
          <a:custGeom>
            <a:avLst/>
            <a:gdLst/>
            <a:ahLst/>
            <a:cxnLst/>
            <a:rect l="l" t="t" r="r" b="b"/>
            <a:pathLst>
              <a:path w="7391400" h="369570">
                <a:moveTo>
                  <a:pt x="0" y="369328"/>
                </a:moveTo>
                <a:lnTo>
                  <a:pt x="7391400" y="369328"/>
                </a:lnTo>
                <a:lnTo>
                  <a:pt x="7391400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ln w="19050">
            <a:solidFill>
              <a:srgbClr val="2CA1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699011" y="4649610"/>
            <a:ext cx="4823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La </a:t>
            </a:r>
            <a:r>
              <a:rPr sz="1800" spc="-10" dirty="0">
                <a:latin typeface="Tahoma"/>
                <a:cs typeface="Tahoma"/>
              </a:rPr>
              <a:t>Gerencia </a:t>
            </a:r>
            <a:r>
              <a:rPr sz="1800" dirty="0">
                <a:latin typeface="Tahoma"/>
                <a:cs typeface="Tahoma"/>
              </a:rPr>
              <a:t>de </a:t>
            </a:r>
            <a:r>
              <a:rPr sz="1800" spc="-10" dirty="0">
                <a:latin typeface="Tahoma"/>
                <a:cs typeface="Tahoma"/>
              </a:rPr>
              <a:t>Proyectos </a:t>
            </a:r>
            <a:r>
              <a:rPr sz="1800" dirty="0">
                <a:latin typeface="Tahoma"/>
                <a:cs typeface="Tahoma"/>
              </a:rPr>
              <a:t>y </a:t>
            </a:r>
            <a:r>
              <a:rPr sz="1800" spc="-5" dirty="0">
                <a:latin typeface="Tahoma"/>
                <a:cs typeface="Tahoma"/>
              </a:rPr>
              <a:t>Otros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Componentes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90800" y="1407464"/>
            <a:ext cx="2204720" cy="16024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90800" y="1383552"/>
            <a:ext cx="2204720" cy="1626348"/>
          </a:xfrm>
          <a:custGeom>
            <a:avLst/>
            <a:gdLst/>
            <a:ahLst/>
            <a:cxnLst/>
            <a:rect l="l" t="t" r="r" b="b"/>
            <a:pathLst>
              <a:path w="2590800" h="1809750">
                <a:moveTo>
                  <a:pt x="0" y="904875"/>
                </a:moveTo>
                <a:lnTo>
                  <a:pt x="1196" y="865623"/>
                </a:lnTo>
                <a:lnTo>
                  <a:pt x="4755" y="826799"/>
                </a:lnTo>
                <a:lnTo>
                  <a:pt x="10626" y="788436"/>
                </a:lnTo>
                <a:lnTo>
                  <a:pt x="18761" y="750568"/>
                </a:lnTo>
                <a:lnTo>
                  <a:pt x="29112" y="713228"/>
                </a:lnTo>
                <a:lnTo>
                  <a:pt x="41629" y="676452"/>
                </a:lnTo>
                <a:lnTo>
                  <a:pt x="56265" y="640272"/>
                </a:lnTo>
                <a:lnTo>
                  <a:pt x="72971" y="604724"/>
                </a:lnTo>
                <a:lnTo>
                  <a:pt x="91698" y="569840"/>
                </a:lnTo>
                <a:lnTo>
                  <a:pt x="112397" y="535655"/>
                </a:lnTo>
                <a:lnTo>
                  <a:pt x="135020" y="502202"/>
                </a:lnTo>
                <a:lnTo>
                  <a:pt x="159518" y="469516"/>
                </a:lnTo>
                <a:lnTo>
                  <a:pt x="185843" y="437631"/>
                </a:lnTo>
                <a:lnTo>
                  <a:pt x="213946" y="406580"/>
                </a:lnTo>
                <a:lnTo>
                  <a:pt x="243778" y="376398"/>
                </a:lnTo>
                <a:lnTo>
                  <a:pt x="275291" y="347118"/>
                </a:lnTo>
                <a:lnTo>
                  <a:pt x="308436" y="318775"/>
                </a:lnTo>
                <a:lnTo>
                  <a:pt x="343164" y="291401"/>
                </a:lnTo>
                <a:lnTo>
                  <a:pt x="379428" y="265033"/>
                </a:lnTo>
                <a:lnTo>
                  <a:pt x="417178" y="239702"/>
                </a:lnTo>
                <a:lnTo>
                  <a:pt x="456365" y="215444"/>
                </a:lnTo>
                <a:lnTo>
                  <a:pt x="496941" y="192291"/>
                </a:lnTo>
                <a:lnTo>
                  <a:pt x="538858" y="170279"/>
                </a:lnTo>
                <a:lnTo>
                  <a:pt x="582067" y="149441"/>
                </a:lnTo>
                <a:lnTo>
                  <a:pt x="626518" y="129811"/>
                </a:lnTo>
                <a:lnTo>
                  <a:pt x="672165" y="111423"/>
                </a:lnTo>
                <a:lnTo>
                  <a:pt x="718957" y="94311"/>
                </a:lnTo>
                <a:lnTo>
                  <a:pt x="766847" y="78509"/>
                </a:lnTo>
                <a:lnTo>
                  <a:pt x="815785" y="64050"/>
                </a:lnTo>
                <a:lnTo>
                  <a:pt x="865723" y="50970"/>
                </a:lnTo>
                <a:lnTo>
                  <a:pt x="916613" y="39301"/>
                </a:lnTo>
                <a:lnTo>
                  <a:pt x="968406" y="29078"/>
                </a:lnTo>
                <a:lnTo>
                  <a:pt x="1021053" y="20334"/>
                </a:lnTo>
                <a:lnTo>
                  <a:pt x="1074505" y="13104"/>
                </a:lnTo>
                <a:lnTo>
                  <a:pt x="1128715" y="7422"/>
                </a:lnTo>
                <a:lnTo>
                  <a:pt x="1183633" y="3321"/>
                </a:lnTo>
                <a:lnTo>
                  <a:pt x="1239211" y="836"/>
                </a:lnTo>
                <a:lnTo>
                  <a:pt x="1295400" y="0"/>
                </a:lnTo>
                <a:lnTo>
                  <a:pt x="1351588" y="836"/>
                </a:lnTo>
                <a:lnTo>
                  <a:pt x="1407166" y="3321"/>
                </a:lnTo>
                <a:lnTo>
                  <a:pt x="1462084" y="7422"/>
                </a:lnTo>
                <a:lnTo>
                  <a:pt x="1516294" y="13104"/>
                </a:lnTo>
                <a:lnTo>
                  <a:pt x="1569746" y="20334"/>
                </a:lnTo>
                <a:lnTo>
                  <a:pt x="1622393" y="29078"/>
                </a:lnTo>
                <a:lnTo>
                  <a:pt x="1674186" y="39301"/>
                </a:lnTo>
                <a:lnTo>
                  <a:pt x="1725076" y="50970"/>
                </a:lnTo>
                <a:lnTo>
                  <a:pt x="1775014" y="64050"/>
                </a:lnTo>
                <a:lnTo>
                  <a:pt x="1823952" y="78509"/>
                </a:lnTo>
                <a:lnTo>
                  <a:pt x="1871842" y="94311"/>
                </a:lnTo>
                <a:lnTo>
                  <a:pt x="1918634" y="111423"/>
                </a:lnTo>
                <a:lnTo>
                  <a:pt x="1964281" y="129811"/>
                </a:lnTo>
                <a:lnTo>
                  <a:pt x="2008732" y="149441"/>
                </a:lnTo>
                <a:lnTo>
                  <a:pt x="2051941" y="170279"/>
                </a:lnTo>
                <a:lnTo>
                  <a:pt x="2093858" y="192291"/>
                </a:lnTo>
                <a:lnTo>
                  <a:pt x="2134434" y="215444"/>
                </a:lnTo>
                <a:lnTo>
                  <a:pt x="2173621" y="239702"/>
                </a:lnTo>
                <a:lnTo>
                  <a:pt x="2211371" y="265033"/>
                </a:lnTo>
                <a:lnTo>
                  <a:pt x="2247635" y="291401"/>
                </a:lnTo>
                <a:lnTo>
                  <a:pt x="2282363" y="318775"/>
                </a:lnTo>
                <a:lnTo>
                  <a:pt x="2315508" y="347118"/>
                </a:lnTo>
                <a:lnTo>
                  <a:pt x="2347021" y="376398"/>
                </a:lnTo>
                <a:lnTo>
                  <a:pt x="2376853" y="406580"/>
                </a:lnTo>
                <a:lnTo>
                  <a:pt x="2404956" y="437631"/>
                </a:lnTo>
                <a:lnTo>
                  <a:pt x="2431281" y="469516"/>
                </a:lnTo>
                <a:lnTo>
                  <a:pt x="2455779" y="502202"/>
                </a:lnTo>
                <a:lnTo>
                  <a:pt x="2478402" y="535655"/>
                </a:lnTo>
                <a:lnTo>
                  <a:pt x="2499101" y="569840"/>
                </a:lnTo>
                <a:lnTo>
                  <a:pt x="2517828" y="604724"/>
                </a:lnTo>
                <a:lnTo>
                  <a:pt x="2534534" y="640272"/>
                </a:lnTo>
                <a:lnTo>
                  <a:pt x="2549170" y="676452"/>
                </a:lnTo>
                <a:lnTo>
                  <a:pt x="2561687" y="713228"/>
                </a:lnTo>
                <a:lnTo>
                  <a:pt x="2572038" y="750568"/>
                </a:lnTo>
                <a:lnTo>
                  <a:pt x="2580173" y="788436"/>
                </a:lnTo>
                <a:lnTo>
                  <a:pt x="2586044" y="826799"/>
                </a:lnTo>
                <a:lnTo>
                  <a:pt x="2589603" y="865623"/>
                </a:lnTo>
                <a:lnTo>
                  <a:pt x="2590800" y="904875"/>
                </a:lnTo>
                <a:lnTo>
                  <a:pt x="2589603" y="944126"/>
                </a:lnTo>
                <a:lnTo>
                  <a:pt x="2586044" y="982950"/>
                </a:lnTo>
                <a:lnTo>
                  <a:pt x="2580173" y="1021313"/>
                </a:lnTo>
                <a:lnTo>
                  <a:pt x="2572038" y="1059181"/>
                </a:lnTo>
                <a:lnTo>
                  <a:pt x="2561687" y="1096521"/>
                </a:lnTo>
                <a:lnTo>
                  <a:pt x="2549170" y="1133297"/>
                </a:lnTo>
                <a:lnTo>
                  <a:pt x="2534534" y="1169477"/>
                </a:lnTo>
                <a:lnTo>
                  <a:pt x="2517828" y="1205025"/>
                </a:lnTo>
                <a:lnTo>
                  <a:pt x="2499101" y="1239909"/>
                </a:lnTo>
                <a:lnTo>
                  <a:pt x="2478402" y="1274094"/>
                </a:lnTo>
                <a:lnTo>
                  <a:pt x="2455779" y="1307547"/>
                </a:lnTo>
                <a:lnTo>
                  <a:pt x="2431281" y="1340233"/>
                </a:lnTo>
                <a:lnTo>
                  <a:pt x="2404956" y="1372118"/>
                </a:lnTo>
                <a:lnTo>
                  <a:pt x="2376853" y="1403169"/>
                </a:lnTo>
                <a:lnTo>
                  <a:pt x="2347021" y="1433351"/>
                </a:lnTo>
                <a:lnTo>
                  <a:pt x="2315508" y="1462631"/>
                </a:lnTo>
                <a:lnTo>
                  <a:pt x="2282363" y="1490974"/>
                </a:lnTo>
                <a:lnTo>
                  <a:pt x="2247635" y="1518348"/>
                </a:lnTo>
                <a:lnTo>
                  <a:pt x="2211371" y="1544716"/>
                </a:lnTo>
                <a:lnTo>
                  <a:pt x="2173621" y="1570047"/>
                </a:lnTo>
                <a:lnTo>
                  <a:pt x="2134434" y="1594305"/>
                </a:lnTo>
                <a:lnTo>
                  <a:pt x="2093858" y="1617458"/>
                </a:lnTo>
                <a:lnTo>
                  <a:pt x="2051941" y="1639470"/>
                </a:lnTo>
                <a:lnTo>
                  <a:pt x="2008732" y="1660308"/>
                </a:lnTo>
                <a:lnTo>
                  <a:pt x="1964281" y="1679938"/>
                </a:lnTo>
                <a:lnTo>
                  <a:pt x="1918634" y="1698326"/>
                </a:lnTo>
                <a:lnTo>
                  <a:pt x="1871842" y="1715438"/>
                </a:lnTo>
                <a:lnTo>
                  <a:pt x="1823952" y="1731240"/>
                </a:lnTo>
                <a:lnTo>
                  <a:pt x="1775014" y="1745699"/>
                </a:lnTo>
                <a:lnTo>
                  <a:pt x="1725076" y="1758779"/>
                </a:lnTo>
                <a:lnTo>
                  <a:pt x="1674186" y="1770448"/>
                </a:lnTo>
                <a:lnTo>
                  <a:pt x="1622393" y="1780671"/>
                </a:lnTo>
                <a:lnTo>
                  <a:pt x="1569746" y="1789415"/>
                </a:lnTo>
                <a:lnTo>
                  <a:pt x="1516294" y="1796645"/>
                </a:lnTo>
                <a:lnTo>
                  <a:pt x="1462084" y="1802327"/>
                </a:lnTo>
                <a:lnTo>
                  <a:pt x="1407166" y="1806428"/>
                </a:lnTo>
                <a:lnTo>
                  <a:pt x="1351588" y="1808913"/>
                </a:lnTo>
                <a:lnTo>
                  <a:pt x="1295400" y="1809750"/>
                </a:lnTo>
                <a:lnTo>
                  <a:pt x="1239211" y="1808913"/>
                </a:lnTo>
                <a:lnTo>
                  <a:pt x="1183633" y="1806428"/>
                </a:lnTo>
                <a:lnTo>
                  <a:pt x="1128715" y="1802327"/>
                </a:lnTo>
                <a:lnTo>
                  <a:pt x="1074505" y="1796645"/>
                </a:lnTo>
                <a:lnTo>
                  <a:pt x="1021053" y="1789415"/>
                </a:lnTo>
                <a:lnTo>
                  <a:pt x="968406" y="1780671"/>
                </a:lnTo>
                <a:lnTo>
                  <a:pt x="916613" y="1770448"/>
                </a:lnTo>
                <a:lnTo>
                  <a:pt x="865723" y="1758779"/>
                </a:lnTo>
                <a:lnTo>
                  <a:pt x="815785" y="1745699"/>
                </a:lnTo>
                <a:lnTo>
                  <a:pt x="766847" y="1731240"/>
                </a:lnTo>
                <a:lnTo>
                  <a:pt x="718957" y="1715438"/>
                </a:lnTo>
                <a:lnTo>
                  <a:pt x="672165" y="1698326"/>
                </a:lnTo>
                <a:lnTo>
                  <a:pt x="626518" y="1679938"/>
                </a:lnTo>
                <a:lnTo>
                  <a:pt x="582067" y="1660308"/>
                </a:lnTo>
                <a:lnTo>
                  <a:pt x="538858" y="1639470"/>
                </a:lnTo>
                <a:lnTo>
                  <a:pt x="496941" y="1617458"/>
                </a:lnTo>
                <a:lnTo>
                  <a:pt x="456365" y="1594305"/>
                </a:lnTo>
                <a:lnTo>
                  <a:pt x="417178" y="1570047"/>
                </a:lnTo>
                <a:lnTo>
                  <a:pt x="379428" y="1544716"/>
                </a:lnTo>
                <a:lnTo>
                  <a:pt x="343164" y="1518348"/>
                </a:lnTo>
                <a:lnTo>
                  <a:pt x="308436" y="1490974"/>
                </a:lnTo>
                <a:lnTo>
                  <a:pt x="275291" y="1462631"/>
                </a:lnTo>
                <a:lnTo>
                  <a:pt x="243778" y="1433351"/>
                </a:lnTo>
                <a:lnTo>
                  <a:pt x="213946" y="1403169"/>
                </a:lnTo>
                <a:lnTo>
                  <a:pt x="185843" y="1372118"/>
                </a:lnTo>
                <a:lnTo>
                  <a:pt x="159518" y="1340233"/>
                </a:lnTo>
                <a:lnTo>
                  <a:pt x="135020" y="1307547"/>
                </a:lnTo>
                <a:lnTo>
                  <a:pt x="112397" y="1274094"/>
                </a:lnTo>
                <a:lnTo>
                  <a:pt x="91698" y="1239909"/>
                </a:lnTo>
                <a:lnTo>
                  <a:pt x="72971" y="1205025"/>
                </a:lnTo>
                <a:lnTo>
                  <a:pt x="56265" y="1169477"/>
                </a:lnTo>
                <a:lnTo>
                  <a:pt x="41629" y="1133297"/>
                </a:lnTo>
                <a:lnTo>
                  <a:pt x="29112" y="1096521"/>
                </a:lnTo>
                <a:lnTo>
                  <a:pt x="18761" y="1059181"/>
                </a:lnTo>
                <a:lnTo>
                  <a:pt x="10626" y="1021313"/>
                </a:lnTo>
                <a:lnTo>
                  <a:pt x="4755" y="982950"/>
                </a:lnTo>
                <a:lnTo>
                  <a:pt x="1196" y="944126"/>
                </a:lnTo>
                <a:lnTo>
                  <a:pt x="0" y="904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57870" y="1677558"/>
            <a:ext cx="162242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874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Conocim</a:t>
            </a:r>
            <a:r>
              <a:rPr sz="2000" spc="-10" dirty="0">
                <a:latin typeface="Tahoma"/>
                <a:cs typeface="Tahoma"/>
              </a:rPr>
              <a:t>i</a:t>
            </a:r>
            <a:r>
              <a:rPr sz="2000" spc="-5" dirty="0">
                <a:latin typeface="Tahoma"/>
                <a:cs typeface="Tahoma"/>
              </a:rPr>
              <a:t>ento  </a:t>
            </a:r>
            <a:r>
              <a:rPr sz="2000" dirty="0">
                <a:latin typeface="Tahoma"/>
                <a:cs typeface="Tahoma"/>
              </a:rPr>
              <a:t>y </a:t>
            </a:r>
            <a:r>
              <a:rPr sz="2000" spc="-5" dirty="0">
                <a:latin typeface="Tahoma"/>
                <a:cs typeface="Tahoma"/>
              </a:rPr>
              <a:t>practica </a:t>
            </a:r>
            <a:r>
              <a:rPr sz="2000" dirty="0">
                <a:latin typeface="Tahoma"/>
                <a:cs typeface="Tahoma"/>
              </a:rPr>
              <a:t>de  </a:t>
            </a:r>
            <a:r>
              <a:rPr sz="2000" spc="-5" dirty="0">
                <a:latin typeface="Tahoma"/>
                <a:cs typeface="Tahoma"/>
              </a:rPr>
              <a:t>proyectos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07585" y="4955235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436829"/>
            <a:ext cx="5528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spc="-290" dirty="0">
                <a:latin typeface="Arial"/>
                <a:cs typeface="Arial"/>
              </a:rPr>
              <a:t>Proyecto </a:t>
            </a:r>
            <a:r>
              <a:rPr i="0" spc="-180" dirty="0">
                <a:latin typeface="Arial"/>
                <a:cs typeface="Arial"/>
              </a:rPr>
              <a:t>– </a:t>
            </a:r>
            <a:r>
              <a:rPr i="0" spc="-235" dirty="0">
                <a:latin typeface="Arial"/>
                <a:cs typeface="Arial"/>
              </a:rPr>
              <a:t>Programa </a:t>
            </a:r>
            <a:r>
              <a:rPr i="0" spc="-65" dirty="0">
                <a:latin typeface="Arial"/>
                <a:cs typeface="Arial"/>
              </a:rPr>
              <a:t>-</a:t>
            </a:r>
            <a:r>
              <a:rPr i="0" spc="-165" dirty="0">
                <a:latin typeface="Arial"/>
                <a:cs typeface="Arial"/>
              </a:rPr>
              <a:t> </a:t>
            </a:r>
            <a:r>
              <a:rPr i="0" spc="-204" dirty="0">
                <a:latin typeface="Arial"/>
                <a:cs typeface="Arial"/>
              </a:rPr>
              <a:t>Portafolio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5016" y="1282712"/>
            <a:ext cx="2553970" cy="89281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Proyecto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016" y="2184907"/>
            <a:ext cx="2553970" cy="1362075"/>
          </a:xfrm>
          <a:prstGeom prst="rect">
            <a:avLst/>
          </a:prstGeom>
          <a:ln w="19050">
            <a:solidFill>
              <a:srgbClr val="F0CCCD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188595" marR="153670" indent="-114300">
              <a:lnSpc>
                <a:spcPts val="1380"/>
              </a:lnSpc>
              <a:spcBef>
                <a:spcPts val="530"/>
              </a:spcBef>
              <a:buChar char="•"/>
              <a:tabLst>
                <a:tab pos="189230" algn="l"/>
              </a:tabLst>
            </a:pPr>
            <a:r>
              <a:rPr sz="1400" spc="-114" dirty="0">
                <a:latin typeface="Arial"/>
                <a:cs typeface="Arial"/>
              </a:rPr>
              <a:t>Esfuerzo </a:t>
            </a:r>
            <a:r>
              <a:rPr sz="1400" spc="-120" dirty="0">
                <a:latin typeface="Arial"/>
                <a:cs typeface="Arial"/>
              </a:rPr>
              <a:t>unico </a:t>
            </a:r>
            <a:r>
              <a:rPr sz="1400" spc="-10" dirty="0">
                <a:latin typeface="Arial"/>
                <a:cs typeface="Arial"/>
              </a:rPr>
              <a:t>para </a:t>
            </a:r>
            <a:r>
              <a:rPr sz="1400" spc="-55" dirty="0">
                <a:latin typeface="Arial"/>
                <a:cs typeface="Arial"/>
              </a:rPr>
              <a:t>producir </a:t>
            </a:r>
            <a:r>
              <a:rPr sz="1400" spc="-40" dirty="0">
                <a:latin typeface="Arial"/>
                <a:cs typeface="Arial"/>
              </a:rPr>
              <a:t>el  </a:t>
            </a:r>
            <a:r>
              <a:rPr sz="1400" spc="-65" dirty="0">
                <a:latin typeface="Arial"/>
                <a:cs typeface="Arial"/>
              </a:rPr>
              <a:t>resultado </a:t>
            </a:r>
            <a:r>
              <a:rPr sz="1400" spc="-35" dirty="0">
                <a:latin typeface="Arial"/>
                <a:cs typeface="Arial"/>
              </a:rPr>
              <a:t>del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proyecto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6414" y="1282712"/>
            <a:ext cx="2553970" cy="892810"/>
          </a:xfrm>
          <a:prstGeom prst="rect">
            <a:avLst/>
          </a:prstGeom>
          <a:solidFill>
            <a:srgbClr val="EB631B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Programa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66414" y="2184907"/>
            <a:ext cx="2553970" cy="1362075"/>
          </a:xfrm>
          <a:custGeom>
            <a:avLst/>
            <a:gdLst/>
            <a:ahLst/>
            <a:cxnLst/>
            <a:rect l="l" t="t" r="r" b="b"/>
            <a:pathLst>
              <a:path w="2553970" h="1362075">
                <a:moveTo>
                  <a:pt x="0" y="1361566"/>
                </a:moveTo>
                <a:lnTo>
                  <a:pt x="2553842" y="1361566"/>
                </a:lnTo>
                <a:lnTo>
                  <a:pt x="2553842" y="0"/>
                </a:lnTo>
                <a:lnTo>
                  <a:pt x="0" y="0"/>
                </a:lnTo>
                <a:lnTo>
                  <a:pt x="0" y="1361566"/>
                </a:lnTo>
                <a:close/>
              </a:path>
            </a:pathLst>
          </a:custGeom>
          <a:ln w="19050">
            <a:solidFill>
              <a:srgbClr val="F7D2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66414" y="2184907"/>
            <a:ext cx="2553970" cy="1362075"/>
          </a:xfrm>
          <a:prstGeom prst="rect">
            <a:avLst/>
          </a:prstGeom>
          <a:ln w="19050">
            <a:solidFill>
              <a:srgbClr val="F7D2CC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189230" marR="90170" indent="-114300">
              <a:lnSpc>
                <a:spcPct val="81700"/>
              </a:lnSpc>
              <a:spcBef>
                <a:spcPts val="545"/>
              </a:spcBef>
              <a:buChar char="•"/>
              <a:tabLst>
                <a:tab pos="189865" algn="l"/>
              </a:tabLst>
            </a:pPr>
            <a:r>
              <a:rPr sz="1400" spc="-50" dirty="0">
                <a:latin typeface="Arial"/>
                <a:cs typeface="Arial"/>
              </a:rPr>
              <a:t>Grupo </a:t>
            </a:r>
            <a:r>
              <a:rPr sz="1400" spc="-45" dirty="0">
                <a:latin typeface="Arial"/>
                <a:cs typeface="Arial"/>
              </a:rPr>
              <a:t>de </a:t>
            </a:r>
            <a:r>
              <a:rPr sz="1400" spc="-105" dirty="0">
                <a:latin typeface="Arial"/>
                <a:cs typeface="Arial"/>
              </a:rPr>
              <a:t>Proyectos </a:t>
            </a:r>
            <a:r>
              <a:rPr sz="1400" spc="-85" dirty="0">
                <a:latin typeface="Arial"/>
                <a:cs typeface="Arial"/>
              </a:rPr>
              <a:t>que  </a:t>
            </a:r>
            <a:r>
              <a:rPr sz="1400" spc="-75" dirty="0">
                <a:latin typeface="Arial"/>
                <a:cs typeface="Arial"/>
              </a:rPr>
              <a:t>apuntan </a:t>
            </a:r>
            <a:r>
              <a:rPr sz="1400" spc="-5" dirty="0">
                <a:latin typeface="Arial"/>
                <a:cs typeface="Arial"/>
              </a:rPr>
              <a:t>a </a:t>
            </a:r>
            <a:r>
              <a:rPr sz="1400" spc="-170" dirty="0">
                <a:latin typeface="Arial"/>
                <a:cs typeface="Arial"/>
              </a:rPr>
              <a:t>un </a:t>
            </a:r>
            <a:r>
              <a:rPr sz="1400" spc="-45" dirty="0">
                <a:latin typeface="Arial"/>
                <a:cs typeface="Arial"/>
              </a:rPr>
              <a:t>objetivo  </a:t>
            </a:r>
            <a:r>
              <a:rPr sz="1400" spc="-60" dirty="0">
                <a:latin typeface="Arial"/>
                <a:cs typeface="Arial"/>
              </a:rPr>
              <a:t>organizacional </a:t>
            </a:r>
            <a:r>
              <a:rPr sz="1400" dirty="0">
                <a:latin typeface="Arial"/>
                <a:cs typeface="Arial"/>
              </a:rPr>
              <a:t>y </a:t>
            </a:r>
            <a:r>
              <a:rPr sz="1400" spc="-85" dirty="0">
                <a:latin typeface="Arial"/>
                <a:cs typeface="Arial"/>
              </a:rPr>
              <a:t>que </a:t>
            </a:r>
            <a:r>
              <a:rPr sz="1400" spc="-155" dirty="0">
                <a:latin typeface="Arial"/>
                <a:cs typeface="Arial"/>
              </a:rPr>
              <a:t>se </a:t>
            </a:r>
            <a:r>
              <a:rPr sz="1400" spc="-50" dirty="0">
                <a:latin typeface="Arial"/>
                <a:cs typeface="Arial"/>
              </a:rPr>
              <a:t>dividen  </a:t>
            </a:r>
            <a:r>
              <a:rPr sz="1400" spc="-10" dirty="0">
                <a:latin typeface="Arial"/>
                <a:cs typeface="Arial"/>
              </a:rPr>
              <a:t>para </a:t>
            </a:r>
            <a:r>
              <a:rPr sz="1400" spc="-55" dirty="0">
                <a:latin typeface="Arial"/>
                <a:cs typeface="Arial"/>
              </a:rPr>
              <a:t>alcanzar </a:t>
            </a:r>
            <a:r>
              <a:rPr sz="1400" spc="-130" dirty="0">
                <a:latin typeface="Arial"/>
                <a:cs typeface="Arial"/>
              </a:rPr>
              <a:t>ese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objetivo.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77890" y="1282712"/>
            <a:ext cx="2553970" cy="892810"/>
          </a:xfrm>
          <a:prstGeom prst="rect">
            <a:avLst/>
          </a:prstGeom>
          <a:solidFill>
            <a:srgbClr val="39629D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Portafolio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77890" y="2184907"/>
            <a:ext cx="2553970" cy="1362075"/>
          </a:xfrm>
          <a:custGeom>
            <a:avLst/>
            <a:gdLst/>
            <a:ahLst/>
            <a:cxnLst/>
            <a:rect l="l" t="t" r="r" b="b"/>
            <a:pathLst>
              <a:path w="2553970" h="1362075">
                <a:moveTo>
                  <a:pt x="0" y="1361566"/>
                </a:moveTo>
                <a:lnTo>
                  <a:pt x="2553842" y="1361566"/>
                </a:lnTo>
                <a:lnTo>
                  <a:pt x="2553842" y="0"/>
                </a:lnTo>
                <a:lnTo>
                  <a:pt x="0" y="0"/>
                </a:lnTo>
                <a:lnTo>
                  <a:pt x="0" y="1361566"/>
                </a:lnTo>
                <a:close/>
              </a:path>
            </a:pathLst>
          </a:custGeom>
          <a:ln w="19050">
            <a:solidFill>
              <a:srgbClr val="CED2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40882" y="2201926"/>
            <a:ext cx="2240280" cy="4146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0" marR="5080" indent="-114300">
              <a:lnSpc>
                <a:spcPts val="1380"/>
              </a:lnSpc>
              <a:spcBef>
                <a:spcPts val="400"/>
              </a:spcBef>
              <a:buChar char="•"/>
              <a:tabLst>
                <a:tab pos="127000" algn="l"/>
              </a:tabLst>
            </a:pPr>
            <a:r>
              <a:rPr sz="1400" spc="-130" dirty="0">
                <a:latin typeface="Arial"/>
                <a:cs typeface="Arial"/>
              </a:rPr>
              <a:t>Todo </a:t>
            </a:r>
            <a:r>
              <a:rPr sz="1400" spc="-40" dirty="0">
                <a:latin typeface="Arial"/>
                <a:cs typeface="Arial"/>
              </a:rPr>
              <a:t>el </a:t>
            </a:r>
            <a:r>
              <a:rPr sz="1400" spc="-105" dirty="0">
                <a:latin typeface="Arial"/>
                <a:cs typeface="Arial"/>
              </a:rPr>
              <a:t>conjunto </a:t>
            </a:r>
            <a:r>
              <a:rPr sz="1400" spc="-45" dirty="0">
                <a:latin typeface="Arial"/>
                <a:cs typeface="Arial"/>
              </a:rPr>
              <a:t>de </a:t>
            </a:r>
            <a:r>
              <a:rPr sz="1400" spc="-80" dirty="0">
                <a:latin typeface="Arial"/>
                <a:cs typeface="Arial"/>
              </a:rPr>
              <a:t>proyectos  </a:t>
            </a:r>
            <a:r>
              <a:rPr sz="1400" spc="-45" dirty="0">
                <a:latin typeface="Arial"/>
                <a:cs typeface="Arial"/>
              </a:rPr>
              <a:t>de </a:t>
            </a:r>
            <a:r>
              <a:rPr sz="1400" spc="-114" dirty="0">
                <a:latin typeface="Arial"/>
                <a:cs typeface="Arial"/>
              </a:rPr>
              <a:t>una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organizacion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3400" y="3562350"/>
            <a:ext cx="1905000" cy="1143000"/>
          </a:xfrm>
          <a:custGeom>
            <a:avLst/>
            <a:gdLst/>
            <a:ahLst/>
            <a:cxnLst/>
            <a:rect l="l" t="t" r="r" b="b"/>
            <a:pathLst>
              <a:path w="1905000" h="1143000">
                <a:moveTo>
                  <a:pt x="1790700" y="0"/>
                </a:moveTo>
                <a:lnTo>
                  <a:pt x="114300" y="0"/>
                </a:lnTo>
                <a:lnTo>
                  <a:pt x="69806" y="8983"/>
                </a:lnTo>
                <a:lnTo>
                  <a:pt x="33475" y="33480"/>
                </a:lnTo>
                <a:lnTo>
                  <a:pt x="8981" y="69812"/>
                </a:lnTo>
                <a:lnTo>
                  <a:pt x="0" y="114300"/>
                </a:lnTo>
                <a:lnTo>
                  <a:pt x="0" y="1028700"/>
                </a:lnTo>
                <a:lnTo>
                  <a:pt x="8981" y="1073193"/>
                </a:lnTo>
                <a:lnTo>
                  <a:pt x="33475" y="1109524"/>
                </a:lnTo>
                <a:lnTo>
                  <a:pt x="69806" y="1134018"/>
                </a:lnTo>
                <a:lnTo>
                  <a:pt x="114300" y="1143000"/>
                </a:lnTo>
                <a:lnTo>
                  <a:pt x="1790700" y="1143000"/>
                </a:lnTo>
                <a:lnTo>
                  <a:pt x="1835187" y="1134018"/>
                </a:lnTo>
                <a:lnTo>
                  <a:pt x="1871519" y="1109524"/>
                </a:lnTo>
                <a:lnTo>
                  <a:pt x="1896016" y="1073193"/>
                </a:lnTo>
                <a:lnTo>
                  <a:pt x="1905000" y="1028700"/>
                </a:lnTo>
                <a:lnTo>
                  <a:pt x="1905000" y="114300"/>
                </a:lnTo>
                <a:lnTo>
                  <a:pt x="1896016" y="69812"/>
                </a:lnTo>
                <a:lnTo>
                  <a:pt x="1871519" y="33480"/>
                </a:lnTo>
                <a:lnTo>
                  <a:pt x="1835187" y="8983"/>
                </a:lnTo>
                <a:lnTo>
                  <a:pt x="17907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3400" y="3562350"/>
            <a:ext cx="1905000" cy="1143000"/>
          </a:xfrm>
          <a:custGeom>
            <a:avLst/>
            <a:gdLst/>
            <a:ahLst/>
            <a:cxnLst/>
            <a:rect l="l" t="t" r="r" b="b"/>
            <a:pathLst>
              <a:path w="1905000" h="1143000">
                <a:moveTo>
                  <a:pt x="0" y="114300"/>
                </a:moveTo>
                <a:lnTo>
                  <a:pt x="8981" y="69812"/>
                </a:lnTo>
                <a:lnTo>
                  <a:pt x="33475" y="33480"/>
                </a:lnTo>
                <a:lnTo>
                  <a:pt x="69806" y="8983"/>
                </a:lnTo>
                <a:lnTo>
                  <a:pt x="114300" y="0"/>
                </a:lnTo>
                <a:lnTo>
                  <a:pt x="1790700" y="0"/>
                </a:lnTo>
                <a:lnTo>
                  <a:pt x="1835187" y="8983"/>
                </a:lnTo>
                <a:lnTo>
                  <a:pt x="1871519" y="33480"/>
                </a:lnTo>
                <a:lnTo>
                  <a:pt x="1896016" y="69812"/>
                </a:lnTo>
                <a:lnTo>
                  <a:pt x="1905000" y="114300"/>
                </a:lnTo>
                <a:lnTo>
                  <a:pt x="1905000" y="1028700"/>
                </a:lnTo>
                <a:lnTo>
                  <a:pt x="1896016" y="1073193"/>
                </a:lnTo>
                <a:lnTo>
                  <a:pt x="1871519" y="1109524"/>
                </a:lnTo>
                <a:lnTo>
                  <a:pt x="1835187" y="1134018"/>
                </a:lnTo>
                <a:lnTo>
                  <a:pt x="1790700" y="1143000"/>
                </a:lnTo>
                <a:lnTo>
                  <a:pt x="114300" y="1143000"/>
                </a:lnTo>
                <a:lnTo>
                  <a:pt x="69806" y="1134018"/>
                </a:lnTo>
                <a:lnTo>
                  <a:pt x="33475" y="1109524"/>
                </a:lnTo>
                <a:lnTo>
                  <a:pt x="8981" y="1073193"/>
                </a:lnTo>
                <a:lnTo>
                  <a:pt x="0" y="1028700"/>
                </a:lnTo>
                <a:lnTo>
                  <a:pt x="0" y="11430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65149" y="3618382"/>
            <a:ext cx="1440180" cy="94996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065" marR="5080" algn="ctr">
              <a:lnSpc>
                <a:spcPts val="2260"/>
              </a:lnSpc>
              <a:spcBef>
                <a:spcPts val="595"/>
              </a:spcBef>
            </a:pPr>
            <a:r>
              <a:rPr sz="2300" spc="-95" dirty="0">
                <a:solidFill>
                  <a:srgbClr val="FFFFFF"/>
                </a:solidFill>
                <a:latin typeface="Arial"/>
                <a:cs typeface="Arial"/>
              </a:rPr>
              <a:t>Metro </a:t>
            </a:r>
            <a:r>
              <a:rPr sz="2300" spc="-85" dirty="0">
                <a:solidFill>
                  <a:srgbClr val="FFFFFF"/>
                </a:solidFill>
                <a:latin typeface="Arial"/>
                <a:cs typeface="Arial"/>
              </a:rPr>
              <a:t>cable  </a:t>
            </a:r>
            <a:r>
              <a:rPr sz="2300" spc="-165" dirty="0">
                <a:solidFill>
                  <a:srgbClr val="FFFFFF"/>
                </a:solidFill>
                <a:latin typeface="Arial"/>
                <a:cs typeface="Arial"/>
              </a:rPr>
              <a:t>santo  </a:t>
            </a:r>
            <a:r>
              <a:rPr sz="2300" spc="-135" dirty="0">
                <a:solidFill>
                  <a:srgbClr val="FFFFFF"/>
                </a:solidFill>
                <a:latin typeface="Arial"/>
                <a:cs typeface="Arial"/>
              </a:rPr>
              <a:t>domingo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59251" y="3317747"/>
            <a:ext cx="2368296" cy="1455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72330" y="2975290"/>
            <a:ext cx="2561184" cy="1035112"/>
          </a:xfrm>
          <a:custGeom>
            <a:avLst/>
            <a:gdLst/>
            <a:ahLst/>
            <a:cxnLst/>
            <a:rect l="l" t="t" r="r" b="b"/>
            <a:pathLst>
              <a:path w="2585720" h="914400">
                <a:moveTo>
                  <a:pt x="2494279" y="0"/>
                </a:moveTo>
                <a:lnTo>
                  <a:pt x="91440" y="0"/>
                </a:lnTo>
                <a:lnTo>
                  <a:pt x="55828" y="7179"/>
                </a:lnTo>
                <a:lnTo>
                  <a:pt x="26765" y="26765"/>
                </a:lnTo>
                <a:lnTo>
                  <a:pt x="7179" y="55828"/>
                </a:lnTo>
                <a:lnTo>
                  <a:pt x="0" y="91439"/>
                </a:lnTo>
                <a:lnTo>
                  <a:pt x="0" y="822960"/>
                </a:lnTo>
                <a:lnTo>
                  <a:pt x="7179" y="858550"/>
                </a:lnTo>
                <a:lnTo>
                  <a:pt x="26765" y="887615"/>
                </a:lnTo>
                <a:lnTo>
                  <a:pt x="55828" y="907213"/>
                </a:lnTo>
                <a:lnTo>
                  <a:pt x="91440" y="914400"/>
                </a:lnTo>
                <a:lnTo>
                  <a:pt x="2494279" y="914400"/>
                </a:lnTo>
                <a:lnTo>
                  <a:pt x="2529891" y="907213"/>
                </a:lnTo>
                <a:lnTo>
                  <a:pt x="2558954" y="887615"/>
                </a:lnTo>
                <a:lnTo>
                  <a:pt x="2578540" y="858550"/>
                </a:lnTo>
                <a:lnTo>
                  <a:pt x="2585720" y="822960"/>
                </a:lnTo>
                <a:lnTo>
                  <a:pt x="2585720" y="91439"/>
                </a:lnTo>
                <a:lnTo>
                  <a:pt x="2578540" y="55828"/>
                </a:lnTo>
                <a:lnTo>
                  <a:pt x="2558954" y="26765"/>
                </a:lnTo>
                <a:lnTo>
                  <a:pt x="2529891" y="7179"/>
                </a:lnTo>
                <a:lnTo>
                  <a:pt x="2494279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65941" y="2975290"/>
            <a:ext cx="2566215" cy="98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>
              <a:lnSpc>
                <a:spcPts val="1310"/>
              </a:lnSpc>
              <a:spcBef>
                <a:spcPts val="100"/>
              </a:spcBef>
            </a:pPr>
            <a:r>
              <a:rPr sz="1200" b="1" spc="-85" dirty="0">
                <a:solidFill>
                  <a:srgbClr val="FFFFFF"/>
                </a:solidFill>
                <a:latin typeface="Arial"/>
                <a:cs typeface="Arial"/>
              </a:rPr>
              <a:t>Integracion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200" b="1" spc="-100" dirty="0">
                <a:solidFill>
                  <a:srgbClr val="FFFFFF"/>
                </a:solidFill>
                <a:latin typeface="Arial"/>
                <a:cs typeface="Arial"/>
              </a:rPr>
              <a:t>Transporte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200" b="1" spc="-45" dirty="0">
                <a:solidFill>
                  <a:srgbClr val="FFFFFF"/>
                </a:solidFill>
                <a:latin typeface="Arial"/>
                <a:cs typeface="Arial"/>
              </a:rPr>
              <a:t>valle</a:t>
            </a:r>
            <a:endParaRPr sz="1200" dirty="0">
              <a:latin typeface="Arial"/>
              <a:cs typeface="Arial"/>
            </a:endParaRPr>
          </a:p>
          <a:p>
            <a:pPr marL="5715" algn="ctr">
              <a:lnSpc>
                <a:spcPts val="1310"/>
              </a:lnSpc>
            </a:pPr>
            <a:r>
              <a:rPr sz="1200" b="1" spc="-7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Arial"/>
                <a:cs typeface="Arial"/>
              </a:rPr>
              <a:t>aburra</a:t>
            </a:r>
            <a:endParaRPr sz="1200" dirty="0">
              <a:latin typeface="Arial"/>
              <a:cs typeface="Arial"/>
            </a:endParaRPr>
          </a:p>
          <a:p>
            <a:pPr marL="450215" marR="436245" algn="ctr">
              <a:lnSpc>
                <a:spcPct val="113300"/>
              </a:lnSpc>
            </a:pP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Metro cable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Santo 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Domingo  Linea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4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  <a:p>
            <a:pPr marL="7620" algn="ctr">
              <a:lnSpc>
                <a:spcPct val="100000"/>
              </a:lnSpc>
              <a:spcBef>
                <a:spcPts val="195"/>
              </a:spcBef>
            </a:pP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Metro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Arial"/>
                <a:cs typeface="Arial"/>
              </a:rPr>
              <a:t>Plus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987161" y="3994091"/>
            <a:ext cx="2544699" cy="609600"/>
          </a:xfrm>
          <a:custGeom>
            <a:avLst/>
            <a:gdLst/>
            <a:ahLst/>
            <a:cxnLst/>
            <a:rect l="l" t="t" r="r" b="b"/>
            <a:pathLst>
              <a:path w="2436495" h="609600">
                <a:moveTo>
                  <a:pt x="2375027" y="0"/>
                </a:moveTo>
                <a:lnTo>
                  <a:pt x="60960" y="0"/>
                </a:lnTo>
                <a:lnTo>
                  <a:pt x="37236" y="4790"/>
                </a:lnTo>
                <a:lnTo>
                  <a:pt x="17859" y="17854"/>
                </a:lnTo>
                <a:lnTo>
                  <a:pt x="4792" y="37231"/>
                </a:lnTo>
                <a:lnTo>
                  <a:pt x="0" y="60959"/>
                </a:lnTo>
                <a:lnTo>
                  <a:pt x="0" y="548640"/>
                </a:lnTo>
                <a:lnTo>
                  <a:pt x="4792" y="572368"/>
                </a:lnTo>
                <a:lnTo>
                  <a:pt x="17859" y="591745"/>
                </a:lnTo>
                <a:lnTo>
                  <a:pt x="37236" y="604809"/>
                </a:lnTo>
                <a:lnTo>
                  <a:pt x="60960" y="609600"/>
                </a:lnTo>
                <a:lnTo>
                  <a:pt x="2375027" y="609600"/>
                </a:lnTo>
                <a:lnTo>
                  <a:pt x="2398750" y="604809"/>
                </a:lnTo>
                <a:lnTo>
                  <a:pt x="2418127" y="591745"/>
                </a:lnTo>
                <a:lnTo>
                  <a:pt x="2431194" y="572368"/>
                </a:lnTo>
                <a:lnTo>
                  <a:pt x="2435987" y="548640"/>
                </a:lnTo>
                <a:lnTo>
                  <a:pt x="2435987" y="60959"/>
                </a:lnTo>
                <a:lnTo>
                  <a:pt x="2431194" y="37231"/>
                </a:lnTo>
                <a:lnTo>
                  <a:pt x="2418127" y="17854"/>
                </a:lnTo>
                <a:lnTo>
                  <a:pt x="2398750" y="4790"/>
                </a:lnTo>
                <a:lnTo>
                  <a:pt x="2375027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188456" y="4099500"/>
            <a:ext cx="2126220" cy="358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10"/>
              </a:lnSpc>
              <a:spcBef>
                <a:spcPts val="100"/>
              </a:spcBef>
            </a:pPr>
            <a:r>
              <a:rPr sz="1200" b="1" spc="-114" dirty="0">
                <a:solidFill>
                  <a:srgbClr val="FFFFFF"/>
                </a:solidFill>
                <a:latin typeface="Arial"/>
                <a:cs typeface="Arial"/>
              </a:rPr>
              <a:t>Proyecto </a:t>
            </a:r>
            <a:r>
              <a:rPr sz="1200" b="1" spc="-9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200" b="1" spc="-75" dirty="0">
                <a:solidFill>
                  <a:srgbClr val="FFFFFF"/>
                </a:solidFill>
                <a:latin typeface="Arial"/>
                <a:cs typeface="Arial"/>
              </a:rPr>
              <a:t>Mejoramiento </a:t>
            </a:r>
            <a:r>
              <a:rPr sz="1200" b="1" spc="-9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ts val="1310"/>
              </a:lnSpc>
            </a:pPr>
            <a:r>
              <a:rPr sz="1200" b="1" spc="-80" dirty="0">
                <a:solidFill>
                  <a:srgbClr val="FFFFFF"/>
                </a:solidFill>
                <a:latin typeface="Arial"/>
                <a:cs typeface="Arial"/>
              </a:rPr>
              <a:t>eficiencia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60" dirty="0">
                <a:solidFill>
                  <a:srgbClr val="FFFFFF"/>
                </a:solidFill>
                <a:latin typeface="Arial"/>
                <a:cs typeface="Arial"/>
              </a:rPr>
              <a:t>Operativa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43599" y="4592261"/>
            <a:ext cx="2631621" cy="4495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247892" y="4698737"/>
            <a:ext cx="2014022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85" dirty="0">
                <a:solidFill>
                  <a:srgbClr val="FFFFFF"/>
                </a:solidFill>
                <a:latin typeface="Arial"/>
                <a:cs typeface="Arial"/>
              </a:rPr>
              <a:t>Nuevo </a:t>
            </a:r>
            <a:r>
              <a:rPr sz="1200" b="1" spc="-110" dirty="0">
                <a:solidFill>
                  <a:srgbClr val="FFFFFF"/>
                </a:solidFill>
                <a:latin typeface="Arial"/>
                <a:cs typeface="Arial"/>
              </a:rPr>
              <a:t>Sistema </a:t>
            </a:r>
            <a:r>
              <a:rPr sz="1200" b="1" spc="-9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2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5" dirty="0">
                <a:solidFill>
                  <a:srgbClr val="FFFFFF"/>
                </a:solidFill>
                <a:latin typeface="Arial"/>
                <a:cs typeface="Arial"/>
              </a:rPr>
              <a:t>Proveedores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06679"/>
            <a:ext cx="736536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i="0" spc="-225" dirty="0">
                <a:latin typeface="Arial"/>
                <a:cs typeface="Arial"/>
              </a:rPr>
              <a:t>Habilidades del </a:t>
            </a:r>
            <a:r>
              <a:rPr sz="3800" i="0" spc="-290" dirty="0">
                <a:latin typeface="Arial"/>
                <a:cs typeface="Arial"/>
              </a:rPr>
              <a:t>gerente </a:t>
            </a:r>
            <a:r>
              <a:rPr sz="3800" i="0" spc="-225" dirty="0">
                <a:latin typeface="Arial"/>
                <a:cs typeface="Arial"/>
              </a:rPr>
              <a:t>del</a:t>
            </a:r>
            <a:r>
              <a:rPr sz="3800" i="0" spc="509" dirty="0">
                <a:latin typeface="Arial"/>
                <a:cs typeface="Arial"/>
              </a:rPr>
              <a:t> </a:t>
            </a:r>
            <a:r>
              <a:rPr sz="3800" i="0" spc="-325" dirty="0">
                <a:latin typeface="Arial"/>
                <a:cs typeface="Arial"/>
              </a:rPr>
              <a:t>proyecto</a:t>
            </a:r>
            <a:endParaRPr sz="3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1428750"/>
            <a:ext cx="6059805" cy="321119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120" dirty="0">
                <a:latin typeface="Arial"/>
                <a:cs typeface="Arial"/>
              </a:rPr>
              <a:t>Liderazgo</a:t>
            </a:r>
            <a:endParaRPr sz="2900" dirty="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215" dirty="0">
                <a:latin typeface="Arial"/>
                <a:cs typeface="Arial"/>
              </a:rPr>
              <a:t>Fomentar </a:t>
            </a:r>
            <a:r>
              <a:rPr sz="2900" spc="-85" dirty="0">
                <a:latin typeface="Arial"/>
                <a:cs typeface="Arial"/>
              </a:rPr>
              <a:t>el </a:t>
            </a:r>
            <a:r>
              <a:rPr sz="2900" spc="-110" dirty="0">
                <a:latin typeface="Arial"/>
                <a:cs typeface="Arial"/>
              </a:rPr>
              <a:t>desarrollo </a:t>
            </a:r>
            <a:r>
              <a:rPr sz="2900" spc="-90" dirty="0">
                <a:latin typeface="Arial"/>
                <a:cs typeface="Arial"/>
              </a:rPr>
              <a:t>de </a:t>
            </a:r>
            <a:r>
              <a:rPr sz="2900" spc="-175" dirty="0">
                <a:latin typeface="Arial"/>
                <a:cs typeface="Arial"/>
              </a:rPr>
              <a:t>las</a:t>
            </a:r>
            <a:r>
              <a:rPr sz="2900" spc="-200" dirty="0">
                <a:latin typeface="Arial"/>
                <a:cs typeface="Arial"/>
              </a:rPr>
              <a:t> </a:t>
            </a:r>
            <a:r>
              <a:rPr sz="2900" spc="-204" dirty="0">
                <a:latin typeface="Arial"/>
                <a:cs typeface="Arial"/>
              </a:rPr>
              <a:t>personas</a:t>
            </a:r>
            <a:endParaRPr sz="2900" dirty="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235" dirty="0">
                <a:latin typeface="Arial"/>
                <a:cs typeface="Arial"/>
              </a:rPr>
              <a:t>Comunicación</a:t>
            </a:r>
            <a:endParaRPr sz="2900" dirty="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170" dirty="0">
                <a:latin typeface="Arial"/>
                <a:cs typeface="Arial"/>
              </a:rPr>
              <a:t>Interpersonales</a:t>
            </a:r>
            <a:endParaRPr sz="2900" dirty="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229" dirty="0">
                <a:latin typeface="Arial"/>
                <a:cs typeface="Arial"/>
              </a:rPr>
              <a:t>Solución </a:t>
            </a:r>
            <a:r>
              <a:rPr sz="2900" spc="-90" dirty="0">
                <a:latin typeface="Arial"/>
                <a:cs typeface="Arial"/>
              </a:rPr>
              <a:t>de</a:t>
            </a:r>
            <a:r>
              <a:rPr sz="2900" spc="-380" dirty="0">
                <a:latin typeface="Arial"/>
                <a:cs typeface="Arial"/>
              </a:rPr>
              <a:t> </a:t>
            </a:r>
            <a:r>
              <a:rPr sz="2900" spc="-155" dirty="0">
                <a:latin typeface="Arial"/>
                <a:cs typeface="Arial"/>
              </a:rPr>
              <a:t>problemas</a:t>
            </a:r>
            <a:endParaRPr sz="2900" dirty="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spc="-175" dirty="0">
                <a:latin typeface="Arial"/>
                <a:cs typeface="Arial"/>
              </a:rPr>
              <a:t>Administración </a:t>
            </a:r>
            <a:r>
              <a:rPr sz="2900" spc="-60" dirty="0">
                <a:latin typeface="Arial"/>
                <a:cs typeface="Arial"/>
              </a:rPr>
              <a:t>del</a:t>
            </a:r>
            <a:r>
              <a:rPr sz="2900" spc="130" dirty="0">
                <a:latin typeface="Arial"/>
                <a:cs typeface="Arial"/>
              </a:rPr>
              <a:t> </a:t>
            </a:r>
            <a:r>
              <a:rPr sz="2900" spc="-140" dirty="0">
                <a:latin typeface="Arial"/>
                <a:cs typeface="Arial"/>
              </a:rPr>
              <a:t>tiempo</a:t>
            </a:r>
            <a:endParaRPr sz="2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0"/>
            <a:ext cx="633603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s-419" i="0" spc="-245" dirty="0">
                <a:solidFill>
                  <a:srgbClr val="22253B"/>
                </a:solidFill>
                <a:latin typeface="Arial"/>
                <a:cs typeface="Arial"/>
              </a:rPr>
              <a:t>Habilidades del </a:t>
            </a:r>
            <a:r>
              <a:rPr i="0" spc="-245" dirty="0" err="1">
                <a:solidFill>
                  <a:srgbClr val="22253B"/>
                </a:solidFill>
                <a:latin typeface="Arial"/>
                <a:cs typeface="Arial"/>
              </a:rPr>
              <a:t>Gerente</a:t>
            </a:r>
            <a:r>
              <a:rPr i="0" spc="-245" dirty="0">
                <a:solidFill>
                  <a:srgbClr val="22253B"/>
                </a:solidFill>
                <a:latin typeface="Arial"/>
                <a:cs typeface="Arial"/>
              </a:rPr>
              <a:t> </a:t>
            </a:r>
            <a:r>
              <a:rPr i="0" spc="-305" dirty="0">
                <a:solidFill>
                  <a:srgbClr val="22253B"/>
                </a:solidFill>
                <a:latin typeface="Arial"/>
                <a:cs typeface="Arial"/>
              </a:rPr>
              <a:t>Proyectos </a:t>
            </a:r>
            <a:r>
              <a:rPr i="0" spc="-80" dirty="0">
                <a:solidFill>
                  <a:srgbClr val="22253B"/>
                </a:solidFill>
                <a:latin typeface="Arial"/>
                <a:cs typeface="Arial"/>
              </a:rPr>
              <a:t>y </a:t>
            </a:r>
            <a:r>
              <a:rPr i="0" spc="-245" dirty="0">
                <a:solidFill>
                  <a:srgbClr val="22253B"/>
                </a:solidFill>
                <a:latin typeface="Arial"/>
                <a:cs typeface="Arial"/>
              </a:rPr>
              <a:t>Gerente </a:t>
            </a:r>
            <a:r>
              <a:rPr i="0" spc="-250" dirty="0">
                <a:solidFill>
                  <a:srgbClr val="22253B"/>
                </a:solidFill>
                <a:latin typeface="Arial"/>
                <a:cs typeface="Arial"/>
              </a:rPr>
              <a:t>de  </a:t>
            </a:r>
            <a:r>
              <a:rPr i="0" spc="-254" dirty="0">
                <a:solidFill>
                  <a:srgbClr val="22253B"/>
                </a:solidFill>
                <a:latin typeface="Arial"/>
                <a:cs typeface="Arial"/>
              </a:rPr>
              <a:t>Programas</a:t>
            </a:r>
          </a:p>
        </p:txBody>
      </p:sp>
      <p:sp>
        <p:nvSpPr>
          <p:cNvPr id="3" name="object 3"/>
          <p:cNvSpPr/>
          <p:nvPr/>
        </p:nvSpPr>
        <p:spPr>
          <a:xfrm>
            <a:off x="2121407" y="1360169"/>
            <a:ext cx="2804160" cy="2804160"/>
          </a:xfrm>
          <a:custGeom>
            <a:avLst/>
            <a:gdLst/>
            <a:ahLst/>
            <a:cxnLst/>
            <a:rect l="l" t="t" r="r" b="b"/>
            <a:pathLst>
              <a:path w="2804160" h="2804160">
                <a:moveTo>
                  <a:pt x="1402080" y="0"/>
                </a:moveTo>
                <a:lnTo>
                  <a:pt x="1353880" y="813"/>
                </a:lnTo>
                <a:lnTo>
                  <a:pt x="1306088" y="3234"/>
                </a:lnTo>
                <a:lnTo>
                  <a:pt x="1258730" y="7239"/>
                </a:lnTo>
                <a:lnTo>
                  <a:pt x="1211832" y="12799"/>
                </a:lnTo>
                <a:lnTo>
                  <a:pt x="1165419" y="19891"/>
                </a:lnTo>
                <a:lnTo>
                  <a:pt x="1119520" y="28486"/>
                </a:lnTo>
                <a:lnTo>
                  <a:pt x="1074158" y="38560"/>
                </a:lnTo>
                <a:lnTo>
                  <a:pt x="1029361" y="50085"/>
                </a:lnTo>
                <a:lnTo>
                  <a:pt x="985154" y="63037"/>
                </a:lnTo>
                <a:lnTo>
                  <a:pt x="941564" y="77388"/>
                </a:lnTo>
                <a:lnTo>
                  <a:pt x="898617" y="93113"/>
                </a:lnTo>
                <a:lnTo>
                  <a:pt x="856339" y="110186"/>
                </a:lnTo>
                <a:lnTo>
                  <a:pt x="814755" y="128580"/>
                </a:lnTo>
                <a:lnTo>
                  <a:pt x="773893" y="148270"/>
                </a:lnTo>
                <a:lnTo>
                  <a:pt x="733778" y="169229"/>
                </a:lnTo>
                <a:lnTo>
                  <a:pt x="694435" y="191431"/>
                </a:lnTo>
                <a:lnTo>
                  <a:pt x="655893" y="214850"/>
                </a:lnTo>
                <a:lnTo>
                  <a:pt x="618176" y="239460"/>
                </a:lnTo>
                <a:lnTo>
                  <a:pt x="581310" y="265235"/>
                </a:lnTo>
                <a:lnTo>
                  <a:pt x="545322" y="292149"/>
                </a:lnTo>
                <a:lnTo>
                  <a:pt x="510238" y="320176"/>
                </a:lnTo>
                <a:lnTo>
                  <a:pt x="476084" y="349289"/>
                </a:lnTo>
                <a:lnTo>
                  <a:pt x="442886" y="379462"/>
                </a:lnTo>
                <a:lnTo>
                  <a:pt x="410670" y="410670"/>
                </a:lnTo>
                <a:lnTo>
                  <a:pt x="379462" y="442886"/>
                </a:lnTo>
                <a:lnTo>
                  <a:pt x="349289" y="476084"/>
                </a:lnTo>
                <a:lnTo>
                  <a:pt x="320176" y="510238"/>
                </a:lnTo>
                <a:lnTo>
                  <a:pt x="292149" y="545322"/>
                </a:lnTo>
                <a:lnTo>
                  <a:pt x="265235" y="581310"/>
                </a:lnTo>
                <a:lnTo>
                  <a:pt x="239460" y="618176"/>
                </a:lnTo>
                <a:lnTo>
                  <a:pt x="214850" y="655893"/>
                </a:lnTo>
                <a:lnTo>
                  <a:pt x="191431" y="694436"/>
                </a:lnTo>
                <a:lnTo>
                  <a:pt x="169229" y="733778"/>
                </a:lnTo>
                <a:lnTo>
                  <a:pt x="148270" y="773893"/>
                </a:lnTo>
                <a:lnTo>
                  <a:pt x="128580" y="814755"/>
                </a:lnTo>
                <a:lnTo>
                  <a:pt x="110186" y="856339"/>
                </a:lnTo>
                <a:lnTo>
                  <a:pt x="93113" y="898617"/>
                </a:lnTo>
                <a:lnTo>
                  <a:pt x="77388" y="941564"/>
                </a:lnTo>
                <a:lnTo>
                  <a:pt x="63037" y="985154"/>
                </a:lnTo>
                <a:lnTo>
                  <a:pt x="50085" y="1029361"/>
                </a:lnTo>
                <a:lnTo>
                  <a:pt x="38560" y="1074158"/>
                </a:lnTo>
                <a:lnTo>
                  <a:pt x="28486" y="1119520"/>
                </a:lnTo>
                <a:lnTo>
                  <a:pt x="19891" y="1165419"/>
                </a:lnTo>
                <a:lnTo>
                  <a:pt x="12799" y="1211832"/>
                </a:lnTo>
                <a:lnTo>
                  <a:pt x="7239" y="1258730"/>
                </a:lnTo>
                <a:lnTo>
                  <a:pt x="3234" y="1306088"/>
                </a:lnTo>
                <a:lnTo>
                  <a:pt x="813" y="1353880"/>
                </a:lnTo>
                <a:lnTo>
                  <a:pt x="0" y="1402079"/>
                </a:lnTo>
                <a:lnTo>
                  <a:pt x="813" y="1450279"/>
                </a:lnTo>
                <a:lnTo>
                  <a:pt x="3234" y="1498071"/>
                </a:lnTo>
                <a:lnTo>
                  <a:pt x="7239" y="1545429"/>
                </a:lnTo>
                <a:lnTo>
                  <a:pt x="12799" y="1592326"/>
                </a:lnTo>
                <a:lnTo>
                  <a:pt x="19891" y="1638738"/>
                </a:lnTo>
                <a:lnTo>
                  <a:pt x="28486" y="1684637"/>
                </a:lnTo>
                <a:lnTo>
                  <a:pt x="38560" y="1729998"/>
                </a:lnTo>
                <a:lnTo>
                  <a:pt x="50085" y="1774794"/>
                </a:lnTo>
                <a:lnTo>
                  <a:pt x="63037" y="1819000"/>
                </a:lnTo>
                <a:lnTo>
                  <a:pt x="77388" y="1862589"/>
                </a:lnTo>
                <a:lnTo>
                  <a:pt x="93113" y="1905535"/>
                </a:lnTo>
                <a:lnTo>
                  <a:pt x="110186" y="1947812"/>
                </a:lnTo>
                <a:lnTo>
                  <a:pt x="128580" y="1989395"/>
                </a:lnTo>
                <a:lnTo>
                  <a:pt x="148270" y="2030256"/>
                </a:lnTo>
                <a:lnTo>
                  <a:pt x="169229" y="2070370"/>
                </a:lnTo>
                <a:lnTo>
                  <a:pt x="191431" y="2109710"/>
                </a:lnTo>
                <a:lnTo>
                  <a:pt x="214850" y="2148252"/>
                </a:lnTo>
                <a:lnTo>
                  <a:pt x="239460" y="2185967"/>
                </a:lnTo>
                <a:lnTo>
                  <a:pt x="265235" y="2222831"/>
                </a:lnTo>
                <a:lnTo>
                  <a:pt x="292149" y="2258818"/>
                </a:lnTo>
                <a:lnTo>
                  <a:pt x="320176" y="2293900"/>
                </a:lnTo>
                <a:lnTo>
                  <a:pt x="349289" y="2328053"/>
                </a:lnTo>
                <a:lnTo>
                  <a:pt x="379462" y="2361249"/>
                </a:lnTo>
                <a:lnTo>
                  <a:pt x="410670" y="2393464"/>
                </a:lnTo>
                <a:lnTo>
                  <a:pt x="442886" y="2424670"/>
                </a:lnTo>
                <a:lnTo>
                  <a:pt x="476084" y="2454842"/>
                </a:lnTo>
                <a:lnTo>
                  <a:pt x="510238" y="2483953"/>
                </a:lnTo>
                <a:lnTo>
                  <a:pt x="545322" y="2511978"/>
                </a:lnTo>
                <a:lnTo>
                  <a:pt x="581310" y="2538890"/>
                </a:lnTo>
                <a:lnTo>
                  <a:pt x="618176" y="2564664"/>
                </a:lnTo>
                <a:lnTo>
                  <a:pt x="655893" y="2589273"/>
                </a:lnTo>
                <a:lnTo>
                  <a:pt x="694436" y="2612691"/>
                </a:lnTo>
                <a:lnTo>
                  <a:pt x="733778" y="2634891"/>
                </a:lnTo>
                <a:lnTo>
                  <a:pt x="773893" y="2655849"/>
                </a:lnTo>
                <a:lnTo>
                  <a:pt x="814755" y="2675537"/>
                </a:lnTo>
                <a:lnTo>
                  <a:pt x="856339" y="2693930"/>
                </a:lnTo>
                <a:lnTo>
                  <a:pt x="898617" y="2711002"/>
                </a:lnTo>
                <a:lnTo>
                  <a:pt x="941564" y="2726726"/>
                </a:lnTo>
                <a:lnTo>
                  <a:pt x="985154" y="2741076"/>
                </a:lnTo>
                <a:lnTo>
                  <a:pt x="1029361" y="2754027"/>
                </a:lnTo>
                <a:lnTo>
                  <a:pt x="1074158" y="2765552"/>
                </a:lnTo>
                <a:lnTo>
                  <a:pt x="1119520" y="2775624"/>
                </a:lnTo>
                <a:lnTo>
                  <a:pt x="1165419" y="2784219"/>
                </a:lnTo>
                <a:lnTo>
                  <a:pt x="1211832" y="2791310"/>
                </a:lnTo>
                <a:lnTo>
                  <a:pt x="1258730" y="2796870"/>
                </a:lnTo>
                <a:lnTo>
                  <a:pt x="1306088" y="2800874"/>
                </a:lnTo>
                <a:lnTo>
                  <a:pt x="1353880" y="2803296"/>
                </a:lnTo>
                <a:lnTo>
                  <a:pt x="1402080" y="2804109"/>
                </a:lnTo>
                <a:lnTo>
                  <a:pt x="1450279" y="2803296"/>
                </a:lnTo>
                <a:lnTo>
                  <a:pt x="1498071" y="2800874"/>
                </a:lnTo>
                <a:lnTo>
                  <a:pt x="1545428" y="2796870"/>
                </a:lnTo>
                <a:lnTo>
                  <a:pt x="1592325" y="2791310"/>
                </a:lnTo>
                <a:lnTo>
                  <a:pt x="1638736" y="2784219"/>
                </a:lnTo>
                <a:lnTo>
                  <a:pt x="1684634" y="2775624"/>
                </a:lnTo>
                <a:lnTo>
                  <a:pt x="1729994" y="2765552"/>
                </a:lnTo>
                <a:lnTo>
                  <a:pt x="1774789" y="2754027"/>
                </a:lnTo>
                <a:lnTo>
                  <a:pt x="1818993" y="2741076"/>
                </a:lnTo>
                <a:lnTo>
                  <a:pt x="1862580" y="2726726"/>
                </a:lnTo>
                <a:lnTo>
                  <a:pt x="1905525" y="2711002"/>
                </a:lnTo>
                <a:lnTo>
                  <a:pt x="1947800" y="2693930"/>
                </a:lnTo>
                <a:lnTo>
                  <a:pt x="1989381" y="2675537"/>
                </a:lnTo>
                <a:lnTo>
                  <a:pt x="2030240" y="2655849"/>
                </a:lnTo>
                <a:lnTo>
                  <a:pt x="2070352" y="2634891"/>
                </a:lnTo>
                <a:lnTo>
                  <a:pt x="2109691" y="2612691"/>
                </a:lnTo>
                <a:lnTo>
                  <a:pt x="2148230" y="2589273"/>
                </a:lnTo>
                <a:lnTo>
                  <a:pt x="2185943" y="2564664"/>
                </a:lnTo>
                <a:lnTo>
                  <a:pt x="2222805" y="2538890"/>
                </a:lnTo>
                <a:lnTo>
                  <a:pt x="2258789" y="2511978"/>
                </a:lnTo>
                <a:lnTo>
                  <a:pt x="2293869" y="2483953"/>
                </a:lnTo>
                <a:lnTo>
                  <a:pt x="2328019" y="2454842"/>
                </a:lnTo>
                <a:lnTo>
                  <a:pt x="2361214" y="2424670"/>
                </a:lnTo>
                <a:lnTo>
                  <a:pt x="2393426" y="2393464"/>
                </a:lnTo>
                <a:lnTo>
                  <a:pt x="2424629" y="2361249"/>
                </a:lnTo>
                <a:lnTo>
                  <a:pt x="2454799" y="2328053"/>
                </a:lnTo>
                <a:lnTo>
                  <a:pt x="2483908" y="2293900"/>
                </a:lnTo>
                <a:lnTo>
                  <a:pt x="2511931" y="2258818"/>
                </a:lnTo>
                <a:lnTo>
                  <a:pt x="2538841" y="2222831"/>
                </a:lnTo>
                <a:lnTo>
                  <a:pt x="2564612" y="2185967"/>
                </a:lnTo>
                <a:lnTo>
                  <a:pt x="2589218" y="2148252"/>
                </a:lnTo>
                <a:lnTo>
                  <a:pt x="2612634" y="2109710"/>
                </a:lnTo>
                <a:lnTo>
                  <a:pt x="2634833" y="2070370"/>
                </a:lnTo>
                <a:lnTo>
                  <a:pt x="2655788" y="2030256"/>
                </a:lnTo>
                <a:lnTo>
                  <a:pt x="2675475" y="1989395"/>
                </a:lnTo>
                <a:lnTo>
                  <a:pt x="2693866" y="1947812"/>
                </a:lnTo>
                <a:lnTo>
                  <a:pt x="2710936" y="1905535"/>
                </a:lnTo>
                <a:lnTo>
                  <a:pt x="2726658" y="1862589"/>
                </a:lnTo>
                <a:lnTo>
                  <a:pt x="2741007" y="1819000"/>
                </a:lnTo>
                <a:lnTo>
                  <a:pt x="2753956" y="1774794"/>
                </a:lnTo>
                <a:lnTo>
                  <a:pt x="2765480" y="1729998"/>
                </a:lnTo>
                <a:lnTo>
                  <a:pt x="2775552" y="1684637"/>
                </a:lnTo>
                <a:lnTo>
                  <a:pt x="2784145" y="1638738"/>
                </a:lnTo>
                <a:lnTo>
                  <a:pt x="2791235" y="1592326"/>
                </a:lnTo>
                <a:lnTo>
                  <a:pt x="2796795" y="1545429"/>
                </a:lnTo>
                <a:lnTo>
                  <a:pt x="2800798" y="1498071"/>
                </a:lnTo>
                <a:lnTo>
                  <a:pt x="2803220" y="1450279"/>
                </a:lnTo>
                <a:lnTo>
                  <a:pt x="2804033" y="1402079"/>
                </a:lnTo>
                <a:lnTo>
                  <a:pt x="2803220" y="1353880"/>
                </a:lnTo>
                <a:lnTo>
                  <a:pt x="2800798" y="1306088"/>
                </a:lnTo>
                <a:lnTo>
                  <a:pt x="2796795" y="1258730"/>
                </a:lnTo>
                <a:lnTo>
                  <a:pt x="2791235" y="1211832"/>
                </a:lnTo>
                <a:lnTo>
                  <a:pt x="2784145" y="1165419"/>
                </a:lnTo>
                <a:lnTo>
                  <a:pt x="2775552" y="1119520"/>
                </a:lnTo>
                <a:lnTo>
                  <a:pt x="2765480" y="1074158"/>
                </a:lnTo>
                <a:lnTo>
                  <a:pt x="2753956" y="1029361"/>
                </a:lnTo>
                <a:lnTo>
                  <a:pt x="2741007" y="985154"/>
                </a:lnTo>
                <a:lnTo>
                  <a:pt x="2726658" y="941564"/>
                </a:lnTo>
                <a:lnTo>
                  <a:pt x="2710936" y="898617"/>
                </a:lnTo>
                <a:lnTo>
                  <a:pt x="2693866" y="856339"/>
                </a:lnTo>
                <a:lnTo>
                  <a:pt x="2675475" y="814755"/>
                </a:lnTo>
                <a:lnTo>
                  <a:pt x="2655788" y="773893"/>
                </a:lnTo>
                <a:lnTo>
                  <a:pt x="2634833" y="733778"/>
                </a:lnTo>
                <a:lnTo>
                  <a:pt x="2612634" y="694436"/>
                </a:lnTo>
                <a:lnTo>
                  <a:pt x="2589218" y="655893"/>
                </a:lnTo>
                <a:lnTo>
                  <a:pt x="2564612" y="618176"/>
                </a:lnTo>
                <a:lnTo>
                  <a:pt x="2538841" y="581310"/>
                </a:lnTo>
                <a:lnTo>
                  <a:pt x="2511931" y="545322"/>
                </a:lnTo>
                <a:lnTo>
                  <a:pt x="2483908" y="510238"/>
                </a:lnTo>
                <a:lnTo>
                  <a:pt x="2454799" y="476084"/>
                </a:lnTo>
                <a:lnTo>
                  <a:pt x="2424629" y="442886"/>
                </a:lnTo>
                <a:lnTo>
                  <a:pt x="2393426" y="410670"/>
                </a:lnTo>
                <a:lnTo>
                  <a:pt x="2361214" y="379462"/>
                </a:lnTo>
                <a:lnTo>
                  <a:pt x="2328019" y="349289"/>
                </a:lnTo>
                <a:lnTo>
                  <a:pt x="2293869" y="320176"/>
                </a:lnTo>
                <a:lnTo>
                  <a:pt x="2258789" y="292149"/>
                </a:lnTo>
                <a:lnTo>
                  <a:pt x="2222805" y="265235"/>
                </a:lnTo>
                <a:lnTo>
                  <a:pt x="2185943" y="239460"/>
                </a:lnTo>
                <a:lnTo>
                  <a:pt x="2148230" y="214850"/>
                </a:lnTo>
                <a:lnTo>
                  <a:pt x="2109691" y="191431"/>
                </a:lnTo>
                <a:lnTo>
                  <a:pt x="2070352" y="169229"/>
                </a:lnTo>
                <a:lnTo>
                  <a:pt x="2030240" y="148270"/>
                </a:lnTo>
                <a:lnTo>
                  <a:pt x="1989381" y="128580"/>
                </a:lnTo>
                <a:lnTo>
                  <a:pt x="1947800" y="110186"/>
                </a:lnTo>
                <a:lnTo>
                  <a:pt x="1905525" y="93113"/>
                </a:lnTo>
                <a:lnTo>
                  <a:pt x="1862580" y="77388"/>
                </a:lnTo>
                <a:lnTo>
                  <a:pt x="1818993" y="63037"/>
                </a:lnTo>
                <a:lnTo>
                  <a:pt x="1774789" y="50085"/>
                </a:lnTo>
                <a:lnTo>
                  <a:pt x="1729994" y="38560"/>
                </a:lnTo>
                <a:lnTo>
                  <a:pt x="1684634" y="28486"/>
                </a:lnTo>
                <a:lnTo>
                  <a:pt x="1638736" y="19891"/>
                </a:lnTo>
                <a:lnTo>
                  <a:pt x="1592325" y="12799"/>
                </a:lnTo>
                <a:lnTo>
                  <a:pt x="1545428" y="7239"/>
                </a:lnTo>
                <a:lnTo>
                  <a:pt x="1498071" y="3234"/>
                </a:lnTo>
                <a:lnTo>
                  <a:pt x="1450279" y="813"/>
                </a:lnTo>
                <a:lnTo>
                  <a:pt x="1402080" y="0"/>
                </a:lnTo>
                <a:close/>
              </a:path>
            </a:pathLst>
          </a:custGeom>
          <a:solidFill>
            <a:srgbClr val="2CA1BE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07742" y="1929344"/>
            <a:ext cx="1624965" cy="15347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900" spc="-120" dirty="0">
                <a:latin typeface="Arial"/>
                <a:cs typeface="Arial"/>
              </a:rPr>
              <a:t>Project</a:t>
            </a:r>
            <a:r>
              <a:rPr sz="1900" spc="-50" dirty="0">
                <a:latin typeface="Arial"/>
                <a:cs typeface="Arial"/>
              </a:rPr>
              <a:t> </a:t>
            </a:r>
            <a:r>
              <a:rPr sz="1900" spc="-80" dirty="0">
                <a:latin typeface="Arial"/>
                <a:cs typeface="Arial"/>
              </a:rPr>
              <a:t>Manager</a:t>
            </a:r>
            <a:endParaRPr sz="1900">
              <a:latin typeface="Arial"/>
              <a:cs typeface="Arial"/>
            </a:endParaRPr>
          </a:p>
          <a:p>
            <a:pPr marL="127000" indent="-114300">
              <a:lnSpc>
                <a:spcPts val="1760"/>
              </a:lnSpc>
              <a:spcBef>
                <a:spcPts val="414"/>
              </a:spcBef>
              <a:buChar char="•"/>
              <a:tabLst>
                <a:tab pos="127000" algn="l"/>
              </a:tabLst>
            </a:pPr>
            <a:r>
              <a:rPr sz="1500" spc="-60" dirty="0">
                <a:latin typeface="Arial"/>
                <a:cs typeface="Arial"/>
              </a:rPr>
              <a:t>Proactividad</a:t>
            </a:r>
            <a:endParaRPr sz="1500">
              <a:latin typeface="Arial"/>
              <a:cs typeface="Arial"/>
            </a:endParaRPr>
          </a:p>
          <a:p>
            <a:pPr marL="127000" indent="-114300">
              <a:lnSpc>
                <a:spcPts val="1714"/>
              </a:lnSpc>
              <a:buChar char="•"/>
              <a:tabLst>
                <a:tab pos="127000" algn="l"/>
              </a:tabLst>
            </a:pPr>
            <a:r>
              <a:rPr sz="1500" spc="-40" dirty="0">
                <a:latin typeface="Arial"/>
                <a:cs typeface="Arial"/>
              </a:rPr>
              <a:t>Flexibilidad</a:t>
            </a:r>
            <a:endParaRPr sz="1500">
              <a:latin typeface="Arial"/>
              <a:cs typeface="Arial"/>
            </a:endParaRPr>
          </a:p>
          <a:p>
            <a:pPr marL="127000" indent="-114300">
              <a:lnSpc>
                <a:spcPts val="1714"/>
              </a:lnSpc>
              <a:buChar char="•"/>
              <a:tabLst>
                <a:tab pos="127000" algn="l"/>
              </a:tabLst>
            </a:pPr>
            <a:r>
              <a:rPr sz="1500" spc="-85" dirty="0">
                <a:latin typeface="Arial"/>
                <a:cs typeface="Arial"/>
              </a:rPr>
              <a:t>Influencia</a:t>
            </a:r>
            <a:endParaRPr sz="1500">
              <a:latin typeface="Arial"/>
              <a:cs typeface="Arial"/>
            </a:endParaRPr>
          </a:p>
          <a:p>
            <a:pPr marL="127000" indent="-114300">
              <a:lnSpc>
                <a:spcPts val="1714"/>
              </a:lnSpc>
              <a:buChar char="•"/>
              <a:tabLst>
                <a:tab pos="127000" algn="l"/>
              </a:tabLst>
            </a:pPr>
            <a:r>
              <a:rPr sz="1500" spc="-65" dirty="0">
                <a:latin typeface="Arial"/>
                <a:cs typeface="Arial"/>
              </a:rPr>
              <a:t>Trabajo </a:t>
            </a:r>
            <a:r>
              <a:rPr sz="1500" spc="-135" dirty="0">
                <a:latin typeface="Arial"/>
                <a:cs typeface="Arial"/>
              </a:rPr>
              <a:t>en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equipo</a:t>
            </a:r>
            <a:endParaRPr sz="1500">
              <a:latin typeface="Arial"/>
              <a:cs typeface="Arial"/>
            </a:endParaRPr>
          </a:p>
          <a:p>
            <a:pPr marL="127000" indent="-114300">
              <a:lnSpc>
                <a:spcPts val="1760"/>
              </a:lnSpc>
              <a:buChar char="•"/>
              <a:tabLst>
                <a:tab pos="127000" algn="l"/>
              </a:tabLst>
            </a:pPr>
            <a:r>
              <a:rPr sz="1500" spc="-80" dirty="0">
                <a:latin typeface="Arial"/>
                <a:cs typeface="Arial"/>
              </a:rPr>
              <a:t>Motivacion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42359" y="1360169"/>
            <a:ext cx="2804160" cy="2804160"/>
          </a:xfrm>
          <a:custGeom>
            <a:avLst/>
            <a:gdLst/>
            <a:ahLst/>
            <a:cxnLst/>
            <a:rect l="l" t="t" r="r" b="b"/>
            <a:pathLst>
              <a:path w="2804159" h="2804160">
                <a:moveTo>
                  <a:pt x="1401952" y="0"/>
                </a:moveTo>
                <a:lnTo>
                  <a:pt x="1353753" y="813"/>
                </a:lnTo>
                <a:lnTo>
                  <a:pt x="1305961" y="3234"/>
                </a:lnTo>
                <a:lnTo>
                  <a:pt x="1258604" y="7239"/>
                </a:lnTo>
                <a:lnTo>
                  <a:pt x="1211707" y="12799"/>
                </a:lnTo>
                <a:lnTo>
                  <a:pt x="1165296" y="19891"/>
                </a:lnTo>
                <a:lnTo>
                  <a:pt x="1119398" y="28486"/>
                </a:lnTo>
                <a:lnTo>
                  <a:pt x="1074038" y="38560"/>
                </a:lnTo>
                <a:lnTo>
                  <a:pt x="1029243" y="50085"/>
                </a:lnTo>
                <a:lnTo>
                  <a:pt x="985039" y="63037"/>
                </a:lnTo>
                <a:lnTo>
                  <a:pt x="941452" y="77388"/>
                </a:lnTo>
                <a:lnTo>
                  <a:pt x="898507" y="93113"/>
                </a:lnTo>
                <a:lnTo>
                  <a:pt x="856232" y="110186"/>
                </a:lnTo>
                <a:lnTo>
                  <a:pt x="814651" y="128580"/>
                </a:lnTo>
                <a:lnTo>
                  <a:pt x="773792" y="148270"/>
                </a:lnTo>
                <a:lnTo>
                  <a:pt x="733680" y="169229"/>
                </a:lnTo>
                <a:lnTo>
                  <a:pt x="694341" y="191431"/>
                </a:lnTo>
                <a:lnTo>
                  <a:pt x="655802" y="214850"/>
                </a:lnTo>
                <a:lnTo>
                  <a:pt x="618089" y="239460"/>
                </a:lnTo>
                <a:lnTo>
                  <a:pt x="581227" y="265235"/>
                </a:lnTo>
                <a:lnTo>
                  <a:pt x="545243" y="292149"/>
                </a:lnTo>
                <a:lnTo>
                  <a:pt x="510163" y="320176"/>
                </a:lnTo>
                <a:lnTo>
                  <a:pt x="476013" y="349289"/>
                </a:lnTo>
                <a:lnTo>
                  <a:pt x="442818" y="379462"/>
                </a:lnTo>
                <a:lnTo>
                  <a:pt x="410606" y="410670"/>
                </a:lnTo>
                <a:lnTo>
                  <a:pt x="379403" y="442886"/>
                </a:lnTo>
                <a:lnTo>
                  <a:pt x="349233" y="476084"/>
                </a:lnTo>
                <a:lnTo>
                  <a:pt x="320124" y="510238"/>
                </a:lnTo>
                <a:lnTo>
                  <a:pt x="292101" y="545322"/>
                </a:lnTo>
                <a:lnTo>
                  <a:pt x="265191" y="581310"/>
                </a:lnTo>
                <a:lnTo>
                  <a:pt x="239420" y="618176"/>
                </a:lnTo>
                <a:lnTo>
                  <a:pt x="214814" y="655893"/>
                </a:lnTo>
                <a:lnTo>
                  <a:pt x="191398" y="694436"/>
                </a:lnTo>
                <a:lnTo>
                  <a:pt x="169199" y="733778"/>
                </a:lnTo>
                <a:lnTo>
                  <a:pt x="148244" y="773893"/>
                </a:lnTo>
                <a:lnTo>
                  <a:pt x="128557" y="814755"/>
                </a:lnTo>
                <a:lnTo>
                  <a:pt x="110166" y="856339"/>
                </a:lnTo>
                <a:lnTo>
                  <a:pt x="93096" y="898617"/>
                </a:lnTo>
                <a:lnTo>
                  <a:pt x="77374" y="941564"/>
                </a:lnTo>
                <a:lnTo>
                  <a:pt x="63025" y="985154"/>
                </a:lnTo>
                <a:lnTo>
                  <a:pt x="50076" y="1029361"/>
                </a:lnTo>
                <a:lnTo>
                  <a:pt x="38552" y="1074158"/>
                </a:lnTo>
                <a:lnTo>
                  <a:pt x="28480" y="1119520"/>
                </a:lnTo>
                <a:lnTo>
                  <a:pt x="19887" y="1165419"/>
                </a:lnTo>
                <a:lnTo>
                  <a:pt x="12797" y="1211832"/>
                </a:lnTo>
                <a:lnTo>
                  <a:pt x="7237" y="1258730"/>
                </a:lnTo>
                <a:lnTo>
                  <a:pt x="3234" y="1306088"/>
                </a:lnTo>
                <a:lnTo>
                  <a:pt x="812" y="1353880"/>
                </a:lnTo>
                <a:lnTo>
                  <a:pt x="0" y="1402079"/>
                </a:lnTo>
                <a:lnTo>
                  <a:pt x="812" y="1450279"/>
                </a:lnTo>
                <a:lnTo>
                  <a:pt x="3234" y="1498071"/>
                </a:lnTo>
                <a:lnTo>
                  <a:pt x="7237" y="1545429"/>
                </a:lnTo>
                <a:lnTo>
                  <a:pt x="12797" y="1592326"/>
                </a:lnTo>
                <a:lnTo>
                  <a:pt x="19887" y="1638738"/>
                </a:lnTo>
                <a:lnTo>
                  <a:pt x="28480" y="1684637"/>
                </a:lnTo>
                <a:lnTo>
                  <a:pt x="38552" y="1729998"/>
                </a:lnTo>
                <a:lnTo>
                  <a:pt x="50076" y="1774794"/>
                </a:lnTo>
                <a:lnTo>
                  <a:pt x="63025" y="1819000"/>
                </a:lnTo>
                <a:lnTo>
                  <a:pt x="77374" y="1862589"/>
                </a:lnTo>
                <a:lnTo>
                  <a:pt x="93096" y="1905535"/>
                </a:lnTo>
                <a:lnTo>
                  <a:pt x="110166" y="1947812"/>
                </a:lnTo>
                <a:lnTo>
                  <a:pt x="128557" y="1989395"/>
                </a:lnTo>
                <a:lnTo>
                  <a:pt x="148244" y="2030256"/>
                </a:lnTo>
                <a:lnTo>
                  <a:pt x="169199" y="2070370"/>
                </a:lnTo>
                <a:lnTo>
                  <a:pt x="191398" y="2109710"/>
                </a:lnTo>
                <a:lnTo>
                  <a:pt x="214814" y="2148252"/>
                </a:lnTo>
                <a:lnTo>
                  <a:pt x="239420" y="2185967"/>
                </a:lnTo>
                <a:lnTo>
                  <a:pt x="265191" y="2222831"/>
                </a:lnTo>
                <a:lnTo>
                  <a:pt x="292101" y="2258818"/>
                </a:lnTo>
                <a:lnTo>
                  <a:pt x="320124" y="2293900"/>
                </a:lnTo>
                <a:lnTo>
                  <a:pt x="349233" y="2328053"/>
                </a:lnTo>
                <a:lnTo>
                  <a:pt x="379403" y="2361249"/>
                </a:lnTo>
                <a:lnTo>
                  <a:pt x="410606" y="2393464"/>
                </a:lnTo>
                <a:lnTo>
                  <a:pt x="442818" y="2424670"/>
                </a:lnTo>
                <a:lnTo>
                  <a:pt x="476013" y="2454842"/>
                </a:lnTo>
                <a:lnTo>
                  <a:pt x="510163" y="2483953"/>
                </a:lnTo>
                <a:lnTo>
                  <a:pt x="545243" y="2511978"/>
                </a:lnTo>
                <a:lnTo>
                  <a:pt x="581227" y="2538890"/>
                </a:lnTo>
                <a:lnTo>
                  <a:pt x="618089" y="2564664"/>
                </a:lnTo>
                <a:lnTo>
                  <a:pt x="655802" y="2589273"/>
                </a:lnTo>
                <a:lnTo>
                  <a:pt x="694341" y="2612691"/>
                </a:lnTo>
                <a:lnTo>
                  <a:pt x="733680" y="2634891"/>
                </a:lnTo>
                <a:lnTo>
                  <a:pt x="773792" y="2655849"/>
                </a:lnTo>
                <a:lnTo>
                  <a:pt x="814651" y="2675537"/>
                </a:lnTo>
                <a:lnTo>
                  <a:pt x="856232" y="2693930"/>
                </a:lnTo>
                <a:lnTo>
                  <a:pt x="898507" y="2711002"/>
                </a:lnTo>
                <a:lnTo>
                  <a:pt x="941452" y="2726726"/>
                </a:lnTo>
                <a:lnTo>
                  <a:pt x="985039" y="2741076"/>
                </a:lnTo>
                <a:lnTo>
                  <a:pt x="1029243" y="2754027"/>
                </a:lnTo>
                <a:lnTo>
                  <a:pt x="1074038" y="2765552"/>
                </a:lnTo>
                <a:lnTo>
                  <a:pt x="1119398" y="2775624"/>
                </a:lnTo>
                <a:lnTo>
                  <a:pt x="1165296" y="2784219"/>
                </a:lnTo>
                <a:lnTo>
                  <a:pt x="1211707" y="2791310"/>
                </a:lnTo>
                <a:lnTo>
                  <a:pt x="1258604" y="2796870"/>
                </a:lnTo>
                <a:lnTo>
                  <a:pt x="1305961" y="2800874"/>
                </a:lnTo>
                <a:lnTo>
                  <a:pt x="1353753" y="2803296"/>
                </a:lnTo>
                <a:lnTo>
                  <a:pt x="1401952" y="2804109"/>
                </a:lnTo>
                <a:lnTo>
                  <a:pt x="1450152" y="2803296"/>
                </a:lnTo>
                <a:lnTo>
                  <a:pt x="1497944" y="2800874"/>
                </a:lnTo>
                <a:lnTo>
                  <a:pt x="1545302" y="2796870"/>
                </a:lnTo>
                <a:lnTo>
                  <a:pt x="1592200" y="2791310"/>
                </a:lnTo>
                <a:lnTo>
                  <a:pt x="1638613" y="2784219"/>
                </a:lnTo>
                <a:lnTo>
                  <a:pt x="1684512" y="2775624"/>
                </a:lnTo>
                <a:lnTo>
                  <a:pt x="1729874" y="2765552"/>
                </a:lnTo>
                <a:lnTo>
                  <a:pt x="1774671" y="2754027"/>
                </a:lnTo>
                <a:lnTo>
                  <a:pt x="1818878" y="2741076"/>
                </a:lnTo>
                <a:lnTo>
                  <a:pt x="1862468" y="2726726"/>
                </a:lnTo>
                <a:lnTo>
                  <a:pt x="1905415" y="2711002"/>
                </a:lnTo>
                <a:lnTo>
                  <a:pt x="1947693" y="2693930"/>
                </a:lnTo>
                <a:lnTo>
                  <a:pt x="1989277" y="2675537"/>
                </a:lnTo>
                <a:lnTo>
                  <a:pt x="2030139" y="2655849"/>
                </a:lnTo>
                <a:lnTo>
                  <a:pt x="2070254" y="2634891"/>
                </a:lnTo>
                <a:lnTo>
                  <a:pt x="2109596" y="2612691"/>
                </a:lnTo>
                <a:lnTo>
                  <a:pt x="2148139" y="2589273"/>
                </a:lnTo>
                <a:lnTo>
                  <a:pt x="2185856" y="2564664"/>
                </a:lnTo>
                <a:lnTo>
                  <a:pt x="2222722" y="2538890"/>
                </a:lnTo>
                <a:lnTo>
                  <a:pt x="2258710" y="2511978"/>
                </a:lnTo>
                <a:lnTo>
                  <a:pt x="2293794" y="2483953"/>
                </a:lnTo>
                <a:lnTo>
                  <a:pt x="2327948" y="2454842"/>
                </a:lnTo>
                <a:lnTo>
                  <a:pt x="2361146" y="2424670"/>
                </a:lnTo>
                <a:lnTo>
                  <a:pt x="2393362" y="2393464"/>
                </a:lnTo>
                <a:lnTo>
                  <a:pt x="2424570" y="2361249"/>
                </a:lnTo>
                <a:lnTo>
                  <a:pt x="2454743" y="2328053"/>
                </a:lnTo>
                <a:lnTo>
                  <a:pt x="2483856" y="2293900"/>
                </a:lnTo>
                <a:lnTo>
                  <a:pt x="2511883" y="2258818"/>
                </a:lnTo>
                <a:lnTo>
                  <a:pt x="2538797" y="2222831"/>
                </a:lnTo>
                <a:lnTo>
                  <a:pt x="2564572" y="2185967"/>
                </a:lnTo>
                <a:lnTo>
                  <a:pt x="2589182" y="2148252"/>
                </a:lnTo>
                <a:lnTo>
                  <a:pt x="2612601" y="2109710"/>
                </a:lnTo>
                <a:lnTo>
                  <a:pt x="2634803" y="2070370"/>
                </a:lnTo>
                <a:lnTo>
                  <a:pt x="2655762" y="2030256"/>
                </a:lnTo>
                <a:lnTo>
                  <a:pt x="2675452" y="1989395"/>
                </a:lnTo>
                <a:lnTo>
                  <a:pt x="2693846" y="1947812"/>
                </a:lnTo>
                <a:lnTo>
                  <a:pt x="2710919" y="1905535"/>
                </a:lnTo>
                <a:lnTo>
                  <a:pt x="2726644" y="1862589"/>
                </a:lnTo>
                <a:lnTo>
                  <a:pt x="2740995" y="1819000"/>
                </a:lnTo>
                <a:lnTo>
                  <a:pt x="2753947" y="1774794"/>
                </a:lnTo>
                <a:lnTo>
                  <a:pt x="2765472" y="1729998"/>
                </a:lnTo>
                <a:lnTo>
                  <a:pt x="2775546" y="1684637"/>
                </a:lnTo>
                <a:lnTo>
                  <a:pt x="2784141" y="1638738"/>
                </a:lnTo>
                <a:lnTo>
                  <a:pt x="2791233" y="1592326"/>
                </a:lnTo>
                <a:lnTo>
                  <a:pt x="2796793" y="1545429"/>
                </a:lnTo>
                <a:lnTo>
                  <a:pt x="2800798" y="1498071"/>
                </a:lnTo>
                <a:lnTo>
                  <a:pt x="2803219" y="1450279"/>
                </a:lnTo>
                <a:lnTo>
                  <a:pt x="2804033" y="1402079"/>
                </a:lnTo>
                <a:lnTo>
                  <a:pt x="2803219" y="1353880"/>
                </a:lnTo>
                <a:lnTo>
                  <a:pt x="2800798" y="1306088"/>
                </a:lnTo>
                <a:lnTo>
                  <a:pt x="2796793" y="1258730"/>
                </a:lnTo>
                <a:lnTo>
                  <a:pt x="2791233" y="1211832"/>
                </a:lnTo>
                <a:lnTo>
                  <a:pt x="2784141" y="1165419"/>
                </a:lnTo>
                <a:lnTo>
                  <a:pt x="2775546" y="1119520"/>
                </a:lnTo>
                <a:lnTo>
                  <a:pt x="2765472" y="1074158"/>
                </a:lnTo>
                <a:lnTo>
                  <a:pt x="2753947" y="1029361"/>
                </a:lnTo>
                <a:lnTo>
                  <a:pt x="2740995" y="985154"/>
                </a:lnTo>
                <a:lnTo>
                  <a:pt x="2726644" y="941564"/>
                </a:lnTo>
                <a:lnTo>
                  <a:pt x="2710919" y="898617"/>
                </a:lnTo>
                <a:lnTo>
                  <a:pt x="2693846" y="856339"/>
                </a:lnTo>
                <a:lnTo>
                  <a:pt x="2675452" y="814755"/>
                </a:lnTo>
                <a:lnTo>
                  <a:pt x="2655762" y="773893"/>
                </a:lnTo>
                <a:lnTo>
                  <a:pt x="2634803" y="733778"/>
                </a:lnTo>
                <a:lnTo>
                  <a:pt x="2612601" y="694436"/>
                </a:lnTo>
                <a:lnTo>
                  <a:pt x="2589182" y="655893"/>
                </a:lnTo>
                <a:lnTo>
                  <a:pt x="2564572" y="618176"/>
                </a:lnTo>
                <a:lnTo>
                  <a:pt x="2538797" y="581310"/>
                </a:lnTo>
                <a:lnTo>
                  <a:pt x="2511883" y="545322"/>
                </a:lnTo>
                <a:lnTo>
                  <a:pt x="2483856" y="510238"/>
                </a:lnTo>
                <a:lnTo>
                  <a:pt x="2454743" y="476084"/>
                </a:lnTo>
                <a:lnTo>
                  <a:pt x="2424570" y="442886"/>
                </a:lnTo>
                <a:lnTo>
                  <a:pt x="2393362" y="410670"/>
                </a:lnTo>
                <a:lnTo>
                  <a:pt x="2361146" y="379462"/>
                </a:lnTo>
                <a:lnTo>
                  <a:pt x="2327948" y="349289"/>
                </a:lnTo>
                <a:lnTo>
                  <a:pt x="2293794" y="320176"/>
                </a:lnTo>
                <a:lnTo>
                  <a:pt x="2258710" y="292149"/>
                </a:lnTo>
                <a:lnTo>
                  <a:pt x="2222722" y="265235"/>
                </a:lnTo>
                <a:lnTo>
                  <a:pt x="2185856" y="239460"/>
                </a:lnTo>
                <a:lnTo>
                  <a:pt x="2148139" y="214850"/>
                </a:lnTo>
                <a:lnTo>
                  <a:pt x="2109597" y="191431"/>
                </a:lnTo>
                <a:lnTo>
                  <a:pt x="2070254" y="169229"/>
                </a:lnTo>
                <a:lnTo>
                  <a:pt x="2030139" y="148270"/>
                </a:lnTo>
                <a:lnTo>
                  <a:pt x="1989277" y="128580"/>
                </a:lnTo>
                <a:lnTo>
                  <a:pt x="1947693" y="110186"/>
                </a:lnTo>
                <a:lnTo>
                  <a:pt x="1905415" y="93113"/>
                </a:lnTo>
                <a:lnTo>
                  <a:pt x="1862468" y="77388"/>
                </a:lnTo>
                <a:lnTo>
                  <a:pt x="1818878" y="63037"/>
                </a:lnTo>
                <a:lnTo>
                  <a:pt x="1774671" y="50085"/>
                </a:lnTo>
                <a:lnTo>
                  <a:pt x="1729874" y="38560"/>
                </a:lnTo>
                <a:lnTo>
                  <a:pt x="1684512" y="28486"/>
                </a:lnTo>
                <a:lnTo>
                  <a:pt x="1638613" y="19891"/>
                </a:lnTo>
                <a:lnTo>
                  <a:pt x="1592200" y="12799"/>
                </a:lnTo>
                <a:lnTo>
                  <a:pt x="1545302" y="7239"/>
                </a:lnTo>
                <a:lnTo>
                  <a:pt x="1497944" y="3234"/>
                </a:lnTo>
                <a:lnTo>
                  <a:pt x="1450152" y="813"/>
                </a:lnTo>
                <a:lnTo>
                  <a:pt x="1401952" y="0"/>
                </a:lnTo>
                <a:close/>
              </a:path>
            </a:pathLst>
          </a:custGeom>
          <a:solidFill>
            <a:srgbClr val="2CA1BE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42359" y="1360169"/>
            <a:ext cx="2804160" cy="2804160"/>
          </a:xfrm>
          <a:custGeom>
            <a:avLst/>
            <a:gdLst/>
            <a:ahLst/>
            <a:cxnLst/>
            <a:rect l="l" t="t" r="r" b="b"/>
            <a:pathLst>
              <a:path w="2804159" h="2804160">
                <a:moveTo>
                  <a:pt x="0" y="1402079"/>
                </a:moveTo>
                <a:lnTo>
                  <a:pt x="812" y="1353880"/>
                </a:lnTo>
                <a:lnTo>
                  <a:pt x="3234" y="1306088"/>
                </a:lnTo>
                <a:lnTo>
                  <a:pt x="7237" y="1258730"/>
                </a:lnTo>
                <a:lnTo>
                  <a:pt x="12797" y="1211832"/>
                </a:lnTo>
                <a:lnTo>
                  <a:pt x="19887" y="1165419"/>
                </a:lnTo>
                <a:lnTo>
                  <a:pt x="28480" y="1119520"/>
                </a:lnTo>
                <a:lnTo>
                  <a:pt x="38552" y="1074158"/>
                </a:lnTo>
                <a:lnTo>
                  <a:pt x="50076" y="1029361"/>
                </a:lnTo>
                <a:lnTo>
                  <a:pt x="63025" y="985154"/>
                </a:lnTo>
                <a:lnTo>
                  <a:pt x="77374" y="941564"/>
                </a:lnTo>
                <a:lnTo>
                  <a:pt x="93096" y="898617"/>
                </a:lnTo>
                <a:lnTo>
                  <a:pt x="110166" y="856339"/>
                </a:lnTo>
                <a:lnTo>
                  <a:pt x="128557" y="814755"/>
                </a:lnTo>
                <a:lnTo>
                  <a:pt x="148244" y="773893"/>
                </a:lnTo>
                <a:lnTo>
                  <a:pt x="169199" y="733778"/>
                </a:lnTo>
                <a:lnTo>
                  <a:pt x="191398" y="694436"/>
                </a:lnTo>
                <a:lnTo>
                  <a:pt x="214814" y="655893"/>
                </a:lnTo>
                <a:lnTo>
                  <a:pt x="239420" y="618176"/>
                </a:lnTo>
                <a:lnTo>
                  <a:pt x="265191" y="581310"/>
                </a:lnTo>
                <a:lnTo>
                  <a:pt x="292101" y="545322"/>
                </a:lnTo>
                <a:lnTo>
                  <a:pt x="320124" y="510238"/>
                </a:lnTo>
                <a:lnTo>
                  <a:pt x="349233" y="476084"/>
                </a:lnTo>
                <a:lnTo>
                  <a:pt x="379403" y="442886"/>
                </a:lnTo>
                <a:lnTo>
                  <a:pt x="410606" y="410670"/>
                </a:lnTo>
                <a:lnTo>
                  <a:pt x="442818" y="379462"/>
                </a:lnTo>
                <a:lnTo>
                  <a:pt x="476013" y="349289"/>
                </a:lnTo>
                <a:lnTo>
                  <a:pt x="510163" y="320176"/>
                </a:lnTo>
                <a:lnTo>
                  <a:pt x="545243" y="292149"/>
                </a:lnTo>
                <a:lnTo>
                  <a:pt x="581227" y="265235"/>
                </a:lnTo>
                <a:lnTo>
                  <a:pt x="618089" y="239460"/>
                </a:lnTo>
                <a:lnTo>
                  <a:pt x="655802" y="214850"/>
                </a:lnTo>
                <a:lnTo>
                  <a:pt x="694341" y="191431"/>
                </a:lnTo>
                <a:lnTo>
                  <a:pt x="733680" y="169229"/>
                </a:lnTo>
                <a:lnTo>
                  <a:pt x="773792" y="148270"/>
                </a:lnTo>
                <a:lnTo>
                  <a:pt x="814651" y="128580"/>
                </a:lnTo>
                <a:lnTo>
                  <a:pt x="856232" y="110186"/>
                </a:lnTo>
                <a:lnTo>
                  <a:pt x="898507" y="93113"/>
                </a:lnTo>
                <a:lnTo>
                  <a:pt x="941452" y="77388"/>
                </a:lnTo>
                <a:lnTo>
                  <a:pt x="985039" y="63037"/>
                </a:lnTo>
                <a:lnTo>
                  <a:pt x="1029243" y="50085"/>
                </a:lnTo>
                <a:lnTo>
                  <a:pt x="1074038" y="38560"/>
                </a:lnTo>
                <a:lnTo>
                  <a:pt x="1119398" y="28486"/>
                </a:lnTo>
                <a:lnTo>
                  <a:pt x="1165296" y="19891"/>
                </a:lnTo>
                <a:lnTo>
                  <a:pt x="1211707" y="12799"/>
                </a:lnTo>
                <a:lnTo>
                  <a:pt x="1258604" y="7239"/>
                </a:lnTo>
                <a:lnTo>
                  <a:pt x="1305961" y="3234"/>
                </a:lnTo>
                <a:lnTo>
                  <a:pt x="1353753" y="813"/>
                </a:lnTo>
                <a:lnTo>
                  <a:pt x="1401952" y="0"/>
                </a:lnTo>
                <a:lnTo>
                  <a:pt x="1450152" y="813"/>
                </a:lnTo>
                <a:lnTo>
                  <a:pt x="1497944" y="3234"/>
                </a:lnTo>
                <a:lnTo>
                  <a:pt x="1545302" y="7239"/>
                </a:lnTo>
                <a:lnTo>
                  <a:pt x="1592200" y="12799"/>
                </a:lnTo>
                <a:lnTo>
                  <a:pt x="1638613" y="19891"/>
                </a:lnTo>
                <a:lnTo>
                  <a:pt x="1684512" y="28486"/>
                </a:lnTo>
                <a:lnTo>
                  <a:pt x="1729874" y="38560"/>
                </a:lnTo>
                <a:lnTo>
                  <a:pt x="1774671" y="50085"/>
                </a:lnTo>
                <a:lnTo>
                  <a:pt x="1818878" y="63037"/>
                </a:lnTo>
                <a:lnTo>
                  <a:pt x="1862468" y="77388"/>
                </a:lnTo>
                <a:lnTo>
                  <a:pt x="1905415" y="93113"/>
                </a:lnTo>
                <a:lnTo>
                  <a:pt x="1947693" y="110186"/>
                </a:lnTo>
                <a:lnTo>
                  <a:pt x="1989277" y="128580"/>
                </a:lnTo>
                <a:lnTo>
                  <a:pt x="2030139" y="148270"/>
                </a:lnTo>
                <a:lnTo>
                  <a:pt x="2070254" y="169229"/>
                </a:lnTo>
                <a:lnTo>
                  <a:pt x="2109596" y="191431"/>
                </a:lnTo>
                <a:lnTo>
                  <a:pt x="2148139" y="214850"/>
                </a:lnTo>
                <a:lnTo>
                  <a:pt x="2185856" y="239460"/>
                </a:lnTo>
                <a:lnTo>
                  <a:pt x="2222722" y="265235"/>
                </a:lnTo>
                <a:lnTo>
                  <a:pt x="2258710" y="292149"/>
                </a:lnTo>
                <a:lnTo>
                  <a:pt x="2293794" y="320176"/>
                </a:lnTo>
                <a:lnTo>
                  <a:pt x="2327948" y="349289"/>
                </a:lnTo>
                <a:lnTo>
                  <a:pt x="2361146" y="379462"/>
                </a:lnTo>
                <a:lnTo>
                  <a:pt x="2393362" y="410670"/>
                </a:lnTo>
                <a:lnTo>
                  <a:pt x="2424570" y="442886"/>
                </a:lnTo>
                <a:lnTo>
                  <a:pt x="2454743" y="476084"/>
                </a:lnTo>
                <a:lnTo>
                  <a:pt x="2483856" y="510238"/>
                </a:lnTo>
                <a:lnTo>
                  <a:pt x="2511883" y="545322"/>
                </a:lnTo>
                <a:lnTo>
                  <a:pt x="2538797" y="581310"/>
                </a:lnTo>
                <a:lnTo>
                  <a:pt x="2564572" y="618176"/>
                </a:lnTo>
                <a:lnTo>
                  <a:pt x="2589182" y="655893"/>
                </a:lnTo>
                <a:lnTo>
                  <a:pt x="2612601" y="694435"/>
                </a:lnTo>
                <a:lnTo>
                  <a:pt x="2634803" y="733778"/>
                </a:lnTo>
                <a:lnTo>
                  <a:pt x="2655762" y="773893"/>
                </a:lnTo>
                <a:lnTo>
                  <a:pt x="2675452" y="814755"/>
                </a:lnTo>
                <a:lnTo>
                  <a:pt x="2693846" y="856339"/>
                </a:lnTo>
                <a:lnTo>
                  <a:pt x="2710919" y="898617"/>
                </a:lnTo>
                <a:lnTo>
                  <a:pt x="2726644" y="941564"/>
                </a:lnTo>
                <a:lnTo>
                  <a:pt x="2740995" y="985154"/>
                </a:lnTo>
                <a:lnTo>
                  <a:pt x="2753947" y="1029361"/>
                </a:lnTo>
                <a:lnTo>
                  <a:pt x="2765472" y="1074158"/>
                </a:lnTo>
                <a:lnTo>
                  <a:pt x="2775546" y="1119520"/>
                </a:lnTo>
                <a:lnTo>
                  <a:pt x="2784141" y="1165419"/>
                </a:lnTo>
                <a:lnTo>
                  <a:pt x="2791233" y="1211832"/>
                </a:lnTo>
                <a:lnTo>
                  <a:pt x="2796793" y="1258730"/>
                </a:lnTo>
                <a:lnTo>
                  <a:pt x="2800798" y="1306088"/>
                </a:lnTo>
                <a:lnTo>
                  <a:pt x="2803219" y="1353880"/>
                </a:lnTo>
                <a:lnTo>
                  <a:pt x="2804033" y="1402079"/>
                </a:lnTo>
                <a:lnTo>
                  <a:pt x="2803219" y="1450279"/>
                </a:lnTo>
                <a:lnTo>
                  <a:pt x="2800798" y="1498071"/>
                </a:lnTo>
                <a:lnTo>
                  <a:pt x="2796793" y="1545429"/>
                </a:lnTo>
                <a:lnTo>
                  <a:pt x="2791233" y="1592326"/>
                </a:lnTo>
                <a:lnTo>
                  <a:pt x="2784141" y="1638738"/>
                </a:lnTo>
                <a:lnTo>
                  <a:pt x="2775546" y="1684637"/>
                </a:lnTo>
                <a:lnTo>
                  <a:pt x="2765472" y="1729998"/>
                </a:lnTo>
                <a:lnTo>
                  <a:pt x="2753947" y="1774794"/>
                </a:lnTo>
                <a:lnTo>
                  <a:pt x="2740995" y="1819000"/>
                </a:lnTo>
                <a:lnTo>
                  <a:pt x="2726644" y="1862589"/>
                </a:lnTo>
                <a:lnTo>
                  <a:pt x="2710919" y="1905535"/>
                </a:lnTo>
                <a:lnTo>
                  <a:pt x="2693846" y="1947812"/>
                </a:lnTo>
                <a:lnTo>
                  <a:pt x="2675452" y="1989395"/>
                </a:lnTo>
                <a:lnTo>
                  <a:pt x="2655762" y="2030256"/>
                </a:lnTo>
                <a:lnTo>
                  <a:pt x="2634803" y="2070370"/>
                </a:lnTo>
                <a:lnTo>
                  <a:pt x="2612601" y="2109710"/>
                </a:lnTo>
                <a:lnTo>
                  <a:pt x="2589182" y="2148252"/>
                </a:lnTo>
                <a:lnTo>
                  <a:pt x="2564572" y="2185967"/>
                </a:lnTo>
                <a:lnTo>
                  <a:pt x="2538797" y="2222831"/>
                </a:lnTo>
                <a:lnTo>
                  <a:pt x="2511883" y="2258818"/>
                </a:lnTo>
                <a:lnTo>
                  <a:pt x="2483856" y="2293900"/>
                </a:lnTo>
                <a:lnTo>
                  <a:pt x="2454743" y="2328053"/>
                </a:lnTo>
                <a:lnTo>
                  <a:pt x="2424570" y="2361249"/>
                </a:lnTo>
                <a:lnTo>
                  <a:pt x="2393362" y="2393464"/>
                </a:lnTo>
                <a:lnTo>
                  <a:pt x="2361146" y="2424670"/>
                </a:lnTo>
                <a:lnTo>
                  <a:pt x="2327948" y="2454842"/>
                </a:lnTo>
                <a:lnTo>
                  <a:pt x="2293794" y="2483953"/>
                </a:lnTo>
                <a:lnTo>
                  <a:pt x="2258710" y="2511978"/>
                </a:lnTo>
                <a:lnTo>
                  <a:pt x="2222722" y="2538890"/>
                </a:lnTo>
                <a:lnTo>
                  <a:pt x="2185856" y="2564664"/>
                </a:lnTo>
                <a:lnTo>
                  <a:pt x="2148139" y="2589273"/>
                </a:lnTo>
                <a:lnTo>
                  <a:pt x="2109596" y="2612691"/>
                </a:lnTo>
                <a:lnTo>
                  <a:pt x="2070254" y="2634891"/>
                </a:lnTo>
                <a:lnTo>
                  <a:pt x="2030139" y="2655849"/>
                </a:lnTo>
                <a:lnTo>
                  <a:pt x="1989277" y="2675537"/>
                </a:lnTo>
                <a:lnTo>
                  <a:pt x="1947693" y="2693930"/>
                </a:lnTo>
                <a:lnTo>
                  <a:pt x="1905415" y="2711002"/>
                </a:lnTo>
                <a:lnTo>
                  <a:pt x="1862468" y="2726726"/>
                </a:lnTo>
                <a:lnTo>
                  <a:pt x="1818878" y="2741076"/>
                </a:lnTo>
                <a:lnTo>
                  <a:pt x="1774671" y="2754027"/>
                </a:lnTo>
                <a:lnTo>
                  <a:pt x="1729874" y="2765552"/>
                </a:lnTo>
                <a:lnTo>
                  <a:pt x="1684512" y="2775624"/>
                </a:lnTo>
                <a:lnTo>
                  <a:pt x="1638613" y="2784219"/>
                </a:lnTo>
                <a:lnTo>
                  <a:pt x="1592200" y="2791310"/>
                </a:lnTo>
                <a:lnTo>
                  <a:pt x="1545302" y="2796870"/>
                </a:lnTo>
                <a:lnTo>
                  <a:pt x="1497944" y="2800874"/>
                </a:lnTo>
                <a:lnTo>
                  <a:pt x="1450152" y="2803296"/>
                </a:lnTo>
                <a:lnTo>
                  <a:pt x="1401952" y="2804109"/>
                </a:lnTo>
                <a:lnTo>
                  <a:pt x="1353753" y="2803296"/>
                </a:lnTo>
                <a:lnTo>
                  <a:pt x="1305961" y="2800874"/>
                </a:lnTo>
                <a:lnTo>
                  <a:pt x="1258604" y="2796870"/>
                </a:lnTo>
                <a:lnTo>
                  <a:pt x="1211707" y="2791310"/>
                </a:lnTo>
                <a:lnTo>
                  <a:pt x="1165296" y="2784219"/>
                </a:lnTo>
                <a:lnTo>
                  <a:pt x="1119398" y="2775624"/>
                </a:lnTo>
                <a:lnTo>
                  <a:pt x="1074038" y="2765552"/>
                </a:lnTo>
                <a:lnTo>
                  <a:pt x="1029243" y="2754027"/>
                </a:lnTo>
                <a:lnTo>
                  <a:pt x="985039" y="2741076"/>
                </a:lnTo>
                <a:lnTo>
                  <a:pt x="941452" y="2726726"/>
                </a:lnTo>
                <a:lnTo>
                  <a:pt x="898507" y="2711002"/>
                </a:lnTo>
                <a:lnTo>
                  <a:pt x="856232" y="2693930"/>
                </a:lnTo>
                <a:lnTo>
                  <a:pt x="814651" y="2675537"/>
                </a:lnTo>
                <a:lnTo>
                  <a:pt x="773792" y="2655849"/>
                </a:lnTo>
                <a:lnTo>
                  <a:pt x="733680" y="2634891"/>
                </a:lnTo>
                <a:lnTo>
                  <a:pt x="694341" y="2612691"/>
                </a:lnTo>
                <a:lnTo>
                  <a:pt x="655802" y="2589273"/>
                </a:lnTo>
                <a:lnTo>
                  <a:pt x="618089" y="2564664"/>
                </a:lnTo>
                <a:lnTo>
                  <a:pt x="581227" y="2538890"/>
                </a:lnTo>
                <a:lnTo>
                  <a:pt x="545243" y="2511978"/>
                </a:lnTo>
                <a:lnTo>
                  <a:pt x="510163" y="2483953"/>
                </a:lnTo>
                <a:lnTo>
                  <a:pt x="476013" y="2454842"/>
                </a:lnTo>
                <a:lnTo>
                  <a:pt x="442818" y="2424670"/>
                </a:lnTo>
                <a:lnTo>
                  <a:pt x="410606" y="2393464"/>
                </a:lnTo>
                <a:lnTo>
                  <a:pt x="379403" y="2361249"/>
                </a:lnTo>
                <a:lnTo>
                  <a:pt x="349233" y="2328053"/>
                </a:lnTo>
                <a:lnTo>
                  <a:pt x="320124" y="2293900"/>
                </a:lnTo>
                <a:lnTo>
                  <a:pt x="292101" y="2258818"/>
                </a:lnTo>
                <a:lnTo>
                  <a:pt x="265191" y="2222831"/>
                </a:lnTo>
                <a:lnTo>
                  <a:pt x="239420" y="2185967"/>
                </a:lnTo>
                <a:lnTo>
                  <a:pt x="214814" y="2148252"/>
                </a:lnTo>
                <a:lnTo>
                  <a:pt x="191398" y="2109710"/>
                </a:lnTo>
                <a:lnTo>
                  <a:pt x="169199" y="2070370"/>
                </a:lnTo>
                <a:lnTo>
                  <a:pt x="148244" y="2030256"/>
                </a:lnTo>
                <a:lnTo>
                  <a:pt x="128557" y="1989395"/>
                </a:lnTo>
                <a:lnTo>
                  <a:pt x="110166" y="1947812"/>
                </a:lnTo>
                <a:lnTo>
                  <a:pt x="93096" y="1905535"/>
                </a:lnTo>
                <a:lnTo>
                  <a:pt x="77374" y="1862589"/>
                </a:lnTo>
                <a:lnTo>
                  <a:pt x="63025" y="1819000"/>
                </a:lnTo>
                <a:lnTo>
                  <a:pt x="50076" y="1774794"/>
                </a:lnTo>
                <a:lnTo>
                  <a:pt x="38552" y="1729998"/>
                </a:lnTo>
                <a:lnTo>
                  <a:pt x="28480" y="1684637"/>
                </a:lnTo>
                <a:lnTo>
                  <a:pt x="19887" y="1638738"/>
                </a:lnTo>
                <a:lnTo>
                  <a:pt x="12797" y="1592326"/>
                </a:lnTo>
                <a:lnTo>
                  <a:pt x="7237" y="1545429"/>
                </a:lnTo>
                <a:lnTo>
                  <a:pt x="3234" y="1498071"/>
                </a:lnTo>
                <a:lnTo>
                  <a:pt x="812" y="1450279"/>
                </a:lnTo>
                <a:lnTo>
                  <a:pt x="0" y="1402079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88814" y="1799970"/>
            <a:ext cx="1517650" cy="185991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612140">
              <a:lnSpc>
                <a:spcPts val="1860"/>
              </a:lnSpc>
              <a:spcBef>
                <a:spcPts val="505"/>
              </a:spcBef>
            </a:pPr>
            <a:r>
              <a:rPr sz="1900" spc="-120" dirty="0">
                <a:latin typeface="Arial"/>
                <a:cs typeface="Arial"/>
              </a:rPr>
              <a:t>Program  </a:t>
            </a:r>
            <a:r>
              <a:rPr sz="1900" spc="-80" dirty="0">
                <a:latin typeface="Arial"/>
                <a:cs typeface="Arial"/>
              </a:rPr>
              <a:t>Mana</a:t>
            </a:r>
            <a:r>
              <a:rPr sz="1900" spc="-114" dirty="0">
                <a:latin typeface="Arial"/>
                <a:cs typeface="Arial"/>
              </a:rPr>
              <a:t>g</a:t>
            </a:r>
            <a:r>
              <a:rPr sz="1900" spc="-60" dirty="0">
                <a:latin typeface="Arial"/>
                <a:cs typeface="Arial"/>
              </a:rPr>
              <a:t>er</a:t>
            </a:r>
            <a:endParaRPr sz="1900">
              <a:latin typeface="Arial"/>
              <a:cs typeface="Arial"/>
            </a:endParaRPr>
          </a:p>
          <a:p>
            <a:pPr marL="127000" indent="-114300">
              <a:lnSpc>
                <a:spcPts val="1639"/>
              </a:lnSpc>
              <a:spcBef>
                <a:spcPts val="425"/>
              </a:spcBef>
              <a:buChar char="•"/>
              <a:tabLst>
                <a:tab pos="127000" algn="l"/>
              </a:tabLst>
            </a:pPr>
            <a:r>
              <a:rPr sz="1500" spc="-135" dirty="0">
                <a:latin typeface="Arial"/>
                <a:cs typeface="Arial"/>
              </a:rPr>
              <a:t>Pensamiento</a:t>
            </a:r>
            <a:endParaRPr sz="1500">
              <a:latin typeface="Arial"/>
              <a:cs typeface="Arial"/>
            </a:endParaRPr>
          </a:p>
          <a:p>
            <a:pPr marL="127000">
              <a:lnSpc>
                <a:spcPts val="1590"/>
              </a:lnSpc>
            </a:pPr>
            <a:r>
              <a:rPr sz="1500" spc="-70" dirty="0">
                <a:latin typeface="Arial"/>
                <a:cs typeface="Arial"/>
              </a:rPr>
              <a:t>estrategico</a:t>
            </a:r>
            <a:endParaRPr sz="1500">
              <a:latin typeface="Arial"/>
              <a:cs typeface="Arial"/>
            </a:endParaRPr>
          </a:p>
          <a:p>
            <a:pPr marL="127000" marR="260985" indent="-114300">
              <a:lnSpc>
                <a:spcPts val="1480"/>
              </a:lnSpc>
              <a:spcBef>
                <a:spcPts val="265"/>
              </a:spcBef>
              <a:buChar char="•"/>
              <a:tabLst>
                <a:tab pos="127000" algn="l"/>
              </a:tabLst>
            </a:pPr>
            <a:r>
              <a:rPr sz="1500" spc="-70" dirty="0">
                <a:latin typeface="Arial"/>
                <a:cs typeface="Arial"/>
              </a:rPr>
              <a:t>Sensibilidad  </a:t>
            </a:r>
            <a:r>
              <a:rPr sz="1500" spc="-85" dirty="0">
                <a:latin typeface="Arial"/>
                <a:cs typeface="Arial"/>
              </a:rPr>
              <a:t>o</a:t>
            </a:r>
            <a:r>
              <a:rPr sz="1500" spc="-5" dirty="0">
                <a:latin typeface="Arial"/>
                <a:cs typeface="Arial"/>
              </a:rPr>
              <a:t>r</a:t>
            </a:r>
            <a:r>
              <a:rPr sz="1500" spc="-25" dirty="0">
                <a:latin typeface="Arial"/>
                <a:cs typeface="Arial"/>
              </a:rPr>
              <a:t>g</a:t>
            </a:r>
            <a:r>
              <a:rPr sz="1500" spc="-75" dirty="0">
                <a:latin typeface="Arial"/>
                <a:cs typeface="Arial"/>
              </a:rPr>
              <a:t>anizac</a:t>
            </a:r>
            <a:r>
              <a:rPr sz="1500" spc="-40" dirty="0">
                <a:latin typeface="Arial"/>
                <a:cs typeface="Arial"/>
              </a:rPr>
              <a:t>i</a:t>
            </a:r>
            <a:r>
              <a:rPr sz="1500" spc="-85" dirty="0">
                <a:latin typeface="Arial"/>
                <a:cs typeface="Arial"/>
              </a:rPr>
              <a:t>o</a:t>
            </a:r>
            <a:r>
              <a:rPr sz="1500" spc="-65" dirty="0">
                <a:latin typeface="Arial"/>
                <a:cs typeface="Arial"/>
              </a:rPr>
              <a:t>nal</a:t>
            </a:r>
            <a:endParaRPr sz="1500">
              <a:latin typeface="Arial"/>
              <a:cs typeface="Arial"/>
            </a:endParaRPr>
          </a:p>
          <a:p>
            <a:pPr marL="127000" indent="-114300">
              <a:lnSpc>
                <a:spcPts val="1675"/>
              </a:lnSpc>
              <a:buChar char="•"/>
              <a:tabLst>
                <a:tab pos="127000" algn="l"/>
              </a:tabLst>
            </a:pPr>
            <a:r>
              <a:rPr sz="1500" spc="-55" dirty="0">
                <a:latin typeface="Arial"/>
                <a:cs typeface="Arial"/>
              </a:rPr>
              <a:t>Liderar </a:t>
            </a:r>
            <a:r>
              <a:rPr sz="1500" spc="-45" dirty="0">
                <a:latin typeface="Arial"/>
                <a:cs typeface="Arial"/>
              </a:rPr>
              <a:t>el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90" dirty="0">
                <a:latin typeface="Arial"/>
                <a:cs typeface="Arial"/>
              </a:rPr>
              <a:t>Cambio</a:t>
            </a:r>
            <a:endParaRPr sz="1500">
              <a:latin typeface="Arial"/>
              <a:cs typeface="Arial"/>
            </a:endParaRPr>
          </a:p>
          <a:p>
            <a:pPr marL="127000" indent="-114300">
              <a:lnSpc>
                <a:spcPts val="1760"/>
              </a:lnSpc>
              <a:buChar char="•"/>
              <a:tabLst>
                <a:tab pos="127000" algn="l"/>
              </a:tabLst>
            </a:pPr>
            <a:r>
              <a:rPr sz="1500" spc="-55" dirty="0">
                <a:latin typeface="Arial"/>
                <a:cs typeface="Arial"/>
              </a:rPr>
              <a:t>Liderar </a:t>
            </a:r>
            <a:r>
              <a:rPr sz="1500" spc="-90" dirty="0">
                <a:latin typeface="Arial"/>
                <a:cs typeface="Arial"/>
              </a:rPr>
              <a:t>resultados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4200" y="4204513"/>
            <a:ext cx="3134996" cy="869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4980" algn="ctr">
              <a:lnSpc>
                <a:spcPct val="100000"/>
              </a:lnSpc>
              <a:spcBef>
                <a:spcPts val="100"/>
              </a:spcBef>
            </a:pPr>
            <a:r>
              <a:rPr sz="1800" spc="-150" dirty="0">
                <a:latin typeface="Arial"/>
                <a:cs typeface="Arial"/>
              </a:rPr>
              <a:t>Comunicacion  </a:t>
            </a:r>
            <a:r>
              <a:rPr sz="1800" spc="-50" dirty="0" err="1">
                <a:latin typeface="Arial"/>
                <a:cs typeface="Arial"/>
              </a:rPr>
              <a:t>Integridad</a:t>
            </a:r>
            <a:r>
              <a:rPr sz="1800" spc="-50" dirty="0">
                <a:latin typeface="Arial"/>
                <a:cs typeface="Arial"/>
              </a:rPr>
              <a:t>  </a:t>
            </a:r>
            <a:endParaRPr lang="es-419" sz="1800" spc="-50" dirty="0">
              <a:latin typeface="Arial"/>
              <a:cs typeface="Arial"/>
            </a:endParaRPr>
          </a:p>
          <a:p>
            <a:pPr marL="12700" marR="474980" algn="ctr">
              <a:lnSpc>
                <a:spcPct val="100000"/>
              </a:lnSpc>
              <a:spcBef>
                <a:spcPts val="100"/>
              </a:spcBef>
            </a:pPr>
            <a:r>
              <a:rPr sz="1800" spc="-114" dirty="0" err="1">
                <a:latin typeface="Arial"/>
                <a:cs typeface="Arial"/>
              </a:rPr>
              <a:t>Construir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85" dirty="0" err="1">
                <a:latin typeface="Arial"/>
                <a:cs typeface="Arial"/>
              </a:rPr>
              <a:t>Confianza</a:t>
            </a:r>
            <a:endParaRPr lang="es-419" dirty="0">
              <a:latin typeface="Arial"/>
              <a:cs typeface="Arial"/>
            </a:endParaRPr>
          </a:p>
          <a:p>
            <a:pPr marL="12700" marR="474980" algn="ctr">
              <a:lnSpc>
                <a:spcPct val="100000"/>
              </a:lnSpc>
              <a:spcBef>
                <a:spcPts val="100"/>
              </a:spcBef>
            </a:pPr>
            <a:r>
              <a:rPr sz="1800" spc="-80" dirty="0" err="1">
                <a:latin typeface="Arial"/>
                <a:cs typeface="Arial"/>
              </a:rPr>
              <a:t>Orientacion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50" dirty="0" err="1">
                <a:latin typeface="Arial"/>
                <a:cs typeface="Arial"/>
              </a:rPr>
              <a:t>Resultados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44340" y="3247644"/>
            <a:ext cx="502920" cy="1274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88868" y="3257550"/>
            <a:ext cx="213995" cy="686435"/>
          </a:xfrm>
          <a:custGeom>
            <a:avLst/>
            <a:gdLst/>
            <a:ahLst/>
            <a:cxnLst/>
            <a:rect l="l" t="t" r="r" b="b"/>
            <a:pathLst>
              <a:path w="213995" h="686435">
                <a:moveTo>
                  <a:pt x="20548" y="472187"/>
                </a:moveTo>
                <a:lnTo>
                  <a:pt x="11555" y="475234"/>
                </a:lnTo>
                <a:lnTo>
                  <a:pt x="4528" y="481510"/>
                </a:lnTo>
                <a:lnTo>
                  <a:pt x="585" y="489727"/>
                </a:lnTo>
                <a:lnTo>
                  <a:pt x="0" y="498826"/>
                </a:lnTo>
                <a:lnTo>
                  <a:pt x="3046" y="507746"/>
                </a:lnTo>
                <a:lnTo>
                  <a:pt x="106932" y="685914"/>
                </a:lnTo>
                <a:lnTo>
                  <a:pt x="134493" y="638644"/>
                </a:lnTo>
                <a:lnTo>
                  <a:pt x="83056" y="638644"/>
                </a:lnTo>
                <a:lnTo>
                  <a:pt x="83056" y="550406"/>
                </a:lnTo>
                <a:lnTo>
                  <a:pt x="44194" y="483743"/>
                </a:lnTo>
                <a:lnTo>
                  <a:pt x="37915" y="476716"/>
                </a:lnTo>
                <a:lnTo>
                  <a:pt x="29684" y="472773"/>
                </a:lnTo>
                <a:lnTo>
                  <a:pt x="20548" y="472187"/>
                </a:lnTo>
                <a:close/>
              </a:path>
              <a:path w="213995" h="686435">
                <a:moveTo>
                  <a:pt x="83056" y="550406"/>
                </a:moveTo>
                <a:lnTo>
                  <a:pt x="83056" y="638644"/>
                </a:lnTo>
                <a:lnTo>
                  <a:pt x="98931" y="638644"/>
                </a:lnTo>
                <a:lnTo>
                  <a:pt x="98931" y="626656"/>
                </a:lnTo>
                <a:lnTo>
                  <a:pt x="86358" y="626656"/>
                </a:lnTo>
                <a:lnTo>
                  <a:pt x="98931" y="605088"/>
                </a:lnTo>
                <a:lnTo>
                  <a:pt x="98931" y="577638"/>
                </a:lnTo>
                <a:lnTo>
                  <a:pt x="83056" y="550406"/>
                </a:lnTo>
                <a:close/>
              </a:path>
              <a:path w="213995" h="686435">
                <a:moveTo>
                  <a:pt x="106932" y="591363"/>
                </a:moveTo>
                <a:lnTo>
                  <a:pt x="99058" y="604870"/>
                </a:lnTo>
                <a:lnTo>
                  <a:pt x="98931" y="638644"/>
                </a:lnTo>
                <a:lnTo>
                  <a:pt x="114806" y="638644"/>
                </a:lnTo>
                <a:lnTo>
                  <a:pt x="114806" y="604870"/>
                </a:lnTo>
                <a:lnTo>
                  <a:pt x="106932" y="591363"/>
                </a:lnTo>
                <a:close/>
              </a:path>
              <a:path w="213995" h="686435">
                <a:moveTo>
                  <a:pt x="114806" y="604870"/>
                </a:moveTo>
                <a:lnTo>
                  <a:pt x="114806" y="638644"/>
                </a:lnTo>
                <a:lnTo>
                  <a:pt x="130681" y="638644"/>
                </a:lnTo>
                <a:lnTo>
                  <a:pt x="130681" y="626656"/>
                </a:lnTo>
                <a:lnTo>
                  <a:pt x="127506" y="626656"/>
                </a:lnTo>
                <a:lnTo>
                  <a:pt x="114806" y="604870"/>
                </a:lnTo>
                <a:close/>
              </a:path>
              <a:path w="213995" h="686435">
                <a:moveTo>
                  <a:pt x="193315" y="472187"/>
                </a:moveTo>
                <a:lnTo>
                  <a:pt x="130808" y="550406"/>
                </a:lnTo>
                <a:lnTo>
                  <a:pt x="130681" y="638644"/>
                </a:lnTo>
                <a:lnTo>
                  <a:pt x="134493" y="638644"/>
                </a:lnTo>
                <a:lnTo>
                  <a:pt x="210818" y="507746"/>
                </a:lnTo>
                <a:lnTo>
                  <a:pt x="213864" y="498826"/>
                </a:lnTo>
                <a:lnTo>
                  <a:pt x="213278" y="489727"/>
                </a:lnTo>
                <a:lnTo>
                  <a:pt x="209335" y="481510"/>
                </a:lnTo>
                <a:lnTo>
                  <a:pt x="202309" y="475234"/>
                </a:lnTo>
                <a:lnTo>
                  <a:pt x="193315" y="472187"/>
                </a:lnTo>
                <a:close/>
              </a:path>
              <a:path w="213995" h="686435">
                <a:moveTo>
                  <a:pt x="98931" y="605088"/>
                </a:moveTo>
                <a:lnTo>
                  <a:pt x="86358" y="626656"/>
                </a:lnTo>
                <a:lnTo>
                  <a:pt x="98931" y="626656"/>
                </a:lnTo>
                <a:lnTo>
                  <a:pt x="98931" y="605088"/>
                </a:lnTo>
                <a:close/>
              </a:path>
              <a:path w="213995" h="686435">
                <a:moveTo>
                  <a:pt x="130681" y="550624"/>
                </a:moveTo>
                <a:lnTo>
                  <a:pt x="114933" y="577638"/>
                </a:lnTo>
                <a:lnTo>
                  <a:pt x="114933" y="605088"/>
                </a:lnTo>
                <a:lnTo>
                  <a:pt x="127506" y="626656"/>
                </a:lnTo>
                <a:lnTo>
                  <a:pt x="130681" y="626656"/>
                </a:lnTo>
                <a:lnTo>
                  <a:pt x="130681" y="550624"/>
                </a:lnTo>
                <a:close/>
              </a:path>
              <a:path w="213995" h="686435">
                <a:moveTo>
                  <a:pt x="98931" y="577638"/>
                </a:moveTo>
                <a:lnTo>
                  <a:pt x="98931" y="605088"/>
                </a:lnTo>
                <a:lnTo>
                  <a:pt x="106932" y="591363"/>
                </a:lnTo>
                <a:lnTo>
                  <a:pt x="98931" y="577638"/>
                </a:lnTo>
                <a:close/>
              </a:path>
              <a:path w="213995" h="686435">
                <a:moveTo>
                  <a:pt x="114806" y="577856"/>
                </a:moveTo>
                <a:lnTo>
                  <a:pt x="106932" y="591363"/>
                </a:lnTo>
                <a:lnTo>
                  <a:pt x="114806" y="604870"/>
                </a:lnTo>
                <a:lnTo>
                  <a:pt x="114806" y="577856"/>
                </a:lnTo>
                <a:close/>
              </a:path>
              <a:path w="213995" h="686435">
                <a:moveTo>
                  <a:pt x="130681" y="0"/>
                </a:moveTo>
                <a:lnTo>
                  <a:pt x="114806" y="0"/>
                </a:lnTo>
                <a:lnTo>
                  <a:pt x="114806" y="577856"/>
                </a:lnTo>
                <a:lnTo>
                  <a:pt x="130681" y="550624"/>
                </a:lnTo>
                <a:lnTo>
                  <a:pt x="130681" y="0"/>
                </a:lnTo>
                <a:close/>
              </a:path>
              <a:path w="213995" h="686435">
                <a:moveTo>
                  <a:pt x="98931" y="0"/>
                </a:moveTo>
                <a:lnTo>
                  <a:pt x="83056" y="0"/>
                </a:lnTo>
                <a:lnTo>
                  <a:pt x="83183" y="550624"/>
                </a:lnTo>
                <a:lnTo>
                  <a:pt x="98931" y="577638"/>
                </a:lnTo>
                <a:lnTo>
                  <a:pt x="98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95096"/>
            <a:ext cx="56819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i="0" spc="-120" dirty="0">
                <a:latin typeface="Arial"/>
                <a:cs typeface="Arial"/>
              </a:rPr>
              <a:t>Oficina </a:t>
            </a:r>
            <a:r>
              <a:rPr sz="4200" b="0" i="0" spc="-130" dirty="0">
                <a:latin typeface="Arial"/>
                <a:cs typeface="Arial"/>
              </a:rPr>
              <a:t>de </a:t>
            </a:r>
            <a:r>
              <a:rPr sz="4200" b="0" i="0" spc="-320" dirty="0">
                <a:latin typeface="Arial"/>
                <a:cs typeface="Arial"/>
              </a:rPr>
              <a:t>Proyectos</a:t>
            </a:r>
            <a:r>
              <a:rPr sz="4200" b="0" i="0" spc="160" dirty="0">
                <a:latin typeface="Arial"/>
                <a:cs typeface="Arial"/>
              </a:rPr>
              <a:t> </a:t>
            </a:r>
            <a:r>
              <a:rPr sz="4200" b="0" i="0" spc="-335" dirty="0">
                <a:latin typeface="Arial"/>
                <a:cs typeface="Arial"/>
              </a:rPr>
              <a:t>PMO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000" y="1403350"/>
            <a:ext cx="2108200" cy="31750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528320" marR="161925">
              <a:lnSpc>
                <a:spcPct val="80000"/>
              </a:lnSpc>
              <a:spcBef>
                <a:spcPts val="5"/>
              </a:spcBef>
            </a:pP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Es </a:t>
            </a:r>
            <a:r>
              <a:rPr sz="1300" spc="-75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organización  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responsable 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por </a:t>
            </a:r>
            <a:r>
              <a:rPr sz="1300" spc="-75" dirty="0">
                <a:solidFill>
                  <a:srgbClr val="FFFFFF"/>
                </a:solidFill>
                <a:latin typeface="Trebuchet MS"/>
                <a:cs typeface="Trebuchet MS"/>
              </a:rPr>
              <a:t>la  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gestión 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integrada</a:t>
            </a:r>
            <a:r>
              <a:rPr sz="13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70" dirty="0">
                <a:solidFill>
                  <a:srgbClr val="FFFFFF"/>
                </a:solidFill>
                <a:latin typeface="Trebuchet MS"/>
                <a:cs typeface="Trebuchet MS"/>
              </a:rPr>
              <a:t>del  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portafolio 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de  proyectos 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a partir 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de  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metodologías</a:t>
            </a:r>
            <a:endParaRPr sz="1300">
              <a:latin typeface="Trebuchet MS"/>
              <a:cs typeface="Trebuchet MS"/>
            </a:endParaRPr>
          </a:p>
          <a:p>
            <a:pPr marL="528320" marR="197485">
              <a:lnSpc>
                <a:spcPct val="80000"/>
              </a:lnSpc>
              <a:spcBef>
                <a:spcPts val="600"/>
              </a:spcBef>
            </a:pP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Es 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responsable 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por  </a:t>
            </a:r>
            <a:r>
              <a:rPr sz="1300" spc="-80" dirty="0">
                <a:solidFill>
                  <a:srgbClr val="FFFFFF"/>
                </a:solidFill>
                <a:latin typeface="Trebuchet MS"/>
                <a:cs typeface="Trebuchet MS"/>
              </a:rPr>
              <a:t>el </a:t>
            </a:r>
            <a:r>
              <a:rPr sz="1300" spc="-55" dirty="0">
                <a:solidFill>
                  <a:srgbClr val="FFFFFF"/>
                </a:solidFill>
                <a:latin typeface="Trebuchet MS"/>
                <a:cs typeface="Trebuchet MS"/>
              </a:rPr>
              <a:t>desarrollo 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1300" spc="-75" dirty="0">
                <a:solidFill>
                  <a:srgbClr val="FFFFFF"/>
                </a:solidFill>
                <a:latin typeface="Trebuchet MS"/>
                <a:cs typeface="Trebuchet MS"/>
              </a:rPr>
              <a:t>la  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cultura 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3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proyectos  </a:t>
            </a:r>
            <a:r>
              <a:rPr sz="1300" spc="-5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1300" spc="-55" dirty="0">
                <a:solidFill>
                  <a:srgbClr val="FFFFFF"/>
                </a:solidFill>
                <a:latin typeface="Trebuchet MS"/>
                <a:cs typeface="Trebuchet MS"/>
              </a:rPr>
              <a:t>las  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competencias  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necesarias 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para </a:t>
            </a:r>
            <a:r>
              <a:rPr sz="1300" spc="-75" dirty="0">
                <a:solidFill>
                  <a:srgbClr val="FFFFFF"/>
                </a:solidFill>
                <a:latin typeface="Trebuchet MS"/>
                <a:cs typeface="Trebuchet MS"/>
              </a:rPr>
              <a:t>la  </a:t>
            </a:r>
            <a:r>
              <a:rPr sz="1300" spc="-70" dirty="0">
                <a:solidFill>
                  <a:srgbClr val="FFFFFF"/>
                </a:solidFill>
                <a:latin typeface="Trebuchet MS"/>
                <a:cs typeface="Trebuchet MS"/>
              </a:rPr>
              <a:t>ejecución  </a:t>
            </a:r>
            <a:r>
              <a:rPr sz="1300" spc="-55" dirty="0">
                <a:solidFill>
                  <a:srgbClr val="FFFFFF"/>
                </a:solidFill>
                <a:latin typeface="Trebuchet MS"/>
                <a:cs typeface="Trebuchet MS"/>
              </a:rPr>
              <a:t>profesional 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1300" spc="-40" dirty="0">
                <a:solidFill>
                  <a:srgbClr val="FFFFFF"/>
                </a:solidFill>
                <a:latin typeface="Trebuchet MS"/>
                <a:cs typeface="Trebuchet MS"/>
              </a:rPr>
              <a:t>los  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proyectos </a:t>
            </a:r>
            <a:r>
              <a:rPr sz="1300" spc="-50" dirty="0">
                <a:solidFill>
                  <a:srgbClr val="FFFFFF"/>
                </a:solidFill>
                <a:latin typeface="Trebuchet MS"/>
                <a:cs typeface="Trebuchet MS"/>
              </a:rPr>
              <a:t>en </a:t>
            </a:r>
            <a:r>
              <a:rPr sz="1300" spc="-75" dirty="0">
                <a:solidFill>
                  <a:srgbClr val="FFFFFF"/>
                </a:solidFill>
                <a:latin typeface="Trebuchet MS"/>
                <a:cs typeface="Trebuchet MS"/>
              </a:rPr>
              <a:t>la  </a:t>
            </a:r>
            <a:r>
              <a:rPr sz="1300" spc="-60" dirty="0">
                <a:solidFill>
                  <a:srgbClr val="FFFFFF"/>
                </a:solidFill>
                <a:latin typeface="Trebuchet MS"/>
                <a:cs typeface="Trebuchet MS"/>
              </a:rPr>
              <a:t>Organizaciòn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4600" y="1733550"/>
            <a:ext cx="6197600" cy="276098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31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125" dirty="0">
                <a:latin typeface="Arial"/>
                <a:cs typeface="Arial"/>
              </a:rPr>
              <a:t>Normalmente </a:t>
            </a:r>
            <a:r>
              <a:rPr sz="2000" spc="-120" dirty="0">
                <a:latin typeface="Arial"/>
                <a:cs typeface="Arial"/>
              </a:rPr>
              <a:t>Implementado </a:t>
            </a:r>
            <a:r>
              <a:rPr sz="2000" spc="-195" dirty="0">
                <a:latin typeface="Arial"/>
                <a:cs typeface="Arial"/>
              </a:rPr>
              <a:t>como </a:t>
            </a:r>
            <a:r>
              <a:rPr sz="2000" spc="-235" dirty="0">
                <a:latin typeface="Arial"/>
                <a:cs typeface="Arial"/>
              </a:rPr>
              <a:t>un </a:t>
            </a:r>
            <a:r>
              <a:rPr sz="2000" spc="-30" dirty="0">
                <a:latin typeface="Arial"/>
                <a:cs typeface="Arial"/>
              </a:rPr>
              <a:t>area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centralizadora</a:t>
            </a:r>
            <a:endParaRPr sz="2000" dirty="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21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140" dirty="0">
                <a:latin typeface="Arial"/>
                <a:cs typeface="Arial"/>
              </a:rPr>
              <a:t>Incluye:</a:t>
            </a:r>
            <a:endParaRPr sz="2000" dirty="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180"/>
              </a:spcBef>
              <a:buClr>
                <a:srgbClr val="2CA1BE"/>
              </a:buClr>
              <a:buSzPct val="69444"/>
              <a:buChar char=""/>
              <a:tabLst>
                <a:tab pos="652780" algn="l"/>
                <a:tab pos="653415" algn="l"/>
              </a:tabLst>
            </a:pPr>
            <a:r>
              <a:rPr sz="1800" spc="-135" dirty="0">
                <a:latin typeface="Arial"/>
                <a:cs typeface="Arial"/>
              </a:rPr>
              <a:t>Conocimiento</a:t>
            </a:r>
            <a:endParaRPr sz="1800" dirty="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165"/>
              </a:spcBef>
              <a:buClr>
                <a:srgbClr val="2CA1BE"/>
              </a:buClr>
              <a:buSzPct val="69444"/>
              <a:buChar char=""/>
              <a:tabLst>
                <a:tab pos="652780" algn="l"/>
                <a:tab pos="653415" algn="l"/>
              </a:tabLst>
            </a:pPr>
            <a:r>
              <a:rPr sz="1800" spc="-185" dirty="0">
                <a:latin typeface="Arial"/>
                <a:cs typeface="Arial"/>
              </a:rPr>
              <a:t>Procesos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140" dirty="0">
                <a:latin typeface="Arial"/>
                <a:cs typeface="Arial"/>
              </a:rPr>
              <a:t> </a:t>
            </a:r>
            <a:r>
              <a:rPr sz="1800" spc="-130" dirty="0">
                <a:latin typeface="Arial"/>
                <a:cs typeface="Arial"/>
              </a:rPr>
              <a:t>Procedimientos</a:t>
            </a:r>
            <a:endParaRPr sz="1800" dirty="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69444"/>
              <a:buChar char=""/>
              <a:tabLst>
                <a:tab pos="652780" algn="l"/>
                <a:tab pos="653415" algn="l"/>
              </a:tabLst>
            </a:pPr>
            <a:r>
              <a:rPr sz="1800" spc="-130" dirty="0">
                <a:latin typeface="Arial"/>
                <a:cs typeface="Arial"/>
              </a:rPr>
              <a:t>Entrenamiento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Certificacion</a:t>
            </a:r>
            <a:endParaRPr sz="1800" dirty="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165"/>
              </a:spcBef>
              <a:buClr>
                <a:srgbClr val="2CA1BE"/>
              </a:buClr>
              <a:buSzPct val="69444"/>
              <a:buChar char=""/>
              <a:tabLst>
                <a:tab pos="652780" algn="l"/>
                <a:tab pos="653415" algn="l"/>
              </a:tabLst>
            </a:pPr>
            <a:r>
              <a:rPr sz="1800" spc="-145" dirty="0">
                <a:latin typeface="Arial"/>
                <a:cs typeface="Arial"/>
              </a:rPr>
              <a:t>Templates</a:t>
            </a:r>
            <a:endParaRPr sz="1800" dirty="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69444"/>
              <a:buChar char=""/>
              <a:tabLst>
                <a:tab pos="652780" algn="l"/>
                <a:tab pos="653415" algn="l"/>
              </a:tabLst>
            </a:pPr>
            <a:r>
              <a:rPr sz="1800" spc="-125" dirty="0">
                <a:latin typeface="Arial"/>
                <a:cs typeface="Arial"/>
              </a:rPr>
              <a:t>Skills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250" dirty="0">
                <a:latin typeface="Arial"/>
                <a:cs typeface="Arial"/>
              </a:rPr>
              <a:t> </a:t>
            </a:r>
            <a:r>
              <a:rPr sz="1800" spc="-210" dirty="0">
                <a:latin typeface="Arial"/>
                <a:cs typeface="Arial"/>
              </a:rPr>
              <a:t>Recursos</a:t>
            </a:r>
            <a:endParaRPr sz="1800" dirty="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69444"/>
              <a:buChar char=""/>
              <a:tabLst>
                <a:tab pos="652780" algn="l"/>
                <a:tab pos="653415" algn="l"/>
              </a:tabLst>
            </a:pPr>
            <a:r>
              <a:rPr sz="1800" spc="-110" dirty="0">
                <a:latin typeface="Arial"/>
                <a:cs typeface="Arial"/>
              </a:rPr>
              <a:t>Administracion </a:t>
            </a:r>
            <a:r>
              <a:rPr sz="1800" spc="-40" dirty="0">
                <a:latin typeface="Arial"/>
                <a:cs typeface="Arial"/>
              </a:rPr>
              <a:t>del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portafio</a:t>
            </a:r>
            <a:endParaRPr sz="1800" dirty="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170"/>
              </a:spcBef>
              <a:buClr>
                <a:srgbClr val="2CA1BE"/>
              </a:buClr>
              <a:buSzPct val="69444"/>
              <a:buChar char=""/>
              <a:tabLst>
                <a:tab pos="652780" algn="l"/>
                <a:tab pos="653415" algn="l"/>
              </a:tabLst>
            </a:pPr>
            <a:r>
              <a:rPr sz="1800" spc="-110" dirty="0">
                <a:latin typeface="Arial"/>
                <a:cs typeface="Arial"/>
              </a:rPr>
              <a:t>Gestion Financiera </a:t>
            </a:r>
            <a:r>
              <a:rPr sz="1800" spc="-55" dirty="0">
                <a:latin typeface="Arial"/>
                <a:cs typeface="Arial"/>
              </a:rPr>
              <a:t>de </a:t>
            </a:r>
            <a:r>
              <a:rPr sz="1800" spc="-140" dirty="0">
                <a:latin typeface="Arial"/>
                <a:cs typeface="Arial"/>
              </a:rPr>
              <a:t>los </a:t>
            </a:r>
            <a:r>
              <a:rPr sz="1800" spc="-105" dirty="0">
                <a:latin typeface="Arial"/>
                <a:cs typeface="Arial"/>
              </a:rPr>
              <a:t>proyectos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285750"/>
            <a:ext cx="254000" cy="507365"/>
          </a:xfrm>
          <a:custGeom>
            <a:avLst/>
            <a:gdLst/>
            <a:ahLst/>
            <a:cxnLst/>
            <a:rect l="l" t="t" r="r" b="b"/>
            <a:pathLst>
              <a:path w="254000" h="507365">
                <a:moveTo>
                  <a:pt x="253606" y="0"/>
                </a:moveTo>
                <a:lnTo>
                  <a:pt x="208018" y="4085"/>
                </a:lnTo>
                <a:lnTo>
                  <a:pt x="165112" y="15865"/>
                </a:lnTo>
                <a:lnTo>
                  <a:pt x="125603" y="34623"/>
                </a:lnTo>
                <a:lnTo>
                  <a:pt x="90208" y="59644"/>
                </a:lnTo>
                <a:lnTo>
                  <a:pt x="59643" y="90210"/>
                </a:lnTo>
                <a:lnTo>
                  <a:pt x="34623" y="125607"/>
                </a:lnTo>
                <a:lnTo>
                  <a:pt x="15865" y="165118"/>
                </a:lnTo>
                <a:lnTo>
                  <a:pt x="4085" y="208027"/>
                </a:lnTo>
                <a:lnTo>
                  <a:pt x="0" y="253619"/>
                </a:lnTo>
                <a:lnTo>
                  <a:pt x="4085" y="299210"/>
                </a:lnTo>
                <a:lnTo>
                  <a:pt x="15865" y="342119"/>
                </a:lnTo>
                <a:lnTo>
                  <a:pt x="34623" y="381630"/>
                </a:lnTo>
                <a:lnTo>
                  <a:pt x="59643" y="417027"/>
                </a:lnTo>
                <a:lnTo>
                  <a:pt x="90208" y="447593"/>
                </a:lnTo>
                <a:lnTo>
                  <a:pt x="125603" y="472614"/>
                </a:lnTo>
                <a:lnTo>
                  <a:pt x="165112" y="491372"/>
                </a:lnTo>
                <a:lnTo>
                  <a:pt x="208018" y="503152"/>
                </a:lnTo>
                <a:lnTo>
                  <a:pt x="253606" y="507238"/>
                </a:lnTo>
                <a:lnTo>
                  <a:pt x="253606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4606" y="285788"/>
            <a:ext cx="7976234" cy="507365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26669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209"/>
              </a:spcBef>
            </a:pPr>
            <a:r>
              <a:rPr sz="2400" i="0" spc="-240" dirty="0">
                <a:solidFill>
                  <a:srgbClr val="000000"/>
                </a:solidFill>
                <a:latin typeface="Arial"/>
                <a:cs typeface="Arial"/>
              </a:rPr>
              <a:t>Conceptos </a:t>
            </a:r>
            <a:r>
              <a:rPr sz="2400" i="0" spc="-200" dirty="0">
                <a:solidFill>
                  <a:srgbClr val="000000"/>
                </a:solidFill>
                <a:latin typeface="Arial"/>
                <a:cs typeface="Arial"/>
              </a:rPr>
              <a:t>Claves:Factores </a:t>
            </a:r>
            <a:r>
              <a:rPr sz="2400" i="0" spc="-145" dirty="0">
                <a:solidFill>
                  <a:srgbClr val="000000"/>
                </a:solidFill>
                <a:latin typeface="Arial"/>
                <a:cs typeface="Arial"/>
              </a:rPr>
              <a:t>Organizacionales </a:t>
            </a:r>
            <a:r>
              <a:rPr sz="2400" i="0" spc="-190" dirty="0">
                <a:solidFill>
                  <a:srgbClr val="000000"/>
                </a:solidFill>
                <a:latin typeface="Arial"/>
                <a:cs typeface="Arial"/>
              </a:rPr>
              <a:t>de </a:t>
            </a:r>
            <a:r>
              <a:rPr sz="2400" i="0" spc="-60" dirty="0">
                <a:solidFill>
                  <a:srgbClr val="000000"/>
                </a:solidFill>
                <a:latin typeface="Arial"/>
                <a:cs typeface="Arial"/>
              </a:rPr>
              <a:t>la</a:t>
            </a:r>
            <a:r>
              <a:rPr sz="2400" i="0" spc="-25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i="0" spc="-190" dirty="0">
                <a:solidFill>
                  <a:srgbClr val="000000"/>
                </a:solidFill>
                <a:latin typeface="Arial"/>
                <a:cs typeface="Arial"/>
              </a:rPr>
              <a:t>empresa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1276248"/>
            <a:ext cx="5881370" cy="372110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244"/>
              </a:spcBef>
              <a:buClr>
                <a:srgbClr val="2CA1BE"/>
              </a:buClr>
              <a:buSzPct val="68421"/>
              <a:buChar char="–"/>
              <a:tabLst>
                <a:tab pos="286385" algn="l"/>
                <a:tab pos="287020" algn="l"/>
              </a:tabLst>
            </a:pPr>
            <a:r>
              <a:rPr sz="1900" spc="-110" dirty="0">
                <a:latin typeface="Arial"/>
                <a:cs typeface="Arial"/>
              </a:rPr>
              <a:t>Cultura </a:t>
            </a:r>
            <a:r>
              <a:rPr sz="1900" spc="-85" dirty="0">
                <a:latin typeface="Arial"/>
                <a:cs typeface="Arial"/>
              </a:rPr>
              <a:t>organizacional, </a:t>
            </a:r>
            <a:r>
              <a:rPr sz="1900" spc="-114" dirty="0">
                <a:latin typeface="Arial"/>
                <a:cs typeface="Arial"/>
              </a:rPr>
              <a:t>estructura </a:t>
            </a:r>
            <a:r>
              <a:rPr sz="1900" spc="-5" dirty="0">
                <a:latin typeface="Arial"/>
                <a:cs typeface="Arial"/>
              </a:rPr>
              <a:t>y</a:t>
            </a:r>
            <a:r>
              <a:rPr sz="1900" spc="370" dirty="0">
                <a:latin typeface="Arial"/>
                <a:cs typeface="Arial"/>
              </a:rPr>
              <a:t> </a:t>
            </a:r>
            <a:r>
              <a:rPr sz="1900" spc="-155" dirty="0">
                <a:latin typeface="Arial"/>
                <a:cs typeface="Arial"/>
              </a:rPr>
              <a:t>procesos</a:t>
            </a:r>
            <a:endParaRPr sz="19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40"/>
              </a:spcBef>
              <a:buClr>
                <a:srgbClr val="2CA1BE"/>
              </a:buClr>
              <a:buSzPct val="68421"/>
              <a:buChar char="–"/>
              <a:tabLst>
                <a:tab pos="286385" algn="l"/>
                <a:tab pos="287020" algn="l"/>
              </a:tabLst>
            </a:pPr>
            <a:r>
              <a:rPr sz="1900" spc="-150" dirty="0">
                <a:latin typeface="Arial"/>
                <a:cs typeface="Arial"/>
              </a:rPr>
              <a:t>Estandares </a:t>
            </a:r>
            <a:r>
              <a:rPr sz="1900" spc="-85" dirty="0">
                <a:latin typeface="Arial"/>
                <a:cs typeface="Arial"/>
              </a:rPr>
              <a:t>Adoptados </a:t>
            </a:r>
            <a:r>
              <a:rPr sz="1900" spc="-45" dirty="0">
                <a:latin typeface="Arial"/>
                <a:cs typeface="Arial"/>
              </a:rPr>
              <a:t>por </a:t>
            </a:r>
            <a:r>
              <a:rPr sz="1900" spc="-70" dirty="0">
                <a:latin typeface="Arial"/>
                <a:cs typeface="Arial"/>
              </a:rPr>
              <a:t>Gobierno </a:t>
            </a:r>
            <a:r>
              <a:rPr sz="1900" spc="-5" dirty="0">
                <a:latin typeface="Arial"/>
                <a:cs typeface="Arial"/>
              </a:rPr>
              <a:t>y</a:t>
            </a:r>
            <a:r>
              <a:rPr sz="1900" spc="70" dirty="0">
                <a:latin typeface="Arial"/>
                <a:cs typeface="Arial"/>
              </a:rPr>
              <a:t> </a:t>
            </a:r>
            <a:r>
              <a:rPr sz="1900" spc="-110" dirty="0">
                <a:latin typeface="Arial"/>
                <a:cs typeface="Arial"/>
              </a:rPr>
              <a:t>Industria</a:t>
            </a:r>
            <a:endParaRPr sz="19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45"/>
              </a:spcBef>
              <a:buClr>
                <a:srgbClr val="2CA1BE"/>
              </a:buClr>
              <a:buSzPct val="68421"/>
              <a:buChar char="–"/>
              <a:tabLst>
                <a:tab pos="286385" algn="l"/>
                <a:tab pos="287020" algn="l"/>
              </a:tabLst>
            </a:pPr>
            <a:r>
              <a:rPr sz="1900" spc="-125" dirty="0">
                <a:latin typeface="Arial"/>
                <a:cs typeface="Arial"/>
              </a:rPr>
              <a:t>Tolerancia </a:t>
            </a:r>
            <a:r>
              <a:rPr sz="1900" spc="-10" dirty="0">
                <a:latin typeface="Arial"/>
                <a:cs typeface="Arial"/>
              </a:rPr>
              <a:t>al </a:t>
            </a:r>
            <a:r>
              <a:rPr sz="1900" spc="-165" dirty="0">
                <a:latin typeface="Arial"/>
                <a:cs typeface="Arial"/>
              </a:rPr>
              <a:t>Riesgo </a:t>
            </a:r>
            <a:r>
              <a:rPr sz="1900" spc="-60" dirty="0">
                <a:latin typeface="Arial"/>
                <a:cs typeface="Arial"/>
              </a:rPr>
              <a:t>de </a:t>
            </a:r>
            <a:r>
              <a:rPr sz="1900" spc="-145" dirty="0">
                <a:latin typeface="Arial"/>
                <a:cs typeface="Arial"/>
              </a:rPr>
              <a:t>los </a:t>
            </a:r>
            <a:r>
              <a:rPr sz="1900" spc="-125" dirty="0">
                <a:latin typeface="Arial"/>
                <a:cs typeface="Arial"/>
              </a:rPr>
              <a:t>Interesados</a:t>
            </a:r>
            <a:r>
              <a:rPr sz="1900" spc="200" dirty="0">
                <a:latin typeface="Arial"/>
                <a:cs typeface="Arial"/>
              </a:rPr>
              <a:t> </a:t>
            </a:r>
            <a:r>
              <a:rPr sz="1900" spc="-120" dirty="0">
                <a:latin typeface="Arial"/>
                <a:cs typeface="Arial"/>
              </a:rPr>
              <a:t>(Stakeholders)</a:t>
            </a:r>
            <a:endParaRPr sz="19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50"/>
              </a:spcBef>
              <a:buClr>
                <a:srgbClr val="2CA1BE"/>
              </a:buClr>
              <a:buSzPct val="68421"/>
              <a:buChar char="–"/>
              <a:tabLst>
                <a:tab pos="286385" algn="l"/>
                <a:tab pos="287020" algn="l"/>
              </a:tabLst>
            </a:pPr>
            <a:r>
              <a:rPr sz="1900" spc="-95" dirty="0">
                <a:latin typeface="Arial"/>
                <a:cs typeface="Arial"/>
              </a:rPr>
              <a:t>Infraestructura</a:t>
            </a:r>
            <a:r>
              <a:rPr sz="1900" spc="30" dirty="0">
                <a:latin typeface="Arial"/>
                <a:cs typeface="Arial"/>
              </a:rPr>
              <a:t> </a:t>
            </a:r>
            <a:r>
              <a:rPr sz="1900" spc="-110" dirty="0">
                <a:latin typeface="Arial"/>
                <a:cs typeface="Arial"/>
              </a:rPr>
              <a:t>Disponible</a:t>
            </a:r>
            <a:endParaRPr sz="19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40"/>
              </a:spcBef>
              <a:buClr>
                <a:srgbClr val="2CA1BE"/>
              </a:buClr>
              <a:buSzPct val="68421"/>
              <a:buChar char="–"/>
              <a:tabLst>
                <a:tab pos="286385" algn="l"/>
                <a:tab pos="287020" algn="l"/>
              </a:tabLst>
            </a:pPr>
            <a:r>
              <a:rPr sz="1900" spc="-225" dirty="0">
                <a:latin typeface="Arial"/>
                <a:cs typeface="Arial"/>
              </a:rPr>
              <a:t>Recursos </a:t>
            </a:r>
            <a:r>
              <a:rPr sz="1900" spc="-130" dirty="0">
                <a:latin typeface="Arial"/>
                <a:cs typeface="Arial"/>
              </a:rPr>
              <a:t>existentes (Skills, </a:t>
            </a:r>
            <a:r>
              <a:rPr sz="1900" spc="-110" dirty="0">
                <a:latin typeface="Arial"/>
                <a:cs typeface="Arial"/>
              </a:rPr>
              <a:t>disciplinas, </a:t>
            </a:r>
            <a:r>
              <a:rPr sz="1900" spc="-140" dirty="0">
                <a:latin typeface="Arial"/>
                <a:cs typeface="Arial"/>
              </a:rPr>
              <a:t>modo </a:t>
            </a:r>
            <a:r>
              <a:rPr sz="1900" spc="-60" dirty="0">
                <a:latin typeface="Arial"/>
                <a:cs typeface="Arial"/>
              </a:rPr>
              <a:t>de</a:t>
            </a:r>
            <a:r>
              <a:rPr sz="1900" spc="-325" dirty="0">
                <a:latin typeface="Arial"/>
                <a:cs typeface="Arial"/>
              </a:rPr>
              <a:t> </a:t>
            </a:r>
            <a:r>
              <a:rPr sz="1900" spc="-120" dirty="0">
                <a:latin typeface="Arial"/>
                <a:cs typeface="Arial"/>
              </a:rPr>
              <a:t>asignación)</a:t>
            </a:r>
            <a:endParaRPr sz="19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45"/>
              </a:spcBef>
              <a:buClr>
                <a:srgbClr val="2CA1BE"/>
              </a:buClr>
              <a:buSzPct val="68421"/>
              <a:buChar char="–"/>
              <a:tabLst>
                <a:tab pos="286385" algn="l"/>
                <a:tab pos="287020" algn="l"/>
              </a:tabLst>
            </a:pPr>
            <a:r>
              <a:rPr sz="1900" spc="-160" dirty="0">
                <a:latin typeface="Arial"/>
                <a:cs typeface="Arial"/>
              </a:rPr>
              <a:t>Sistema </a:t>
            </a:r>
            <a:r>
              <a:rPr sz="1900" spc="-60" dirty="0">
                <a:latin typeface="Arial"/>
                <a:cs typeface="Arial"/>
              </a:rPr>
              <a:t>de </a:t>
            </a:r>
            <a:r>
              <a:rPr sz="1900" spc="-90" dirty="0">
                <a:latin typeface="Arial"/>
                <a:cs typeface="Arial"/>
              </a:rPr>
              <a:t>autorización </a:t>
            </a:r>
            <a:r>
              <a:rPr sz="1900" spc="-45" dirty="0">
                <a:latin typeface="Arial"/>
                <a:cs typeface="Arial"/>
              </a:rPr>
              <a:t>del</a:t>
            </a:r>
            <a:r>
              <a:rPr sz="1900" spc="-50" dirty="0">
                <a:latin typeface="Arial"/>
                <a:cs typeface="Arial"/>
              </a:rPr>
              <a:t> </a:t>
            </a:r>
            <a:r>
              <a:rPr sz="1900" spc="-30" dirty="0">
                <a:latin typeface="Arial"/>
                <a:cs typeface="Arial"/>
              </a:rPr>
              <a:t>trabajo</a:t>
            </a:r>
            <a:endParaRPr sz="19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45"/>
              </a:spcBef>
              <a:buClr>
                <a:srgbClr val="2CA1BE"/>
              </a:buClr>
              <a:buSzPct val="68421"/>
              <a:buChar char="–"/>
              <a:tabLst>
                <a:tab pos="286385" algn="l"/>
                <a:tab pos="287020" algn="l"/>
              </a:tabLst>
            </a:pPr>
            <a:r>
              <a:rPr sz="1900" spc="-135" dirty="0">
                <a:latin typeface="Arial"/>
                <a:cs typeface="Arial"/>
              </a:rPr>
              <a:t>Canales </a:t>
            </a:r>
            <a:r>
              <a:rPr sz="1900" spc="-60" dirty="0">
                <a:latin typeface="Arial"/>
                <a:cs typeface="Arial"/>
              </a:rPr>
              <a:t>de </a:t>
            </a:r>
            <a:r>
              <a:rPr sz="1900" spc="-160" dirty="0">
                <a:latin typeface="Arial"/>
                <a:cs typeface="Arial"/>
              </a:rPr>
              <a:t>comunicación</a:t>
            </a:r>
            <a:r>
              <a:rPr sz="1900" spc="-155" dirty="0">
                <a:latin typeface="Arial"/>
                <a:cs typeface="Arial"/>
              </a:rPr>
              <a:t> </a:t>
            </a:r>
            <a:r>
              <a:rPr sz="1900" spc="-100" dirty="0">
                <a:latin typeface="Arial"/>
                <a:cs typeface="Arial"/>
              </a:rPr>
              <a:t>organizacionales</a:t>
            </a:r>
            <a:endParaRPr sz="19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45"/>
              </a:spcBef>
              <a:buClr>
                <a:srgbClr val="2CA1BE"/>
              </a:buClr>
              <a:buSzPct val="68421"/>
              <a:buChar char="–"/>
              <a:tabLst>
                <a:tab pos="286385" algn="l"/>
                <a:tab pos="287020" algn="l"/>
              </a:tabLst>
            </a:pPr>
            <a:r>
              <a:rPr sz="1900" spc="-160" dirty="0">
                <a:latin typeface="Arial"/>
                <a:cs typeface="Arial"/>
              </a:rPr>
              <a:t>Sistema </a:t>
            </a:r>
            <a:r>
              <a:rPr sz="1900" spc="-60" dirty="0">
                <a:latin typeface="Arial"/>
                <a:cs typeface="Arial"/>
              </a:rPr>
              <a:t>de </a:t>
            </a:r>
            <a:r>
              <a:rPr sz="1900" spc="-114" dirty="0">
                <a:latin typeface="Arial"/>
                <a:cs typeface="Arial"/>
              </a:rPr>
              <a:t>Información </a:t>
            </a:r>
            <a:r>
              <a:rPr sz="1900" spc="-60" dirty="0">
                <a:latin typeface="Arial"/>
                <a:cs typeface="Arial"/>
              </a:rPr>
              <a:t>de </a:t>
            </a:r>
            <a:r>
              <a:rPr sz="1900" spc="-15" dirty="0">
                <a:latin typeface="Arial"/>
                <a:cs typeface="Arial"/>
              </a:rPr>
              <a:t>la </a:t>
            </a:r>
            <a:r>
              <a:rPr sz="1900" spc="-114" dirty="0">
                <a:latin typeface="Arial"/>
                <a:cs typeface="Arial"/>
              </a:rPr>
              <a:t>Gestión </a:t>
            </a:r>
            <a:r>
              <a:rPr sz="1900" spc="-60" dirty="0">
                <a:latin typeface="Arial"/>
                <a:cs typeface="Arial"/>
              </a:rPr>
              <a:t>de</a:t>
            </a:r>
            <a:r>
              <a:rPr sz="1900" spc="-254" dirty="0">
                <a:latin typeface="Arial"/>
                <a:cs typeface="Arial"/>
              </a:rPr>
              <a:t> </a:t>
            </a:r>
            <a:r>
              <a:rPr sz="1900" spc="-150" dirty="0">
                <a:latin typeface="Arial"/>
                <a:cs typeface="Arial"/>
              </a:rPr>
              <a:t>Proyectos</a:t>
            </a:r>
            <a:endParaRPr sz="19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45"/>
              </a:spcBef>
              <a:buClr>
                <a:srgbClr val="2CA1BE"/>
              </a:buClr>
              <a:buSzPct val="68421"/>
              <a:buChar char="–"/>
              <a:tabLst>
                <a:tab pos="286385" algn="l"/>
                <a:tab pos="287020" algn="l"/>
              </a:tabLst>
            </a:pPr>
            <a:r>
              <a:rPr sz="1900" spc="-220" dirty="0">
                <a:latin typeface="Arial"/>
                <a:cs typeface="Arial"/>
              </a:rPr>
              <a:t>Bases </a:t>
            </a:r>
            <a:r>
              <a:rPr sz="1900" spc="-60" dirty="0">
                <a:latin typeface="Arial"/>
                <a:cs typeface="Arial"/>
              </a:rPr>
              <a:t>de </a:t>
            </a:r>
            <a:r>
              <a:rPr sz="1900" spc="-95" dirty="0">
                <a:latin typeface="Arial"/>
                <a:cs typeface="Arial"/>
              </a:rPr>
              <a:t>datos</a:t>
            </a:r>
            <a:r>
              <a:rPr sz="1900" spc="-10" dirty="0">
                <a:latin typeface="Arial"/>
                <a:cs typeface="Arial"/>
              </a:rPr>
              <a:t> </a:t>
            </a:r>
            <a:r>
              <a:rPr sz="1900" spc="-105" dirty="0">
                <a:latin typeface="Arial"/>
                <a:cs typeface="Arial"/>
              </a:rPr>
              <a:t>disponibles</a:t>
            </a:r>
            <a:endParaRPr sz="19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45"/>
              </a:spcBef>
              <a:buClr>
                <a:srgbClr val="2CA1BE"/>
              </a:buClr>
              <a:buSzPct val="68421"/>
              <a:buChar char="–"/>
              <a:tabLst>
                <a:tab pos="286385" algn="l"/>
                <a:tab pos="287020" algn="l"/>
              </a:tabLst>
            </a:pPr>
            <a:r>
              <a:rPr sz="1900" spc="-120" dirty="0">
                <a:latin typeface="Arial"/>
                <a:cs typeface="Arial"/>
              </a:rPr>
              <a:t>Administración </a:t>
            </a:r>
            <a:r>
              <a:rPr sz="1900" spc="-45" dirty="0">
                <a:latin typeface="Arial"/>
                <a:cs typeface="Arial"/>
              </a:rPr>
              <a:t>del</a:t>
            </a:r>
            <a:r>
              <a:rPr sz="1900" spc="-275" dirty="0">
                <a:latin typeface="Arial"/>
                <a:cs typeface="Arial"/>
              </a:rPr>
              <a:t> </a:t>
            </a:r>
            <a:r>
              <a:rPr sz="1900" spc="-100" dirty="0">
                <a:latin typeface="Arial"/>
                <a:cs typeface="Arial"/>
              </a:rPr>
              <a:t>personal</a:t>
            </a:r>
            <a:endParaRPr sz="19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45"/>
              </a:spcBef>
              <a:buClr>
                <a:srgbClr val="2CA1BE"/>
              </a:buClr>
              <a:buSzPct val="68421"/>
              <a:buChar char="–"/>
              <a:tabLst>
                <a:tab pos="286385" algn="l"/>
                <a:tab pos="287020" algn="l"/>
              </a:tabLst>
            </a:pPr>
            <a:r>
              <a:rPr sz="1900" spc="-145" dirty="0">
                <a:latin typeface="Arial"/>
                <a:cs typeface="Arial"/>
              </a:rPr>
              <a:t>Condiciones </a:t>
            </a:r>
            <a:r>
              <a:rPr sz="1900" spc="-60" dirty="0">
                <a:latin typeface="Arial"/>
                <a:cs typeface="Arial"/>
              </a:rPr>
              <a:t>de</a:t>
            </a:r>
            <a:r>
              <a:rPr sz="1900" spc="-220" dirty="0">
                <a:latin typeface="Arial"/>
                <a:cs typeface="Arial"/>
              </a:rPr>
              <a:t> </a:t>
            </a:r>
            <a:r>
              <a:rPr sz="1900" spc="-85" dirty="0">
                <a:latin typeface="Arial"/>
                <a:cs typeface="Arial"/>
              </a:rPr>
              <a:t>Mercado</a:t>
            </a:r>
            <a:endParaRPr sz="19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45"/>
              </a:spcBef>
              <a:buClr>
                <a:srgbClr val="2CA1BE"/>
              </a:buClr>
              <a:buSzPct val="68421"/>
              <a:buChar char="–"/>
              <a:tabLst>
                <a:tab pos="286385" algn="l"/>
                <a:tab pos="287020" algn="l"/>
              </a:tabLst>
            </a:pPr>
            <a:r>
              <a:rPr sz="1900" spc="-114" dirty="0">
                <a:latin typeface="Arial"/>
                <a:cs typeface="Arial"/>
              </a:rPr>
              <a:t>Clima</a:t>
            </a:r>
            <a:r>
              <a:rPr sz="1900" spc="-10" dirty="0">
                <a:latin typeface="Arial"/>
                <a:cs typeface="Arial"/>
              </a:rPr>
              <a:t> </a:t>
            </a:r>
            <a:r>
              <a:rPr sz="1900" spc="-125" dirty="0">
                <a:latin typeface="Arial"/>
                <a:cs typeface="Arial"/>
              </a:rPr>
              <a:t>Político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3200" y="1839264"/>
            <a:ext cx="2381250" cy="2585720"/>
          </a:xfrm>
          <a:prstGeom prst="rect">
            <a:avLst/>
          </a:prstGeom>
          <a:solidFill>
            <a:srgbClr val="006FC0"/>
          </a:solidFill>
          <a:ln w="9525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92075" marR="125095">
              <a:lnSpc>
                <a:spcPct val="100000"/>
              </a:lnSpc>
              <a:spcBef>
                <a:spcPts val="365"/>
              </a:spcBef>
            </a:pPr>
            <a:r>
              <a:rPr sz="1800" b="1" spc="-165" dirty="0">
                <a:solidFill>
                  <a:srgbClr val="FFFFFF"/>
                </a:solidFill>
                <a:latin typeface="Arial"/>
                <a:cs typeface="Arial"/>
              </a:rPr>
              <a:t>Factores </a:t>
            </a:r>
            <a:r>
              <a:rPr sz="1800" b="1" spc="-114" dirty="0">
                <a:solidFill>
                  <a:srgbClr val="FFFFFF"/>
                </a:solidFill>
                <a:latin typeface="Arial"/>
                <a:cs typeface="Arial"/>
              </a:rPr>
              <a:t>ambientales  </a:t>
            </a:r>
            <a:r>
              <a:rPr sz="1800" b="1" spc="-14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b="1" spc="-140" dirty="0">
                <a:solidFill>
                  <a:srgbClr val="FFFFFF"/>
                </a:solidFill>
                <a:latin typeface="Arial"/>
                <a:cs typeface="Arial"/>
              </a:rPr>
              <a:t>empresa 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b="1" spc="-14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spc="-140" dirty="0">
                <a:solidFill>
                  <a:srgbClr val="FFFFFF"/>
                </a:solidFill>
                <a:latin typeface="Arial"/>
                <a:cs typeface="Arial"/>
              </a:rPr>
              <a:t>los  </a:t>
            </a:r>
            <a:r>
              <a:rPr sz="1800" b="1" spc="-15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1800" b="1" spc="-14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la  </a:t>
            </a:r>
            <a:r>
              <a:rPr sz="1800" b="1" spc="-110" dirty="0">
                <a:solidFill>
                  <a:srgbClr val="FFFFFF"/>
                </a:solidFill>
                <a:latin typeface="Arial"/>
                <a:cs typeface="Arial"/>
              </a:rPr>
              <a:t>organización </a:t>
            </a:r>
            <a:r>
              <a:rPr sz="1800" b="1" spc="-145" dirty="0">
                <a:solidFill>
                  <a:srgbClr val="FFFFFF"/>
                </a:solidFill>
                <a:latin typeface="Arial"/>
                <a:cs typeface="Arial"/>
              </a:rPr>
              <a:t>que  </a:t>
            </a:r>
            <a:r>
              <a:rPr sz="1800" b="1" spc="-120" dirty="0">
                <a:solidFill>
                  <a:srgbClr val="FFFFFF"/>
                </a:solidFill>
                <a:latin typeface="Arial"/>
                <a:cs typeface="Arial"/>
              </a:rPr>
              <a:t>estuvieran  </a:t>
            </a:r>
            <a:r>
              <a:rPr sz="1800" b="1" spc="-130" dirty="0">
                <a:solidFill>
                  <a:srgbClr val="FFFFFF"/>
                </a:solidFill>
                <a:latin typeface="Arial"/>
                <a:cs typeface="Arial"/>
              </a:rPr>
              <a:t>relacionados </a:t>
            </a:r>
            <a:r>
              <a:rPr sz="1800" b="1" spc="-185" dirty="0">
                <a:solidFill>
                  <a:srgbClr val="FFFFFF"/>
                </a:solidFill>
                <a:latin typeface="Arial"/>
                <a:cs typeface="Arial"/>
              </a:rPr>
              <a:t>con 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el  </a:t>
            </a:r>
            <a:r>
              <a:rPr sz="1800" b="1" spc="-100" dirty="0">
                <a:solidFill>
                  <a:srgbClr val="FFFFFF"/>
                </a:solidFill>
                <a:latin typeface="Arial"/>
                <a:cs typeface="Arial"/>
              </a:rPr>
              <a:t>éxito </a:t>
            </a:r>
            <a:r>
              <a:rPr sz="1800" b="1" spc="-10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800" b="1" spc="-155" dirty="0">
                <a:solidFill>
                  <a:srgbClr val="FFFFFF"/>
                </a:solidFill>
                <a:latin typeface="Arial"/>
                <a:cs typeface="Arial"/>
              </a:rPr>
              <a:t>proyecto </a:t>
            </a:r>
            <a:r>
              <a:rPr sz="1800" b="1" spc="-145" dirty="0">
                <a:solidFill>
                  <a:srgbClr val="FFFFFF"/>
                </a:solidFill>
                <a:latin typeface="Arial"/>
                <a:cs typeface="Arial"/>
              </a:rPr>
              <a:t>o  </a:t>
            </a:r>
            <a:r>
              <a:rPr sz="1800" b="1" spc="-114" dirty="0">
                <a:solidFill>
                  <a:srgbClr val="FFFFFF"/>
                </a:solidFill>
                <a:latin typeface="Arial"/>
                <a:cs typeface="Arial"/>
              </a:rPr>
              <a:t>pudieran </a:t>
            </a:r>
            <a:r>
              <a:rPr sz="1800" b="1" spc="-80" dirty="0">
                <a:solidFill>
                  <a:srgbClr val="FFFFFF"/>
                </a:solidFill>
                <a:latin typeface="Arial"/>
                <a:cs typeface="Arial"/>
              </a:rPr>
              <a:t>influir </a:t>
            </a:r>
            <a:r>
              <a:rPr sz="1800" b="1" spc="-155" dirty="0">
                <a:solidFill>
                  <a:srgbClr val="FFFFFF"/>
                </a:solidFill>
                <a:latin typeface="Arial"/>
                <a:cs typeface="Arial"/>
              </a:rPr>
              <a:t>sobre  </a:t>
            </a:r>
            <a:r>
              <a:rPr sz="1800" b="1" spc="-90" dirty="0">
                <a:solidFill>
                  <a:srgbClr val="FFFFFF"/>
                </a:solidFill>
                <a:latin typeface="Arial"/>
                <a:cs typeface="Arial"/>
              </a:rPr>
              <a:t>él </a:t>
            </a:r>
            <a:r>
              <a:rPr sz="1800" b="1" spc="-14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spc="-100" dirty="0">
                <a:solidFill>
                  <a:srgbClr val="FFFFFF"/>
                </a:solidFill>
                <a:latin typeface="Arial"/>
                <a:cs typeface="Arial"/>
              </a:rPr>
              <a:t>alguna</a:t>
            </a:r>
            <a:r>
              <a:rPr sz="18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10" dirty="0">
                <a:solidFill>
                  <a:srgbClr val="FFFFFF"/>
                </a:solidFill>
                <a:latin typeface="Arial"/>
                <a:cs typeface="Arial"/>
              </a:rPr>
              <a:t>manera</a:t>
            </a:r>
            <a:r>
              <a:rPr sz="1400" spc="-1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340095"/>
            <a:ext cx="8032115" cy="33051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535"/>
              </a:spcBef>
              <a:buClr>
                <a:srgbClr val="DA1F28"/>
              </a:buClr>
              <a:buSzPct val="51666"/>
              <a:buFont typeface="Wingdings"/>
              <a:buChar char=""/>
              <a:tabLst>
                <a:tab pos="527685" algn="l"/>
                <a:tab pos="528320" algn="l"/>
              </a:tabLst>
            </a:pPr>
            <a:r>
              <a:rPr sz="3000" spc="-210" dirty="0">
                <a:latin typeface="Arial"/>
                <a:cs typeface="Arial"/>
              </a:rPr>
              <a:t>Financia </a:t>
            </a:r>
            <a:r>
              <a:rPr sz="3000" spc="-90" dirty="0">
                <a:latin typeface="Arial"/>
                <a:cs typeface="Arial"/>
              </a:rPr>
              <a:t>el </a:t>
            </a:r>
            <a:r>
              <a:rPr sz="3000" spc="-135" dirty="0">
                <a:latin typeface="Arial"/>
                <a:cs typeface="Arial"/>
              </a:rPr>
              <a:t>proyecto </a:t>
            </a:r>
            <a:r>
              <a:rPr sz="3000" spc="-180" dirty="0">
                <a:latin typeface="Arial"/>
                <a:cs typeface="Arial"/>
              </a:rPr>
              <a:t>: </a:t>
            </a:r>
            <a:r>
              <a:rPr sz="3000" spc="-165" dirty="0">
                <a:latin typeface="Arial"/>
                <a:cs typeface="Arial"/>
              </a:rPr>
              <a:t>Definición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90" dirty="0">
                <a:latin typeface="Arial"/>
                <a:cs typeface="Arial"/>
              </a:rPr>
              <a:t>tradicional</a:t>
            </a:r>
            <a:endParaRPr sz="3000">
              <a:latin typeface="Arial"/>
              <a:cs typeface="Arial"/>
            </a:endParaRPr>
          </a:p>
          <a:p>
            <a:pPr marL="332105">
              <a:lnSpc>
                <a:spcPct val="100000"/>
              </a:lnSpc>
              <a:spcBef>
                <a:spcPts val="350"/>
              </a:spcBef>
            </a:pPr>
            <a:r>
              <a:rPr sz="2400" spc="-145" dirty="0">
                <a:latin typeface="Arial"/>
                <a:cs typeface="Arial"/>
              </a:rPr>
              <a:t>Financiar </a:t>
            </a:r>
            <a:r>
              <a:rPr sz="2400" spc="-70" dirty="0">
                <a:latin typeface="Arial"/>
                <a:cs typeface="Arial"/>
              </a:rPr>
              <a:t>el </a:t>
            </a:r>
            <a:r>
              <a:rPr sz="2400" spc="-155" dirty="0">
                <a:latin typeface="Arial"/>
                <a:cs typeface="Arial"/>
              </a:rPr>
              <a:t>Proyecto </a:t>
            </a:r>
            <a:r>
              <a:rPr sz="2400" spc="-210" dirty="0">
                <a:latin typeface="Arial"/>
                <a:cs typeface="Arial"/>
              </a:rPr>
              <a:t>no </a:t>
            </a:r>
            <a:r>
              <a:rPr sz="2400" spc="-270" dirty="0">
                <a:latin typeface="Arial"/>
                <a:cs typeface="Arial"/>
              </a:rPr>
              <a:t>es </a:t>
            </a:r>
            <a:r>
              <a:rPr sz="2400" spc="-15" dirty="0">
                <a:latin typeface="Arial"/>
                <a:cs typeface="Arial"/>
              </a:rPr>
              <a:t>la </a:t>
            </a:r>
            <a:r>
              <a:rPr sz="2400" spc="-175" dirty="0">
                <a:latin typeface="Arial"/>
                <a:cs typeface="Arial"/>
              </a:rPr>
              <a:t>única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responsabilidad</a:t>
            </a:r>
            <a:endParaRPr sz="2400">
              <a:latin typeface="Arial"/>
              <a:cs typeface="Arial"/>
            </a:endParaRPr>
          </a:p>
          <a:p>
            <a:pPr marL="652780" lvl="1" indent="-320040">
              <a:lnSpc>
                <a:spcPct val="100000"/>
              </a:lnSpc>
              <a:spcBef>
                <a:spcPts val="310"/>
              </a:spcBef>
              <a:buClr>
                <a:srgbClr val="2CA1BE"/>
              </a:buClr>
              <a:buSzPct val="68750"/>
              <a:buFont typeface="Wingdings"/>
              <a:buChar char=""/>
              <a:tabLst>
                <a:tab pos="652780" algn="l"/>
                <a:tab pos="653415" algn="l"/>
              </a:tabLst>
            </a:pPr>
            <a:r>
              <a:rPr sz="2400" spc="-100" dirty="0">
                <a:latin typeface="Arial"/>
                <a:cs typeface="Arial"/>
              </a:rPr>
              <a:t>Dar </a:t>
            </a:r>
            <a:r>
              <a:rPr sz="2400" spc="-60" dirty="0">
                <a:latin typeface="Arial"/>
                <a:cs typeface="Arial"/>
              </a:rPr>
              <a:t>identidad </a:t>
            </a:r>
            <a:r>
              <a:rPr sz="2400" spc="-10" dirty="0">
                <a:latin typeface="Arial"/>
                <a:cs typeface="Arial"/>
              </a:rPr>
              <a:t>al </a:t>
            </a:r>
            <a:r>
              <a:rPr sz="2400" spc="-110" dirty="0">
                <a:latin typeface="Arial"/>
                <a:cs typeface="Arial"/>
              </a:rPr>
              <a:t>proyecto </a:t>
            </a:r>
            <a:r>
              <a:rPr sz="2400" spc="-210" dirty="0">
                <a:latin typeface="Arial"/>
                <a:cs typeface="Arial"/>
              </a:rPr>
              <a:t>en </a:t>
            </a:r>
            <a:r>
              <a:rPr sz="2400" spc="-15" dirty="0">
                <a:latin typeface="Arial"/>
                <a:cs typeface="Arial"/>
              </a:rPr>
              <a:t>la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organización</a:t>
            </a:r>
            <a:endParaRPr sz="2400">
              <a:latin typeface="Arial"/>
              <a:cs typeface="Arial"/>
            </a:endParaRPr>
          </a:p>
          <a:p>
            <a:pPr marL="652780" marR="5080" lvl="1" indent="-320040">
              <a:lnSpc>
                <a:spcPts val="2590"/>
              </a:lnSpc>
              <a:spcBef>
                <a:spcPts val="640"/>
              </a:spcBef>
              <a:buClr>
                <a:srgbClr val="2CA1BE"/>
              </a:buClr>
              <a:buSzPct val="68750"/>
              <a:buFont typeface="Wingdings"/>
              <a:buChar char=""/>
              <a:tabLst>
                <a:tab pos="652780" algn="l"/>
                <a:tab pos="653415" algn="l"/>
              </a:tabLst>
            </a:pPr>
            <a:r>
              <a:rPr sz="2400" spc="-175" dirty="0">
                <a:latin typeface="Arial"/>
                <a:cs typeface="Arial"/>
              </a:rPr>
              <a:t>Pendiente </a:t>
            </a:r>
            <a:r>
              <a:rPr sz="2400" spc="-75" dirty="0">
                <a:latin typeface="Arial"/>
                <a:cs typeface="Arial"/>
              </a:rPr>
              <a:t>de </a:t>
            </a:r>
            <a:r>
              <a:rPr sz="2400" spc="-70" dirty="0">
                <a:latin typeface="Arial"/>
                <a:cs typeface="Arial"/>
              </a:rPr>
              <a:t>velar </a:t>
            </a:r>
            <a:r>
              <a:rPr sz="2400" spc="-100" dirty="0">
                <a:latin typeface="Arial"/>
                <a:cs typeface="Arial"/>
              </a:rPr>
              <a:t>porque </a:t>
            </a:r>
            <a:r>
              <a:rPr sz="2400" spc="-75" dirty="0">
                <a:latin typeface="Arial"/>
                <a:cs typeface="Arial"/>
              </a:rPr>
              <a:t>el </a:t>
            </a:r>
            <a:r>
              <a:rPr sz="2400" spc="-110" dirty="0">
                <a:latin typeface="Arial"/>
                <a:cs typeface="Arial"/>
              </a:rPr>
              <a:t>proyecto </a:t>
            </a:r>
            <a:r>
              <a:rPr sz="2400" spc="-75" dirty="0">
                <a:latin typeface="Arial"/>
                <a:cs typeface="Arial"/>
              </a:rPr>
              <a:t>de </a:t>
            </a:r>
            <a:r>
              <a:rPr sz="2400" spc="-185" dirty="0">
                <a:latin typeface="Arial"/>
                <a:cs typeface="Arial"/>
              </a:rPr>
              <a:t>los </a:t>
            </a:r>
            <a:r>
              <a:rPr sz="2400" spc="-130" dirty="0">
                <a:latin typeface="Arial"/>
                <a:cs typeface="Arial"/>
              </a:rPr>
              <a:t>beneficios </a:t>
            </a:r>
            <a:r>
              <a:rPr sz="2400" spc="-15" dirty="0">
                <a:latin typeface="Arial"/>
                <a:cs typeface="Arial"/>
              </a:rPr>
              <a:t>a la  </a:t>
            </a:r>
            <a:r>
              <a:rPr sz="2400" spc="-114" dirty="0">
                <a:latin typeface="Arial"/>
                <a:cs typeface="Arial"/>
              </a:rPr>
              <a:t>organizacion</a:t>
            </a:r>
            <a:endParaRPr sz="2400">
              <a:latin typeface="Arial"/>
              <a:cs typeface="Arial"/>
            </a:endParaRPr>
          </a:p>
          <a:p>
            <a:pPr marL="652780" lvl="1" indent="-320040">
              <a:lnSpc>
                <a:spcPct val="100000"/>
              </a:lnSpc>
              <a:spcBef>
                <a:spcPts val="280"/>
              </a:spcBef>
              <a:buClr>
                <a:srgbClr val="2CA1BE"/>
              </a:buClr>
              <a:buSzPct val="68750"/>
              <a:buFont typeface="Wingdings"/>
              <a:buChar char=""/>
              <a:tabLst>
                <a:tab pos="652780" algn="l"/>
                <a:tab pos="653415" algn="l"/>
              </a:tabLst>
            </a:pPr>
            <a:r>
              <a:rPr sz="2400" spc="-290" dirty="0">
                <a:latin typeface="Arial"/>
                <a:cs typeface="Arial"/>
              </a:rPr>
              <a:t>Toma </a:t>
            </a:r>
            <a:r>
              <a:rPr sz="2400" spc="-75" dirty="0">
                <a:latin typeface="Arial"/>
                <a:cs typeface="Arial"/>
              </a:rPr>
              <a:t>de </a:t>
            </a:r>
            <a:r>
              <a:rPr sz="2400" spc="-180" dirty="0">
                <a:latin typeface="Arial"/>
                <a:cs typeface="Arial"/>
              </a:rPr>
              <a:t>decisiones </a:t>
            </a:r>
            <a:r>
              <a:rPr sz="2400" spc="-145" dirty="0">
                <a:latin typeface="Arial"/>
                <a:cs typeface="Arial"/>
              </a:rPr>
              <a:t>que </a:t>
            </a:r>
            <a:r>
              <a:rPr sz="2400" spc="-135" dirty="0">
                <a:latin typeface="Arial"/>
                <a:cs typeface="Arial"/>
              </a:rPr>
              <a:t>impactan </a:t>
            </a:r>
            <a:r>
              <a:rPr sz="2400" spc="-185" dirty="0">
                <a:latin typeface="Arial"/>
                <a:cs typeface="Arial"/>
              </a:rPr>
              <a:t>los </a:t>
            </a:r>
            <a:r>
              <a:rPr sz="2400" spc="-120" dirty="0">
                <a:latin typeface="Arial"/>
                <a:cs typeface="Arial"/>
              </a:rPr>
              <a:t>objetivos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del </a:t>
            </a:r>
            <a:r>
              <a:rPr sz="2400" spc="-110" dirty="0">
                <a:latin typeface="Arial"/>
                <a:cs typeface="Arial"/>
              </a:rPr>
              <a:t>proyecto</a:t>
            </a:r>
            <a:endParaRPr sz="2400">
              <a:latin typeface="Arial"/>
              <a:cs typeface="Arial"/>
            </a:endParaRPr>
          </a:p>
          <a:p>
            <a:pPr marL="652780" lvl="1" indent="-320040">
              <a:lnSpc>
                <a:spcPct val="100000"/>
              </a:lnSpc>
              <a:spcBef>
                <a:spcPts val="310"/>
              </a:spcBef>
              <a:buClr>
                <a:srgbClr val="2CA1BE"/>
              </a:buClr>
              <a:buSzPct val="68750"/>
              <a:buFont typeface="Wingdings"/>
              <a:buChar char=""/>
              <a:tabLst>
                <a:tab pos="652780" algn="l"/>
                <a:tab pos="653415" algn="l"/>
              </a:tabLst>
            </a:pPr>
            <a:r>
              <a:rPr sz="2400" spc="-80" dirty="0">
                <a:latin typeface="Arial"/>
                <a:cs typeface="Arial"/>
              </a:rPr>
              <a:t>Apoyar </a:t>
            </a:r>
            <a:r>
              <a:rPr sz="2400" spc="-15" dirty="0">
                <a:latin typeface="Arial"/>
                <a:cs typeface="Arial"/>
              </a:rPr>
              <a:t>la </a:t>
            </a:r>
            <a:r>
              <a:rPr sz="2400" spc="-229" dirty="0">
                <a:latin typeface="Arial"/>
                <a:cs typeface="Arial"/>
              </a:rPr>
              <a:t>Resolución </a:t>
            </a:r>
            <a:r>
              <a:rPr sz="2400" spc="-145" dirty="0">
                <a:latin typeface="Arial"/>
                <a:cs typeface="Arial"/>
              </a:rPr>
              <a:t>conflictos </a:t>
            </a:r>
            <a:r>
              <a:rPr sz="2400" spc="-114" dirty="0">
                <a:latin typeface="Arial"/>
                <a:cs typeface="Arial"/>
              </a:rPr>
              <a:t>entre </a:t>
            </a:r>
            <a:r>
              <a:rPr sz="2400" spc="-185" dirty="0">
                <a:latin typeface="Arial"/>
                <a:cs typeface="Arial"/>
              </a:rPr>
              <a:t>los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interesados</a:t>
            </a:r>
            <a:endParaRPr sz="2400">
              <a:latin typeface="Arial"/>
              <a:cs typeface="Arial"/>
            </a:endParaRPr>
          </a:p>
          <a:p>
            <a:pPr marL="652780" lvl="1" indent="-320040">
              <a:lnSpc>
                <a:spcPct val="100000"/>
              </a:lnSpc>
              <a:spcBef>
                <a:spcPts val="315"/>
              </a:spcBef>
              <a:buClr>
                <a:srgbClr val="2CA1BE"/>
              </a:buClr>
              <a:buSzPct val="68750"/>
              <a:buFont typeface="Wingdings"/>
              <a:buChar char=""/>
              <a:tabLst>
                <a:tab pos="652780" algn="l"/>
                <a:tab pos="653415" algn="l"/>
              </a:tabLst>
            </a:pPr>
            <a:r>
              <a:rPr sz="2400" spc="-130" dirty="0">
                <a:latin typeface="Arial"/>
                <a:cs typeface="Arial"/>
              </a:rPr>
              <a:t>Mantener </a:t>
            </a:r>
            <a:r>
              <a:rPr sz="2400" spc="-15" dirty="0">
                <a:latin typeface="Arial"/>
                <a:cs typeface="Arial"/>
              </a:rPr>
              <a:t>la </a:t>
            </a:r>
            <a:r>
              <a:rPr sz="2400" spc="-114" dirty="0">
                <a:latin typeface="Arial"/>
                <a:cs typeface="Arial"/>
              </a:rPr>
              <a:t>alineación </a:t>
            </a:r>
            <a:r>
              <a:rPr sz="2400" spc="-95" dirty="0">
                <a:latin typeface="Arial"/>
                <a:cs typeface="Arial"/>
              </a:rPr>
              <a:t>estratética </a:t>
            </a:r>
            <a:r>
              <a:rPr sz="2400" spc="-55" dirty="0">
                <a:latin typeface="Arial"/>
                <a:cs typeface="Arial"/>
              </a:rPr>
              <a:t>del</a:t>
            </a:r>
            <a:r>
              <a:rPr sz="2400" spc="31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proyecto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209550"/>
            <a:ext cx="458470" cy="916940"/>
          </a:xfrm>
          <a:custGeom>
            <a:avLst/>
            <a:gdLst/>
            <a:ahLst/>
            <a:cxnLst/>
            <a:rect l="l" t="t" r="r" b="b"/>
            <a:pathLst>
              <a:path w="458469" h="916940">
                <a:moveTo>
                  <a:pt x="458393" y="0"/>
                </a:moveTo>
                <a:lnTo>
                  <a:pt x="411526" y="2366"/>
                </a:lnTo>
                <a:lnTo>
                  <a:pt x="366012" y="9312"/>
                </a:lnTo>
                <a:lnTo>
                  <a:pt x="322082" y="20608"/>
                </a:lnTo>
                <a:lnTo>
                  <a:pt x="279967" y="36022"/>
                </a:lnTo>
                <a:lnTo>
                  <a:pt x="239897" y="55324"/>
                </a:lnTo>
                <a:lnTo>
                  <a:pt x="202102" y="78284"/>
                </a:lnTo>
                <a:lnTo>
                  <a:pt x="166813" y="104671"/>
                </a:lnTo>
                <a:lnTo>
                  <a:pt x="134261" y="134254"/>
                </a:lnTo>
                <a:lnTo>
                  <a:pt x="104675" y="166804"/>
                </a:lnTo>
                <a:lnTo>
                  <a:pt x="78287" y="202089"/>
                </a:lnTo>
                <a:lnTo>
                  <a:pt x="55326" y="239880"/>
                </a:lnTo>
                <a:lnTo>
                  <a:pt x="36023" y="279945"/>
                </a:lnTo>
                <a:lnTo>
                  <a:pt x="20608" y="322055"/>
                </a:lnTo>
                <a:lnTo>
                  <a:pt x="9313" y="365978"/>
                </a:lnTo>
                <a:lnTo>
                  <a:pt x="2366" y="411484"/>
                </a:lnTo>
                <a:lnTo>
                  <a:pt x="0" y="458342"/>
                </a:lnTo>
                <a:lnTo>
                  <a:pt x="2366" y="505224"/>
                </a:lnTo>
                <a:lnTo>
                  <a:pt x="9313" y="550749"/>
                </a:lnTo>
                <a:lnTo>
                  <a:pt x="20608" y="594689"/>
                </a:lnTo>
                <a:lnTo>
                  <a:pt x="36023" y="636813"/>
                </a:lnTo>
                <a:lnTo>
                  <a:pt x="55326" y="676891"/>
                </a:lnTo>
                <a:lnTo>
                  <a:pt x="78287" y="714692"/>
                </a:lnTo>
                <a:lnTo>
                  <a:pt x="104675" y="749985"/>
                </a:lnTo>
                <a:lnTo>
                  <a:pt x="134261" y="782542"/>
                </a:lnTo>
                <a:lnTo>
                  <a:pt x="166813" y="812131"/>
                </a:lnTo>
                <a:lnTo>
                  <a:pt x="202102" y="838521"/>
                </a:lnTo>
                <a:lnTo>
                  <a:pt x="239897" y="861484"/>
                </a:lnTo>
                <a:lnTo>
                  <a:pt x="279967" y="880788"/>
                </a:lnTo>
                <a:lnTo>
                  <a:pt x="322082" y="896203"/>
                </a:lnTo>
                <a:lnTo>
                  <a:pt x="366012" y="907499"/>
                </a:lnTo>
                <a:lnTo>
                  <a:pt x="411526" y="914446"/>
                </a:lnTo>
                <a:lnTo>
                  <a:pt x="458393" y="916813"/>
                </a:lnTo>
                <a:lnTo>
                  <a:pt x="458393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209550"/>
            <a:ext cx="458470" cy="916940"/>
          </a:xfrm>
          <a:custGeom>
            <a:avLst/>
            <a:gdLst/>
            <a:ahLst/>
            <a:cxnLst/>
            <a:rect l="l" t="t" r="r" b="b"/>
            <a:pathLst>
              <a:path w="458469" h="916940">
                <a:moveTo>
                  <a:pt x="458393" y="916813"/>
                </a:moveTo>
                <a:lnTo>
                  <a:pt x="411526" y="914446"/>
                </a:lnTo>
                <a:lnTo>
                  <a:pt x="366012" y="907499"/>
                </a:lnTo>
                <a:lnTo>
                  <a:pt x="322082" y="896203"/>
                </a:lnTo>
                <a:lnTo>
                  <a:pt x="279967" y="880788"/>
                </a:lnTo>
                <a:lnTo>
                  <a:pt x="239897" y="861484"/>
                </a:lnTo>
                <a:lnTo>
                  <a:pt x="202102" y="838521"/>
                </a:lnTo>
                <a:lnTo>
                  <a:pt x="166813" y="812131"/>
                </a:lnTo>
                <a:lnTo>
                  <a:pt x="134261" y="782542"/>
                </a:lnTo>
                <a:lnTo>
                  <a:pt x="104675" y="749985"/>
                </a:lnTo>
                <a:lnTo>
                  <a:pt x="78287" y="714692"/>
                </a:lnTo>
                <a:lnTo>
                  <a:pt x="55326" y="676891"/>
                </a:lnTo>
                <a:lnTo>
                  <a:pt x="36023" y="636813"/>
                </a:lnTo>
                <a:lnTo>
                  <a:pt x="20608" y="594689"/>
                </a:lnTo>
                <a:lnTo>
                  <a:pt x="9313" y="550749"/>
                </a:lnTo>
                <a:lnTo>
                  <a:pt x="2366" y="505224"/>
                </a:lnTo>
                <a:lnTo>
                  <a:pt x="0" y="458342"/>
                </a:lnTo>
                <a:lnTo>
                  <a:pt x="2366" y="411484"/>
                </a:lnTo>
                <a:lnTo>
                  <a:pt x="9313" y="365978"/>
                </a:lnTo>
                <a:lnTo>
                  <a:pt x="20608" y="322055"/>
                </a:lnTo>
                <a:lnTo>
                  <a:pt x="36023" y="279945"/>
                </a:lnTo>
                <a:lnTo>
                  <a:pt x="55326" y="239880"/>
                </a:lnTo>
                <a:lnTo>
                  <a:pt x="78287" y="202089"/>
                </a:lnTo>
                <a:lnTo>
                  <a:pt x="104675" y="166804"/>
                </a:lnTo>
                <a:lnTo>
                  <a:pt x="134261" y="134254"/>
                </a:lnTo>
                <a:lnTo>
                  <a:pt x="166813" y="104671"/>
                </a:lnTo>
                <a:lnTo>
                  <a:pt x="202102" y="78284"/>
                </a:lnTo>
                <a:lnTo>
                  <a:pt x="239897" y="55324"/>
                </a:lnTo>
                <a:lnTo>
                  <a:pt x="279967" y="36022"/>
                </a:lnTo>
                <a:lnTo>
                  <a:pt x="322082" y="20608"/>
                </a:lnTo>
                <a:lnTo>
                  <a:pt x="366012" y="9312"/>
                </a:lnTo>
                <a:lnTo>
                  <a:pt x="411526" y="2366"/>
                </a:lnTo>
                <a:lnTo>
                  <a:pt x="458393" y="0"/>
                </a:lnTo>
                <a:lnTo>
                  <a:pt x="458393" y="458342"/>
                </a:lnTo>
                <a:lnTo>
                  <a:pt x="458393" y="916813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5593" y="209588"/>
            <a:ext cx="8076565" cy="916940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323215" rIns="0" bIns="0" rtlCol="0">
            <a:spAutoFit/>
          </a:bodyPr>
          <a:lstStyle/>
          <a:p>
            <a:pPr marL="1202690">
              <a:lnSpc>
                <a:spcPct val="100000"/>
              </a:lnSpc>
              <a:spcBef>
                <a:spcPts val="2545"/>
              </a:spcBef>
            </a:pPr>
            <a:r>
              <a:rPr sz="2800" i="0" spc="-270" dirty="0">
                <a:solidFill>
                  <a:srgbClr val="000000"/>
                </a:solidFill>
                <a:latin typeface="Arial"/>
                <a:cs typeface="Arial"/>
              </a:rPr>
              <a:t>Concepto </a:t>
            </a:r>
            <a:r>
              <a:rPr sz="2800" i="0" spc="-175" dirty="0">
                <a:solidFill>
                  <a:srgbClr val="000000"/>
                </a:solidFill>
                <a:latin typeface="Arial"/>
                <a:cs typeface="Arial"/>
              </a:rPr>
              <a:t>Clave:</a:t>
            </a:r>
            <a:r>
              <a:rPr sz="2800" i="0" spc="-3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i="0" spc="-229" dirty="0">
                <a:solidFill>
                  <a:srgbClr val="000000"/>
                </a:solidFill>
                <a:latin typeface="Arial"/>
                <a:cs typeface="Arial"/>
              </a:rPr>
              <a:t>Patrocinador-Sponsor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09550"/>
            <a:ext cx="458470" cy="916940"/>
          </a:xfrm>
          <a:custGeom>
            <a:avLst/>
            <a:gdLst/>
            <a:ahLst/>
            <a:cxnLst/>
            <a:rect l="l" t="t" r="r" b="b"/>
            <a:pathLst>
              <a:path w="458469" h="916940">
                <a:moveTo>
                  <a:pt x="458393" y="0"/>
                </a:moveTo>
                <a:lnTo>
                  <a:pt x="411526" y="2366"/>
                </a:lnTo>
                <a:lnTo>
                  <a:pt x="366012" y="9312"/>
                </a:lnTo>
                <a:lnTo>
                  <a:pt x="322082" y="20608"/>
                </a:lnTo>
                <a:lnTo>
                  <a:pt x="279967" y="36022"/>
                </a:lnTo>
                <a:lnTo>
                  <a:pt x="239897" y="55324"/>
                </a:lnTo>
                <a:lnTo>
                  <a:pt x="202102" y="78284"/>
                </a:lnTo>
                <a:lnTo>
                  <a:pt x="166813" y="104671"/>
                </a:lnTo>
                <a:lnTo>
                  <a:pt x="134261" y="134254"/>
                </a:lnTo>
                <a:lnTo>
                  <a:pt x="104675" y="166804"/>
                </a:lnTo>
                <a:lnTo>
                  <a:pt x="78287" y="202089"/>
                </a:lnTo>
                <a:lnTo>
                  <a:pt x="55326" y="239880"/>
                </a:lnTo>
                <a:lnTo>
                  <a:pt x="36023" y="279945"/>
                </a:lnTo>
                <a:lnTo>
                  <a:pt x="20608" y="322055"/>
                </a:lnTo>
                <a:lnTo>
                  <a:pt x="9313" y="365978"/>
                </a:lnTo>
                <a:lnTo>
                  <a:pt x="2366" y="411484"/>
                </a:lnTo>
                <a:lnTo>
                  <a:pt x="0" y="458342"/>
                </a:lnTo>
                <a:lnTo>
                  <a:pt x="2366" y="505224"/>
                </a:lnTo>
                <a:lnTo>
                  <a:pt x="9313" y="550749"/>
                </a:lnTo>
                <a:lnTo>
                  <a:pt x="20608" y="594689"/>
                </a:lnTo>
                <a:lnTo>
                  <a:pt x="36023" y="636813"/>
                </a:lnTo>
                <a:lnTo>
                  <a:pt x="55326" y="676891"/>
                </a:lnTo>
                <a:lnTo>
                  <a:pt x="78287" y="714692"/>
                </a:lnTo>
                <a:lnTo>
                  <a:pt x="104675" y="749985"/>
                </a:lnTo>
                <a:lnTo>
                  <a:pt x="134261" y="782542"/>
                </a:lnTo>
                <a:lnTo>
                  <a:pt x="166813" y="812131"/>
                </a:lnTo>
                <a:lnTo>
                  <a:pt x="202102" y="838521"/>
                </a:lnTo>
                <a:lnTo>
                  <a:pt x="239897" y="861484"/>
                </a:lnTo>
                <a:lnTo>
                  <a:pt x="279967" y="880788"/>
                </a:lnTo>
                <a:lnTo>
                  <a:pt x="322082" y="896203"/>
                </a:lnTo>
                <a:lnTo>
                  <a:pt x="366012" y="907499"/>
                </a:lnTo>
                <a:lnTo>
                  <a:pt x="411526" y="914446"/>
                </a:lnTo>
                <a:lnTo>
                  <a:pt x="458393" y="916813"/>
                </a:lnTo>
                <a:lnTo>
                  <a:pt x="458393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209550"/>
            <a:ext cx="458470" cy="916940"/>
          </a:xfrm>
          <a:custGeom>
            <a:avLst/>
            <a:gdLst/>
            <a:ahLst/>
            <a:cxnLst/>
            <a:rect l="l" t="t" r="r" b="b"/>
            <a:pathLst>
              <a:path w="458469" h="916940">
                <a:moveTo>
                  <a:pt x="458393" y="916813"/>
                </a:moveTo>
                <a:lnTo>
                  <a:pt x="411526" y="914446"/>
                </a:lnTo>
                <a:lnTo>
                  <a:pt x="366012" y="907499"/>
                </a:lnTo>
                <a:lnTo>
                  <a:pt x="322082" y="896203"/>
                </a:lnTo>
                <a:lnTo>
                  <a:pt x="279967" y="880788"/>
                </a:lnTo>
                <a:lnTo>
                  <a:pt x="239897" y="861484"/>
                </a:lnTo>
                <a:lnTo>
                  <a:pt x="202102" y="838521"/>
                </a:lnTo>
                <a:lnTo>
                  <a:pt x="166813" y="812131"/>
                </a:lnTo>
                <a:lnTo>
                  <a:pt x="134261" y="782542"/>
                </a:lnTo>
                <a:lnTo>
                  <a:pt x="104675" y="749985"/>
                </a:lnTo>
                <a:lnTo>
                  <a:pt x="78287" y="714692"/>
                </a:lnTo>
                <a:lnTo>
                  <a:pt x="55326" y="676891"/>
                </a:lnTo>
                <a:lnTo>
                  <a:pt x="36023" y="636813"/>
                </a:lnTo>
                <a:lnTo>
                  <a:pt x="20608" y="594689"/>
                </a:lnTo>
                <a:lnTo>
                  <a:pt x="9313" y="550749"/>
                </a:lnTo>
                <a:lnTo>
                  <a:pt x="2366" y="505224"/>
                </a:lnTo>
                <a:lnTo>
                  <a:pt x="0" y="458342"/>
                </a:lnTo>
                <a:lnTo>
                  <a:pt x="2366" y="411484"/>
                </a:lnTo>
                <a:lnTo>
                  <a:pt x="9313" y="365978"/>
                </a:lnTo>
                <a:lnTo>
                  <a:pt x="20608" y="322055"/>
                </a:lnTo>
                <a:lnTo>
                  <a:pt x="36023" y="279945"/>
                </a:lnTo>
                <a:lnTo>
                  <a:pt x="55326" y="239880"/>
                </a:lnTo>
                <a:lnTo>
                  <a:pt x="78287" y="202089"/>
                </a:lnTo>
                <a:lnTo>
                  <a:pt x="104675" y="166804"/>
                </a:lnTo>
                <a:lnTo>
                  <a:pt x="134261" y="134254"/>
                </a:lnTo>
                <a:lnTo>
                  <a:pt x="166813" y="104671"/>
                </a:lnTo>
                <a:lnTo>
                  <a:pt x="202102" y="78284"/>
                </a:lnTo>
                <a:lnTo>
                  <a:pt x="239897" y="55324"/>
                </a:lnTo>
                <a:lnTo>
                  <a:pt x="279967" y="36022"/>
                </a:lnTo>
                <a:lnTo>
                  <a:pt x="322082" y="20608"/>
                </a:lnTo>
                <a:lnTo>
                  <a:pt x="366012" y="9312"/>
                </a:lnTo>
                <a:lnTo>
                  <a:pt x="411526" y="2366"/>
                </a:lnTo>
                <a:lnTo>
                  <a:pt x="458393" y="0"/>
                </a:lnTo>
                <a:lnTo>
                  <a:pt x="458393" y="458342"/>
                </a:lnTo>
                <a:lnTo>
                  <a:pt x="458393" y="916813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5593" y="209588"/>
            <a:ext cx="8076565" cy="916940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323215" rIns="0" bIns="0" rtlCol="0">
            <a:spAutoFit/>
          </a:bodyPr>
          <a:lstStyle/>
          <a:p>
            <a:pPr marL="941705">
              <a:lnSpc>
                <a:spcPct val="100000"/>
              </a:lnSpc>
              <a:spcBef>
                <a:spcPts val="2545"/>
              </a:spcBef>
            </a:pPr>
            <a:r>
              <a:rPr sz="2800" i="0" spc="-270" dirty="0">
                <a:solidFill>
                  <a:srgbClr val="000000"/>
                </a:solidFill>
                <a:latin typeface="Arial"/>
                <a:cs typeface="Arial"/>
              </a:rPr>
              <a:t>Concepto </a:t>
            </a:r>
            <a:r>
              <a:rPr sz="2800" i="0" spc="-175" dirty="0">
                <a:solidFill>
                  <a:srgbClr val="000000"/>
                </a:solidFill>
                <a:latin typeface="Arial"/>
                <a:cs typeface="Arial"/>
              </a:rPr>
              <a:t>Clave:</a:t>
            </a:r>
            <a:r>
              <a:rPr sz="2800" i="0" spc="-3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i="0" spc="-215" dirty="0">
                <a:solidFill>
                  <a:srgbClr val="000000"/>
                </a:solidFill>
                <a:latin typeface="Arial"/>
                <a:cs typeface="Arial"/>
              </a:rPr>
              <a:t>Interesados-Stakeholders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0" y="1447038"/>
            <a:ext cx="8490585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000" spc="-175" dirty="0">
                <a:latin typeface="Arial"/>
                <a:cs typeface="Arial"/>
              </a:rPr>
              <a:t>Pueden </a:t>
            </a:r>
            <a:r>
              <a:rPr sz="2000" spc="-150" dirty="0">
                <a:latin typeface="Arial"/>
                <a:cs typeface="Arial"/>
              </a:rPr>
              <a:t>ser </a:t>
            </a:r>
            <a:r>
              <a:rPr lang="es-ES" sz="2000" spc="-200" dirty="0">
                <a:latin typeface="Arial"/>
                <a:cs typeface="Arial"/>
              </a:rPr>
              <a:t>p</a:t>
            </a:r>
            <a:r>
              <a:rPr sz="2000" spc="-200" dirty="0" err="1">
                <a:latin typeface="Arial"/>
                <a:cs typeface="Arial"/>
              </a:rPr>
              <a:t>ersonas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spc="-235" dirty="0">
                <a:latin typeface="Arial"/>
                <a:cs typeface="Arial"/>
              </a:rPr>
              <a:t>u</a:t>
            </a:r>
            <a:r>
              <a:rPr sz="2000" spc="45" dirty="0">
                <a:latin typeface="Arial"/>
                <a:cs typeface="Arial"/>
              </a:rPr>
              <a:t> </a:t>
            </a:r>
            <a:r>
              <a:rPr lang="es-ES" sz="2000" spc="-110" dirty="0">
                <a:latin typeface="Arial"/>
                <a:cs typeface="Arial"/>
              </a:rPr>
              <a:t>o</a:t>
            </a:r>
            <a:r>
              <a:rPr sz="2000" spc="-110" dirty="0" err="1">
                <a:latin typeface="Arial"/>
                <a:cs typeface="Arial"/>
              </a:rPr>
              <a:t>rganizaciones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"/>
              <a:tabLst>
                <a:tab pos="469265" algn="l"/>
                <a:tab pos="469900" algn="l"/>
                <a:tab pos="4411980" algn="l"/>
              </a:tabLst>
            </a:pPr>
            <a:r>
              <a:rPr sz="2000" spc="-95" dirty="0">
                <a:latin typeface="Arial"/>
                <a:cs typeface="Arial"/>
              </a:rPr>
              <a:t>Participan </a:t>
            </a:r>
            <a:r>
              <a:rPr sz="2000" spc="-114" dirty="0">
                <a:latin typeface="Arial"/>
                <a:cs typeface="Arial"/>
              </a:rPr>
              <a:t>activamente </a:t>
            </a:r>
            <a:r>
              <a:rPr sz="2000" spc="-175" dirty="0">
                <a:latin typeface="Arial"/>
                <a:cs typeface="Arial"/>
              </a:rPr>
              <a:t>en</a:t>
            </a:r>
            <a:r>
              <a:rPr sz="2000" spc="16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el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proyecto	</a:t>
            </a:r>
            <a:r>
              <a:rPr sz="2000" spc="-114" dirty="0">
                <a:latin typeface="Arial"/>
                <a:cs typeface="Arial"/>
              </a:rPr>
              <a:t>o </a:t>
            </a:r>
            <a:r>
              <a:rPr sz="2000" spc="-120" dirty="0">
                <a:latin typeface="Arial"/>
                <a:cs typeface="Arial"/>
              </a:rPr>
              <a:t>pueden </a:t>
            </a:r>
            <a:r>
              <a:rPr sz="2000" spc="-145" dirty="0">
                <a:latin typeface="Arial"/>
                <a:cs typeface="Arial"/>
              </a:rPr>
              <a:t>verse </a:t>
            </a:r>
            <a:r>
              <a:rPr sz="2000" spc="-80" dirty="0">
                <a:latin typeface="Arial"/>
                <a:cs typeface="Arial"/>
              </a:rPr>
              <a:t>afectados </a:t>
            </a:r>
            <a:r>
              <a:rPr sz="2000" spc="165" dirty="0">
                <a:latin typeface="Arial"/>
                <a:cs typeface="Arial"/>
              </a:rPr>
              <a:t>+ </a:t>
            </a:r>
            <a:r>
              <a:rPr sz="2000" spc="-114" dirty="0">
                <a:latin typeface="Arial"/>
                <a:cs typeface="Arial"/>
              </a:rPr>
              <a:t>o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–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000" spc="-175" dirty="0">
                <a:latin typeface="Arial"/>
                <a:cs typeface="Arial"/>
              </a:rPr>
              <a:t>Tienen </a:t>
            </a:r>
            <a:r>
              <a:rPr sz="2000" spc="-140" dirty="0">
                <a:latin typeface="Arial"/>
                <a:cs typeface="Arial"/>
              </a:rPr>
              <a:t>niveles </a:t>
            </a:r>
            <a:r>
              <a:rPr sz="2000" spc="-60" dirty="0">
                <a:latin typeface="Arial"/>
                <a:cs typeface="Arial"/>
              </a:rPr>
              <a:t>de </a:t>
            </a:r>
            <a:r>
              <a:rPr sz="2000" spc="-45" dirty="0">
                <a:latin typeface="Arial"/>
                <a:cs typeface="Arial"/>
              </a:rPr>
              <a:t>autoridad </a:t>
            </a:r>
            <a:r>
              <a:rPr sz="2000" spc="114" dirty="0">
                <a:latin typeface="Arial"/>
                <a:cs typeface="Arial"/>
              </a:rPr>
              <a:t>y/o </a:t>
            </a:r>
            <a:r>
              <a:rPr sz="2000" spc="-85" dirty="0">
                <a:latin typeface="Arial"/>
                <a:cs typeface="Arial"/>
              </a:rPr>
              <a:t>responsabilidad dentro </a:t>
            </a:r>
            <a:r>
              <a:rPr sz="2000" spc="-40" dirty="0">
                <a:latin typeface="Arial"/>
                <a:cs typeface="Arial"/>
              </a:rPr>
              <a:t>del </a:t>
            </a:r>
            <a:r>
              <a:rPr sz="2000" spc="-90" dirty="0">
                <a:latin typeface="Arial"/>
                <a:cs typeface="Arial"/>
              </a:rPr>
              <a:t>proyecto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variables</a:t>
            </a:r>
            <a:endParaRPr sz="20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000" spc="-229" dirty="0">
                <a:latin typeface="Arial"/>
                <a:cs typeface="Arial"/>
              </a:rPr>
              <a:t>Este </a:t>
            </a:r>
            <a:r>
              <a:rPr sz="2000" spc="-135" dirty="0">
                <a:latin typeface="Arial"/>
                <a:cs typeface="Arial"/>
              </a:rPr>
              <a:t>concepto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incluye</a:t>
            </a:r>
            <a:endParaRPr sz="2000" dirty="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Font typeface="Wingdings"/>
              <a:buChar char=""/>
              <a:tabLst>
                <a:tab pos="927100" algn="l"/>
                <a:tab pos="927735" algn="l"/>
              </a:tabLst>
            </a:pPr>
            <a:r>
              <a:rPr sz="2000" spc="-235" dirty="0">
                <a:latin typeface="Arial"/>
                <a:cs typeface="Arial"/>
              </a:rPr>
              <a:t>El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patrocinador</a:t>
            </a:r>
            <a:endParaRPr sz="2000" dirty="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Font typeface="Wingdings"/>
              <a:buChar char=""/>
              <a:tabLst>
                <a:tab pos="927100" algn="l"/>
                <a:tab pos="927735" algn="l"/>
              </a:tabLst>
            </a:pPr>
            <a:r>
              <a:rPr sz="2000" spc="-160" dirty="0">
                <a:latin typeface="Arial"/>
                <a:cs typeface="Arial"/>
              </a:rPr>
              <a:t>usuarios </a:t>
            </a:r>
            <a:r>
              <a:rPr sz="2000" spc="-120" dirty="0">
                <a:latin typeface="Arial"/>
                <a:cs typeface="Arial"/>
              </a:rPr>
              <a:t>que </a:t>
            </a:r>
            <a:r>
              <a:rPr sz="2000" spc="-75" dirty="0">
                <a:latin typeface="Arial"/>
                <a:cs typeface="Arial"/>
              </a:rPr>
              <a:t>recibieran </a:t>
            </a:r>
            <a:r>
              <a:rPr sz="2000" spc="-60" dirty="0">
                <a:latin typeface="Arial"/>
                <a:cs typeface="Arial"/>
              </a:rPr>
              <a:t>el</a:t>
            </a:r>
            <a:r>
              <a:rPr sz="2000" spc="21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producto/Servicio</a:t>
            </a:r>
            <a:endParaRPr sz="2000" dirty="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Font typeface="Wingdings"/>
              <a:buChar char=""/>
              <a:tabLst>
                <a:tab pos="927100" algn="l"/>
                <a:tab pos="927735" algn="l"/>
              </a:tabLst>
            </a:pPr>
            <a:r>
              <a:rPr sz="2000" spc="-60" dirty="0">
                <a:latin typeface="Arial"/>
                <a:cs typeface="Arial"/>
              </a:rPr>
              <a:t>el </a:t>
            </a:r>
            <a:r>
              <a:rPr sz="2000" spc="-80" dirty="0">
                <a:latin typeface="Arial"/>
                <a:cs typeface="Arial"/>
              </a:rPr>
              <a:t>equipo </a:t>
            </a:r>
            <a:r>
              <a:rPr sz="2000" spc="-60" dirty="0">
                <a:latin typeface="Arial"/>
                <a:cs typeface="Arial"/>
              </a:rPr>
              <a:t>de</a:t>
            </a:r>
            <a:r>
              <a:rPr sz="2000" spc="7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proyecto</a:t>
            </a:r>
            <a:endParaRPr sz="2000" dirty="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Font typeface="Wingdings"/>
              <a:buChar char=""/>
              <a:tabLst>
                <a:tab pos="927100" algn="l"/>
                <a:tab pos="927735" algn="l"/>
              </a:tabLst>
            </a:pPr>
            <a:r>
              <a:rPr sz="2000" spc="-235" dirty="0">
                <a:latin typeface="Arial"/>
                <a:cs typeface="Arial"/>
              </a:rPr>
              <a:t>Entes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externos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205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000" spc="-265" dirty="0">
                <a:latin typeface="Arial"/>
                <a:cs typeface="Arial"/>
              </a:rPr>
              <a:t>Los </a:t>
            </a:r>
            <a:r>
              <a:rPr sz="2000" spc="-120" dirty="0">
                <a:latin typeface="Arial"/>
                <a:cs typeface="Arial"/>
              </a:rPr>
              <a:t>interesados tienen </a:t>
            </a:r>
            <a:r>
              <a:rPr sz="2000" spc="-140" dirty="0">
                <a:latin typeface="Arial"/>
                <a:cs typeface="Arial"/>
              </a:rPr>
              <a:t>niveles </a:t>
            </a:r>
            <a:r>
              <a:rPr sz="2000" spc="-60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responsabilidad </a:t>
            </a:r>
            <a:r>
              <a:rPr sz="2000" dirty="0">
                <a:latin typeface="Arial"/>
                <a:cs typeface="Arial"/>
              </a:rPr>
              <a:t>y </a:t>
            </a:r>
            <a:r>
              <a:rPr sz="2000" spc="-45" dirty="0">
                <a:latin typeface="Arial"/>
                <a:cs typeface="Arial"/>
              </a:rPr>
              <a:t>autoridad</a:t>
            </a:r>
            <a:r>
              <a:rPr sz="2000" spc="26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variable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al </a:t>
            </a:r>
            <a:r>
              <a:rPr sz="2000" spc="-25" dirty="0">
                <a:latin typeface="Arial"/>
                <a:cs typeface="Arial"/>
              </a:rPr>
              <a:t>participar </a:t>
            </a:r>
            <a:r>
              <a:rPr sz="2000" spc="-175" dirty="0">
                <a:latin typeface="Arial"/>
                <a:cs typeface="Arial"/>
              </a:rPr>
              <a:t>en </a:t>
            </a:r>
            <a:r>
              <a:rPr sz="2000" spc="-235" dirty="0">
                <a:latin typeface="Arial"/>
                <a:cs typeface="Arial"/>
              </a:rPr>
              <a:t>un</a:t>
            </a:r>
            <a:r>
              <a:rPr sz="2000" spc="-26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proyecto.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534906"/>
            <a:ext cx="7421245" cy="308991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544830" indent="-532130">
              <a:lnSpc>
                <a:spcPct val="100000"/>
              </a:lnSpc>
              <a:spcBef>
                <a:spcPts val="350"/>
              </a:spcBef>
              <a:buClr>
                <a:srgbClr val="DA1F28"/>
              </a:buClr>
              <a:buSzPct val="75000"/>
              <a:buFont typeface="Wingdings"/>
              <a:buChar char=""/>
              <a:tabLst>
                <a:tab pos="544195" algn="l"/>
                <a:tab pos="545465" algn="l"/>
              </a:tabLst>
            </a:pPr>
            <a:r>
              <a:rPr sz="2200" spc="-254" dirty="0">
                <a:latin typeface="Arial"/>
                <a:cs typeface="Arial"/>
              </a:rPr>
              <a:t>Las </a:t>
            </a:r>
            <a:r>
              <a:rPr sz="2200" spc="-155" dirty="0">
                <a:latin typeface="Arial"/>
                <a:cs typeface="Arial"/>
              </a:rPr>
              <a:t>estructuras </a:t>
            </a:r>
            <a:r>
              <a:rPr sz="2200" spc="-114" dirty="0">
                <a:latin typeface="Arial"/>
                <a:cs typeface="Arial"/>
              </a:rPr>
              <a:t>organizacionales </a:t>
            </a:r>
            <a:r>
              <a:rPr sz="2200" spc="-20" dirty="0">
                <a:latin typeface="Arial"/>
                <a:cs typeface="Arial"/>
              </a:rPr>
              <a:t>para </a:t>
            </a:r>
            <a:r>
              <a:rPr sz="2200" spc="-15" dirty="0">
                <a:latin typeface="Arial"/>
                <a:cs typeface="Arial"/>
              </a:rPr>
              <a:t>la </a:t>
            </a:r>
            <a:r>
              <a:rPr sz="2200" spc="-140" dirty="0">
                <a:latin typeface="Arial"/>
                <a:cs typeface="Arial"/>
              </a:rPr>
              <a:t>gestión </a:t>
            </a:r>
            <a:r>
              <a:rPr sz="2200" spc="-70" dirty="0">
                <a:latin typeface="Arial"/>
                <a:cs typeface="Arial"/>
              </a:rPr>
              <a:t>de</a:t>
            </a:r>
            <a:r>
              <a:rPr sz="2200" spc="25" dirty="0">
                <a:latin typeface="Arial"/>
                <a:cs typeface="Arial"/>
              </a:rPr>
              <a:t> </a:t>
            </a:r>
            <a:r>
              <a:rPr sz="2200" spc="-130" dirty="0">
                <a:latin typeface="Arial"/>
                <a:cs typeface="Arial"/>
              </a:rPr>
              <a:t>proyectos</a:t>
            </a:r>
            <a:endParaRPr sz="2200">
              <a:latin typeface="Arial"/>
              <a:cs typeface="Arial"/>
            </a:endParaRPr>
          </a:p>
          <a:p>
            <a:pPr marL="332105">
              <a:lnSpc>
                <a:spcPct val="100000"/>
              </a:lnSpc>
              <a:spcBef>
                <a:spcPts val="254"/>
              </a:spcBef>
            </a:pPr>
            <a:r>
              <a:rPr sz="2200" spc="-135" dirty="0">
                <a:latin typeface="Arial"/>
                <a:cs typeface="Arial"/>
              </a:rPr>
              <a:t>puden </a:t>
            </a:r>
            <a:r>
              <a:rPr sz="2200" spc="-165" dirty="0">
                <a:latin typeface="Arial"/>
                <a:cs typeface="Arial"/>
              </a:rPr>
              <a:t>ser </a:t>
            </a:r>
            <a:r>
              <a:rPr sz="2200" spc="-105" dirty="0">
                <a:latin typeface="Arial"/>
                <a:cs typeface="Arial"/>
              </a:rPr>
              <a:t>clasificadas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175" dirty="0">
                <a:latin typeface="Arial"/>
                <a:cs typeface="Arial"/>
              </a:rPr>
              <a:t>en:</a:t>
            </a:r>
            <a:endParaRPr sz="2200">
              <a:latin typeface="Arial"/>
              <a:cs typeface="Arial"/>
            </a:endParaRPr>
          </a:p>
          <a:p>
            <a:pPr marL="1539875" lvl="1" indent="-384175">
              <a:lnSpc>
                <a:spcPct val="100000"/>
              </a:lnSpc>
              <a:spcBef>
                <a:spcPts val="395"/>
              </a:spcBef>
              <a:buClr>
                <a:srgbClr val="EB631B"/>
              </a:buClr>
              <a:buSzPct val="75000"/>
              <a:buChar char="–"/>
              <a:tabLst>
                <a:tab pos="1539875" algn="l"/>
                <a:tab pos="1540510" algn="l"/>
              </a:tabLst>
            </a:pPr>
            <a:r>
              <a:rPr sz="2200" spc="-180" dirty="0">
                <a:latin typeface="Arial"/>
                <a:cs typeface="Arial"/>
              </a:rPr>
              <a:t>Funcional</a:t>
            </a:r>
            <a:endParaRPr sz="2200">
              <a:latin typeface="Arial"/>
              <a:cs typeface="Arial"/>
            </a:endParaRPr>
          </a:p>
          <a:p>
            <a:pPr marL="1539875" lvl="1" indent="-384175">
              <a:lnSpc>
                <a:spcPct val="100000"/>
              </a:lnSpc>
              <a:spcBef>
                <a:spcPts val="409"/>
              </a:spcBef>
              <a:buClr>
                <a:srgbClr val="EB631B"/>
              </a:buClr>
              <a:buSzPct val="75000"/>
              <a:buChar char="–"/>
              <a:tabLst>
                <a:tab pos="1539875" algn="l"/>
                <a:tab pos="1540510" algn="l"/>
              </a:tabLst>
            </a:pPr>
            <a:r>
              <a:rPr sz="2200" spc="-105" dirty="0">
                <a:latin typeface="Arial"/>
                <a:cs typeface="Arial"/>
              </a:rPr>
              <a:t>Proyectizada</a:t>
            </a:r>
            <a:endParaRPr sz="2200">
              <a:latin typeface="Arial"/>
              <a:cs typeface="Arial"/>
            </a:endParaRPr>
          </a:p>
          <a:p>
            <a:pPr marL="1539875" lvl="1" indent="-384175">
              <a:lnSpc>
                <a:spcPct val="100000"/>
              </a:lnSpc>
              <a:spcBef>
                <a:spcPts val="395"/>
              </a:spcBef>
              <a:buClr>
                <a:srgbClr val="EB631B"/>
              </a:buClr>
              <a:buSzPct val="75000"/>
              <a:buChar char="–"/>
              <a:tabLst>
                <a:tab pos="1539875" algn="l"/>
                <a:tab pos="1540510" algn="l"/>
                <a:tab pos="2682875" algn="l"/>
              </a:tabLst>
            </a:pPr>
            <a:r>
              <a:rPr sz="2200" spc="-55" dirty="0">
                <a:latin typeface="Arial"/>
                <a:cs typeface="Arial"/>
              </a:rPr>
              <a:t>Matricial	</a:t>
            </a:r>
            <a:r>
              <a:rPr sz="2200" spc="-195" dirty="0">
                <a:latin typeface="Arial"/>
                <a:cs typeface="Arial"/>
              </a:rPr>
              <a:t>Fuente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/Debil/Balanceada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EB631B"/>
              </a:buClr>
              <a:buFont typeface="Arial"/>
              <a:buChar char="–"/>
            </a:pPr>
            <a:endParaRPr sz="3400">
              <a:latin typeface="Times New Roman"/>
              <a:cs typeface="Times New Roman"/>
            </a:endParaRPr>
          </a:p>
          <a:p>
            <a:pPr marL="419100" indent="-406400">
              <a:lnSpc>
                <a:spcPct val="100000"/>
              </a:lnSpc>
              <a:spcBef>
                <a:spcPts val="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419100" algn="l"/>
                <a:tab pos="419734" algn="l"/>
              </a:tabLst>
            </a:pPr>
            <a:r>
              <a:rPr sz="2200" spc="-200" dirty="0">
                <a:latin typeface="Arial"/>
                <a:cs typeface="Arial"/>
              </a:rPr>
              <a:t>La  </a:t>
            </a:r>
            <a:r>
              <a:rPr sz="2200" spc="-130" dirty="0">
                <a:latin typeface="Arial"/>
                <a:cs typeface="Arial"/>
              </a:rPr>
              <a:t>estructura </a:t>
            </a:r>
            <a:r>
              <a:rPr sz="2200" spc="-195" dirty="0">
                <a:latin typeface="Arial"/>
                <a:cs typeface="Arial"/>
              </a:rPr>
              <a:t>en  </a:t>
            </a:r>
            <a:r>
              <a:rPr sz="2200" spc="-185" dirty="0">
                <a:latin typeface="Arial"/>
                <a:cs typeface="Arial"/>
              </a:rPr>
              <a:t>una  </a:t>
            </a:r>
            <a:r>
              <a:rPr sz="2200" spc="-110" dirty="0">
                <a:latin typeface="Arial"/>
                <a:cs typeface="Arial"/>
              </a:rPr>
              <a:t>organizacion puede </a:t>
            </a:r>
            <a:r>
              <a:rPr sz="2200" spc="-170" dirty="0">
                <a:latin typeface="Arial"/>
                <a:cs typeface="Arial"/>
              </a:rPr>
              <a:t>ser </a:t>
            </a:r>
            <a:r>
              <a:rPr sz="2200" spc="-165" dirty="0">
                <a:latin typeface="Arial"/>
                <a:cs typeface="Arial"/>
              </a:rPr>
              <a:t>unica </a:t>
            </a:r>
            <a:r>
              <a:rPr sz="2200" spc="-130" dirty="0">
                <a:latin typeface="Arial"/>
                <a:cs typeface="Arial"/>
              </a:rPr>
              <a:t>o</a:t>
            </a:r>
            <a:r>
              <a:rPr sz="2200" spc="125" dirty="0">
                <a:latin typeface="Arial"/>
                <a:cs typeface="Arial"/>
              </a:rPr>
              <a:t> </a:t>
            </a:r>
            <a:r>
              <a:rPr sz="2200" spc="-215" dirty="0">
                <a:latin typeface="Arial"/>
                <a:cs typeface="Arial"/>
              </a:rPr>
              <a:t>con</a:t>
            </a:r>
            <a:endParaRPr sz="220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</a:pPr>
            <a:r>
              <a:rPr sz="2200" spc="-120" dirty="0">
                <a:latin typeface="Arial"/>
                <a:cs typeface="Arial"/>
              </a:rPr>
              <a:t>caracteristicas </a:t>
            </a:r>
            <a:r>
              <a:rPr sz="2200" spc="-7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alguna </a:t>
            </a:r>
            <a:r>
              <a:rPr sz="2200" spc="-70" dirty="0">
                <a:latin typeface="Arial"/>
                <a:cs typeface="Arial"/>
              </a:rPr>
              <a:t>de </a:t>
            </a:r>
            <a:r>
              <a:rPr sz="2200" spc="-135" dirty="0">
                <a:latin typeface="Arial"/>
                <a:cs typeface="Arial"/>
              </a:rPr>
              <a:t>las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anteriores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209550"/>
            <a:ext cx="458470" cy="916940"/>
          </a:xfrm>
          <a:custGeom>
            <a:avLst/>
            <a:gdLst/>
            <a:ahLst/>
            <a:cxnLst/>
            <a:rect l="l" t="t" r="r" b="b"/>
            <a:pathLst>
              <a:path w="458469" h="916940">
                <a:moveTo>
                  <a:pt x="458393" y="0"/>
                </a:moveTo>
                <a:lnTo>
                  <a:pt x="411526" y="2366"/>
                </a:lnTo>
                <a:lnTo>
                  <a:pt x="366012" y="9312"/>
                </a:lnTo>
                <a:lnTo>
                  <a:pt x="322082" y="20608"/>
                </a:lnTo>
                <a:lnTo>
                  <a:pt x="279967" y="36022"/>
                </a:lnTo>
                <a:lnTo>
                  <a:pt x="239897" y="55324"/>
                </a:lnTo>
                <a:lnTo>
                  <a:pt x="202102" y="78284"/>
                </a:lnTo>
                <a:lnTo>
                  <a:pt x="166813" y="104671"/>
                </a:lnTo>
                <a:lnTo>
                  <a:pt x="134261" y="134254"/>
                </a:lnTo>
                <a:lnTo>
                  <a:pt x="104675" y="166804"/>
                </a:lnTo>
                <a:lnTo>
                  <a:pt x="78287" y="202089"/>
                </a:lnTo>
                <a:lnTo>
                  <a:pt x="55326" y="239880"/>
                </a:lnTo>
                <a:lnTo>
                  <a:pt x="36023" y="279945"/>
                </a:lnTo>
                <a:lnTo>
                  <a:pt x="20608" y="322055"/>
                </a:lnTo>
                <a:lnTo>
                  <a:pt x="9313" y="365978"/>
                </a:lnTo>
                <a:lnTo>
                  <a:pt x="2366" y="411484"/>
                </a:lnTo>
                <a:lnTo>
                  <a:pt x="0" y="458342"/>
                </a:lnTo>
                <a:lnTo>
                  <a:pt x="2366" y="505224"/>
                </a:lnTo>
                <a:lnTo>
                  <a:pt x="9313" y="550749"/>
                </a:lnTo>
                <a:lnTo>
                  <a:pt x="20608" y="594689"/>
                </a:lnTo>
                <a:lnTo>
                  <a:pt x="36023" y="636813"/>
                </a:lnTo>
                <a:lnTo>
                  <a:pt x="55326" y="676891"/>
                </a:lnTo>
                <a:lnTo>
                  <a:pt x="78287" y="714692"/>
                </a:lnTo>
                <a:lnTo>
                  <a:pt x="104675" y="749985"/>
                </a:lnTo>
                <a:lnTo>
                  <a:pt x="134261" y="782542"/>
                </a:lnTo>
                <a:lnTo>
                  <a:pt x="166813" y="812131"/>
                </a:lnTo>
                <a:lnTo>
                  <a:pt x="202102" y="838521"/>
                </a:lnTo>
                <a:lnTo>
                  <a:pt x="239897" y="861484"/>
                </a:lnTo>
                <a:lnTo>
                  <a:pt x="279967" y="880788"/>
                </a:lnTo>
                <a:lnTo>
                  <a:pt x="322082" y="896203"/>
                </a:lnTo>
                <a:lnTo>
                  <a:pt x="366012" y="907499"/>
                </a:lnTo>
                <a:lnTo>
                  <a:pt x="411526" y="914446"/>
                </a:lnTo>
                <a:lnTo>
                  <a:pt x="458393" y="916813"/>
                </a:lnTo>
                <a:lnTo>
                  <a:pt x="458393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209550"/>
            <a:ext cx="458470" cy="916940"/>
          </a:xfrm>
          <a:custGeom>
            <a:avLst/>
            <a:gdLst/>
            <a:ahLst/>
            <a:cxnLst/>
            <a:rect l="l" t="t" r="r" b="b"/>
            <a:pathLst>
              <a:path w="458469" h="916940">
                <a:moveTo>
                  <a:pt x="458393" y="916813"/>
                </a:moveTo>
                <a:lnTo>
                  <a:pt x="411526" y="914446"/>
                </a:lnTo>
                <a:lnTo>
                  <a:pt x="366012" y="907499"/>
                </a:lnTo>
                <a:lnTo>
                  <a:pt x="322082" y="896203"/>
                </a:lnTo>
                <a:lnTo>
                  <a:pt x="279967" y="880788"/>
                </a:lnTo>
                <a:lnTo>
                  <a:pt x="239897" y="861484"/>
                </a:lnTo>
                <a:lnTo>
                  <a:pt x="202102" y="838521"/>
                </a:lnTo>
                <a:lnTo>
                  <a:pt x="166813" y="812131"/>
                </a:lnTo>
                <a:lnTo>
                  <a:pt x="134261" y="782542"/>
                </a:lnTo>
                <a:lnTo>
                  <a:pt x="104675" y="749985"/>
                </a:lnTo>
                <a:lnTo>
                  <a:pt x="78287" y="714692"/>
                </a:lnTo>
                <a:lnTo>
                  <a:pt x="55326" y="676891"/>
                </a:lnTo>
                <a:lnTo>
                  <a:pt x="36023" y="636813"/>
                </a:lnTo>
                <a:lnTo>
                  <a:pt x="20608" y="594689"/>
                </a:lnTo>
                <a:lnTo>
                  <a:pt x="9313" y="550749"/>
                </a:lnTo>
                <a:lnTo>
                  <a:pt x="2366" y="505224"/>
                </a:lnTo>
                <a:lnTo>
                  <a:pt x="0" y="458342"/>
                </a:lnTo>
                <a:lnTo>
                  <a:pt x="2366" y="411484"/>
                </a:lnTo>
                <a:lnTo>
                  <a:pt x="9313" y="365978"/>
                </a:lnTo>
                <a:lnTo>
                  <a:pt x="20608" y="322055"/>
                </a:lnTo>
                <a:lnTo>
                  <a:pt x="36023" y="279945"/>
                </a:lnTo>
                <a:lnTo>
                  <a:pt x="55326" y="239880"/>
                </a:lnTo>
                <a:lnTo>
                  <a:pt x="78287" y="202089"/>
                </a:lnTo>
                <a:lnTo>
                  <a:pt x="104675" y="166804"/>
                </a:lnTo>
                <a:lnTo>
                  <a:pt x="134261" y="134254"/>
                </a:lnTo>
                <a:lnTo>
                  <a:pt x="166813" y="104671"/>
                </a:lnTo>
                <a:lnTo>
                  <a:pt x="202102" y="78284"/>
                </a:lnTo>
                <a:lnTo>
                  <a:pt x="239897" y="55324"/>
                </a:lnTo>
                <a:lnTo>
                  <a:pt x="279967" y="36022"/>
                </a:lnTo>
                <a:lnTo>
                  <a:pt x="322082" y="20608"/>
                </a:lnTo>
                <a:lnTo>
                  <a:pt x="366012" y="9312"/>
                </a:lnTo>
                <a:lnTo>
                  <a:pt x="411526" y="2366"/>
                </a:lnTo>
                <a:lnTo>
                  <a:pt x="458393" y="0"/>
                </a:lnTo>
                <a:lnTo>
                  <a:pt x="458393" y="458342"/>
                </a:lnTo>
                <a:lnTo>
                  <a:pt x="458393" y="916813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5593" y="209588"/>
            <a:ext cx="8076565" cy="916940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225425" rIns="0" bIns="0" rtlCol="0">
            <a:spAutoFit/>
          </a:bodyPr>
          <a:lstStyle/>
          <a:p>
            <a:pPr marL="3103245" marR="260350" indent="-2836545">
              <a:lnSpc>
                <a:spcPts val="2750"/>
              </a:lnSpc>
              <a:spcBef>
                <a:spcPts val="1775"/>
              </a:spcBef>
            </a:pPr>
            <a:r>
              <a:rPr sz="2800" i="0" spc="-270" dirty="0">
                <a:solidFill>
                  <a:srgbClr val="000000"/>
                </a:solidFill>
                <a:latin typeface="Arial"/>
                <a:cs typeface="Arial"/>
              </a:rPr>
              <a:t>Estructura </a:t>
            </a:r>
            <a:r>
              <a:rPr sz="2800" i="0" spc="-150" dirty="0">
                <a:solidFill>
                  <a:srgbClr val="000000"/>
                </a:solidFill>
                <a:latin typeface="Arial"/>
                <a:cs typeface="Arial"/>
              </a:rPr>
              <a:t>Organizacional </a:t>
            </a:r>
            <a:r>
              <a:rPr sz="2800" i="0" spc="-155" dirty="0">
                <a:solidFill>
                  <a:srgbClr val="000000"/>
                </a:solidFill>
                <a:latin typeface="Arial"/>
                <a:cs typeface="Arial"/>
              </a:rPr>
              <a:t>-Influencia </a:t>
            </a:r>
            <a:r>
              <a:rPr sz="2800" i="0" spc="-225" dirty="0">
                <a:solidFill>
                  <a:srgbClr val="000000"/>
                </a:solidFill>
                <a:latin typeface="Arial"/>
                <a:cs typeface="Arial"/>
              </a:rPr>
              <a:t>en </a:t>
            </a:r>
            <a:r>
              <a:rPr sz="2800" i="0" spc="-65" dirty="0">
                <a:solidFill>
                  <a:srgbClr val="000000"/>
                </a:solidFill>
                <a:latin typeface="Arial"/>
                <a:cs typeface="Arial"/>
              </a:rPr>
              <a:t>la </a:t>
            </a:r>
            <a:r>
              <a:rPr sz="2800" i="0" spc="-225" dirty="0">
                <a:solidFill>
                  <a:srgbClr val="000000"/>
                </a:solidFill>
                <a:latin typeface="Arial"/>
                <a:cs typeface="Arial"/>
              </a:rPr>
              <a:t>Gestión  de</a:t>
            </a:r>
            <a:r>
              <a:rPr sz="2800" i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i="0" spc="-254" dirty="0">
                <a:solidFill>
                  <a:srgbClr val="000000"/>
                </a:solidFill>
                <a:latin typeface="Arial"/>
                <a:cs typeface="Arial"/>
              </a:rPr>
              <a:t>proyectos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2300" y="466725"/>
            <a:ext cx="214629" cy="428625"/>
          </a:xfrm>
          <a:custGeom>
            <a:avLst/>
            <a:gdLst/>
            <a:ahLst/>
            <a:cxnLst/>
            <a:rect l="l" t="t" r="r" b="b"/>
            <a:pathLst>
              <a:path w="214630" h="428625">
                <a:moveTo>
                  <a:pt x="214312" y="0"/>
                </a:moveTo>
                <a:lnTo>
                  <a:pt x="165171" y="5663"/>
                </a:lnTo>
                <a:lnTo>
                  <a:pt x="120062" y="21792"/>
                </a:lnTo>
                <a:lnTo>
                  <a:pt x="80269" y="47096"/>
                </a:lnTo>
                <a:lnTo>
                  <a:pt x="47081" y="80284"/>
                </a:lnTo>
                <a:lnTo>
                  <a:pt x="21782" y="120066"/>
                </a:lnTo>
                <a:lnTo>
                  <a:pt x="5660" y="165151"/>
                </a:lnTo>
                <a:lnTo>
                  <a:pt x="0" y="214249"/>
                </a:lnTo>
                <a:lnTo>
                  <a:pt x="5660" y="263393"/>
                </a:lnTo>
                <a:lnTo>
                  <a:pt x="21782" y="308511"/>
                </a:lnTo>
                <a:lnTo>
                  <a:pt x="47081" y="348316"/>
                </a:lnTo>
                <a:lnTo>
                  <a:pt x="80269" y="381518"/>
                </a:lnTo>
                <a:lnTo>
                  <a:pt x="120062" y="406829"/>
                </a:lnTo>
                <a:lnTo>
                  <a:pt x="165171" y="422961"/>
                </a:lnTo>
                <a:lnTo>
                  <a:pt x="214312" y="428625"/>
                </a:lnTo>
                <a:lnTo>
                  <a:pt x="214312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6612" y="466725"/>
            <a:ext cx="7977505" cy="428625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2509520">
              <a:lnSpc>
                <a:spcPct val="100000"/>
              </a:lnSpc>
              <a:spcBef>
                <a:spcPts val="130"/>
              </a:spcBef>
            </a:pPr>
            <a:r>
              <a:rPr sz="2100" i="0" spc="-200" dirty="0">
                <a:solidFill>
                  <a:srgbClr val="000000"/>
                </a:solidFill>
                <a:latin typeface="Arial"/>
                <a:cs typeface="Arial"/>
              </a:rPr>
              <a:t>Estructura </a:t>
            </a:r>
            <a:r>
              <a:rPr sz="2100" i="0" spc="-160" dirty="0">
                <a:solidFill>
                  <a:srgbClr val="000000"/>
                </a:solidFill>
                <a:latin typeface="Arial"/>
                <a:cs typeface="Arial"/>
              </a:rPr>
              <a:t>Funcional</a:t>
            </a:r>
            <a:r>
              <a:rPr sz="2100" i="0" spc="-2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100" i="0" spc="-155" dirty="0">
                <a:solidFill>
                  <a:srgbClr val="000000"/>
                </a:solidFill>
                <a:latin typeface="Arial"/>
                <a:cs typeface="Arial"/>
              </a:rPr>
              <a:t>Típica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05778" y="1935607"/>
            <a:ext cx="1890522" cy="2786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05778" y="1935607"/>
            <a:ext cx="1891030" cy="278765"/>
          </a:xfrm>
          <a:custGeom>
            <a:avLst/>
            <a:gdLst/>
            <a:ahLst/>
            <a:cxnLst/>
            <a:rect l="l" t="t" r="r" b="b"/>
            <a:pathLst>
              <a:path w="1891029" h="278764">
                <a:moveTo>
                  <a:pt x="0" y="46481"/>
                </a:moveTo>
                <a:lnTo>
                  <a:pt x="3635" y="28396"/>
                </a:lnTo>
                <a:lnTo>
                  <a:pt x="13557" y="13620"/>
                </a:lnTo>
                <a:lnTo>
                  <a:pt x="28289" y="3655"/>
                </a:lnTo>
                <a:lnTo>
                  <a:pt x="46354" y="0"/>
                </a:lnTo>
                <a:lnTo>
                  <a:pt x="1844040" y="0"/>
                </a:lnTo>
                <a:lnTo>
                  <a:pt x="1862125" y="3655"/>
                </a:lnTo>
                <a:lnTo>
                  <a:pt x="1876901" y="13620"/>
                </a:lnTo>
                <a:lnTo>
                  <a:pt x="1886866" y="28396"/>
                </a:lnTo>
                <a:lnTo>
                  <a:pt x="1890522" y="46481"/>
                </a:lnTo>
                <a:lnTo>
                  <a:pt x="1890522" y="232282"/>
                </a:lnTo>
                <a:lnTo>
                  <a:pt x="1886866" y="250348"/>
                </a:lnTo>
                <a:lnTo>
                  <a:pt x="1876901" y="265080"/>
                </a:lnTo>
                <a:lnTo>
                  <a:pt x="1862125" y="275002"/>
                </a:lnTo>
                <a:lnTo>
                  <a:pt x="1844040" y="278638"/>
                </a:lnTo>
                <a:lnTo>
                  <a:pt x="46354" y="278638"/>
                </a:lnTo>
                <a:lnTo>
                  <a:pt x="28289" y="275002"/>
                </a:lnTo>
                <a:lnTo>
                  <a:pt x="13557" y="265080"/>
                </a:lnTo>
                <a:lnTo>
                  <a:pt x="3635" y="250348"/>
                </a:lnTo>
                <a:lnTo>
                  <a:pt x="0" y="232282"/>
                </a:lnTo>
                <a:lnTo>
                  <a:pt x="0" y="464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698995" y="1981326"/>
            <a:ext cx="13328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Función </a:t>
            </a:r>
            <a:r>
              <a:rPr sz="1200" b="1" dirty="0">
                <a:latin typeface="Tahoma"/>
                <a:cs typeface="Tahoma"/>
              </a:rPr>
              <a:t>3</a:t>
            </a:r>
            <a:r>
              <a:rPr sz="1200" b="1" spc="-70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Diseño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3900" y="1935607"/>
            <a:ext cx="1890522" cy="2786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3900" y="1935607"/>
            <a:ext cx="1891030" cy="278765"/>
          </a:xfrm>
          <a:custGeom>
            <a:avLst/>
            <a:gdLst/>
            <a:ahLst/>
            <a:cxnLst/>
            <a:rect l="l" t="t" r="r" b="b"/>
            <a:pathLst>
              <a:path w="1891030" h="278764">
                <a:moveTo>
                  <a:pt x="0" y="46481"/>
                </a:moveTo>
                <a:lnTo>
                  <a:pt x="3649" y="28396"/>
                </a:lnTo>
                <a:lnTo>
                  <a:pt x="13601" y="13620"/>
                </a:lnTo>
                <a:lnTo>
                  <a:pt x="28364" y="3655"/>
                </a:lnTo>
                <a:lnTo>
                  <a:pt x="46443" y="0"/>
                </a:lnTo>
                <a:lnTo>
                  <a:pt x="1844167" y="0"/>
                </a:lnTo>
                <a:lnTo>
                  <a:pt x="1862232" y="3655"/>
                </a:lnTo>
                <a:lnTo>
                  <a:pt x="1876964" y="13620"/>
                </a:lnTo>
                <a:lnTo>
                  <a:pt x="1886886" y="28396"/>
                </a:lnTo>
                <a:lnTo>
                  <a:pt x="1890522" y="46481"/>
                </a:lnTo>
                <a:lnTo>
                  <a:pt x="1890522" y="232282"/>
                </a:lnTo>
                <a:lnTo>
                  <a:pt x="1886886" y="250348"/>
                </a:lnTo>
                <a:lnTo>
                  <a:pt x="1876964" y="265080"/>
                </a:lnTo>
                <a:lnTo>
                  <a:pt x="1862232" y="275002"/>
                </a:lnTo>
                <a:lnTo>
                  <a:pt x="1844167" y="278638"/>
                </a:lnTo>
                <a:lnTo>
                  <a:pt x="46443" y="278638"/>
                </a:lnTo>
                <a:lnTo>
                  <a:pt x="28364" y="275002"/>
                </a:lnTo>
                <a:lnTo>
                  <a:pt x="13601" y="265080"/>
                </a:lnTo>
                <a:lnTo>
                  <a:pt x="3649" y="250348"/>
                </a:lnTo>
                <a:lnTo>
                  <a:pt x="0" y="232282"/>
                </a:lnTo>
                <a:lnTo>
                  <a:pt x="0" y="464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6355" y="1981326"/>
            <a:ext cx="1664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Función </a:t>
            </a:r>
            <a:r>
              <a:rPr sz="1200" b="1" dirty="0">
                <a:latin typeface="Tahoma"/>
                <a:cs typeface="Tahoma"/>
              </a:rPr>
              <a:t>1</a:t>
            </a:r>
            <a:r>
              <a:rPr sz="1200" b="1" spc="-6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Producción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64839" y="1935607"/>
            <a:ext cx="1890522" cy="2786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64839" y="1935607"/>
            <a:ext cx="1891030" cy="278765"/>
          </a:xfrm>
          <a:custGeom>
            <a:avLst/>
            <a:gdLst/>
            <a:ahLst/>
            <a:cxnLst/>
            <a:rect l="l" t="t" r="r" b="b"/>
            <a:pathLst>
              <a:path w="1891029" h="278764">
                <a:moveTo>
                  <a:pt x="0" y="46481"/>
                </a:moveTo>
                <a:lnTo>
                  <a:pt x="3653" y="28396"/>
                </a:lnTo>
                <a:lnTo>
                  <a:pt x="13604" y="13620"/>
                </a:lnTo>
                <a:lnTo>
                  <a:pt x="28342" y="3655"/>
                </a:lnTo>
                <a:lnTo>
                  <a:pt x="46355" y="0"/>
                </a:lnTo>
                <a:lnTo>
                  <a:pt x="1844039" y="0"/>
                </a:lnTo>
                <a:lnTo>
                  <a:pt x="1862125" y="3655"/>
                </a:lnTo>
                <a:lnTo>
                  <a:pt x="1876901" y="13620"/>
                </a:lnTo>
                <a:lnTo>
                  <a:pt x="1886866" y="28396"/>
                </a:lnTo>
                <a:lnTo>
                  <a:pt x="1890522" y="46481"/>
                </a:lnTo>
                <a:lnTo>
                  <a:pt x="1890522" y="232282"/>
                </a:lnTo>
                <a:lnTo>
                  <a:pt x="1886866" y="250348"/>
                </a:lnTo>
                <a:lnTo>
                  <a:pt x="1876901" y="265080"/>
                </a:lnTo>
                <a:lnTo>
                  <a:pt x="1862125" y="275002"/>
                </a:lnTo>
                <a:lnTo>
                  <a:pt x="1844039" y="278638"/>
                </a:lnTo>
                <a:lnTo>
                  <a:pt x="46355" y="278638"/>
                </a:lnTo>
                <a:lnTo>
                  <a:pt x="28342" y="275002"/>
                </a:lnTo>
                <a:lnTo>
                  <a:pt x="13604" y="265080"/>
                </a:lnTo>
                <a:lnTo>
                  <a:pt x="3653" y="250348"/>
                </a:lnTo>
                <a:lnTo>
                  <a:pt x="0" y="232282"/>
                </a:lnTo>
                <a:lnTo>
                  <a:pt x="0" y="464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757676" y="1981326"/>
            <a:ext cx="1651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Función </a:t>
            </a:r>
            <a:r>
              <a:rPr sz="1200" b="1" dirty="0">
                <a:latin typeface="Tahoma"/>
                <a:cs typeface="Tahoma"/>
              </a:rPr>
              <a:t>2.</a:t>
            </a:r>
            <a:r>
              <a:rPr sz="1200" b="1" spc="-9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Ingenieria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3900" y="2400045"/>
            <a:ext cx="1891030" cy="278765"/>
          </a:xfrm>
          <a:custGeom>
            <a:avLst/>
            <a:gdLst/>
            <a:ahLst/>
            <a:cxnLst/>
            <a:rect l="l" t="t" r="r" b="b"/>
            <a:pathLst>
              <a:path w="1891030" h="278764">
                <a:moveTo>
                  <a:pt x="1844167" y="0"/>
                </a:moveTo>
                <a:lnTo>
                  <a:pt x="46443" y="0"/>
                </a:lnTo>
                <a:lnTo>
                  <a:pt x="28364" y="3655"/>
                </a:lnTo>
                <a:lnTo>
                  <a:pt x="13601" y="13620"/>
                </a:lnTo>
                <a:lnTo>
                  <a:pt x="3649" y="28396"/>
                </a:lnTo>
                <a:lnTo>
                  <a:pt x="0" y="46481"/>
                </a:lnTo>
                <a:lnTo>
                  <a:pt x="0" y="232283"/>
                </a:lnTo>
                <a:lnTo>
                  <a:pt x="3649" y="250368"/>
                </a:lnTo>
                <a:lnTo>
                  <a:pt x="13601" y="265144"/>
                </a:lnTo>
                <a:lnTo>
                  <a:pt x="28364" y="275109"/>
                </a:lnTo>
                <a:lnTo>
                  <a:pt x="46443" y="278765"/>
                </a:lnTo>
                <a:lnTo>
                  <a:pt x="1844167" y="278765"/>
                </a:lnTo>
                <a:lnTo>
                  <a:pt x="1862232" y="275109"/>
                </a:lnTo>
                <a:lnTo>
                  <a:pt x="1876964" y="265144"/>
                </a:lnTo>
                <a:lnTo>
                  <a:pt x="1886886" y="250368"/>
                </a:lnTo>
                <a:lnTo>
                  <a:pt x="1890522" y="232283"/>
                </a:lnTo>
                <a:lnTo>
                  <a:pt x="1890522" y="46481"/>
                </a:lnTo>
                <a:lnTo>
                  <a:pt x="1886886" y="28396"/>
                </a:lnTo>
                <a:lnTo>
                  <a:pt x="1876964" y="13620"/>
                </a:lnTo>
                <a:lnTo>
                  <a:pt x="1862232" y="3655"/>
                </a:lnTo>
                <a:lnTo>
                  <a:pt x="1844167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3900" y="2400045"/>
            <a:ext cx="1891030" cy="278765"/>
          </a:xfrm>
          <a:custGeom>
            <a:avLst/>
            <a:gdLst/>
            <a:ahLst/>
            <a:cxnLst/>
            <a:rect l="l" t="t" r="r" b="b"/>
            <a:pathLst>
              <a:path w="1891030" h="278764">
                <a:moveTo>
                  <a:pt x="0" y="46481"/>
                </a:moveTo>
                <a:lnTo>
                  <a:pt x="3649" y="28396"/>
                </a:lnTo>
                <a:lnTo>
                  <a:pt x="13601" y="13620"/>
                </a:lnTo>
                <a:lnTo>
                  <a:pt x="28364" y="3655"/>
                </a:lnTo>
                <a:lnTo>
                  <a:pt x="46443" y="0"/>
                </a:lnTo>
                <a:lnTo>
                  <a:pt x="1844167" y="0"/>
                </a:lnTo>
                <a:lnTo>
                  <a:pt x="1862232" y="3655"/>
                </a:lnTo>
                <a:lnTo>
                  <a:pt x="1876964" y="13620"/>
                </a:lnTo>
                <a:lnTo>
                  <a:pt x="1886886" y="28396"/>
                </a:lnTo>
                <a:lnTo>
                  <a:pt x="1890522" y="46481"/>
                </a:lnTo>
                <a:lnTo>
                  <a:pt x="1890522" y="232283"/>
                </a:lnTo>
                <a:lnTo>
                  <a:pt x="1886886" y="250368"/>
                </a:lnTo>
                <a:lnTo>
                  <a:pt x="1876964" y="265144"/>
                </a:lnTo>
                <a:lnTo>
                  <a:pt x="1862232" y="275109"/>
                </a:lnTo>
                <a:lnTo>
                  <a:pt x="1844167" y="278765"/>
                </a:lnTo>
                <a:lnTo>
                  <a:pt x="46443" y="278765"/>
                </a:lnTo>
                <a:lnTo>
                  <a:pt x="28364" y="275109"/>
                </a:lnTo>
                <a:lnTo>
                  <a:pt x="13601" y="265144"/>
                </a:lnTo>
                <a:lnTo>
                  <a:pt x="3649" y="250368"/>
                </a:lnTo>
                <a:lnTo>
                  <a:pt x="0" y="232283"/>
                </a:lnTo>
                <a:lnTo>
                  <a:pt x="0" y="464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6355" y="2445766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64839" y="2400045"/>
            <a:ext cx="1890522" cy="2787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64839" y="2400045"/>
            <a:ext cx="1891030" cy="278765"/>
          </a:xfrm>
          <a:custGeom>
            <a:avLst/>
            <a:gdLst/>
            <a:ahLst/>
            <a:cxnLst/>
            <a:rect l="l" t="t" r="r" b="b"/>
            <a:pathLst>
              <a:path w="1891029" h="278764">
                <a:moveTo>
                  <a:pt x="0" y="46481"/>
                </a:moveTo>
                <a:lnTo>
                  <a:pt x="3653" y="28396"/>
                </a:lnTo>
                <a:lnTo>
                  <a:pt x="13604" y="13620"/>
                </a:lnTo>
                <a:lnTo>
                  <a:pt x="28342" y="3655"/>
                </a:lnTo>
                <a:lnTo>
                  <a:pt x="46355" y="0"/>
                </a:lnTo>
                <a:lnTo>
                  <a:pt x="1844039" y="0"/>
                </a:lnTo>
                <a:lnTo>
                  <a:pt x="1862125" y="3655"/>
                </a:lnTo>
                <a:lnTo>
                  <a:pt x="1876901" y="13620"/>
                </a:lnTo>
                <a:lnTo>
                  <a:pt x="1886866" y="28396"/>
                </a:lnTo>
                <a:lnTo>
                  <a:pt x="1890522" y="46481"/>
                </a:lnTo>
                <a:lnTo>
                  <a:pt x="1890522" y="232283"/>
                </a:lnTo>
                <a:lnTo>
                  <a:pt x="1886866" y="250368"/>
                </a:lnTo>
                <a:lnTo>
                  <a:pt x="1876901" y="265144"/>
                </a:lnTo>
                <a:lnTo>
                  <a:pt x="1862125" y="275109"/>
                </a:lnTo>
                <a:lnTo>
                  <a:pt x="1844039" y="278765"/>
                </a:lnTo>
                <a:lnTo>
                  <a:pt x="46355" y="278765"/>
                </a:lnTo>
                <a:lnTo>
                  <a:pt x="28342" y="275109"/>
                </a:lnTo>
                <a:lnTo>
                  <a:pt x="13604" y="265144"/>
                </a:lnTo>
                <a:lnTo>
                  <a:pt x="3653" y="250368"/>
                </a:lnTo>
                <a:lnTo>
                  <a:pt x="0" y="232283"/>
                </a:lnTo>
                <a:lnTo>
                  <a:pt x="0" y="464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57676" y="2445766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05778" y="2400045"/>
            <a:ext cx="1891030" cy="278765"/>
          </a:xfrm>
          <a:custGeom>
            <a:avLst/>
            <a:gdLst/>
            <a:ahLst/>
            <a:cxnLst/>
            <a:rect l="l" t="t" r="r" b="b"/>
            <a:pathLst>
              <a:path w="1891029" h="278764">
                <a:moveTo>
                  <a:pt x="1844040" y="0"/>
                </a:moveTo>
                <a:lnTo>
                  <a:pt x="46354" y="0"/>
                </a:lnTo>
                <a:lnTo>
                  <a:pt x="28289" y="3655"/>
                </a:lnTo>
                <a:lnTo>
                  <a:pt x="13557" y="13620"/>
                </a:lnTo>
                <a:lnTo>
                  <a:pt x="3635" y="28396"/>
                </a:lnTo>
                <a:lnTo>
                  <a:pt x="0" y="46481"/>
                </a:lnTo>
                <a:lnTo>
                  <a:pt x="0" y="232283"/>
                </a:lnTo>
                <a:lnTo>
                  <a:pt x="3635" y="250368"/>
                </a:lnTo>
                <a:lnTo>
                  <a:pt x="13557" y="265144"/>
                </a:lnTo>
                <a:lnTo>
                  <a:pt x="28289" y="275109"/>
                </a:lnTo>
                <a:lnTo>
                  <a:pt x="46354" y="278765"/>
                </a:lnTo>
                <a:lnTo>
                  <a:pt x="1844040" y="278765"/>
                </a:lnTo>
                <a:lnTo>
                  <a:pt x="1862125" y="275109"/>
                </a:lnTo>
                <a:lnTo>
                  <a:pt x="1876901" y="265144"/>
                </a:lnTo>
                <a:lnTo>
                  <a:pt x="1886866" y="250368"/>
                </a:lnTo>
                <a:lnTo>
                  <a:pt x="1890522" y="232283"/>
                </a:lnTo>
                <a:lnTo>
                  <a:pt x="1890522" y="46481"/>
                </a:lnTo>
                <a:lnTo>
                  <a:pt x="1886866" y="28396"/>
                </a:lnTo>
                <a:lnTo>
                  <a:pt x="1876901" y="13620"/>
                </a:lnTo>
                <a:lnTo>
                  <a:pt x="1862125" y="3655"/>
                </a:lnTo>
                <a:lnTo>
                  <a:pt x="1844040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605778" y="2400045"/>
            <a:ext cx="1891030" cy="278765"/>
          </a:xfrm>
          <a:custGeom>
            <a:avLst/>
            <a:gdLst/>
            <a:ahLst/>
            <a:cxnLst/>
            <a:rect l="l" t="t" r="r" b="b"/>
            <a:pathLst>
              <a:path w="1891029" h="278764">
                <a:moveTo>
                  <a:pt x="0" y="46481"/>
                </a:moveTo>
                <a:lnTo>
                  <a:pt x="3635" y="28396"/>
                </a:lnTo>
                <a:lnTo>
                  <a:pt x="13557" y="13620"/>
                </a:lnTo>
                <a:lnTo>
                  <a:pt x="28289" y="3655"/>
                </a:lnTo>
                <a:lnTo>
                  <a:pt x="46354" y="0"/>
                </a:lnTo>
                <a:lnTo>
                  <a:pt x="1844040" y="0"/>
                </a:lnTo>
                <a:lnTo>
                  <a:pt x="1862125" y="3655"/>
                </a:lnTo>
                <a:lnTo>
                  <a:pt x="1876901" y="13620"/>
                </a:lnTo>
                <a:lnTo>
                  <a:pt x="1886866" y="28396"/>
                </a:lnTo>
                <a:lnTo>
                  <a:pt x="1890522" y="46481"/>
                </a:lnTo>
                <a:lnTo>
                  <a:pt x="1890522" y="232283"/>
                </a:lnTo>
                <a:lnTo>
                  <a:pt x="1886866" y="250368"/>
                </a:lnTo>
                <a:lnTo>
                  <a:pt x="1876901" y="265144"/>
                </a:lnTo>
                <a:lnTo>
                  <a:pt x="1862125" y="275109"/>
                </a:lnTo>
                <a:lnTo>
                  <a:pt x="1844040" y="278765"/>
                </a:lnTo>
                <a:lnTo>
                  <a:pt x="46354" y="278765"/>
                </a:lnTo>
                <a:lnTo>
                  <a:pt x="28289" y="275109"/>
                </a:lnTo>
                <a:lnTo>
                  <a:pt x="13557" y="265144"/>
                </a:lnTo>
                <a:lnTo>
                  <a:pt x="3635" y="250368"/>
                </a:lnTo>
                <a:lnTo>
                  <a:pt x="0" y="232283"/>
                </a:lnTo>
                <a:lnTo>
                  <a:pt x="0" y="464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98995" y="2445766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454780" y="1285366"/>
            <a:ext cx="2520696" cy="2786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54780" y="1285366"/>
            <a:ext cx="2520950" cy="278765"/>
          </a:xfrm>
          <a:custGeom>
            <a:avLst/>
            <a:gdLst/>
            <a:ahLst/>
            <a:cxnLst/>
            <a:rect l="l" t="t" r="r" b="b"/>
            <a:pathLst>
              <a:path w="2520950" h="278765">
                <a:moveTo>
                  <a:pt x="0" y="46355"/>
                </a:moveTo>
                <a:lnTo>
                  <a:pt x="3635" y="28289"/>
                </a:lnTo>
                <a:lnTo>
                  <a:pt x="13557" y="13557"/>
                </a:lnTo>
                <a:lnTo>
                  <a:pt x="28289" y="3635"/>
                </a:lnTo>
                <a:lnTo>
                  <a:pt x="46355" y="0"/>
                </a:lnTo>
                <a:lnTo>
                  <a:pt x="2474341" y="0"/>
                </a:lnTo>
                <a:lnTo>
                  <a:pt x="2492406" y="3635"/>
                </a:lnTo>
                <a:lnTo>
                  <a:pt x="2507138" y="13557"/>
                </a:lnTo>
                <a:lnTo>
                  <a:pt x="2517060" y="28289"/>
                </a:lnTo>
                <a:lnTo>
                  <a:pt x="2520696" y="46355"/>
                </a:lnTo>
                <a:lnTo>
                  <a:pt x="2520696" y="232156"/>
                </a:lnTo>
                <a:lnTo>
                  <a:pt x="2517060" y="250241"/>
                </a:lnTo>
                <a:lnTo>
                  <a:pt x="2507138" y="265017"/>
                </a:lnTo>
                <a:lnTo>
                  <a:pt x="2492406" y="274982"/>
                </a:lnTo>
                <a:lnTo>
                  <a:pt x="2474341" y="278638"/>
                </a:lnTo>
                <a:lnTo>
                  <a:pt x="46355" y="278638"/>
                </a:lnTo>
                <a:lnTo>
                  <a:pt x="28289" y="274982"/>
                </a:lnTo>
                <a:lnTo>
                  <a:pt x="13557" y="265017"/>
                </a:lnTo>
                <a:lnTo>
                  <a:pt x="3635" y="250241"/>
                </a:lnTo>
                <a:lnTo>
                  <a:pt x="0" y="232156"/>
                </a:lnTo>
                <a:lnTo>
                  <a:pt x="0" y="4635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547617" y="1330833"/>
            <a:ext cx="2200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CEO/</a:t>
            </a:r>
            <a:r>
              <a:rPr sz="1800" b="1" spc="-4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Organizacion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23900" y="2864611"/>
            <a:ext cx="1890522" cy="2786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23900" y="2864611"/>
            <a:ext cx="1891030" cy="278765"/>
          </a:xfrm>
          <a:custGeom>
            <a:avLst/>
            <a:gdLst/>
            <a:ahLst/>
            <a:cxnLst/>
            <a:rect l="l" t="t" r="r" b="b"/>
            <a:pathLst>
              <a:path w="1891030" h="278764">
                <a:moveTo>
                  <a:pt x="0" y="46355"/>
                </a:moveTo>
                <a:lnTo>
                  <a:pt x="3649" y="28289"/>
                </a:lnTo>
                <a:lnTo>
                  <a:pt x="13601" y="13557"/>
                </a:lnTo>
                <a:lnTo>
                  <a:pt x="28364" y="3635"/>
                </a:lnTo>
                <a:lnTo>
                  <a:pt x="46443" y="0"/>
                </a:lnTo>
                <a:lnTo>
                  <a:pt x="1844167" y="0"/>
                </a:lnTo>
                <a:lnTo>
                  <a:pt x="1862232" y="3635"/>
                </a:lnTo>
                <a:lnTo>
                  <a:pt x="1876964" y="13557"/>
                </a:lnTo>
                <a:lnTo>
                  <a:pt x="1886886" y="28289"/>
                </a:lnTo>
                <a:lnTo>
                  <a:pt x="1890522" y="46355"/>
                </a:lnTo>
                <a:lnTo>
                  <a:pt x="1890522" y="232156"/>
                </a:lnTo>
                <a:lnTo>
                  <a:pt x="1886886" y="250241"/>
                </a:lnTo>
                <a:lnTo>
                  <a:pt x="1876964" y="265017"/>
                </a:lnTo>
                <a:lnTo>
                  <a:pt x="1862232" y="274982"/>
                </a:lnTo>
                <a:lnTo>
                  <a:pt x="1844167" y="278638"/>
                </a:lnTo>
                <a:lnTo>
                  <a:pt x="46443" y="278638"/>
                </a:lnTo>
                <a:lnTo>
                  <a:pt x="28364" y="274982"/>
                </a:lnTo>
                <a:lnTo>
                  <a:pt x="13601" y="265017"/>
                </a:lnTo>
                <a:lnTo>
                  <a:pt x="3649" y="250241"/>
                </a:lnTo>
                <a:lnTo>
                  <a:pt x="0" y="232156"/>
                </a:lnTo>
                <a:lnTo>
                  <a:pt x="0" y="4635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16355" y="2910585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664839" y="2864611"/>
            <a:ext cx="1891030" cy="278765"/>
          </a:xfrm>
          <a:custGeom>
            <a:avLst/>
            <a:gdLst/>
            <a:ahLst/>
            <a:cxnLst/>
            <a:rect l="l" t="t" r="r" b="b"/>
            <a:pathLst>
              <a:path w="1891029" h="278764">
                <a:moveTo>
                  <a:pt x="1844039" y="0"/>
                </a:moveTo>
                <a:lnTo>
                  <a:pt x="46355" y="0"/>
                </a:lnTo>
                <a:lnTo>
                  <a:pt x="28342" y="3635"/>
                </a:lnTo>
                <a:lnTo>
                  <a:pt x="13604" y="13557"/>
                </a:lnTo>
                <a:lnTo>
                  <a:pt x="3653" y="28289"/>
                </a:lnTo>
                <a:lnTo>
                  <a:pt x="0" y="46355"/>
                </a:lnTo>
                <a:lnTo>
                  <a:pt x="0" y="232156"/>
                </a:lnTo>
                <a:lnTo>
                  <a:pt x="3653" y="250241"/>
                </a:lnTo>
                <a:lnTo>
                  <a:pt x="13604" y="265017"/>
                </a:lnTo>
                <a:lnTo>
                  <a:pt x="28342" y="274982"/>
                </a:lnTo>
                <a:lnTo>
                  <a:pt x="46355" y="278638"/>
                </a:lnTo>
                <a:lnTo>
                  <a:pt x="1844039" y="278638"/>
                </a:lnTo>
                <a:lnTo>
                  <a:pt x="1862125" y="274982"/>
                </a:lnTo>
                <a:lnTo>
                  <a:pt x="1876901" y="265017"/>
                </a:lnTo>
                <a:lnTo>
                  <a:pt x="1886866" y="250241"/>
                </a:lnTo>
                <a:lnTo>
                  <a:pt x="1890522" y="232156"/>
                </a:lnTo>
                <a:lnTo>
                  <a:pt x="1890522" y="46355"/>
                </a:lnTo>
                <a:lnTo>
                  <a:pt x="1886866" y="28289"/>
                </a:lnTo>
                <a:lnTo>
                  <a:pt x="1876901" y="13557"/>
                </a:lnTo>
                <a:lnTo>
                  <a:pt x="1862125" y="3635"/>
                </a:lnTo>
                <a:lnTo>
                  <a:pt x="1844039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64839" y="2864611"/>
            <a:ext cx="1891030" cy="278765"/>
          </a:xfrm>
          <a:custGeom>
            <a:avLst/>
            <a:gdLst/>
            <a:ahLst/>
            <a:cxnLst/>
            <a:rect l="l" t="t" r="r" b="b"/>
            <a:pathLst>
              <a:path w="1891029" h="278764">
                <a:moveTo>
                  <a:pt x="0" y="46355"/>
                </a:moveTo>
                <a:lnTo>
                  <a:pt x="3653" y="28289"/>
                </a:lnTo>
                <a:lnTo>
                  <a:pt x="13604" y="13557"/>
                </a:lnTo>
                <a:lnTo>
                  <a:pt x="28342" y="3635"/>
                </a:lnTo>
                <a:lnTo>
                  <a:pt x="46355" y="0"/>
                </a:lnTo>
                <a:lnTo>
                  <a:pt x="1844039" y="0"/>
                </a:lnTo>
                <a:lnTo>
                  <a:pt x="1862125" y="3635"/>
                </a:lnTo>
                <a:lnTo>
                  <a:pt x="1876901" y="13557"/>
                </a:lnTo>
                <a:lnTo>
                  <a:pt x="1886866" y="28289"/>
                </a:lnTo>
                <a:lnTo>
                  <a:pt x="1890522" y="46355"/>
                </a:lnTo>
                <a:lnTo>
                  <a:pt x="1890522" y="232156"/>
                </a:lnTo>
                <a:lnTo>
                  <a:pt x="1886866" y="250241"/>
                </a:lnTo>
                <a:lnTo>
                  <a:pt x="1876901" y="265017"/>
                </a:lnTo>
                <a:lnTo>
                  <a:pt x="1862125" y="274982"/>
                </a:lnTo>
                <a:lnTo>
                  <a:pt x="1844039" y="278638"/>
                </a:lnTo>
                <a:lnTo>
                  <a:pt x="46355" y="278638"/>
                </a:lnTo>
                <a:lnTo>
                  <a:pt x="28342" y="274982"/>
                </a:lnTo>
                <a:lnTo>
                  <a:pt x="13604" y="265017"/>
                </a:lnTo>
                <a:lnTo>
                  <a:pt x="3653" y="250241"/>
                </a:lnTo>
                <a:lnTo>
                  <a:pt x="0" y="232156"/>
                </a:lnTo>
                <a:lnTo>
                  <a:pt x="0" y="4635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757676" y="2910585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605778" y="2864611"/>
            <a:ext cx="1890522" cy="2786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05778" y="2864611"/>
            <a:ext cx="1891030" cy="278765"/>
          </a:xfrm>
          <a:custGeom>
            <a:avLst/>
            <a:gdLst/>
            <a:ahLst/>
            <a:cxnLst/>
            <a:rect l="l" t="t" r="r" b="b"/>
            <a:pathLst>
              <a:path w="1891029" h="278764">
                <a:moveTo>
                  <a:pt x="0" y="46355"/>
                </a:moveTo>
                <a:lnTo>
                  <a:pt x="3635" y="28289"/>
                </a:lnTo>
                <a:lnTo>
                  <a:pt x="13557" y="13557"/>
                </a:lnTo>
                <a:lnTo>
                  <a:pt x="28289" y="3635"/>
                </a:lnTo>
                <a:lnTo>
                  <a:pt x="46354" y="0"/>
                </a:lnTo>
                <a:lnTo>
                  <a:pt x="1844040" y="0"/>
                </a:lnTo>
                <a:lnTo>
                  <a:pt x="1862125" y="3635"/>
                </a:lnTo>
                <a:lnTo>
                  <a:pt x="1876901" y="13557"/>
                </a:lnTo>
                <a:lnTo>
                  <a:pt x="1886866" y="28289"/>
                </a:lnTo>
                <a:lnTo>
                  <a:pt x="1890522" y="46355"/>
                </a:lnTo>
                <a:lnTo>
                  <a:pt x="1890522" y="232156"/>
                </a:lnTo>
                <a:lnTo>
                  <a:pt x="1886866" y="250241"/>
                </a:lnTo>
                <a:lnTo>
                  <a:pt x="1876901" y="265017"/>
                </a:lnTo>
                <a:lnTo>
                  <a:pt x="1862125" y="274982"/>
                </a:lnTo>
                <a:lnTo>
                  <a:pt x="1844040" y="278638"/>
                </a:lnTo>
                <a:lnTo>
                  <a:pt x="46354" y="278638"/>
                </a:lnTo>
                <a:lnTo>
                  <a:pt x="28289" y="274982"/>
                </a:lnTo>
                <a:lnTo>
                  <a:pt x="13557" y="265017"/>
                </a:lnTo>
                <a:lnTo>
                  <a:pt x="3635" y="250241"/>
                </a:lnTo>
                <a:lnTo>
                  <a:pt x="0" y="232156"/>
                </a:lnTo>
                <a:lnTo>
                  <a:pt x="0" y="4635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698995" y="2910585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715128" y="1564005"/>
            <a:ext cx="0" cy="372110"/>
          </a:xfrm>
          <a:custGeom>
            <a:avLst/>
            <a:gdLst/>
            <a:ahLst/>
            <a:cxnLst/>
            <a:rect l="l" t="t" r="r" b="b"/>
            <a:pathLst>
              <a:path h="372110">
                <a:moveTo>
                  <a:pt x="0" y="0"/>
                </a:moveTo>
                <a:lnTo>
                  <a:pt x="0" y="37160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64132" y="1749805"/>
            <a:ext cx="6092190" cy="0"/>
          </a:xfrm>
          <a:custGeom>
            <a:avLst/>
            <a:gdLst/>
            <a:ahLst/>
            <a:cxnLst/>
            <a:rect l="l" t="t" r="r" b="b"/>
            <a:pathLst>
              <a:path w="6092190">
                <a:moveTo>
                  <a:pt x="0" y="0"/>
                </a:moveTo>
                <a:lnTo>
                  <a:pt x="60919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64132" y="1749805"/>
            <a:ext cx="0" cy="186055"/>
          </a:xfrm>
          <a:custGeom>
            <a:avLst/>
            <a:gdLst/>
            <a:ahLst/>
            <a:cxnLst/>
            <a:rect l="l" t="t" r="r" b="b"/>
            <a:pathLst>
              <a:path h="186055">
                <a:moveTo>
                  <a:pt x="0" y="18580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656068" y="1749805"/>
            <a:ext cx="0" cy="186055"/>
          </a:xfrm>
          <a:custGeom>
            <a:avLst/>
            <a:gdLst/>
            <a:ahLst/>
            <a:cxnLst/>
            <a:rect l="l" t="t" r="r" b="b"/>
            <a:pathLst>
              <a:path h="186055">
                <a:moveTo>
                  <a:pt x="0" y="18580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564132" y="2214245"/>
            <a:ext cx="0" cy="186055"/>
          </a:xfrm>
          <a:custGeom>
            <a:avLst/>
            <a:gdLst/>
            <a:ahLst/>
            <a:cxnLst/>
            <a:rect l="l" t="t" r="r" b="b"/>
            <a:pathLst>
              <a:path h="186055">
                <a:moveTo>
                  <a:pt x="0" y="1858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564132" y="2678810"/>
            <a:ext cx="0" cy="186055"/>
          </a:xfrm>
          <a:custGeom>
            <a:avLst/>
            <a:gdLst/>
            <a:ahLst/>
            <a:cxnLst/>
            <a:rect l="l" t="t" r="r" b="b"/>
            <a:pathLst>
              <a:path h="186055">
                <a:moveTo>
                  <a:pt x="0" y="1858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715128" y="2214245"/>
            <a:ext cx="0" cy="186055"/>
          </a:xfrm>
          <a:custGeom>
            <a:avLst/>
            <a:gdLst/>
            <a:ahLst/>
            <a:cxnLst/>
            <a:rect l="l" t="t" r="r" b="b"/>
            <a:pathLst>
              <a:path h="186055">
                <a:moveTo>
                  <a:pt x="0" y="1858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715128" y="2678810"/>
            <a:ext cx="0" cy="186055"/>
          </a:xfrm>
          <a:custGeom>
            <a:avLst/>
            <a:gdLst/>
            <a:ahLst/>
            <a:cxnLst/>
            <a:rect l="l" t="t" r="r" b="b"/>
            <a:pathLst>
              <a:path h="186055">
                <a:moveTo>
                  <a:pt x="0" y="1858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656068" y="2214245"/>
            <a:ext cx="0" cy="186055"/>
          </a:xfrm>
          <a:custGeom>
            <a:avLst/>
            <a:gdLst/>
            <a:ahLst/>
            <a:cxnLst/>
            <a:rect l="l" t="t" r="r" b="b"/>
            <a:pathLst>
              <a:path h="186055">
                <a:moveTo>
                  <a:pt x="0" y="1858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656068" y="2678810"/>
            <a:ext cx="0" cy="186055"/>
          </a:xfrm>
          <a:custGeom>
            <a:avLst/>
            <a:gdLst/>
            <a:ahLst/>
            <a:cxnLst/>
            <a:rect l="l" t="t" r="r" b="b"/>
            <a:pathLst>
              <a:path h="186055">
                <a:moveTo>
                  <a:pt x="0" y="1858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76225" y="1355725"/>
            <a:ext cx="8470900" cy="974090"/>
          </a:xfrm>
          <a:custGeom>
            <a:avLst/>
            <a:gdLst/>
            <a:ahLst/>
            <a:cxnLst/>
            <a:rect l="l" t="t" r="r" b="b"/>
            <a:pathLst>
              <a:path w="8470900" h="974089">
                <a:moveTo>
                  <a:pt x="0" y="487045"/>
                </a:moveTo>
                <a:lnTo>
                  <a:pt x="17696" y="442222"/>
                </a:lnTo>
                <a:lnTo>
                  <a:pt x="56669" y="407177"/>
                </a:lnTo>
                <a:lnTo>
                  <a:pt x="99855" y="381428"/>
                </a:lnTo>
                <a:lnTo>
                  <a:pt x="135106" y="364538"/>
                </a:lnTo>
                <a:lnTo>
                  <a:pt x="175410" y="347882"/>
                </a:lnTo>
                <a:lnTo>
                  <a:pt x="220668" y="331471"/>
                </a:lnTo>
                <a:lnTo>
                  <a:pt x="270780" y="315317"/>
                </a:lnTo>
                <a:lnTo>
                  <a:pt x="325649" y="299432"/>
                </a:lnTo>
                <a:lnTo>
                  <a:pt x="385174" y="283825"/>
                </a:lnTo>
                <a:lnTo>
                  <a:pt x="449258" y="268510"/>
                </a:lnTo>
                <a:lnTo>
                  <a:pt x="517800" y="253496"/>
                </a:lnTo>
                <a:lnTo>
                  <a:pt x="590703" y="238797"/>
                </a:lnTo>
                <a:lnTo>
                  <a:pt x="628759" y="231568"/>
                </a:lnTo>
                <a:lnTo>
                  <a:pt x="667867" y="224422"/>
                </a:lnTo>
                <a:lnTo>
                  <a:pt x="708016" y="217360"/>
                </a:lnTo>
                <a:lnTo>
                  <a:pt x="749193" y="210384"/>
                </a:lnTo>
                <a:lnTo>
                  <a:pt x="791386" y="203494"/>
                </a:lnTo>
                <a:lnTo>
                  <a:pt x="834583" y="196693"/>
                </a:lnTo>
                <a:lnTo>
                  <a:pt x="878770" y="189982"/>
                </a:lnTo>
                <a:lnTo>
                  <a:pt x="923937" y="183362"/>
                </a:lnTo>
                <a:lnTo>
                  <a:pt x="970069" y="176834"/>
                </a:lnTo>
                <a:lnTo>
                  <a:pt x="1017156" y="170401"/>
                </a:lnTo>
                <a:lnTo>
                  <a:pt x="1065184" y="164063"/>
                </a:lnTo>
                <a:lnTo>
                  <a:pt x="1114142" y="157822"/>
                </a:lnTo>
                <a:lnTo>
                  <a:pt x="1164016" y="151679"/>
                </a:lnTo>
                <a:lnTo>
                  <a:pt x="1214795" y="145636"/>
                </a:lnTo>
                <a:lnTo>
                  <a:pt x="1266466" y="139694"/>
                </a:lnTo>
                <a:lnTo>
                  <a:pt x="1319017" y="133855"/>
                </a:lnTo>
                <a:lnTo>
                  <a:pt x="1372435" y="128120"/>
                </a:lnTo>
                <a:lnTo>
                  <a:pt x="1426708" y="122490"/>
                </a:lnTo>
                <a:lnTo>
                  <a:pt x="1481824" y="116967"/>
                </a:lnTo>
                <a:lnTo>
                  <a:pt x="1537770" y="111552"/>
                </a:lnTo>
                <a:lnTo>
                  <a:pt x="1594534" y="106247"/>
                </a:lnTo>
                <a:lnTo>
                  <a:pt x="1652104" y="101053"/>
                </a:lnTo>
                <a:lnTo>
                  <a:pt x="1710467" y="95972"/>
                </a:lnTo>
                <a:lnTo>
                  <a:pt x="1769610" y="91005"/>
                </a:lnTo>
                <a:lnTo>
                  <a:pt x="1829522" y="86153"/>
                </a:lnTo>
                <a:lnTo>
                  <a:pt x="1890191" y="81418"/>
                </a:lnTo>
                <a:lnTo>
                  <a:pt x="1951602" y="76801"/>
                </a:lnTo>
                <a:lnTo>
                  <a:pt x="2013746" y="72303"/>
                </a:lnTo>
                <a:lnTo>
                  <a:pt x="2076608" y="67927"/>
                </a:lnTo>
                <a:lnTo>
                  <a:pt x="2140177" y="63674"/>
                </a:lnTo>
                <a:lnTo>
                  <a:pt x="2204440" y="59544"/>
                </a:lnTo>
                <a:lnTo>
                  <a:pt x="2269385" y="55540"/>
                </a:lnTo>
                <a:lnTo>
                  <a:pt x="2334999" y="51662"/>
                </a:lnTo>
                <a:lnTo>
                  <a:pt x="2401271" y="47912"/>
                </a:lnTo>
                <a:lnTo>
                  <a:pt x="2468187" y="44293"/>
                </a:lnTo>
                <a:lnTo>
                  <a:pt x="2535736" y="40804"/>
                </a:lnTo>
                <a:lnTo>
                  <a:pt x="2603905" y="37448"/>
                </a:lnTo>
                <a:lnTo>
                  <a:pt x="2672681" y="34225"/>
                </a:lnTo>
                <a:lnTo>
                  <a:pt x="2742053" y="31138"/>
                </a:lnTo>
                <a:lnTo>
                  <a:pt x="2812007" y="28188"/>
                </a:lnTo>
                <a:lnTo>
                  <a:pt x="2882532" y="25375"/>
                </a:lnTo>
                <a:lnTo>
                  <a:pt x="2953616" y="22703"/>
                </a:lnTo>
                <a:lnTo>
                  <a:pt x="3025245" y="20171"/>
                </a:lnTo>
                <a:lnTo>
                  <a:pt x="3097408" y="17782"/>
                </a:lnTo>
                <a:lnTo>
                  <a:pt x="3170091" y="15536"/>
                </a:lnTo>
                <a:lnTo>
                  <a:pt x="3243284" y="13436"/>
                </a:lnTo>
                <a:lnTo>
                  <a:pt x="3316972" y="11482"/>
                </a:lnTo>
                <a:lnTo>
                  <a:pt x="3391145" y="9677"/>
                </a:lnTo>
                <a:lnTo>
                  <a:pt x="3465789" y="8021"/>
                </a:lnTo>
                <a:lnTo>
                  <a:pt x="3540893" y="6516"/>
                </a:lnTo>
                <a:lnTo>
                  <a:pt x="3616443" y="5164"/>
                </a:lnTo>
                <a:lnTo>
                  <a:pt x="3692428" y="3965"/>
                </a:lnTo>
                <a:lnTo>
                  <a:pt x="3768835" y="2921"/>
                </a:lnTo>
                <a:lnTo>
                  <a:pt x="3845652" y="2035"/>
                </a:lnTo>
                <a:lnTo>
                  <a:pt x="3922866" y="1306"/>
                </a:lnTo>
                <a:lnTo>
                  <a:pt x="4000465" y="736"/>
                </a:lnTo>
                <a:lnTo>
                  <a:pt x="4078437" y="328"/>
                </a:lnTo>
                <a:lnTo>
                  <a:pt x="4156769" y="82"/>
                </a:lnTo>
                <a:lnTo>
                  <a:pt x="4235450" y="0"/>
                </a:lnTo>
                <a:lnTo>
                  <a:pt x="4314130" y="82"/>
                </a:lnTo>
                <a:lnTo>
                  <a:pt x="4392462" y="328"/>
                </a:lnTo>
                <a:lnTo>
                  <a:pt x="4470434" y="736"/>
                </a:lnTo>
                <a:lnTo>
                  <a:pt x="4548033" y="1306"/>
                </a:lnTo>
                <a:lnTo>
                  <a:pt x="4625247" y="2035"/>
                </a:lnTo>
                <a:lnTo>
                  <a:pt x="4702064" y="2921"/>
                </a:lnTo>
                <a:lnTo>
                  <a:pt x="4778471" y="3965"/>
                </a:lnTo>
                <a:lnTo>
                  <a:pt x="4854456" y="5164"/>
                </a:lnTo>
                <a:lnTo>
                  <a:pt x="4930006" y="6516"/>
                </a:lnTo>
                <a:lnTo>
                  <a:pt x="5005110" y="8021"/>
                </a:lnTo>
                <a:lnTo>
                  <a:pt x="5079754" y="9677"/>
                </a:lnTo>
                <a:lnTo>
                  <a:pt x="5153927" y="11482"/>
                </a:lnTo>
                <a:lnTo>
                  <a:pt x="5227615" y="13436"/>
                </a:lnTo>
                <a:lnTo>
                  <a:pt x="5300808" y="15536"/>
                </a:lnTo>
                <a:lnTo>
                  <a:pt x="5373491" y="17782"/>
                </a:lnTo>
                <a:lnTo>
                  <a:pt x="5445654" y="20171"/>
                </a:lnTo>
                <a:lnTo>
                  <a:pt x="5517283" y="22703"/>
                </a:lnTo>
                <a:lnTo>
                  <a:pt x="5588367" y="25375"/>
                </a:lnTo>
                <a:lnTo>
                  <a:pt x="5658892" y="28188"/>
                </a:lnTo>
                <a:lnTo>
                  <a:pt x="5728846" y="31138"/>
                </a:lnTo>
                <a:lnTo>
                  <a:pt x="5798218" y="34225"/>
                </a:lnTo>
                <a:lnTo>
                  <a:pt x="5866994" y="37448"/>
                </a:lnTo>
                <a:lnTo>
                  <a:pt x="5935163" y="40804"/>
                </a:lnTo>
                <a:lnTo>
                  <a:pt x="6002712" y="44293"/>
                </a:lnTo>
                <a:lnTo>
                  <a:pt x="6069628" y="47912"/>
                </a:lnTo>
                <a:lnTo>
                  <a:pt x="6135900" y="51662"/>
                </a:lnTo>
                <a:lnTo>
                  <a:pt x="6201514" y="55540"/>
                </a:lnTo>
                <a:lnTo>
                  <a:pt x="6266459" y="59544"/>
                </a:lnTo>
                <a:lnTo>
                  <a:pt x="6330722" y="63674"/>
                </a:lnTo>
                <a:lnTo>
                  <a:pt x="6394291" y="67927"/>
                </a:lnTo>
                <a:lnTo>
                  <a:pt x="6457153" y="72303"/>
                </a:lnTo>
                <a:lnTo>
                  <a:pt x="6519297" y="76801"/>
                </a:lnTo>
                <a:lnTo>
                  <a:pt x="6580708" y="81418"/>
                </a:lnTo>
                <a:lnTo>
                  <a:pt x="6641377" y="86153"/>
                </a:lnTo>
                <a:lnTo>
                  <a:pt x="6701289" y="91005"/>
                </a:lnTo>
                <a:lnTo>
                  <a:pt x="6760432" y="95972"/>
                </a:lnTo>
                <a:lnTo>
                  <a:pt x="6818795" y="101053"/>
                </a:lnTo>
                <a:lnTo>
                  <a:pt x="6876365" y="106247"/>
                </a:lnTo>
                <a:lnTo>
                  <a:pt x="6933129" y="111552"/>
                </a:lnTo>
                <a:lnTo>
                  <a:pt x="6989075" y="116967"/>
                </a:lnTo>
                <a:lnTo>
                  <a:pt x="7044191" y="122490"/>
                </a:lnTo>
                <a:lnTo>
                  <a:pt x="7098464" y="128120"/>
                </a:lnTo>
                <a:lnTo>
                  <a:pt x="7151882" y="133855"/>
                </a:lnTo>
                <a:lnTo>
                  <a:pt x="7204433" y="139694"/>
                </a:lnTo>
                <a:lnTo>
                  <a:pt x="7256104" y="145636"/>
                </a:lnTo>
                <a:lnTo>
                  <a:pt x="7306883" y="151679"/>
                </a:lnTo>
                <a:lnTo>
                  <a:pt x="7356757" y="157822"/>
                </a:lnTo>
                <a:lnTo>
                  <a:pt x="7405715" y="164063"/>
                </a:lnTo>
                <a:lnTo>
                  <a:pt x="7453743" y="170401"/>
                </a:lnTo>
                <a:lnTo>
                  <a:pt x="7500830" y="176834"/>
                </a:lnTo>
                <a:lnTo>
                  <a:pt x="7546962" y="183362"/>
                </a:lnTo>
                <a:lnTo>
                  <a:pt x="7592129" y="189982"/>
                </a:lnTo>
                <a:lnTo>
                  <a:pt x="7636316" y="196693"/>
                </a:lnTo>
                <a:lnTo>
                  <a:pt x="7679513" y="203494"/>
                </a:lnTo>
                <a:lnTo>
                  <a:pt x="7721706" y="210384"/>
                </a:lnTo>
                <a:lnTo>
                  <a:pt x="7762883" y="217360"/>
                </a:lnTo>
                <a:lnTo>
                  <a:pt x="7803032" y="224422"/>
                </a:lnTo>
                <a:lnTo>
                  <a:pt x="7842140" y="231568"/>
                </a:lnTo>
                <a:lnTo>
                  <a:pt x="7880196" y="238797"/>
                </a:lnTo>
                <a:lnTo>
                  <a:pt x="7953099" y="253496"/>
                </a:lnTo>
                <a:lnTo>
                  <a:pt x="8021641" y="268510"/>
                </a:lnTo>
                <a:lnTo>
                  <a:pt x="8085725" y="283825"/>
                </a:lnTo>
                <a:lnTo>
                  <a:pt x="8145250" y="299432"/>
                </a:lnTo>
                <a:lnTo>
                  <a:pt x="8200119" y="315317"/>
                </a:lnTo>
                <a:lnTo>
                  <a:pt x="8250231" y="331471"/>
                </a:lnTo>
                <a:lnTo>
                  <a:pt x="8295489" y="347882"/>
                </a:lnTo>
                <a:lnTo>
                  <a:pt x="8335793" y="364538"/>
                </a:lnTo>
                <a:lnTo>
                  <a:pt x="8371044" y="381428"/>
                </a:lnTo>
                <a:lnTo>
                  <a:pt x="8414230" y="407177"/>
                </a:lnTo>
                <a:lnTo>
                  <a:pt x="8445490" y="433388"/>
                </a:lnTo>
                <a:lnTo>
                  <a:pt x="8468043" y="468990"/>
                </a:lnTo>
                <a:lnTo>
                  <a:pt x="8470900" y="487045"/>
                </a:lnTo>
                <a:lnTo>
                  <a:pt x="8470183" y="496088"/>
                </a:lnTo>
                <a:lnTo>
                  <a:pt x="8453203" y="531847"/>
                </a:lnTo>
                <a:lnTo>
                  <a:pt x="8414230" y="566877"/>
                </a:lnTo>
                <a:lnTo>
                  <a:pt x="8371044" y="592616"/>
                </a:lnTo>
                <a:lnTo>
                  <a:pt x="8335793" y="609500"/>
                </a:lnTo>
                <a:lnTo>
                  <a:pt x="8295489" y="626150"/>
                </a:lnTo>
                <a:lnTo>
                  <a:pt x="8250231" y="642555"/>
                </a:lnTo>
                <a:lnTo>
                  <a:pt x="8200119" y="658704"/>
                </a:lnTo>
                <a:lnTo>
                  <a:pt x="8145250" y="674585"/>
                </a:lnTo>
                <a:lnTo>
                  <a:pt x="8085725" y="690186"/>
                </a:lnTo>
                <a:lnTo>
                  <a:pt x="8021641" y="705497"/>
                </a:lnTo>
                <a:lnTo>
                  <a:pt x="7953099" y="720507"/>
                </a:lnTo>
                <a:lnTo>
                  <a:pt x="7880196" y="735202"/>
                </a:lnTo>
                <a:lnTo>
                  <a:pt x="7842140" y="742429"/>
                </a:lnTo>
                <a:lnTo>
                  <a:pt x="7803032" y="749574"/>
                </a:lnTo>
                <a:lnTo>
                  <a:pt x="7762883" y="756634"/>
                </a:lnTo>
                <a:lnTo>
                  <a:pt x="7721706" y="763608"/>
                </a:lnTo>
                <a:lnTo>
                  <a:pt x="7679513" y="770496"/>
                </a:lnTo>
                <a:lnTo>
                  <a:pt x="7636316" y="777296"/>
                </a:lnTo>
                <a:lnTo>
                  <a:pt x="7592129" y="784006"/>
                </a:lnTo>
                <a:lnTo>
                  <a:pt x="7546962" y="790624"/>
                </a:lnTo>
                <a:lnTo>
                  <a:pt x="7500830" y="797150"/>
                </a:lnTo>
                <a:lnTo>
                  <a:pt x="7453743" y="803583"/>
                </a:lnTo>
                <a:lnTo>
                  <a:pt x="7405715" y="809919"/>
                </a:lnTo>
                <a:lnTo>
                  <a:pt x="7356757" y="816159"/>
                </a:lnTo>
                <a:lnTo>
                  <a:pt x="7306883" y="822301"/>
                </a:lnTo>
                <a:lnTo>
                  <a:pt x="7256104" y="828343"/>
                </a:lnTo>
                <a:lnTo>
                  <a:pt x="7204433" y="834283"/>
                </a:lnTo>
                <a:lnTo>
                  <a:pt x="7151882" y="840121"/>
                </a:lnTo>
                <a:lnTo>
                  <a:pt x="7098464" y="845856"/>
                </a:lnTo>
                <a:lnTo>
                  <a:pt x="7044191" y="851485"/>
                </a:lnTo>
                <a:lnTo>
                  <a:pt x="6989075" y="857007"/>
                </a:lnTo>
                <a:lnTo>
                  <a:pt x="6933129" y="862421"/>
                </a:lnTo>
                <a:lnTo>
                  <a:pt x="6876365" y="867725"/>
                </a:lnTo>
                <a:lnTo>
                  <a:pt x="6818795" y="872918"/>
                </a:lnTo>
                <a:lnTo>
                  <a:pt x="6760432" y="877998"/>
                </a:lnTo>
                <a:lnTo>
                  <a:pt x="6701289" y="882965"/>
                </a:lnTo>
                <a:lnTo>
                  <a:pt x="6641377" y="887816"/>
                </a:lnTo>
                <a:lnTo>
                  <a:pt x="6580708" y="892551"/>
                </a:lnTo>
                <a:lnTo>
                  <a:pt x="6519297" y="897167"/>
                </a:lnTo>
                <a:lnTo>
                  <a:pt x="6457153" y="901664"/>
                </a:lnTo>
                <a:lnTo>
                  <a:pt x="6394291" y="906040"/>
                </a:lnTo>
                <a:lnTo>
                  <a:pt x="6330722" y="910293"/>
                </a:lnTo>
                <a:lnTo>
                  <a:pt x="6266459" y="914422"/>
                </a:lnTo>
                <a:lnTo>
                  <a:pt x="6201514" y="918426"/>
                </a:lnTo>
                <a:lnTo>
                  <a:pt x="6135900" y="922303"/>
                </a:lnTo>
                <a:lnTo>
                  <a:pt x="6069628" y="926052"/>
                </a:lnTo>
                <a:lnTo>
                  <a:pt x="6002712" y="929672"/>
                </a:lnTo>
                <a:lnTo>
                  <a:pt x="5935163" y="933160"/>
                </a:lnTo>
                <a:lnTo>
                  <a:pt x="5866994" y="936516"/>
                </a:lnTo>
                <a:lnTo>
                  <a:pt x="5798218" y="939739"/>
                </a:lnTo>
                <a:lnTo>
                  <a:pt x="5728846" y="942825"/>
                </a:lnTo>
                <a:lnTo>
                  <a:pt x="5658892" y="945776"/>
                </a:lnTo>
                <a:lnTo>
                  <a:pt x="5588367" y="948588"/>
                </a:lnTo>
                <a:lnTo>
                  <a:pt x="5517283" y="951260"/>
                </a:lnTo>
                <a:lnTo>
                  <a:pt x="5445654" y="953792"/>
                </a:lnTo>
                <a:lnTo>
                  <a:pt x="5373491" y="956181"/>
                </a:lnTo>
                <a:lnTo>
                  <a:pt x="5300808" y="958426"/>
                </a:lnTo>
                <a:lnTo>
                  <a:pt x="5227615" y="960526"/>
                </a:lnTo>
                <a:lnTo>
                  <a:pt x="5153927" y="962480"/>
                </a:lnTo>
                <a:lnTo>
                  <a:pt x="5079754" y="964285"/>
                </a:lnTo>
                <a:lnTo>
                  <a:pt x="5005110" y="965941"/>
                </a:lnTo>
                <a:lnTo>
                  <a:pt x="4930006" y="967446"/>
                </a:lnTo>
                <a:lnTo>
                  <a:pt x="4854456" y="968798"/>
                </a:lnTo>
                <a:lnTo>
                  <a:pt x="4778471" y="969997"/>
                </a:lnTo>
                <a:lnTo>
                  <a:pt x="4702064" y="971041"/>
                </a:lnTo>
                <a:lnTo>
                  <a:pt x="4625247" y="971927"/>
                </a:lnTo>
                <a:lnTo>
                  <a:pt x="4548033" y="972656"/>
                </a:lnTo>
                <a:lnTo>
                  <a:pt x="4470434" y="973226"/>
                </a:lnTo>
                <a:lnTo>
                  <a:pt x="4392462" y="973634"/>
                </a:lnTo>
                <a:lnTo>
                  <a:pt x="4314130" y="973880"/>
                </a:lnTo>
                <a:lnTo>
                  <a:pt x="4235450" y="973963"/>
                </a:lnTo>
                <a:lnTo>
                  <a:pt x="4156769" y="973880"/>
                </a:lnTo>
                <a:lnTo>
                  <a:pt x="4078437" y="973634"/>
                </a:lnTo>
                <a:lnTo>
                  <a:pt x="4000465" y="973226"/>
                </a:lnTo>
                <a:lnTo>
                  <a:pt x="3922866" y="972656"/>
                </a:lnTo>
                <a:lnTo>
                  <a:pt x="3845652" y="971927"/>
                </a:lnTo>
                <a:lnTo>
                  <a:pt x="3768835" y="971041"/>
                </a:lnTo>
                <a:lnTo>
                  <a:pt x="3692428" y="969997"/>
                </a:lnTo>
                <a:lnTo>
                  <a:pt x="3616443" y="968798"/>
                </a:lnTo>
                <a:lnTo>
                  <a:pt x="3540893" y="967446"/>
                </a:lnTo>
                <a:lnTo>
                  <a:pt x="3465789" y="965941"/>
                </a:lnTo>
                <a:lnTo>
                  <a:pt x="3391145" y="964285"/>
                </a:lnTo>
                <a:lnTo>
                  <a:pt x="3316972" y="962480"/>
                </a:lnTo>
                <a:lnTo>
                  <a:pt x="3243284" y="960526"/>
                </a:lnTo>
                <a:lnTo>
                  <a:pt x="3170091" y="958426"/>
                </a:lnTo>
                <a:lnTo>
                  <a:pt x="3097408" y="956181"/>
                </a:lnTo>
                <a:lnTo>
                  <a:pt x="3025245" y="953792"/>
                </a:lnTo>
                <a:lnTo>
                  <a:pt x="2953616" y="951260"/>
                </a:lnTo>
                <a:lnTo>
                  <a:pt x="2882532" y="948588"/>
                </a:lnTo>
                <a:lnTo>
                  <a:pt x="2812007" y="945776"/>
                </a:lnTo>
                <a:lnTo>
                  <a:pt x="2742053" y="942825"/>
                </a:lnTo>
                <a:lnTo>
                  <a:pt x="2672681" y="939739"/>
                </a:lnTo>
                <a:lnTo>
                  <a:pt x="2603905" y="936516"/>
                </a:lnTo>
                <a:lnTo>
                  <a:pt x="2535736" y="933160"/>
                </a:lnTo>
                <a:lnTo>
                  <a:pt x="2468187" y="929672"/>
                </a:lnTo>
                <a:lnTo>
                  <a:pt x="2401271" y="926052"/>
                </a:lnTo>
                <a:lnTo>
                  <a:pt x="2334999" y="922303"/>
                </a:lnTo>
                <a:lnTo>
                  <a:pt x="2269385" y="918426"/>
                </a:lnTo>
                <a:lnTo>
                  <a:pt x="2204440" y="914422"/>
                </a:lnTo>
                <a:lnTo>
                  <a:pt x="2140177" y="910293"/>
                </a:lnTo>
                <a:lnTo>
                  <a:pt x="2076608" y="906040"/>
                </a:lnTo>
                <a:lnTo>
                  <a:pt x="2013746" y="901664"/>
                </a:lnTo>
                <a:lnTo>
                  <a:pt x="1951602" y="897167"/>
                </a:lnTo>
                <a:lnTo>
                  <a:pt x="1890191" y="892551"/>
                </a:lnTo>
                <a:lnTo>
                  <a:pt x="1829522" y="887816"/>
                </a:lnTo>
                <a:lnTo>
                  <a:pt x="1769610" y="882965"/>
                </a:lnTo>
                <a:lnTo>
                  <a:pt x="1710467" y="877998"/>
                </a:lnTo>
                <a:lnTo>
                  <a:pt x="1652104" y="872918"/>
                </a:lnTo>
                <a:lnTo>
                  <a:pt x="1594534" y="867725"/>
                </a:lnTo>
                <a:lnTo>
                  <a:pt x="1537770" y="862421"/>
                </a:lnTo>
                <a:lnTo>
                  <a:pt x="1481824" y="857007"/>
                </a:lnTo>
                <a:lnTo>
                  <a:pt x="1426708" y="851485"/>
                </a:lnTo>
                <a:lnTo>
                  <a:pt x="1372435" y="845856"/>
                </a:lnTo>
                <a:lnTo>
                  <a:pt x="1319017" y="840121"/>
                </a:lnTo>
                <a:lnTo>
                  <a:pt x="1266466" y="834283"/>
                </a:lnTo>
                <a:lnTo>
                  <a:pt x="1214795" y="828343"/>
                </a:lnTo>
                <a:lnTo>
                  <a:pt x="1164016" y="822301"/>
                </a:lnTo>
                <a:lnTo>
                  <a:pt x="1114142" y="816159"/>
                </a:lnTo>
                <a:lnTo>
                  <a:pt x="1065184" y="809919"/>
                </a:lnTo>
                <a:lnTo>
                  <a:pt x="1017156" y="803583"/>
                </a:lnTo>
                <a:lnTo>
                  <a:pt x="970069" y="797150"/>
                </a:lnTo>
                <a:lnTo>
                  <a:pt x="923937" y="790624"/>
                </a:lnTo>
                <a:lnTo>
                  <a:pt x="878770" y="784006"/>
                </a:lnTo>
                <a:lnTo>
                  <a:pt x="834583" y="777296"/>
                </a:lnTo>
                <a:lnTo>
                  <a:pt x="791386" y="770496"/>
                </a:lnTo>
                <a:lnTo>
                  <a:pt x="749193" y="763608"/>
                </a:lnTo>
                <a:lnTo>
                  <a:pt x="708016" y="756634"/>
                </a:lnTo>
                <a:lnTo>
                  <a:pt x="667867" y="749574"/>
                </a:lnTo>
                <a:lnTo>
                  <a:pt x="628759" y="742429"/>
                </a:lnTo>
                <a:lnTo>
                  <a:pt x="590703" y="735202"/>
                </a:lnTo>
                <a:lnTo>
                  <a:pt x="517800" y="720507"/>
                </a:lnTo>
                <a:lnTo>
                  <a:pt x="449258" y="705497"/>
                </a:lnTo>
                <a:lnTo>
                  <a:pt x="385174" y="690186"/>
                </a:lnTo>
                <a:lnTo>
                  <a:pt x="325649" y="674585"/>
                </a:lnTo>
                <a:lnTo>
                  <a:pt x="270780" y="658704"/>
                </a:lnTo>
                <a:lnTo>
                  <a:pt x="220668" y="642555"/>
                </a:lnTo>
                <a:lnTo>
                  <a:pt x="175410" y="626150"/>
                </a:lnTo>
                <a:lnTo>
                  <a:pt x="135106" y="609500"/>
                </a:lnTo>
                <a:lnTo>
                  <a:pt x="99855" y="592616"/>
                </a:lnTo>
                <a:lnTo>
                  <a:pt x="56669" y="566877"/>
                </a:lnTo>
                <a:lnTo>
                  <a:pt x="25409" y="540677"/>
                </a:lnTo>
                <a:lnTo>
                  <a:pt x="2856" y="505091"/>
                </a:lnTo>
                <a:lnTo>
                  <a:pt x="0" y="487045"/>
                </a:lnTo>
                <a:close/>
              </a:path>
            </a:pathLst>
          </a:custGeom>
          <a:ln w="31750">
            <a:solidFill>
              <a:srgbClr val="8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007225" y="1277366"/>
            <a:ext cx="1844675" cy="445134"/>
          </a:xfrm>
          <a:custGeom>
            <a:avLst/>
            <a:gdLst/>
            <a:ahLst/>
            <a:cxnLst/>
            <a:rect l="l" t="t" r="r" b="b"/>
            <a:pathLst>
              <a:path w="1844675" h="445135">
                <a:moveTo>
                  <a:pt x="822325" y="293750"/>
                </a:moveTo>
                <a:lnTo>
                  <a:pt x="384175" y="293750"/>
                </a:lnTo>
                <a:lnTo>
                  <a:pt x="0" y="444754"/>
                </a:lnTo>
                <a:lnTo>
                  <a:pt x="822325" y="293750"/>
                </a:lnTo>
                <a:close/>
              </a:path>
              <a:path w="1844675" h="445135">
                <a:moveTo>
                  <a:pt x="1795652" y="0"/>
                </a:moveTo>
                <a:lnTo>
                  <a:pt x="141097" y="0"/>
                </a:lnTo>
                <a:lnTo>
                  <a:pt x="122025" y="3855"/>
                </a:lnTo>
                <a:lnTo>
                  <a:pt x="106441" y="14366"/>
                </a:lnTo>
                <a:lnTo>
                  <a:pt x="95930" y="29950"/>
                </a:lnTo>
                <a:lnTo>
                  <a:pt x="92075" y="49022"/>
                </a:lnTo>
                <a:lnTo>
                  <a:pt x="92075" y="244856"/>
                </a:lnTo>
                <a:lnTo>
                  <a:pt x="95930" y="263907"/>
                </a:lnTo>
                <a:lnTo>
                  <a:pt x="106441" y="279447"/>
                </a:lnTo>
                <a:lnTo>
                  <a:pt x="122025" y="289915"/>
                </a:lnTo>
                <a:lnTo>
                  <a:pt x="141097" y="293750"/>
                </a:lnTo>
                <a:lnTo>
                  <a:pt x="1795652" y="293750"/>
                </a:lnTo>
                <a:lnTo>
                  <a:pt x="1814724" y="289915"/>
                </a:lnTo>
                <a:lnTo>
                  <a:pt x="1830308" y="279447"/>
                </a:lnTo>
                <a:lnTo>
                  <a:pt x="1840819" y="263907"/>
                </a:lnTo>
                <a:lnTo>
                  <a:pt x="1844675" y="244856"/>
                </a:lnTo>
                <a:lnTo>
                  <a:pt x="1844675" y="49022"/>
                </a:lnTo>
                <a:lnTo>
                  <a:pt x="1840819" y="29950"/>
                </a:lnTo>
                <a:lnTo>
                  <a:pt x="1830308" y="14366"/>
                </a:lnTo>
                <a:lnTo>
                  <a:pt x="1814724" y="3855"/>
                </a:lnTo>
                <a:lnTo>
                  <a:pt x="17956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007225" y="1277366"/>
            <a:ext cx="1844675" cy="445134"/>
          </a:xfrm>
          <a:custGeom>
            <a:avLst/>
            <a:gdLst/>
            <a:ahLst/>
            <a:cxnLst/>
            <a:rect l="l" t="t" r="r" b="b"/>
            <a:pathLst>
              <a:path w="1844675" h="445135">
                <a:moveTo>
                  <a:pt x="92075" y="49022"/>
                </a:moveTo>
                <a:lnTo>
                  <a:pt x="95930" y="29950"/>
                </a:lnTo>
                <a:lnTo>
                  <a:pt x="106441" y="14366"/>
                </a:lnTo>
                <a:lnTo>
                  <a:pt x="122025" y="3855"/>
                </a:lnTo>
                <a:lnTo>
                  <a:pt x="141097" y="0"/>
                </a:lnTo>
                <a:lnTo>
                  <a:pt x="384175" y="0"/>
                </a:lnTo>
                <a:lnTo>
                  <a:pt x="822325" y="0"/>
                </a:lnTo>
                <a:lnTo>
                  <a:pt x="1795652" y="0"/>
                </a:lnTo>
                <a:lnTo>
                  <a:pt x="1814724" y="3855"/>
                </a:lnTo>
                <a:lnTo>
                  <a:pt x="1830308" y="14366"/>
                </a:lnTo>
                <a:lnTo>
                  <a:pt x="1840819" y="29950"/>
                </a:lnTo>
                <a:lnTo>
                  <a:pt x="1844675" y="49022"/>
                </a:lnTo>
                <a:lnTo>
                  <a:pt x="1844675" y="171450"/>
                </a:lnTo>
                <a:lnTo>
                  <a:pt x="1844675" y="244856"/>
                </a:lnTo>
                <a:lnTo>
                  <a:pt x="1840819" y="263907"/>
                </a:lnTo>
                <a:lnTo>
                  <a:pt x="1830308" y="279447"/>
                </a:lnTo>
                <a:lnTo>
                  <a:pt x="1814724" y="289915"/>
                </a:lnTo>
                <a:lnTo>
                  <a:pt x="1795652" y="293750"/>
                </a:lnTo>
                <a:lnTo>
                  <a:pt x="822325" y="293750"/>
                </a:lnTo>
                <a:lnTo>
                  <a:pt x="0" y="444754"/>
                </a:lnTo>
                <a:lnTo>
                  <a:pt x="384175" y="293750"/>
                </a:lnTo>
                <a:lnTo>
                  <a:pt x="141097" y="293750"/>
                </a:lnTo>
                <a:lnTo>
                  <a:pt x="122025" y="289915"/>
                </a:lnTo>
                <a:lnTo>
                  <a:pt x="106441" y="279447"/>
                </a:lnTo>
                <a:lnTo>
                  <a:pt x="95930" y="263907"/>
                </a:lnTo>
                <a:lnTo>
                  <a:pt x="92075" y="244856"/>
                </a:lnTo>
                <a:lnTo>
                  <a:pt x="92075" y="171450"/>
                </a:lnTo>
                <a:lnTo>
                  <a:pt x="92075" y="49022"/>
                </a:lnTo>
                <a:close/>
              </a:path>
            </a:pathLst>
          </a:custGeom>
          <a:ln w="952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193406" y="1250442"/>
            <a:ext cx="1403985" cy="43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30"/>
              </a:lnSpc>
              <a:spcBef>
                <a:spcPts val="95"/>
              </a:spcBef>
            </a:pPr>
            <a:r>
              <a:rPr sz="1600" spc="-95" dirty="0">
                <a:latin typeface="Arial"/>
                <a:cs typeface="Arial"/>
              </a:rPr>
              <a:t>Coordinación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del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630"/>
              </a:lnSpc>
            </a:pPr>
            <a:r>
              <a:rPr sz="1600" spc="-110" dirty="0">
                <a:latin typeface="Arial"/>
                <a:cs typeface="Arial"/>
              </a:rPr>
              <a:t>Proyecto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-14287" y="3243262"/>
          <a:ext cx="9144000" cy="1520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Ventajas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Desventajas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730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440690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Claro plan de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carrera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440690" algn="l"/>
                        </a:tabLst>
                      </a:pPr>
                      <a:r>
                        <a:rPr sz="850" spc="1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Clara linea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2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mando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440690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Mayor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cohesion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equipos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440690" marR="812800" indent="-335280">
                        <a:lnSpc>
                          <a:spcPct val="100000"/>
                        </a:lnSpc>
                        <a:spcBef>
                          <a:spcPts val="285"/>
                        </a:spcBef>
                        <a:tabLst>
                          <a:tab pos="440690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Gran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profundidad de perspectiva funcional en las  competencias del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equipo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517525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GP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No tiene autoridad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Formal.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Coordinación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6045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517525" algn="l"/>
                        </a:tabLst>
                      </a:pPr>
                      <a:r>
                        <a:rPr sz="850" spc="1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Menor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responsabilidad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hacia el fin del</a:t>
                      </a:r>
                      <a:r>
                        <a:rPr sz="12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proyecto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6045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517525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Miembros de equipo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mas leales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a sus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jefes</a:t>
                      </a:r>
                      <a:r>
                        <a:rPr sz="12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funcionales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6045">
                        <a:lnSpc>
                          <a:spcPct val="100000"/>
                        </a:lnSpc>
                        <a:spcBef>
                          <a:spcPts val="285"/>
                        </a:spcBef>
                        <a:tabLst>
                          <a:tab pos="517525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Dificil de alinear intereses del</a:t>
                      </a:r>
                      <a:r>
                        <a:rPr sz="12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proyecto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6045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517525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Sesgados hacia la función que genera el</a:t>
                      </a:r>
                      <a:r>
                        <a:rPr sz="12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proyecto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" name="object 49"/>
          <p:cNvSpPr txBox="1"/>
          <p:nvPr/>
        </p:nvSpPr>
        <p:spPr>
          <a:xfrm>
            <a:off x="612140" y="4796434"/>
            <a:ext cx="5440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65" dirty="0">
                <a:latin typeface="Arial"/>
                <a:cs typeface="Arial"/>
              </a:rPr>
              <a:t>EL </a:t>
            </a:r>
            <a:r>
              <a:rPr sz="1800" spc="-160" dirty="0">
                <a:latin typeface="Arial"/>
                <a:cs typeface="Arial"/>
              </a:rPr>
              <a:t>GP </a:t>
            </a:r>
            <a:r>
              <a:rPr sz="1800" spc="-90" dirty="0">
                <a:latin typeface="Arial"/>
                <a:cs typeface="Arial"/>
              </a:rPr>
              <a:t>pertenece </a:t>
            </a:r>
            <a:r>
              <a:rPr sz="1800" spc="-100" dirty="0">
                <a:latin typeface="Arial"/>
                <a:cs typeface="Arial"/>
              </a:rPr>
              <a:t>igualmente </a:t>
            </a:r>
            <a:r>
              <a:rPr sz="1800" spc="-10" dirty="0">
                <a:latin typeface="Arial"/>
                <a:cs typeface="Arial"/>
              </a:rPr>
              <a:t>a </a:t>
            </a:r>
            <a:r>
              <a:rPr sz="1800" spc="-145" dirty="0">
                <a:latin typeface="Arial"/>
                <a:cs typeface="Arial"/>
              </a:rPr>
              <a:t>una </a:t>
            </a:r>
            <a:r>
              <a:rPr sz="1800" spc="-55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85" dirty="0">
                <a:latin typeface="Arial"/>
                <a:cs typeface="Arial"/>
              </a:rPr>
              <a:t>áreas</a:t>
            </a:r>
            <a:r>
              <a:rPr sz="1800" spc="-190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funcionales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3850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28600" h="457200">
                <a:moveTo>
                  <a:pt x="228600" y="0"/>
                </a:moveTo>
                <a:lnTo>
                  <a:pt x="182529" y="4644"/>
                </a:lnTo>
                <a:lnTo>
                  <a:pt x="139618" y="17966"/>
                </a:lnTo>
                <a:lnTo>
                  <a:pt x="100787" y="39045"/>
                </a:lnTo>
                <a:lnTo>
                  <a:pt x="66955" y="66960"/>
                </a:lnTo>
                <a:lnTo>
                  <a:pt x="39041" y="100793"/>
                </a:lnTo>
                <a:lnTo>
                  <a:pt x="17964" y="139624"/>
                </a:lnTo>
                <a:lnTo>
                  <a:pt x="4644" y="182533"/>
                </a:lnTo>
                <a:lnTo>
                  <a:pt x="0" y="228600"/>
                </a:lnTo>
                <a:lnTo>
                  <a:pt x="4644" y="274666"/>
                </a:lnTo>
                <a:lnTo>
                  <a:pt x="17964" y="317575"/>
                </a:lnTo>
                <a:lnTo>
                  <a:pt x="39041" y="356406"/>
                </a:lnTo>
                <a:lnTo>
                  <a:pt x="66955" y="390239"/>
                </a:lnTo>
                <a:lnTo>
                  <a:pt x="100787" y="418154"/>
                </a:lnTo>
                <a:lnTo>
                  <a:pt x="139618" y="439233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323850"/>
            <a:ext cx="8737600" cy="457200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200" i="0" spc="-215" dirty="0">
                <a:solidFill>
                  <a:srgbClr val="000000"/>
                </a:solidFill>
                <a:latin typeface="Arial"/>
                <a:cs typeface="Arial"/>
              </a:rPr>
              <a:t>Estructura</a:t>
            </a:r>
            <a:r>
              <a:rPr sz="2200" i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i="0" spc="-155" dirty="0">
                <a:solidFill>
                  <a:srgbClr val="000000"/>
                </a:solidFill>
                <a:latin typeface="Arial"/>
                <a:cs typeface="Arial"/>
              </a:rPr>
              <a:t>Proyectizada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49135" y="2003044"/>
            <a:ext cx="1890649" cy="339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49135" y="2003044"/>
            <a:ext cx="1891030" cy="340360"/>
          </a:xfrm>
          <a:custGeom>
            <a:avLst/>
            <a:gdLst/>
            <a:ahLst/>
            <a:cxnLst/>
            <a:rect l="l" t="t" r="r" b="b"/>
            <a:pathLst>
              <a:path w="1891029" h="340360">
                <a:moveTo>
                  <a:pt x="0" y="56642"/>
                </a:moveTo>
                <a:lnTo>
                  <a:pt x="4456" y="34611"/>
                </a:lnTo>
                <a:lnTo>
                  <a:pt x="16605" y="16605"/>
                </a:lnTo>
                <a:lnTo>
                  <a:pt x="34611" y="4456"/>
                </a:lnTo>
                <a:lnTo>
                  <a:pt x="56642" y="0"/>
                </a:lnTo>
                <a:lnTo>
                  <a:pt x="1833880" y="0"/>
                </a:lnTo>
                <a:lnTo>
                  <a:pt x="1855983" y="4456"/>
                </a:lnTo>
                <a:lnTo>
                  <a:pt x="1874027" y="16605"/>
                </a:lnTo>
                <a:lnTo>
                  <a:pt x="1886190" y="34611"/>
                </a:lnTo>
                <a:lnTo>
                  <a:pt x="1890649" y="56642"/>
                </a:lnTo>
                <a:lnTo>
                  <a:pt x="1890649" y="283337"/>
                </a:lnTo>
                <a:lnTo>
                  <a:pt x="1886190" y="305421"/>
                </a:lnTo>
                <a:lnTo>
                  <a:pt x="1874027" y="323421"/>
                </a:lnTo>
                <a:lnTo>
                  <a:pt x="1855983" y="335539"/>
                </a:lnTo>
                <a:lnTo>
                  <a:pt x="1833880" y="339979"/>
                </a:lnTo>
                <a:lnTo>
                  <a:pt x="56642" y="339979"/>
                </a:lnTo>
                <a:lnTo>
                  <a:pt x="34611" y="335539"/>
                </a:lnTo>
                <a:lnTo>
                  <a:pt x="16605" y="323421"/>
                </a:lnTo>
                <a:lnTo>
                  <a:pt x="4456" y="305421"/>
                </a:lnTo>
                <a:lnTo>
                  <a:pt x="0" y="283337"/>
                </a:lnTo>
                <a:lnTo>
                  <a:pt x="0" y="5664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645656" y="2053208"/>
            <a:ext cx="10795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latin typeface="Tahoma"/>
                <a:cs typeface="Tahoma"/>
              </a:rPr>
              <a:t>G </a:t>
            </a:r>
            <a:r>
              <a:rPr sz="1300" b="1" spc="-10" dirty="0">
                <a:latin typeface="Tahoma"/>
                <a:cs typeface="Tahoma"/>
              </a:rPr>
              <a:t>Proyecto</a:t>
            </a:r>
            <a:r>
              <a:rPr sz="1300" b="1" spc="-55" dirty="0">
                <a:latin typeface="Tahoma"/>
                <a:cs typeface="Tahoma"/>
              </a:rPr>
              <a:t> </a:t>
            </a:r>
            <a:r>
              <a:rPr sz="1300" b="1" spc="-5" dirty="0">
                <a:latin typeface="Tahoma"/>
                <a:cs typeface="Tahoma"/>
              </a:rPr>
              <a:t>3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7346" y="1973452"/>
            <a:ext cx="1890560" cy="339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346" y="1973452"/>
            <a:ext cx="1891030" cy="340360"/>
          </a:xfrm>
          <a:custGeom>
            <a:avLst/>
            <a:gdLst/>
            <a:ahLst/>
            <a:cxnLst/>
            <a:rect l="l" t="t" r="r" b="b"/>
            <a:pathLst>
              <a:path w="1891030" h="340360">
                <a:moveTo>
                  <a:pt x="0" y="56642"/>
                </a:moveTo>
                <a:lnTo>
                  <a:pt x="4453" y="34611"/>
                </a:lnTo>
                <a:lnTo>
                  <a:pt x="16598" y="16605"/>
                </a:lnTo>
                <a:lnTo>
                  <a:pt x="34611" y="4456"/>
                </a:lnTo>
                <a:lnTo>
                  <a:pt x="56667" y="0"/>
                </a:lnTo>
                <a:lnTo>
                  <a:pt x="1833918" y="0"/>
                </a:lnTo>
                <a:lnTo>
                  <a:pt x="1855948" y="4456"/>
                </a:lnTo>
                <a:lnTo>
                  <a:pt x="1873954" y="16605"/>
                </a:lnTo>
                <a:lnTo>
                  <a:pt x="1886103" y="34611"/>
                </a:lnTo>
                <a:lnTo>
                  <a:pt x="1890560" y="56642"/>
                </a:lnTo>
                <a:lnTo>
                  <a:pt x="1890560" y="283337"/>
                </a:lnTo>
                <a:lnTo>
                  <a:pt x="1886103" y="305421"/>
                </a:lnTo>
                <a:lnTo>
                  <a:pt x="1873954" y="323421"/>
                </a:lnTo>
                <a:lnTo>
                  <a:pt x="1855948" y="335539"/>
                </a:lnTo>
                <a:lnTo>
                  <a:pt x="1833918" y="339979"/>
                </a:lnTo>
                <a:lnTo>
                  <a:pt x="56667" y="339979"/>
                </a:lnTo>
                <a:lnTo>
                  <a:pt x="34611" y="335539"/>
                </a:lnTo>
                <a:lnTo>
                  <a:pt x="16598" y="323421"/>
                </a:lnTo>
                <a:lnTo>
                  <a:pt x="4453" y="305421"/>
                </a:lnTo>
                <a:lnTo>
                  <a:pt x="0" y="283337"/>
                </a:lnTo>
                <a:lnTo>
                  <a:pt x="0" y="5664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2711" y="2022094"/>
            <a:ext cx="1000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ahoma"/>
                <a:cs typeface="Tahoma"/>
              </a:rPr>
              <a:t>G </a:t>
            </a:r>
            <a:r>
              <a:rPr sz="1200" b="1" spc="-5" dirty="0">
                <a:latin typeface="Tahoma"/>
                <a:cs typeface="Tahoma"/>
              </a:rPr>
              <a:t>Proyecto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dirty="0">
                <a:latin typeface="Tahoma"/>
                <a:cs typeface="Tahoma"/>
              </a:rPr>
              <a:t>1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36264" y="2030095"/>
            <a:ext cx="1890522" cy="3401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36264" y="2030095"/>
            <a:ext cx="1891030" cy="340360"/>
          </a:xfrm>
          <a:custGeom>
            <a:avLst/>
            <a:gdLst/>
            <a:ahLst/>
            <a:cxnLst/>
            <a:rect l="l" t="t" r="r" b="b"/>
            <a:pathLst>
              <a:path w="1891029" h="340360">
                <a:moveTo>
                  <a:pt x="0" y="56642"/>
                </a:moveTo>
                <a:lnTo>
                  <a:pt x="4456" y="34611"/>
                </a:lnTo>
                <a:lnTo>
                  <a:pt x="16605" y="16605"/>
                </a:lnTo>
                <a:lnTo>
                  <a:pt x="34611" y="4456"/>
                </a:lnTo>
                <a:lnTo>
                  <a:pt x="56641" y="0"/>
                </a:lnTo>
                <a:lnTo>
                  <a:pt x="1833880" y="0"/>
                </a:lnTo>
                <a:lnTo>
                  <a:pt x="1855964" y="4456"/>
                </a:lnTo>
                <a:lnTo>
                  <a:pt x="1873964" y="16605"/>
                </a:lnTo>
                <a:lnTo>
                  <a:pt x="1886082" y="34611"/>
                </a:lnTo>
                <a:lnTo>
                  <a:pt x="1890522" y="56642"/>
                </a:lnTo>
                <a:lnTo>
                  <a:pt x="1890522" y="283337"/>
                </a:lnTo>
                <a:lnTo>
                  <a:pt x="1886082" y="305440"/>
                </a:lnTo>
                <a:lnTo>
                  <a:pt x="1873964" y="323484"/>
                </a:lnTo>
                <a:lnTo>
                  <a:pt x="1855964" y="335647"/>
                </a:lnTo>
                <a:lnTo>
                  <a:pt x="1833880" y="340106"/>
                </a:lnTo>
                <a:lnTo>
                  <a:pt x="56641" y="340106"/>
                </a:lnTo>
                <a:lnTo>
                  <a:pt x="34611" y="335647"/>
                </a:lnTo>
                <a:lnTo>
                  <a:pt x="16605" y="323484"/>
                </a:lnTo>
                <a:lnTo>
                  <a:pt x="4456" y="305440"/>
                </a:lnTo>
                <a:lnTo>
                  <a:pt x="0" y="283337"/>
                </a:lnTo>
                <a:lnTo>
                  <a:pt x="0" y="5664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732021" y="2080386"/>
            <a:ext cx="10795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latin typeface="Tahoma"/>
                <a:cs typeface="Tahoma"/>
              </a:rPr>
              <a:t>G </a:t>
            </a:r>
            <a:r>
              <a:rPr sz="1300" b="1" spc="-10" dirty="0">
                <a:latin typeface="Tahoma"/>
                <a:cs typeface="Tahoma"/>
              </a:rPr>
              <a:t>Proyecto</a:t>
            </a:r>
            <a:r>
              <a:rPr sz="1300" b="1" spc="-55" dirty="0">
                <a:latin typeface="Tahoma"/>
                <a:cs typeface="Tahoma"/>
              </a:rPr>
              <a:t> </a:t>
            </a:r>
            <a:r>
              <a:rPr sz="1300" b="1" spc="-5" dirty="0">
                <a:latin typeface="Tahoma"/>
                <a:cs typeface="Tahoma"/>
              </a:rPr>
              <a:t>2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7346" y="2389632"/>
            <a:ext cx="1890560" cy="4956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7346" y="2389632"/>
            <a:ext cx="1891030" cy="495934"/>
          </a:xfrm>
          <a:custGeom>
            <a:avLst/>
            <a:gdLst/>
            <a:ahLst/>
            <a:cxnLst/>
            <a:rect l="l" t="t" r="r" b="b"/>
            <a:pathLst>
              <a:path w="1891030" h="495935">
                <a:moveTo>
                  <a:pt x="0" y="82676"/>
                </a:moveTo>
                <a:lnTo>
                  <a:pt x="6489" y="50524"/>
                </a:lnTo>
                <a:lnTo>
                  <a:pt x="24187" y="24241"/>
                </a:lnTo>
                <a:lnTo>
                  <a:pt x="50438" y="6506"/>
                </a:lnTo>
                <a:lnTo>
                  <a:pt x="82588" y="0"/>
                </a:lnTo>
                <a:lnTo>
                  <a:pt x="1808010" y="0"/>
                </a:lnTo>
                <a:lnTo>
                  <a:pt x="1840143" y="6506"/>
                </a:lnTo>
                <a:lnTo>
                  <a:pt x="1866382" y="24241"/>
                </a:lnTo>
                <a:lnTo>
                  <a:pt x="1884073" y="50524"/>
                </a:lnTo>
                <a:lnTo>
                  <a:pt x="1890560" y="82676"/>
                </a:lnTo>
                <a:lnTo>
                  <a:pt x="1890560" y="413004"/>
                </a:lnTo>
                <a:lnTo>
                  <a:pt x="1884073" y="445156"/>
                </a:lnTo>
                <a:lnTo>
                  <a:pt x="1866382" y="471439"/>
                </a:lnTo>
                <a:lnTo>
                  <a:pt x="1840143" y="489174"/>
                </a:lnTo>
                <a:lnTo>
                  <a:pt x="1808010" y="495681"/>
                </a:lnTo>
                <a:lnTo>
                  <a:pt x="82588" y="495681"/>
                </a:lnTo>
                <a:lnTo>
                  <a:pt x="50438" y="489174"/>
                </a:lnTo>
                <a:lnTo>
                  <a:pt x="24187" y="471439"/>
                </a:lnTo>
                <a:lnTo>
                  <a:pt x="6489" y="445156"/>
                </a:lnTo>
                <a:lnTo>
                  <a:pt x="0" y="413004"/>
                </a:lnTo>
                <a:lnTo>
                  <a:pt x="0" y="8267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70331" y="2447670"/>
            <a:ext cx="161734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latin typeface="Tahoma"/>
                <a:cs typeface="Tahoma"/>
              </a:rPr>
              <a:t>Miembro de</a:t>
            </a:r>
            <a:r>
              <a:rPr sz="1300" b="1" spc="-55" dirty="0">
                <a:latin typeface="Tahoma"/>
                <a:cs typeface="Tahoma"/>
              </a:rPr>
              <a:t> </a:t>
            </a:r>
            <a:r>
              <a:rPr sz="1300" b="1" spc="-10" dirty="0">
                <a:latin typeface="Tahoma"/>
                <a:cs typeface="Tahoma"/>
              </a:rPr>
              <a:t>Equipo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300" b="1" spc="-10" dirty="0">
                <a:latin typeface="Tahoma"/>
                <a:cs typeface="Tahoma"/>
              </a:rPr>
              <a:t>/Staff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08196" y="2469642"/>
            <a:ext cx="1890649" cy="4533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08196" y="2469642"/>
            <a:ext cx="1891030" cy="453390"/>
          </a:xfrm>
          <a:custGeom>
            <a:avLst/>
            <a:gdLst/>
            <a:ahLst/>
            <a:cxnLst/>
            <a:rect l="l" t="t" r="r" b="b"/>
            <a:pathLst>
              <a:path w="1891029" h="453389">
                <a:moveTo>
                  <a:pt x="0" y="75564"/>
                </a:moveTo>
                <a:lnTo>
                  <a:pt x="5949" y="46130"/>
                </a:lnTo>
                <a:lnTo>
                  <a:pt x="22161" y="22113"/>
                </a:lnTo>
                <a:lnTo>
                  <a:pt x="46184" y="5931"/>
                </a:lnTo>
                <a:lnTo>
                  <a:pt x="75564" y="0"/>
                </a:lnTo>
                <a:lnTo>
                  <a:pt x="1815083" y="0"/>
                </a:lnTo>
                <a:lnTo>
                  <a:pt x="1844464" y="5931"/>
                </a:lnTo>
                <a:lnTo>
                  <a:pt x="1868487" y="22113"/>
                </a:lnTo>
                <a:lnTo>
                  <a:pt x="1884699" y="46130"/>
                </a:lnTo>
                <a:lnTo>
                  <a:pt x="1890649" y="75564"/>
                </a:lnTo>
                <a:lnTo>
                  <a:pt x="1890649" y="377825"/>
                </a:lnTo>
                <a:lnTo>
                  <a:pt x="1884699" y="407259"/>
                </a:lnTo>
                <a:lnTo>
                  <a:pt x="1868487" y="431276"/>
                </a:lnTo>
                <a:lnTo>
                  <a:pt x="1844464" y="447458"/>
                </a:lnTo>
                <a:lnTo>
                  <a:pt x="1815083" y="453389"/>
                </a:lnTo>
                <a:lnTo>
                  <a:pt x="75564" y="453389"/>
                </a:lnTo>
                <a:lnTo>
                  <a:pt x="46184" y="447458"/>
                </a:lnTo>
                <a:lnTo>
                  <a:pt x="22161" y="431276"/>
                </a:lnTo>
                <a:lnTo>
                  <a:pt x="5949" y="407259"/>
                </a:lnTo>
                <a:lnTo>
                  <a:pt x="0" y="377825"/>
                </a:lnTo>
                <a:lnTo>
                  <a:pt x="0" y="7556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09796" y="2524125"/>
            <a:ext cx="10013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Miembro de  equip</a:t>
            </a:r>
            <a:r>
              <a:rPr sz="1200" b="1" dirty="0">
                <a:latin typeface="Tahoma"/>
                <a:cs typeface="Tahoma"/>
              </a:rPr>
              <a:t>o</a:t>
            </a:r>
            <a:r>
              <a:rPr sz="1200" b="1" spc="-5" dirty="0">
                <a:latin typeface="Tahoma"/>
                <a:cs typeface="Tahoma"/>
              </a:rPr>
              <a:t>/S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77203" y="2445130"/>
            <a:ext cx="1890522" cy="4533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77203" y="2445130"/>
            <a:ext cx="1891030" cy="453390"/>
          </a:xfrm>
          <a:custGeom>
            <a:avLst/>
            <a:gdLst/>
            <a:ahLst/>
            <a:cxnLst/>
            <a:rect l="l" t="t" r="r" b="b"/>
            <a:pathLst>
              <a:path w="1891029" h="453389">
                <a:moveTo>
                  <a:pt x="0" y="75564"/>
                </a:moveTo>
                <a:lnTo>
                  <a:pt x="5931" y="46130"/>
                </a:lnTo>
                <a:lnTo>
                  <a:pt x="22113" y="22113"/>
                </a:lnTo>
                <a:lnTo>
                  <a:pt x="46130" y="5931"/>
                </a:lnTo>
                <a:lnTo>
                  <a:pt x="75565" y="0"/>
                </a:lnTo>
                <a:lnTo>
                  <a:pt x="1814956" y="0"/>
                </a:lnTo>
                <a:lnTo>
                  <a:pt x="1844391" y="5931"/>
                </a:lnTo>
                <a:lnTo>
                  <a:pt x="1868408" y="22113"/>
                </a:lnTo>
                <a:lnTo>
                  <a:pt x="1884590" y="46130"/>
                </a:lnTo>
                <a:lnTo>
                  <a:pt x="1890522" y="75564"/>
                </a:lnTo>
                <a:lnTo>
                  <a:pt x="1890522" y="377825"/>
                </a:lnTo>
                <a:lnTo>
                  <a:pt x="1884590" y="407205"/>
                </a:lnTo>
                <a:lnTo>
                  <a:pt x="1868408" y="431228"/>
                </a:lnTo>
                <a:lnTo>
                  <a:pt x="1844391" y="447440"/>
                </a:lnTo>
                <a:lnTo>
                  <a:pt x="1814956" y="453389"/>
                </a:lnTo>
                <a:lnTo>
                  <a:pt x="75565" y="453389"/>
                </a:lnTo>
                <a:lnTo>
                  <a:pt x="46130" y="447440"/>
                </a:lnTo>
                <a:lnTo>
                  <a:pt x="22113" y="431228"/>
                </a:lnTo>
                <a:lnTo>
                  <a:pt x="5931" y="407205"/>
                </a:lnTo>
                <a:lnTo>
                  <a:pt x="0" y="377825"/>
                </a:lnTo>
                <a:lnTo>
                  <a:pt x="0" y="7556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79183" y="2499486"/>
            <a:ext cx="10013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Miembro de  equip</a:t>
            </a:r>
            <a:r>
              <a:rPr sz="1200" b="1" dirty="0">
                <a:latin typeface="Tahoma"/>
                <a:cs typeface="Tahoma"/>
              </a:rPr>
              <a:t>o</a:t>
            </a:r>
            <a:r>
              <a:rPr sz="1200" b="1" spc="-5" dirty="0">
                <a:latin typeface="Tahoma"/>
                <a:cs typeface="Tahoma"/>
              </a:rPr>
              <a:t>/S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98139" y="1322958"/>
            <a:ext cx="2520823" cy="33997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98139" y="1322958"/>
            <a:ext cx="2520950" cy="340360"/>
          </a:xfrm>
          <a:custGeom>
            <a:avLst/>
            <a:gdLst/>
            <a:ahLst/>
            <a:cxnLst/>
            <a:rect l="l" t="t" r="r" b="b"/>
            <a:pathLst>
              <a:path w="2520950" h="340360">
                <a:moveTo>
                  <a:pt x="0" y="56641"/>
                </a:moveTo>
                <a:lnTo>
                  <a:pt x="4458" y="34611"/>
                </a:lnTo>
                <a:lnTo>
                  <a:pt x="16621" y="16605"/>
                </a:lnTo>
                <a:lnTo>
                  <a:pt x="34665" y="4456"/>
                </a:lnTo>
                <a:lnTo>
                  <a:pt x="56769" y="0"/>
                </a:lnTo>
                <a:lnTo>
                  <a:pt x="2464181" y="0"/>
                </a:lnTo>
                <a:lnTo>
                  <a:pt x="2486211" y="4456"/>
                </a:lnTo>
                <a:lnTo>
                  <a:pt x="2504217" y="16605"/>
                </a:lnTo>
                <a:lnTo>
                  <a:pt x="2516366" y="34611"/>
                </a:lnTo>
                <a:lnTo>
                  <a:pt x="2520823" y="56641"/>
                </a:lnTo>
                <a:lnTo>
                  <a:pt x="2520823" y="283337"/>
                </a:lnTo>
                <a:lnTo>
                  <a:pt x="2516366" y="305421"/>
                </a:lnTo>
                <a:lnTo>
                  <a:pt x="2504217" y="323421"/>
                </a:lnTo>
                <a:lnTo>
                  <a:pt x="2486211" y="335539"/>
                </a:lnTo>
                <a:lnTo>
                  <a:pt x="2464181" y="339978"/>
                </a:lnTo>
                <a:lnTo>
                  <a:pt x="56769" y="339978"/>
                </a:lnTo>
                <a:lnTo>
                  <a:pt x="34665" y="335539"/>
                </a:lnTo>
                <a:lnTo>
                  <a:pt x="16621" y="323421"/>
                </a:lnTo>
                <a:lnTo>
                  <a:pt x="4458" y="305421"/>
                </a:lnTo>
                <a:lnTo>
                  <a:pt x="0" y="283337"/>
                </a:lnTo>
                <a:lnTo>
                  <a:pt x="0" y="5664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94023" y="1371346"/>
            <a:ext cx="2200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CEO/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Organización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7346" y="2923032"/>
            <a:ext cx="1890560" cy="4968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67346" y="2923032"/>
            <a:ext cx="1891030" cy="497205"/>
          </a:xfrm>
          <a:custGeom>
            <a:avLst/>
            <a:gdLst/>
            <a:ahLst/>
            <a:cxnLst/>
            <a:rect l="l" t="t" r="r" b="b"/>
            <a:pathLst>
              <a:path w="1891030" h="497204">
                <a:moveTo>
                  <a:pt x="0" y="82804"/>
                </a:moveTo>
                <a:lnTo>
                  <a:pt x="6506" y="50577"/>
                </a:lnTo>
                <a:lnTo>
                  <a:pt x="24252" y="24257"/>
                </a:lnTo>
                <a:lnTo>
                  <a:pt x="50572" y="6508"/>
                </a:lnTo>
                <a:lnTo>
                  <a:pt x="82804" y="0"/>
                </a:lnTo>
                <a:lnTo>
                  <a:pt x="1807756" y="0"/>
                </a:lnTo>
                <a:lnTo>
                  <a:pt x="1839982" y="6508"/>
                </a:lnTo>
                <a:lnTo>
                  <a:pt x="1866303" y="24256"/>
                </a:lnTo>
                <a:lnTo>
                  <a:pt x="1884051" y="50577"/>
                </a:lnTo>
                <a:lnTo>
                  <a:pt x="1890560" y="82804"/>
                </a:lnTo>
                <a:lnTo>
                  <a:pt x="1890560" y="414019"/>
                </a:lnTo>
                <a:lnTo>
                  <a:pt x="1884051" y="446246"/>
                </a:lnTo>
                <a:lnTo>
                  <a:pt x="1866303" y="472567"/>
                </a:lnTo>
                <a:lnTo>
                  <a:pt x="1839982" y="490315"/>
                </a:lnTo>
                <a:lnTo>
                  <a:pt x="1807756" y="496824"/>
                </a:lnTo>
                <a:lnTo>
                  <a:pt x="82804" y="496824"/>
                </a:lnTo>
                <a:lnTo>
                  <a:pt x="50572" y="490315"/>
                </a:lnTo>
                <a:lnTo>
                  <a:pt x="24252" y="472567"/>
                </a:lnTo>
                <a:lnTo>
                  <a:pt x="6506" y="446246"/>
                </a:lnTo>
                <a:lnTo>
                  <a:pt x="0" y="414019"/>
                </a:lnTo>
                <a:lnTo>
                  <a:pt x="0" y="828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70331" y="2981020"/>
            <a:ext cx="108267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latin typeface="Tahoma"/>
                <a:cs typeface="Tahoma"/>
              </a:rPr>
              <a:t>Miembro</a:t>
            </a:r>
            <a:r>
              <a:rPr sz="1300" b="1" spc="-30" dirty="0">
                <a:latin typeface="Tahoma"/>
                <a:cs typeface="Tahoma"/>
              </a:rPr>
              <a:t> </a:t>
            </a:r>
            <a:r>
              <a:rPr sz="1300" b="1" spc="-10" dirty="0">
                <a:latin typeface="Tahoma"/>
                <a:cs typeface="Tahoma"/>
              </a:rPr>
              <a:t>de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300" b="1" spc="-10" dirty="0">
                <a:latin typeface="Tahoma"/>
                <a:cs typeface="Tahoma"/>
              </a:rPr>
              <a:t>Equipo/Staff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608196" y="2993517"/>
            <a:ext cx="1890649" cy="4263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08196" y="2993517"/>
            <a:ext cx="1891030" cy="426720"/>
          </a:xfrm>
          <a:custGeom>
            <a:avLst/>
            <a:gdLst/>
            <a:ahLst/>
            <a:cxnLst/>
            <a:rect l="l" t="t" r="r" b="b"/>
            <a:pathLst>
              <a:path w="1891029" h="426720">
                <a:moveTo>
                  <a:pt x="0" y="71119"/>
                </a:moveTo>
                <a:lnTo>
                  <a:pt x="5593" y="43451"/>
                </a:lnTo>
                <a:lnTo>
                  <a:pt x="20843" y="20843"/>
                </a:lnTo>
                <a:lnTo>
                  <a:pt x="43451" y="5593"/>
                </a:lnTo>
                <a:lnTo>
                  <a:pt x="71119" y="0"/>
                </a:lnTo>
                <a:lnTo>
                  <a:pt x="1819528" y="0"/>
                </a:lnTo>
                <a:lnTo>
                  <a:pt x="1847197" y="5593"/>
                </a:lnTo>
                <a:lnTo>
                  <a:pt x="1869805" y="20843"/>
                </a:lnTo>
                <a:lnTo>
                  <a:pt x="1885055" y="43451"/>
                </a:lnTo>
                <a:lnTo>
                  <a:pt x="1890649" y="71119"/>
                </a:lnTo>
                <a:lnTo>
                  <a:pt x="1890649" y="355345"/>
                </a:lnTo>
                <a:lnTo>
                  <a:pt x="1885055" y="382994"/>
                </a:lnTo>
                <a:lnTo>
                  <a:pt x="1869805" y="405558"/>
                </a:lnTo>
                <a:lnTo>
                  <a:pt x="1847197" y="420764"/>
                </a:lnTo>
                <a:lnTo>
                  <a:pt x="1819528" y="426338"/>
                </a:lnTo>
                <a:lnTo>
                  <a:pt x="71119" y="426338"/>
                </a:lnTo>
                <a:lnTo>
                  <a:pt x="43451" y="420764"/>
                </a:lnTo>
                <a:lnTo>
                  <a:pt x="20843" y="405558"/>
                </a:lnTo>
                <a:lnTo>
                  <a:pt x="5593" y="382994"/>
                </a:lnTo>
                <a:lnTo>
                  <a:pt x="0" y="355345"/>
                </a:lnTo>
                <a:lnTo>
                  <a:pt x="0" y="7111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708272" y="3046857"/>
            <a:ext cx="933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Miembro</a:t>
            </a:r>
            <a:r>
              <a:rPr sz="1200" b="1" spc="-4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de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08272" y="3229736"/>
            <a:ext cx="1006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Equipo/Staff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549135" y="2952623"/>
            <a:ext cx="1890649" cy="4672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49135" y="2952623"/>
            <a:ext cx="1891030" cy="467359"/>
          </a:xfrm>
          <a:custGeom>
            <a:avLst/>
            <a:gdLst/>
            <a:ahLst/>
            <a:cxnLst/>
            <a:rect l="l" t="t" r="r" b="b"/>
            <a:pathLst>
              <a:path w="1891029" h="467360">
                <a:moveTo>
                  <a:pt x="0" y="77850"/>
                </a:moveTo>
                <a:lnTo>
                  <a:pt x="6127" y="47577"/>
                </a:lnTo>
                <a:lnTo>
                  <a:pt x="22828" y="22828"/>
                </a:lnTo>
                <a:lnTo>
                  <a:pt x="47577" y="6127"/>
                </a:lnTo>
                <a:lnTo>
                  <a:pt x="77850" y="0"/>
                </a:lnTo>
                <a:lnTo>
                  <a:pt x="1812671" y="0"/>
                </a:lnTo>
                <a:lnTo>
                  <a:pt x="1843018" y="6127"/>
                </a:lnTo>
                <a:lnTo>
                  <a:pt x="1867804" y="22828"/>
                </a:lnTo>
                <a:lnTo>
                  <a:pt x="1884519" y="47577"/>
                </a:lnTo>
                <a:lnTo>
                  <a:pt x="1890649" y="77850"/>
                </a:lnTo>
                <a:lnTo>
                  <a:pt x="1890649" y="389381"/>
                </a:lnTo>
                <a:lnTo>
                  <a:pt x="1884519" y="419709"/>
                </a:lnTo>
                <a:lnTo>
                  <a:pt x="1867804" y="444452"/>
                </a:lnTo>
                <a:lnTo>
                  <a:pt x="1843018" y="461123"/>
                </a:lnTo>
                <a:lnTo>
                  <a:pt x="1812671" y="467232"/>
                </a:lnTo>
                <a:lnTo>
                  <a:pt x="77850" y="467232"/>
                </a:lnTo>
                <a:lnTo>
                  <a:pt x="47577" y="461123"/>
                </a:lnTo>
                <a:lnTo>
                  <a:pt x="22828" y="444452"/>
                </a:lnTo>
                <a:lnTo>
                  <a:pt x="6127" y="419709"/>
                </a:lnTo>
                <a:lnTo>
                  <a:pt x="0" y="389381"/>
                </a:lnTo>
                <a:lnTo>
                  <a:pt x="0" y="77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651752" y="3007867"/>
            <a:ext cx="1005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Miembro de  </a:t>
            </a:r>
            <a:r>
              <a:rPr sz="1200" b="1" dirty="0">
                <a:latin typeface="Tahoma"/>
                <a:cs typeface="Tahoma"/>
              </a:rPr>
              <a:t>E</a:t>
            </a:r>
            <a:r>
              <a:rPr sz="1200" b="1" spc="-5" dirty="0">
                <a:latin typeface="Tahoma"/>
                <a:cs typeface="Tahoma"/>
              </a:rPr>
              <a:t>quip</a:t>
            </a:r>
            <a:r>
              <a:rPr sz="1200" b="1" spc="5" dirty="0">
                <a:latin typeface="Tahoma"/>
                <a:cs typeface="Tahoma"/>
              </a:rPr>
              <a:t>o</a:t>
            </a:r>
            <a:r>
              <a:rPr sz="1200" b="1" spc="-5" dirty="0">
                <a:latin typeface="Tahoma"/>
                <a:cs typeface="Tahoma"/>
              </a:rPr>
              <a:t>/S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58614" y="1662938"/>
            <a:ext cx="0" cy="367665"/>
          </a:xfrm>
          <a:custGeom>
            <a:avLst/>
            <a:gdLst/>
            <a:ahLst/>
            <a:cxnLst/>
            <a:rect l="l" t="t" r="r" b="b"/>
            <a:pathLst>
              <a:path h="367664">
                <a:moveTo>
                  <a:pt x="0" y="0"/>
                </a:moveTo>
                <a:lnTo>
                  <a:pt x="0" y="36715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07616" y="1889632"/>
            <a:ext cx="6092190" cy="0"/>
          </a:xfrm>
          <a:custGeom>
            <a:avLst/>
            <a:gdLst/>
            <a:ahLst/>
            <a:cxnLst/>
            <a:rect l="l" t="t" r="r" b="b"/>
            <a:pathLst>
              <a:path w="6092190">
                <a:moveTo>
                  <a:pt x="0" y="0"/>
                </a:moveTo>
                <a:lnTo>
                  <a:pt x="609180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507616" y="1889632"/>
            <a:ext cx="0" cy="113664"/>
          </a:xfrm>
          <a:custGeom>
            <a:avLst/>
            <a:gdLst/>
            <a:ahLst/>
            <a:cxnLst/>
            <a:rect l="l" t="t" r="r" b="b"/>
            <a:pathLst>
              <a:path h="113664">
                <a:moveTo>
                  <a:pt x="0" y="11341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599426" y="1889632"/>
            <a:ext cx="0" cy="113664"/>
          </a:xfrm>
          <a:custGeom>
            <a:avLst/>
            <a:gdLst/>
            <a:ahLst/>
            <a:cxnLst/>
            <a:rect l="l" t="t" r="r" b="b"/>
            <a:pathLst>
              <a:path h="113664">
                <a:moveTo>
                  <a:pt x="0" y="11341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507616" y="2313432"/>
            <a:ext cx="0" cy="113664"/>
          </a:xfrm>
          <a:custGeom>
            <a:avLst/>
            <a:gdLst/>
            <a:ahLst/>
            <a:cxnLst/>
            <a:rect l="l" t="t" r="r" b="b"/>
            <a:pathLst>
              <a:path h="113664">
                <a:moveTo>
                  <a:pt x="0" y="11341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658614" y="3023107"/>
            <a:ext cx="0" cy="226695"/>
          </a:xfrm>
          <a:custGeom>
            <a:avLst/>
            <a:gdLst/>
            <a:ahLst/>
            <a:cxnLst/>
            <a:rect l="l" t="t" r="r" b="b"/>
            <a:pathLst>
              <a:path h="226694">
                <a:moveTo>
                  <a:pt x="0" y="226694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599426" y="2266950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20269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599426" y="2880232"/>
            <a:ext cx="0" cy="142875"/>
          </a:xfrm>
          <a:custGeom>
            <a:avLst/>
            <a:gdLst/>
            <a:ahLst/>
            <a:cxnLst/>
            <a:rect l="l" t="t" r="r" b="b"/>
            <a:pathLst>
              <a:path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46100" y="2121026"/>
            <a:ext cx="204470" cy="387350"/>
          </a:xfrm>
          <a:custGeom>
            <a:avLst/>
            <a:gdLst/>
            <a:ahLst/>
            <a:cxnLst/>
            <a:rect l="l" t="t" r="r" b="b"/>
            <a:pathLst>
              <a:path w="204470" h="387350">
                <a:moveTo>
                  <a:pt x="0" y="34036"/>
                </a:moveTo>
                <a:lnTo>
                  <a:pt x="2677" y="20788"/>
                </a:lnTo>
                <a:lnTo>
                  <a:pt x="9977" y="9969"/>
                </a:lnTo>
                <a:lnTo>
                  <a:pt x="20804" y="2674"/>
                </a:lnTo>
                <a:lnTo>
                  <a:pt x="34061" y="0"/>
                </a:lnTo>
                <a:lnTo>
                  <a:pt x="170319" y="0"/>
                </a:lnTo>
                <a:lnTo>
                  <a:pt x="183576" y="2674"/>
                </a:lnTo>
                <a:lnTo>
                  <a:pt x="194403" y="9969"/>
                </a:lnTo>
                <a:lnTo>
                  <a:pt x="201703" y="20788"/>
                </a:lnTo>
                <a:lnTo>
                  <a:pt x="204381" y="34036"/>
                </a:lnTo>
                <a:lnTo>
                  <a:pt x="204381" y="353060"/>
                </a:lnTo>
                <a:lnTo>
                  <a:pt x="201703" y="366307"/>
                </a:lnTo>
                <a:lnTo>
                  <a:pt x="194403" y="377126"/>
                </a:lnTo>
                <a:lnTo>
                  <a:pt x="183576" y="384421"/>
                </a:lnTo>
                <a:lnTo>
                  <a:pt x="170319" y="387096"/>
                </a:lnTo>
                <a:lnTo>
                  <a:pt x="34061" y="387096"/>
                </a:lnTo>
                <a:lnTo>
                  <a:pt x="20804" y="384421"/>
                </a:lnTo>
                <a:lnTo>
                  <a:pt x="9977" y="377126"/>
                </a:lnTo>
                <a:lnTo>
                  <a:pt x="2677" y="366307"/>
                </a:lnTo>
                <a:lnTo>
                  <a:pt x="0" y="353060"/>
                </a:lnTo>
                <a:lnTo>
                  <a:pt x="0" y="34036"/>
                </a:lnTo>
                <a:close/>
              </a:path>
            </a:pathLst>
          </a:custGeom>
          <a:ln w="31750">
            <a:solidFill>
              <a:srgbClr val="8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52400" y="1318005"/>
            <a:ext cx="1600200" cy="609600"/>
          </a:xfrm>
          <a:custGeom>
            <a:avLst/>
            <a:gdLst/>
            <a:ahLst/>
            <a:cxnLst/>
            <a:rect l="l" t="t" r="r" b="b"/>
            <a:pathLst>
              <a:path w="1600200" h="609600">
                <a:moveTo>
                  <a:pt x="1333500" y="415544"/>
                </a:moveTo>
                <a:lnTo>
                  <a:pt x="933450" y="415544"/>
                </a:lnTo>
                <a:lnTo>
                  <a:pt x="1263142" y="609219"/>
                </a:lnTo>
                <a:lnTo>
                  <a:pt x="1333500" y="415544"/>
                </a:lnTo>
                <a:close/>
              </a:path>
              <a:path w="1600200" h="609600">
                <a:moveTo>
                  <a:pt x="1530985" y="0"/>
                </a:moveTo>
                <a:lnTo>
                  <a:pt x="69253" y="0"/>
                </a:lnTo>
                <a:lnTo>
                  <a:pt x="42294" y="5439"/>
                </a:lnTo>
                <a:lnTo>
                  <a:pt x="20281" y="20272"/>
                </a:lnTo>
                <a:lnTo>
                  <a:pt x="5441" y="42273"/>
                </a:lnTo>
                <a:lnTo>
                  <a:pt x="0" y="69215"/>
                </a:lnTo>
                <a:lnTo>
                  <a:pt x="0" y="346329"/>
                </a:lnTo>
                <a:lnTo>
                  <a:pt x="5441" y="373270"/>
                </a:lnTo>
                <a:lnTo>
                  <a:pt x="20281" y="395271"/>
                </a:lnTo>
                <a:lnTo>
                  <a:pt x="42294" y="410104"/>
                </a:lnTo>
                <a:lnTo>
                  <a:pt x="69253" y="415544"/>
                </a:lnTo>
                <a:lnTo>
                  <a:pt x="1530985" y="415544"/>
                </a:lnTo>
                <a:lnTo>
                  <a:pt x="1557926" y="410104"/>
                </a:lnTo>
                <a:lnTo>
                  <a:pt x="1579927" y="395271"/>
                </a:lnTo>
                <a:lnTo>
                  <a:pt x="1594760" y="373270"/>
                </a:lnTo>
                <a:lnTo>
                  <a:pt x="1600200" y="346329"/>
                </a:lnTo>
                <a:lnTo>
                  <a:pt x="1600200" y="69215"/>
                </a:lnTo>
                <a:lnTo>
                  <a:pt x="1594760" y="42273"/>
                </a:lnTo>
                <a:lnTo>
                  <a:pt x="1579927" y="20272"/>
                </a:lnTo>
                <a:lnTo>
                  <a:pt x="1557926" y="5439"/>
                </a:lnTo>
                <a:lnTo>
                  <a:pt x="1530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52400" y="1318005"/>
            <a:ext cx="1600200" cy="609600"/>
          </a:xfrm>
          <a:custGeom>
            <a:avLst/>
            <a:gdLst/>
            <a:ahLst/>
            <a:cxnLst/>
            <a:rect l="l" t="t" r="r" b="b"/>
            <a:pathLst>
              <a:path w="1600200" h="609600">
                <a:moveTo>
                  <a:pt x="0" y="69215"/>
                </a:moveTo>
                <a:lnTo>
                  <a:pt x="5441" y="42273"/>
                </a:lnTo>
                <a:lnTo>
                  <a:pt x="20281" y="20272"/>
                </a:lnTo>
                <a:lnTo>
                  <a:pt x="42294" y="5439"/>
                </a:lnTo>
                <a:lnTo>
                  <a:pt x="69253" y="0"/>
                </a:lnTo>
                <a:lnTo>
                  <a:pt x="933450" y="0"/>
                </a:lnTo>
                <a:lnTo>
                  <a:pt x="1333500" y="0"/>
                </a:lnTo>
                <a:lnTo>
                  <a:pt x="1530985" y="0"/>
                </a:lnTo>
                <a:lnTo>
                  <a:pt x="1557926" y="5439"/>
                </a:lnTo>
                <a:lnTo>
                  <a:pt x="1579927" y="20272"/>
                </a:lnTo>
                <a:lnTo>
                  <a:pt x="1594760" y="42273"/>
                </a:lnTo>
                <a:lnTo>
                  <a:pt x="1600200" y="69215"/>
                </a:lnTo>
                <a:lnTo>
                  <a:pt x="1600200" y="242443"/>
                </a:lnTo>
                <a:lnTo>
                  <a:pt x="1600200" y="346329"/>
                </a:lnTo>
                <a:lnTo>
                  <a:pt x="1594760" y="373270"/>
                </a:lnTo>
                <a:lnTo>
                  <a:pt x="1579927" y="395271"/>
                </a:lnTo>
                <a:lnTo>
                  <a:pt x="1557926" y="410104"/>
                </a:lnTo>
                <a:lnTo>
                  <a:pt x="1530985" y="415544"/>
                </a:lnTo>
                <a:lnTo>
                  <a:pt x="1333500" y="415544"/>
                </a:lnTo>
                <a:lnTo>
                  <a:pt x="1263142" y="609219"/>
                </a:lnTo>
                <a:lnTo>
                  <a:pt x="933450" y="415544"/>
                </a:lnTo>
                <a:lnTo>
                  <a:pt x="69253" y="415544"/>
                </a:lnTo>
                <a:lnTo>
                  <a:pt x="42294" y="410104"/>
                </a:lnTo>
                <a:lnTo>
                  <a:pt x="20281" y="395271"/>
                </a:lnTo>
                <a:lnTo>
                  <a:pt x="5441" y="373270"/>
                </a:lnTo>
                <a:lnTo>
                  <a:pt x="0" y="346329"/>
                </a:lnTo>
                <a:lnTo>
                  <a:pt x="0" y="242443"/>
                </a:lnTo>
                <a:lnTo>
                  <a:pt x="0" y="69215"/>
                </a:lnTo>
                <a:close/>
              </a:path>
            </a:pathLst>
          </a:custGeom>
          <a:ln w="952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51561" y="1306195"/>
            <a:ext cx="1236345" cy="3892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605"/>
              </a:spcBef>
            </a:pPr>
            <a:r>
              <a:rPr sz="1400" spc="-75" dirty="0">
                <a:latin typeface="Arial"/>
                <a:cs typeface="Arial"/>
              </a:rPr>
              <a:t>Coordinación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del  </a:t>
            </a:r>
            <a:r>
              <a:rPr sz="1400" spc="-90" dirty="0">
                <a:latin typeface="Arial"/>
                <a:cs typeface="Arial"/>
              </a:rPr>
              <a:t>Proyecto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7" name="object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726132"/>
              </p:ext>
            </p:extLst>
          </p:nvPr>
        </p:nvGraphicFramePr>
        <p:xfrm>
          <a:off x="0" y="3471862"/>
          <a:ext cx="9130030" cy="1656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44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Ventajas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Disadvantages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82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426084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Lealtad al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Proyecto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426084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Autoridad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formal y completa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12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GP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  <a:tabLst>
                          <a:tab pos="426084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Orientado a la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tarea y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al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eqiupo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426084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Mas blindada a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conflictos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externos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426084" algn="l"/>
                        </a:tabLst>
                      </a:pPr>
                      <a:r>
                        <a:rPr sz="850" spc="1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Independencia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509905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No hay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plan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de carrera claro para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especiallistas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509905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lang="es-ES" sz="12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equipo de proyecto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maneja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incertidumbre de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estar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solo por el</a:t>
                      </a:r>
                      <a:r>
                        <a:rPr sz="1200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proyecto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285"/>
                        </a:spcBef>
                        <a:tabLst>
                          <a:tab pos="509905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Mayor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fluctacion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en el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trabajo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a realizar por los</a:t>
                      </a:r>
                      <a:r>
                        <a:rPr sz="12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recursos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509905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Cuando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se asigna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part time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staff genera dificultades de cohesion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2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competencia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5099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actividades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285"/>
                        </a:spcBef>
                        <a:tabLst>
                          <a:tab pos="509905" algn="l"/>
                        </a:tabLst>
                      </a:pPr>
                      <a:r>
                        <a:rPr sz="850" spc="1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	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Falta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de especialidad en las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disciplinas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419857"/>
            <a:ext cx="8229600" cy="697230"/>
          </a:xfrm>
          <a:custGeom>
            <a:avLst/>
            <a:gdLst/>
            <a:ahLst/>
            <a:cxnLst/>
            <a:rect l="l" t="t" r="r" b="b"/>
            <a:pathLst>
              <a:path w="8229600" h="697230">
                <a:moveTo>
                  <a:pt x="0" y="348361"/>
                </a:moveTo>
                <a:lnTo>
                  <a:pt x="18836" y="314809"/>
                </a:lnTo>
                <a:lnTo>
                  <a:pt x="60285" y="288611"/>
                </a:lnTo>
                <a:lnTo>
                  <a:pt x="106180" y="269387"/>
                </a:lnTo>
                <a:lnTo>
                  <a:pt x="143621" y="256790"/>
                </a:lnTo>
                <a:lnTo>
                  <a:pt x="186410" y="244380"/>
                </a:lnTo>
                <a:lnTo>
                  <a:pt x="234435" y="232165"/>
                </a:lnTo>
                <a:lnTo>
                  <a:pt x="287587" y="220156"/>
                </a:lnTo>
                <a:lnTo>
                  <a:pt x="345755" y="208361"/>
                </a:lnTo>
                <a:lnTo>
                  <a:pt x="408829" y="196790"/>
                </a:lnTo>
                <a:lnTo>
                  <a:pt x="476697" y="185452"/>
                </a:lnTo>
                <a:lnTo>
                  <a:pt x="549251" y="174356"/>
                </a:lnTo>
                <a:lnTo>
                  <a:pt x="587250" y="168902"/>
                </a:lnTo>
                <a:lnTo>
                  <a:pt x="626379" y="163513"/>
                </a:lnTo>
                <a:lnTo>
                  <a:pt x="666624" y="158188"/>
                </a:lnTo>
                <a:lnTo>
                  <a:pt x="707972" y="152930"/>
                </a:lnTo>
                <a:lnTo>
                  <a:pt x="750408" y="147740"/>
                </a:lnTo>
                <a:lnTo>
                  <a:pt x="793918" y="142618"/>
                </a:lnTo>
                <a:lnTo>
                  <a:pt x="838490" y="137567"/>
                </a:lnTo>
                <a:lnTo>
                  <a:pt x="884108" y="132586"/>
                </a:lnTo>
                <a:lnTo>
                  <a:pt x="930760" y="127678"/>
                </a:lnTo>
                <a:lnTo>
                  <a:pt x="978431" y="122844"/>
                </a:lnTo>
                <a:lnTo>
                  <a:pt x="1027108" y="118084"/>
                </a:lnTo>
                <a:lnTo>
                  <a:pt x="1076777" y="113399"/>
                </a:lnTo>
                <a:lnTo>
                  <a:pt x="1127424" y="108792"/>
                </a:lnTo>
                <a:lnTo>
                  <a:pt x="1179035" y="104263"/>
                </a:lnTo>
                <a:lnTo>
                  <a:pt x="1231597" y="99813"/>
                </a:lnTo>
                <a:lnTo>
                  <a:pt x="1285095" y="95444"/>
                </a:lnTo>
                <a:lnTo>
                  <a:pt x="1339516" y="91156"/>
                </a:lnTo>
                <a:lnTo>
                  <a:pt x="1394847" y="86951"/>
                </a:lnTo>
                <a:lnTo>
                  <a:pt x="1451073" y="82830"/>
                </a:lnTo>
                <a:lnTo>
                  <a:pt x="1508180" y="78795"/>
                </a:lnTo>
                <a:lnTo>
                  <a:pt x="1566155" y="74845"/>
                </a:lnTo>
                <a:lnTo>
                  <a:pt x="1624984" y="70983"/>
                </a:lnTo>
                <a:lnTo>
                  <a:pt x="1684653" y="67210"/>
                </a:lnTo>
                <a:lnTo>
                  <a:pt x="1745149" y="63526"/>
                </a:lnTo>
                <a:lnTo>
                  <a:pt x="1806457" y="59934"/>
                </a:lnTo>
                <a:lnTo>
                  <a:pt x="1868564" y="56434"/>
                </a:lnTo>
                <a:lnTo>
                  <a:pt x="1931456" y="53027"/>
                </a:lnTo>
                <a:lnTo>
                  <a:pt x="1995119" y="49714"/>
                </a:lnTo>
                <a:lnTo>
                  <a:pt x="2059539" y="46497"/>
                </a:lnTo>
                <a:lnTo>
                  <a:pt x="2124703" y="43377"/>
                </a:lnTo>
                <a:lnTo>
                  <a:pt x="2190597" y="40355"/>
                </a:lnTo>
                <a:lnTo>
                  <a:pt x="2257207" y="37432"/>
                </a:lnTo>
                <a:lnTo>
                  <a:pt x="2324519" y="34609"/>
                </a:lnTo>
                <a:lnTo>
                  <a:pt x="2392519" y="31888"/>
                </a:lnTo>
                <a:lnTo>
                  <a:pt x="2461194" y="29270"/>
                </a:lnTo>
                <a:lnTo>
                  <a:pt x="2530530" y="26755"/>
                </a:lnTo>
                <a:lnTo>
                  <a:pt x="2600513" y="24345"/>
                </a:lnTo>
                <a:lnTo>
                  <a:pt x="2671129" y="22042"/>
                </a:lnTo>
                <a:lnTo>
                  <a:pt x="2742365" y="19846"/>
                </a:lnTo>
                <a:lnTo>
                  <a:pt x="2814206" y="17758"/>
                </a:lnTo>
                <a:lnTo>
                  <a:pt x="2886639" y="15780"/>
                </a:lnTo>
                <a:lnTo>
                  <a:pt x="2959650" y="13913"/>
                </a:lnTo>
                <a:lnTo>
                  <a:pt x="3033225" y="12158"/>
                </a:lnTo>
                <a:lnTo>
                  <a:pt x="3107351" y="10516"/>
                </a:lnTo>
                <a:lnTo>
                  <a:pt x="3182013" y="8988"/>
                </a:lnTo>
                <a:lnTo>
                  <a:pt x="3257198" y="7576"/>
                </a:lnTo>
                <a:lnTo>
                  <a:pt x="3332893" y="6281"/>
                </a:lnTo>
                <a:lnTo>
                  <a:pt x="3409082" y="5103"/>
                </a:lnTo>
                <a:lnTo>
                  <a:pt x="3485753" y="4044"/>
                </a:lnTo>
                <a:lnTo>
                  <a:pt x="3562892" y="3106"/>
                </a:lnTo>
                <a:lnTo>
                  <a:pt x="3640485" y="2289"/>
                </a:lnTo>
                <a:lnTo>
                  <a:pt x="3718517" y="1594"/>
                </a:lnTo>
                <a:lnTo>
                  <a:pt x="3796976" y="1023"/>
                </a:lnTo>
                <a:lnTo>
                  <a:pt x="3875848" y="577"/>
                </a:lnTo>
                <a:lnTo>
                  <a:pt x="3955118" y="257"/>
                </a:lnTo>
                <a:lnTo>
                  <a:pt x="4034773" y="64"/>
                </a:lnTo>
                <a:lnTo>
                  <a:pt x="4114800" y="0"/>
                </a:lnTo>
                <a:lnTo>
                  <a:pt x="4194826" y="64"/>
                </a:lnTo>
                <a:lnTo>
                  <a:pt x="4274481" y="257"/>
                </a:lnTo>
                <a:lnTo>
                  <a:pt x="4353751" y="577"/>
                </a:lnTo>
                <a:lnTo>
                  <a:pt x="4432623" y="1023"/>
                </a:lnTo>
                <a:lnTo>
                  <a:pt x="4511082" y="1594"/>
                </a:lnTo>
                <a:lnTo>
                  <a:pt x="4589114" y="2289"/>
                </a:lnTo>
                <a:lnTo>
                  <a:pt x="4666707" y="3106"/>
                </a:lnTo>
                <a:lnTo>
                  <a:pt x="4743846" y="4044"/>
                </a:lnTo>
                <a:lnTo>
                  <a:pt x="4820517" y="5103"/>
                </a:lnTo>
                <a:lnTo>
                  <a:pt x="4896706" y="6281"/>
                </a:lnTo>
                <a:lnTo>
                  <a:pt x="4972401" y="7576"/>
                </a:lnTo>
                <a:lnTo>
                  <a:pt x="5047586" y="8988"/>
                </a:lnTo>
                <a:lnTo>
                  <a:pt x="5122248" y="10516"/>
                </a:lnTo>
                <a:lnTo>
                  <a:pt x="5196374" y="12158"/>
                </a:lnTo>
                <a:lnTo>
                  <a:pt x="5269949" y="13913"/>
                </a:lnTo>
                <a:lnTo>
                  <a:pt x="5342960" y="15780"/>
                </a:lnTo>
                <a:lnTo>
                  <a:pt x="5415393" y="17758"/>
                </a:lnTo>
                <a:lnTo>
                  <a:pt x="5487234" y="19846"/>
                </a:lnTo>
                <a:lnTo>
                  <a:pt x="5558470" y="22042"/>
                </a:lnTo>
                <a:lnTo>
                  <a:pt x="5629086" y="24345"/>
                </a:lnTo>
                <a:lnTo>
                  <a:pt x="5699069" y="26755"/>
                </a:lnTo>
                <a:lnTo>
                  <a:pt x="5768405" y="29270"/>
                </a:lnTo>
                <a:lnTo>
                  <a:pt x="5837080" y="31888"/>
                </a:lnTo>
                <a:lnTo>
                  <a:pt x="5905080" y="34609"/>
                </a:lnTo>
                <a:lnTo>
                  <a:pt x="5972392" y="37432"/>
                </a:lnTo>
                <a:lnTo>
                  <a:pt x="6039002" y="40355"/>
                </a:lnTo>
                <a:lnTo>
                  <a:pt x="6104896" y="43377"/>
                </a:lnTo>
                <a:lnTo>
                  <a:pt x="6170060" y="46497"/>
                </a:lnTo>
                <a:lnTo>
                  <a:pt x="6234480" y="49714"/>
                </a:lnTo>
                <a:lnTo>
                  <a:pt x="6298143" y="53027"/>
                </a:lnTo>
                <a:lnTo>
                  <a:pt x="6361035" y="56434"/>
                </a:lnTo>
                <a:lnTo>
                  <a:pt x="6423142" y="59934"/>
                </a:lnTo>
                <a:lnTo>
                  <a:pt x="6484450" y="63526"/>
                </a:lnTo>
                <a:lnTo>
                  <a:pt x="6544946" y="67210"/>
                </a:lnTo>
                <a:lnTo>
                  <a:pt x="6604615" y="70983"/>
                </a:lnTo>
                <a:lnTo>
                  <a:pt x="6663444" y="74845"/>
                </a:lnTo>
                <a:lnTo>
                  <a:pt x="6721419" y="78795"/>
                </a:lnTo>
                <a:lnTo>
                  <a:pt x="6778526" y="82830"/>
                </a:lnTo>
                <a:lnTo>
                  <a:pt x="6834752" y="86951"/>
                </a:lnTo>
                <a:lnTo>
                  <a:pt x="6890083" y="91156"/>
                </a:lnTo>
                <a:lnTo>
                  <a:pt x="6944504" y="95444"/>
                </a:lnTo>
                <a:lnTo>
                  <a:pt x="6998002" y="99813"/>
                </a:lnTo>
                <a:lnTo>
                  <a:pt x="7050564" y="104263"/>
                </a:lnTo>
                <a:lnTo>
                  <a:pt x="7102175" y="108792"/>
                </a:lnTo>
                <a:lnTo>
                  <a:pt x="7152822" y="113399"/>
                </a:lnTo>
                <a:lnTo>
                  <a:pt x="7202491" y="118084"/>
                </a:lnTo>
                <a:lnTo>
                  <a:pt x="7251168" y="122844"/>
                </a:lnTo>
                <a:lnTo>
                  <a:pt x="7298839" y="127678"/>
                </a:lnTo>
                <a:lnTo>
                  <a:pt x="7345491" y="132586"/>
                </a:lnTo>
                <a:lnTo>
                  <a:pt x="7391109" y="137567"/>
                </a:lnTo>
                <a:lnTo>
                  <a:pt x="7435681" y="142618"/>
                </a:lnTo>
                <a:lnTo>
                  <a:pt x="7479191" y="147740"/>
                </a:lnTo>
                <a:lnTo>
                  <a:pt x="7521627" y="152930"/>
                </a:lnTo>
                <a:lnTo>
                  <a:pt x="7562975" y="158188"/>
                </a:lnTo>
                <a:lnTo>
                  <a:pt x="7603220" y="163513"/>
                </a:lnTo>
                <a:lnTo>
                  <a:pt x="7642349" y="168902"/>
                </a:lnTo>
                <a:lnTo>
                  <a:pt x="7680348" y="174356"/>
                </a:lnTo>
                <a:lnTo>
                  <a:pt x="7752902" y="185452"/>
                </a:lnTo>
                <a:lnTo>
                  <a:pt x="7820770" y="196790"/>
                </a:lnTo>
                <a:lnTo>
                  <a:pt x="7883844" y="208361"/>
                </a:lnTo>
                <a:lnTo>
                  <a:pt x="7942012" y="220156"/>
                </a:lnTo>
                <a:lnTo>
                  <a:pt x="7995164" y="232165"/>
                </a:lnTo>
                <a:lnTo>
                  <a:pt x="8043189" y="244380"/>
                </a:lnTo>
                <a:lnTo>
                  <a:pt x="8085978" y="256790"/>
                </a:lnTo>
                <a:lnTo>
                  <a:pt x="8123419" y="269387"/>
                </a:lnTo>
                <a:lnTo>
                  <a:pt x="8169314" y="288611"/>
                </a:lnTo>
                <a:lnTo>
                  <a:pt x="8202558" y="308203"/>
                </a:lnTo>
                <a:lnTo>
                  <a:pt x="8228837" y="341585"/>
                </a:lnTo>
                <a:lnTo>
                  <a:pt x="8229600" y="348361"/>
                </a:lnTo>
                <a:lnTo>
                  <a:pt x="8228837" y="355136"/>
                </a:lnTo>
                <a:lnTo>
                  <a:pt x="8202558" y="388520"/>
                </a:lnTo>
                <a:lnTo>
                  <a:pt x="8169314" y="408114"/>
                </a:lnTo>
                <a:lnTo>
                  <a:pt x="8123419" y="427341"/>
                </a:lnTo>
                <a:lnTo>
                  <a:pt x="8085978" y="439940"/>
                </a:lnTo>
                <a:lnTo>
                  <a:pt x="8043189" y="452353"/>
                </a:lnTo>
                <a:lnTo>
                  <a:pt x="7995164" y="464570"/>
                </a:lnTo>
                <a:lnTo>
                  <a:pt x="7942012" y="476583"/>
                </a:lnTo>
                <a:lnTo>
                  <a:pt x="7883844" y="488381"/>
                </a:lnTo>
                <a:lnTo>
                  <a:pt x="7820770" y="499956"/>
                </a:lnTo>
                <a:lnTo>
                  <a:pt x="7752902" y="511298"/>
                </a:lnTo>
                <a:lnTo>
                  <a:pt x="7680348" y="522397"/>
                </a:lnTo>
                <a:lnTo>
                  <a:pt x="7642349" y="527853"/>
                </a:lnTo>
                <a:lnTo>
                  <a:pt x="7603220" y="533245"/>
                </a:lnTo>
                <a:lnTo>
                  <a:pt x="7562975" y="538571"/>
                </a:lnTo>
                <a:lnTo>
                  <a:pt x="7521627" y="543831"/>
                </a:lnTo>
                <a:lnTo>
                  <a:pt x="7479191" y="549024"/>
                </a:lnTo>
                <a:lnTo>
                  <a:pt x="7435681" y="554147"/>
                </a:lnTo>
                <a:lnTo>
                  <a:pt x="7391109" y="559201"/>
                </a:lnTo>
                <a:lnTo>
                  <a:pt x="7345491" y="564184"/>
                </a:lnTo>
                <a:lnTo>
                  <a:pt x="7298839" y="569094"/>
                </a:lnTo>
                <a:lnTo>
                  <a:pt x="7251168" y="573931"/>
                </a:lnTo>
                <a:lnTo>
                  <a:pt x="7202491" y="578693"/>
                </a:lnTo>
                <a:lnTo>
                  <a:pt x="7152822" y="583380"/>
                </a:lnTo>
                <a:lnTo>
                  <a:pt x="7102175" y="587989"/>
                </a:lnTo>
                <a:lnTo>
                  <a:pt x="7050564" y="592520"/>
                </a:lnTo>
                <a:lnTo>
                  <a:pt x="6998002" y="596972"/>
                </a:lnTo>
                <a:lnTo>
                  <a:pt x="6944504" y="601344"/>
                </a:lnTo>
                <a:lnTo>
                  <a:pt x="6890083" y="605634"/>
                </a:lnTo>
                <a:lnTo>
                  <a:pt x="6834752" y="609841"/>
                </a:lnTo>
                <a:lnTo>
                  <a:pt x="6778526" y="613964"/>
                </a:lnTo>
                <a:lnTo>
                  <a:pt x="6721419" y="618002"/>
                </a:lnTo>
                <a:lnTo>
                  <a:pt x="6663444" y="621954"/>
                </a:lnTo>
                <a:lnTo>
                  <a:pt x="6604615" y="625818"/>
                </a:lnTo>
                <a:lnTo>
                  <a:pt x="6544946" y="629593"/>
                </a:lnTo>
                <a:lnTo>
                  <a:pt x="6484450" y="633279"/>
                </a:lnTo>
                <a:lnTo>
                  <a:pt x="6423142" y="636874"/>
                </a:lnTo>
                <a:lnTo>
                  <a:pt x="6361035" y="640376"/>
                </a:lnTo>
                <a:lnTo>
                  <a:pt x="6298143" y="643785"/>
                </a:lnTo>
                <a:lnTo>
                  <a:pt x="6234480" y="647100"/>
                </a:lnTo>
                <a:lnTo>
                  <a:pt x="6170060" y="650319"/>
                </a:lnTo>
                <a:lnTo>
                  <a:pt x="6104896" y="653441"/>
                </a:lnTo>
                <a:lnTo>
                  <a:pt x="6039002" y="656465"/>
                </a:lnTo>
                <a:lnTo>
                  <a:pt x="5972392" y="659390"/>
                </a:lnTo>
                <a:lnTo>
                  <a:pt x="5905080" y="662214"/>
                </a:lnTo>
                <a:lnTo>
                  <a:pt x="5837080" y="664937"/>
                </a:lnTo>
                <a:lnTo>
                  <a:pt x="5768405" y="667557"/>
                </a:lnTo>
                <a:lnTo>
                  <a:pt x="5699069" y="670073"/>
                </a:lnTo>
                <a:lnTo>
                  <a:pt x="5629086" y="672485"/>
                </a:lnTo>
                <a:lnTo>
                  <a:pt x="5558470" y="674790"/>
                </a:lnTo>
                <a:lnTo>
                  <a:pt x="5487234" y="676988"/>
                </a:lnTo>
                <a:lnTo>
                  <a:pt x="5415393" y="679077"/>
                </a:lnTo>
                <a:lnTo>
                  <a:pt x="5342960" y="681056"/>
                </a:lnTo>
                <a:lnTo>
                  <a:pt x="5269949" y="682925"/>
                </a:lnTo>
                <a:lnTo>
                  <a:pt x="5196374" y="684681"/>
                </a:lnTo>
                <a:lnTo>
                  <a:pt x="5122248" y="686324"/>
                </a:lnTo>
                <a:lnTo>
                  <a:pt x="5047586" y="687853"/>
                </a:lnTo>
                <a:lnTo>
                  <a:pt x="4972401" y="689266"/>
                </a:lnTo>
                <a:lnTo>
                  <a:pt x="4896706" y="690563"/>
                </a:lnTo>
                <a:lnTo>
                  <a:pt x="4820517" y="691741"/>
                </a:lnTo>
                <a:lnTo>
                  <a:pt x="4743846" y="692801"/>
                </a:lnTo>
                <a:lnTo>
                  <a:pt x="4666707" y="693740"/>
                </a:lnTo>
                <a:lnTo>
                  <a:pt x="4589114" y="694557"/>
                </a:lnTo>
                <a:lnTo>
                  <a:pt x="4511082" y="695253"/>
                </a:lnTo>
                <a:lnTo>
                  <a:pt x="4432623" y="695824"/>
                </a:lnTo>
                <a:lnTo>
                  <a:pt x="4353751" y="696270"/>
                </a:lnTo>
                <a:lnTo>
                  <a:pt x="4274481" y="696591"/>
                </a:lnTo>
                <a:lnTo>
                  <a:pt x="4194826" y="696784"/>
                </a:lnTo>
                <a:lnTo>
                  <a:pt x="4114800" y="696849"/>
                </a:lnTo>
                <a:lnTo>
                  <a:pt x="4034773" y="696784"/>
                </a:lnTo>
                <a:lnTo>
                  <a:pt x="3955118" y="696591"/>
                </a:lnTo>
                <a:lnTo>
                  <a:pt x="3875848" y="696270"/>
                </a:lnTo>
                <a:lnTo>
                  <a:pt x="3796976" y="695824"/>
                </a:lnTo>
                <a:lnTo>
                  <a:pt x="3718517" y="695253"/>
                </a:lnTo>
                <a:lnTo>
                  <a:pt x="3640485" y="694557"/>
                </a:lnTo>
                <a:lnTo>
                  <a:pt x="3562892" y="693740"/>
                </a:lnTo>
                <a:lnTo>
                  <a:pt x="3485753" y="692801"/>
                </a:lnTo>
                <a:lnTo>
                  <a:pt x="3409082" y="691741"/>
                </a:lnTo>
                <a:lnTo>
                  <a:pt x="3332893" y="690563"/>
                </a:lnTo>
                <a:lnTo>
                  <a:pt x="3257198" y="689266"/>
                </a:lnTo>
                <a:lnTo>
                  <a:pt x="3182013" y="687853"/>
                </a:lnTo>
                <a:lnTo>
                  <a:pt x="3107351" y="686324"/>
                </a:lnTo>
                <a:lnTo>
                  <a:pt x="3033225" y="684681"/>
                </a:lnTo>
                <a:lnTo>
                  <a:pt x="2959650" y="682925"/>
                </a:lnTo>
                <a:lnTo>
                  <a:pt x="2886639" y="681056"/>
                </a:lnTo>
                <a:lnTo>
                  <a:pt x="2814206" y="679077"/>
                </a:lnTo>
                <a:lnTo>
                  <a:pt x="2742365" y="676988"/>
                </a:lnTo>
                <a:lnTo>
                  <a:pt x="2671129" y="674790"/>
                </a:lnTo>
                <a:lnTo>
                  <a:pt x="2600513" y="672485"/>
                </a:lnTo>
                <a:lnTo>
                  <a:pt x="2530530" y="670073"/>
                </a:lnTo>
                <a:lnTo>
                  <a:pt x="2461194" y="667557"/>
                </a:lnTo>
                <a:lnTo>
                  <a:pt x="2392519" y="664937"/>
                </a:lnTo>
                <a:lnTo>
                  <a:pt x="2324519" y="662214"/>
                </a:lnTo>
                <a:lnTo>
                  <a:pt x="2257207" y="659390"/>
                </a:lnTo>
                <a:lnTo>
                  <a:pt x="2190597" y="656465"/>
                </a:lnTo>
                <a:lnTo>
                  <a:pt x="2124703" y="653441"/>
                </a:lnTo>
                <a:lnTo>
                  <a:pt x="2059539" y="650319"/>
                </a:lnTo>
                <a:lnTo>
                  <a:pt x="1995119" y="647100"/>
                </a:lnTo>
                <a:lnTo>
                  <a:pt x="1931456" y="643785"/>
                </a:lnTo>
                <a:lnTo>
                  <a:pt x="1868564" y="640376"/>
                </a:lnTo>
                <a:lnTo>
                  <a:pt x="1806457" y="636874"/>
                </a:lnTo>
                <a:lnTo>
                  <a:pt x="1745149" y="633279"/>
                </a:lnTo>
                <a:lnTo>
                  <a:pt x="1684653" y="629593"/>
                </a:lnTo>
                <a:lnTo>
                  <a:pt x="1624984" y="625818"/>
                </a:lnTo>
                <a:lnTo>
                  <a:pt x="1566155" y="621954"/>
                </a:lnTo>
                <a:lnTo>
                  <a:pt x="1508180" y="618002"/>
                </a:lnTo>
                <a:lnTo>
                  <a:pt x="1451073" y="613964"/>
                </a:lnTo>
                <a:lnTo>
                  <a:pt x="1394847" y="609841"/>
                </a:lnTo>
                <a:lnTo>
                  <a:pt x="1339516" y="605634"/>
                </a:lnTo>
                <a:lnTo>
                  <a:pt x="1285095" y="601344"/>
                </a:lnTo>
                <a:lnTo>
                  <a:pt x="1231597" y="596972"/>
                </a:lnTo>
                <a:lnTo>
                  <a:pt x="1179035" y="592520"/>
                </a:lnTo>
                <a:lnTo>
                  <a:pt x="1127424" y="587989"/>
                </a:lnTo>
                <a:lnTo>
                  <a:pt x="1076777" y="583380"/>
                </a:lnTo>
                <a:lnTo>
                  <a:pt x="1027108" y="578693"/>
                </a:lnTo>
                <a:lnTo>
                  <a:pt x="978431" y="573931"/>
                </a:lnTo>
                <a:lnTo>
                  <a:pt x="930760" y="569094"/>
                </a:lnTo>
                <a:lnTo>
                  <a:pt x="884108" y="564184"/>
                </a:lnTo>
                <a:lnTo>
                  <a:pt x="838490" y="559201"/>
                </a:lnTo>
                <a:lnTo>
                  <a:pt x="793918" y="554147"/>
                </a:lnTo>
                <a:lnTo>
                  <a:pt x="750408" y="549024"/>
                </a:lnTo>
                <a:lnTo>
                  <a:pt x="707972" y="543831"/>
                </a:lnTo>
                <a:lnTo>
                  <a:pt x="666624" y="538571"/>
                </a:lnTo>
                <a:lnTo>
                  <a:pt x="626379" y="533245"/>
                </a:lnTo>
                <a:lnTo>
                  <a:pt x="587250" y="527853"/>
                </a:lnTo>
                <a:lnTo>
                  <a:pt x="549251" y="522397"/>
                </a:lnTo>
                <a:lnTo>
                  <a:pt x="476697" y="511298"/>
                </a:lnTo>
                <a:lnTo>
                  <a:pt x="408829" y="499956"/>
                </a:lnTo>
                <a:lnTo>
                  <a:pt x="345755" y="488381"/>
                </a:lnTo>
                <a:lnTo>
                  <a:pt x="287587" y="476583"/>
                </a:lnTo>
                <a:lnTo>
                  <a:pt x="234435" y="464570"/>
                </a:lnTo>
                <a:lnTo>
                  <a:pt x="186410" y="452353"/>
                </a:lnTo>
                <a:lnTo>
                  <a:pt x="143621" y="439940"/>
                </a:lnTo>
                <a:lnTo>
                  <a:pt x="106180" y="427341"/>
                </a:lnTo>
                <a:lnTo>
                  <a:pt x="60285" y="408114"/>
                </a:lnTo>
                <a:lnTo>
                  <a:pt x="27041" y="388520"/>
                </a:lnTo>
                <a:lnTo>
                  <a:pt x="762" y="355136"/>
                </a:lnTo>
                <a:lnTo>
                  <a:pt x="0" y="348361"/>
                </a:lnTo>
                <a:close/>
              </a:path>
            </a:pathLst>
          </a:custGeom>
          <a:ln w="31750">
            <a:solidFill>
              <a:srgbClr val="8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91478" y="1977263"/>
            <a:ext cx="1890522" cy="2877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91478" y="1977263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29" h="288289">
                <a:moveTo>
                  <a:pt x="0" y="48006"/>
                </a:moveTo>
                <a:lnTo>
                  <a:pt x="3766" y="29360"/>
                </a:lnTo>
                <a:lnTo>
                  <a:pt x="14033" y="14096"/>
                </a:lnTo>
                <a:lnTo>
                  <a:pt x="29253" y="3786"/>
                </a:lnTo>
                <a:lnTo>
                  <a:pt x="47878" y="0"/>
                </a:lnTo>
                <a:lnTo>
                  <a:pt x="1842516" y="0"/>
                </a:lnTo>
                <a:lnTo>
                  <a:pt x="1861214" y="3786"/>
                </a:lnTo>
                <a:lnTo>
                  <a:pt x="1876472" y="14096"/>
                </a:lnTo>
                <a:lnTo>
                  <a:pt x="1886753" y="29360"/>
                </a:lnTo>
                <a:lnTo>
                  <a:pt x="1890522" y="48006"/>
                </a:lnTo>
                <a:lnTo>
                  <a:pt x="1890522" y="239903"/>
                </a:lnTo>
                <a:lnTo>
                  <a:pt x="1886753" y="258528"/>
                </a:lnTo>
                <a:lnTo>
                  <a:pt x="1876472" y="273748"/>
                </a:lnTo>
                <a:lnTo>
                  <a:pt x="1861214" y="284015"/>
                </a:lnTo>
                <a:lnTo>
                  <a:pt x="1842516" y="287781"/>
                </a:lnTo>
                <a:lnTo>
                  <a:pt x="47878" y="287781"/>
                </a:lnTo>
                <a:lnTo>
                  <a:pt x="29253" y="284015"/>
                </a:lnTo>
                <a:lnTo>
                  <a:pt x="14033" y="273748"/>
                </a:lnTo>
                <a:lnTo>
                  <a:pt x="3766" y="258528"/>
                </a:lnTo>
                <a:lnTo>
                  <a:pt x="0" y="239903"/>
                </a:lnTo>
                <a:lnTo>
                  <a:pt x="0" y="48006"/>
                </a:lnTo>
                <a:close/>
              </a:path>
            </a:pathLst>
          </a:custGeom>
          <a:ln w="31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85331" y="2023364"/>
            <a:ext cx="1520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ahoma"/>
                <a:cs typeface="Tahoma"/>
              </a:rPr>
              <a:t>Area </a:t>
            </a:r>
            <a:r>
              <a:rPr sz="1400" b="1" spc="-5" dirty="0">
                <a:latin typeface="Tahoma"/>
                <a:cs typeface="Tahoma"/>
              </a:rPr>
              <a:t>Funcional</a:t>
            </a:r>
            <a:r>
              <a:rPr sz="1400" b="1" spc="-5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9600" y="1977263"/>
            <a:ext cx="1890522" cy="2877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9600" y="1977263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30" h="288289">
                <a:moveTo>
                  <a:pt x="0" y="48006"/>
                </a:moveTo>
                <a:lnTo>
                  <a:pt x="3769" y="29360"/>
                </a:lnTo>
                <a:lnTo>
                  <a:pt x="14047" y="14096"/>
                </a:lnTo>
                <a:lnTo>
                  <a:pt x="29291" y="3786"/>
                </a:lnTo>
                <a:lnTo>
                  <a:pt x="47955" y="0"/>
                </a:lnTo>
                <a:lnTo>
                  <a:pt x="1842643" y="0"/>
                </a:lnTo>
                <a:lnTo>
                  <a:pt x="1861268" y="3786"/>
                </a:lnTo>
                <a:lnTo>
                  <a:pt x="1876488" y="14096"/>
                </a:lnTo>
                <a:lnTo>
                  <a:pt x="1886755" y="29360"/>
                </a:lnTo>
                <a:lnTo>
                  <a:pt x="1890522" y="48006"/>
                </a:lnTo>
                <a:lnTo>
                  <a:pt x="1890522" y="239903"/>
                </a:lnTo>
                <a:lnTo>
                  <a:pt x="1886755" y="258528"/>
                </a:lnTo>
                <a:lnTo>
                  <a:pt x="1876488" y="273748"/>
                </a:lnTo>
                <a:lnTo>
                  <a:pt x="1861268" y="284015"/>
                </a:lnTo>
                <a:lnTo>
                  <a:pt x="1842643" y="287781"/>
                </a:lnTo>
                <a:lnTo>
                  <a:pt x="47955" y="287781"/>
                </a:lnTo>
                <a:lnTo>
                  <a:pt x="29291" y="284015"/>
                </a:lnTo>
                <a:lnTo>
                  <a:pt x="14047" y="273748"/>
                </a:lnTo>
                <a:lnTo>
                  <a:pt x="3769" y="258528"/>
                </a:lnTo>
                <a:lnTo>
                  <a:pt x="0" y="239903"/>
                </a:lnTo>
                <a:lnTo>
                  <a:pt x="0" y="48006"/>
                </a:lnTo>
                <a:close/>
              </a:path>
            </a:pathLst>
          </a:custGeom>
          <a:ln w="31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2360" y="2023364"/>
            <a:ext cx="439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ahoma"/>
                <a:cs typeface="Tahoma"/>
              </a:rPr>
              <a:t>PMO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50539" y="1977263"/>
            <a:ext cx="1890522" cy="2877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50539" y="1977263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29" h="288289">
                <a:moveTo>
                  <a:pt x="0" y="48006"/>
                </a:moveTo>
                <a:lnTo>
                  <a:pt x="3766" y="29360"/>
                </a:lnTo>
                <a:lnTo>
                  <a:pt x="14033" y="14096"/>
                </a:lnTo>
                <a:lnTo>
                  <a:pt x="29253" y="3786"/>
                </a:lnTo>
                <a:lnTo>
                  <a:pt x="47878" y="0"/>
                </a:lnTo>
                <a:lnTo>
                  <a:pt x="1842643" y="0"/>
                </a:lnTo>
                <a:lnTo>
                  <a:pt x="1861268" y="3786"/>
                </a:lnTo>
                <a:lnTo>
                  <a:pt x="1876488" y="14096"/>
                </a:lnTo>
                <a:lnTo>
                  <a:pt x="1886755" y="29360"/>
                </a:lnTo>
                <a:lnTo>
                  <a:pt x="1890522" y="48006"/>
                </a:lnTo>
                <a:lnTo>
                  <a:pt x="1890522" y="239903"/>
                </a:lnTo>
                <a:lnTo>
                  <a:pt x="1886755" y="258528"/>
                </a:lnTo>
                <a:lnTo>
                  <a:pt x="1876488" y="273748"/>
                </a:lnTo>
                <a:lnTo>
                  <a:pt x="1861268" y="284015"/>
                </a:lnTo>
                <a:lnTo>
                  <a:pt x="1842643" y="287781"/>
                </a:lnTo>
                <a:lnTo>
                  <a:pt x="47878" y="287781"/>
                </a:lnTo>
                <a:lnTo>
                  <a:pt x="29253" y="284015"/>
                </a:lnTo>
                <a:lnTo>
                  <a:pt x="14033" y="273748"/>
                </a:lnTo>
                <a:lnTo>
                  <a:pt x="3766" y="258528"/>
                </a:lnTo>
                <a:lnTo>
                  <a:pt x="0" y="239903"/>
                </a:lnTo>
                <a:lnTo>
                  <a:pt x="0" y="48006"/>
                </a:lnTo>
                <a:close/>
              </a:path>
            </a:pathLst>
          </a:custGeom>
          <a:ln w="31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44010" y="2023364"/>
            <a:ext cx="1520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ahoma"/>
                <a:cs typeface="Tahoma"/>
              </a:rPr>
              <a:t>Area </a:t>
            </a:r>
            <a:r>
              <a:rPr sz="1400" b="1" spc="-5" dirty="0">
                <a:latin typeface="Tahoma"/>
                <a:cs typeface="Tahoma"/>
              </a:rPr>
              <a:t>Funcional</a:t>
            </a:r>
            <a:r>
              <a:rPr sz="1400" b="1" spc="-5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9600" y="2456942"/>
            <a:ext cx="1890522" cy="2877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9600" y="2456942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30" h="288289">
                <a:moveTo>
                  <a:pt x="0" y="47878"/>
                </a:moveTo>
                <a:lnTo>
                  <a:pt x="3769" y="29253"/>
                </a:lnTo>
                <a:lnTo>
                  <a:pt x="14047" y="14033"/>
                </a:lnTo>
                <a:lnTo>
                  <a:pt x="29291" y="3766"/>
                </a:lnTo>
                <a:lnTo>
                  <a:pt x="47955" y="0"/>
                </a:lnTo>
                <a:lnTo>
                  <a:pt x="1842643" y="0"/>
                </a:lnTo>
                <a:lnTo>
                  <a:pt x="1861268" y="3766"/>
                </a:lnTo>
                <a:lnTo>
                  <a:pt x="1876488" y="14033"/>
                </a:lnTo>
                <a:lnTo>
                  <a:pt x="1886755" y="29253"/>
                </a:lnTo>
                <a:lnTo>
                  <a:pt x="1890522" y="47878"/>
                </a:lnTo>
                <a:lnTo>
                  <a:pt x="1890522" y="239775"/>
                </a:lnTo>
                <a:lnTo>
                  <a:pt x="1886755" y="258474"/>
                </a:lnTo>
                <a:lnTo>
                  <a:pt x="1876488" y="273732"/>
                </a:lnTo>
                <a:lnTo>
                  <a:pt x="1861268" y="284013"/>
                </a:lnTo>
                <a:lnTo>
                  <a:pt x="1842643" y="287781"/>
                </a:lnTo>
                <a:lnTo>
                  <a:pt x="47955" y="287781"/>
                </a:lnTo>
                <a:lnTo>
                  <a:pt x="29291" y="284013"/>
                </a:lnTo>
                <a:lnTo>
                  <a:pt x="14047" y="273732"/>
                </a:lnTo>
                <a:lnTo>
                  <a:pt x="3769" y="258474"/>
                </a:lnTo>
                <a:lnTo>
                  <a:pt x="0" y="239775"/>
                </a:lnTo>
                <a:lnTo>
                  <a:pt x="0" y="47878"/>
                </a:lnTo>
                <a:close/>
              </a:path>
            </a:pathLst>
          </a:custGeom>
          <a:ln w="31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2360" y="2503170"/>
            <a:ext cx="1360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Gerente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Proyecto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50539" y="2456942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29" h="288289">
                <a:moveTo>
                  <a:pt x="1842643" y="0"/>
                </a:moveTo>
                <a:lnTo>
                  <a:pt x="47878" y="0"/>
                </a:lnTo>
                <a:lnTo>
                  <a:pt x="29253" y="3766"/>
                </a:lnTo>
                <a:lnTo>
                  <a:pt x="14033" y="14033"/>
                </a:lnTo>
                <a:lnTo>
                  <a:pt x="3766" y="29253"/>
                </a:lnTo>
                <a:lnTo>
                  <a:pt x="0" y="47878"/>
                </a:lnTo>
                <a:lnTo>
                  <a:pt x="0" y="239775"/>
                </a:lnTo>
                <a:lnTo>
                  <a:pt x="3766" y="258474"/>
                </a:lnTo>
                <a:lnTo>
                  <a:pt x="14033" y="273732"/>
                </a:lnTo>
                <a:lnTo>
                  <a:pt x="29253" y="284013"/>
                </a:lnTo>
                <a:lnTo>
                  <a:pt x="47878" y="287781"/>
                </a:lnTo>
                <a:lnTo>
                  <a:pt x="1842643" y="287781"/>
                </a:lnTo>
                <a:lnTo>
                  <a:pt x="1861268" y="284013"/>
                </a:lnTo>
                <a:lnTo>
                  <a:pt x="1876488" y="273732"/>
                </a:lnTo>
                <a:lnTo>
                  <a:pt x="1886755" y="258474"/>
                </a:lnTo>
                <a:lnTo>
                  <a:pt x="1890522" y="239775"/>
                </a:lnTo>
                <a:lnTo>
                  <a:pt x="1890522" y="47878"/>
                </a:lnTo>
                <a:lnTo>
                  <a:pt x="1886755" y="29253"/>
                </a:lnTo>
                <a:lnTo>
                  <a:pt x="1876488" y="14033"/>
                </a:lnTo>
                <a:lnTo>
                  <a:pt x="1861268" y="3766"/>
                </a:lnTo>
                <a:lnTo>
                  <a:pt x="1842643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50539" y="2456942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29" h="288289">
                <a:moveTo>
                  <a:pt x="0" y="47878"/>
                </a:moveTo>
                <a:lnTo>
                  <a:pt x="3766" y="29253"/>
                </a:lnTo>
                <a:lnTo>
                  <a:pt x="14033" y="14033"/>
                </a:lnTo>
                <a:lnTo>
                  <a:pt x="29253" y="3766"/>
                </a:lnTo>
                <a:lnTo>
                  <a:pt x="47878" y="0"/>
                </a:lnTo>
                <a:lnTo>
                  <a:pt x="1842643" y="0"/>
                </a:lnTo>
                <a:lnTo>
                  <a:pt x="1861268" y="3766"/>
                </a:lnTo>
                <a:lnTo>
                  <a:pt x="1876488" y="14033"/>
                </a:lnTo>
                <a:lnTo>
                  <a:pt x="1886755" y="29253"/>
                </a:lnTo>
                <a:lnTo>
                  <a:pt x="1890522" y="47878"/>
                </a:lnTo>
                <a:lnTo>
                  <a:pt x="1890522" y="239775"/>
                </a:lnTo>
                <a:lnTo>
                  <a:pt x="1886755" y="258474"/>
                </a:lnTo>
                <a:lnTo>
                  <a:pt x="1876488" y="273732"/>
                </a:lnTo>
                <a:lnTo>
                  <a:pt x="1861268" y="284013"/>
                </a:lnTo>
                <a:lnTo>
                  <a:pt x="1842643" y="287781"/>
                </a:lnTo>
                <a:lnTo>
                  <a:pt x="47878" y="287781"/>
                </a:lnTo>
                <a:lnTo>
                  <a:pt x="29253" y="284013"/>
                </a:lnTo>
                <a:lnTo>
                  <a:pt x="14033" y="273732"/>
                </a:lnTo>
                <a:lnTo>
                  <a:pt x="3766" y="258474"/>
                </a:lnTo>
                <a:lnTo>
                  <a:pt x="0" y="239775"/>
                </a:lnTo>
                <a:lnTo>
                  <a:pt x="0" y="47878"/>
                </a:lnTo>
                <a:close/>
              </a:path>
            </a:pathLst>
          </a:custGeom>
          <a:ln w="31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44010" y="2503170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91478" y="2456942"/>
            <a:ext cx="1890522" cy="2877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91478" y="2456942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29" h="288289">
                <a:moveTo>
                  <a:pt x="0" y="47878"/>
                </a:moveTo>
                <a:lnTo>
                  <a:pt x="3766" y="29253"/>
                </a:lnTo>
                <a:lnTo>
                  <a:pt x="14033" y="14033"/>
                </a:lnTo>
                <a:lnTo>
                  <a:pt x="29253" y="3766"/>
                </a:lnTo>
                <a:lnTo>
                  <a:pt x="47878" y="0"/>
                </a:lnTo>
                <a:lnTo>
                  <a:pt x="1842516" y="0"/>
                </a:lnTo>
                <a:lnTo>
                  <a:pt x="1861214" y="3766"/>
                </a:lnTo>
                <a:lnTo>
                  <a:pt x="1876472" y="14033"/>
                </a:lnTo>
                <a:lnTo>
                  <a:pt x="1886753" y="29253"/>
                </a:lnTo>
                <a:lnTo>
                  <a:pt x="1890522" y="47878"/>
                </a:lnTo>
                <a:lnTo>
                  <a:pt x="1890522" y="239775"/>
                </a:lnTo>
                <a:lnTo>
                  <a:pt x="1886753" y="258474"/>
                </a:lnTo>
                <a:lnTo>
                  <a:pt x="1876472" y="273732"/>
                </a:lnTo>
                <a:lnTo>
                  <a:pt x="1861214" y="284013"/>
                </a:lnTo>
                <a:lnTo>
                  <a:pt x="1842516" y="287781"/>
                </a:lnTo>
                <a:lnTo>
                  <a:pt x="47878" y="287781"/>
                </a:lnTo>
                <a:lnTo>
                  <a:pt x="29253" y="284013"/>
                </a:lnTo>
                <a:lnTo>
                  <a:pt x="14033" y="273732"/>
                </a:lnTo>
                <a:lnTo>
                  <a:pt x="3766" y="258474"/>
                </a:lnTo>
                <a:lnTo>
                  <a:pt x="0" y="239775"/>
                </a:lnTo>
                <a:lnTo>
                  <a:pt x="0" y="47878"/>
                </a:lnTo>
                <a:close/>
              </a:path>
            </a:pathLst>
          </a:custGeom>
          <a:ln w="31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585331" y="2503170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340480" y="1305941"/>
            <a:ext cx="2520696" cy="2876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40480" y="1305941"/>
            <a:ext cx="2520950" cy="287655"/>
          </a:xfrm>
          <a:custGeom>
            <a:avLst/>
            <a:gdLst/>
            <a:ahLst/>
            <a:cxnLst/>
            <a:rect l="l" t="t" r="r" b="b"/>
            <a:pathLst>
              <a:path w="2520950" h="287655">
                <a:moveTo>
                  <a:pt x="0" y="47879"/>
                </a:moveTo>
                <a:lnTo>
                  <a:pt x="3766" y="29253"/>
                </a:lnTo>
                <a:lnTo>
                  <a:pt x="14033" y="14033"/>
                </a:lnTo>
                <a:lnTo>
                  <a:pt x="29253" y="3766"/>
                </a:lnTo>
                <a:lnTo>
                  <a:pt x="47879" y="0"/>
                </a:lnTo>
                <a:lnTo>
                  <a:pt x="2472817" y="0"/>
                </a:lnTo>
                <a:lnTo>
                  <a:pt x="2491442" y="3766"/>
                </a:lnTo>
                <a:lnTo>
                  <a:pt x="2506662" y="14033"/>
                </a:lnTo>
                <a:lnTo>
                  <a:pt x="2516929" y="29253"/>
                </a:lnTo>
                <a:lnTo>
                  <a:pt x="2520696" y="47879"/>
                </a:lnTo>
                <a:lnTo>
                  <a:pt x="2520696" y="239775"/>
                </a:lnTo>
                <a:lnTo>
                  <a:pt x="2516929" y="258401"/>
                </a:lnTo>
                <a:lnTo>
                  <a:pt x="2506662" y="273621"/>
                </a:lnTo>
                <a:lnTo>
                  <a:pt x="2491442" y="283888"/>
                </a:lnTo>
                <a:lnTo>
                  <a:pt x="2472817" y="287655"/>
                </a:lnTo>
                <a:lnTo>
                  <a:pt x="47879" y="287655"/>
                </a:lnTo>
                <a:lnTo>
                  <a:pt x="29253" y="283888"/>
                </a:lnTo>
                <a:lnTo>
                  <a:pt x="14033" y="273621"/>
                </a:lnTo>
                <a:lnTo>
                  <a:pt x="3766" y="258401"/>
                </a:lnTo>
                <a:lnTo>
                  <a:pt x="0" y="239775"/>
                </a:lnTo>
                <a:lnTo>
                  <a:pt x="0" y="47879"/>
                </a:lnTo>
                <a:close/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405376" y="1351914"/>
            <a:ext cx="3911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ahoma"/>
                <a:cs typeface="Tahoma"/>
              </a:rPr>
              <a:t>CEO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9600" y="2936494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30" h="288289">
                <a:moveTo>
                  <a:pt x="1842643" y="0"/>
                </a:moveTo>
                <a:lnTo>
                  <a:pt x="47955" y="0"/>
                </a:lnTo>
                <a:lnTo>
                  <a:pt x="29291" y="3768"/>
                </a:lnTo>
                <a:lnTo>
                  <a:pt x="14047" y="14049"/>
                </a:lnTo>
                <a:lnTo>
                  <a:pt x="3769" y="29307"/>
                </a:lnTo>
                <a:lnTo>
                  <a:pt x="0" y="48006"/>
                </a:lnTo>
                <a:lnTo>
                  <a:pt x="0" y="239775"/>
                </a:lnTo>
                <a:lnTo>
                  <a:pt x="3769" y="258474"/>
                </a:lnTo>
                <a:lnTo>
                  <a:pt x="14047" y="273732"/>
                </a:lnTo>
                <a:lnTo>
                  <a:pt x="29291" y="284013"/>
                </a:lnTo>
                <a:lnTo>
                  <a:pt x="47955" y="287781"/>
                </a:lnTo>
                <a:lnTo>
                  <a:pt x="1842643" y="287781"/>
                </a:lnTo>
                <a:lnTo>
                  <a:pt x="1861268" y="284013"/>
                </a:lnTo>
                <a:lnTo>
                  <a:pt x="1876488" y="273732"/>
                </a:lnTo>
                <a:lnTo>
                  <a:pt x="1886755" y="258474"/>
                </a:lnTo>
                <a:lnTo>
                  <a:pt x="1890522" y="239775"/>
                </a:lnTo>
                <a:lnTo>
                  <a:pt x="1890522" y="48006"/>
                </a:lnTo>
                <a:lnTo>
                  <a:pt x="1886755" y="29307"/>
                </a:lnTo>
                <a:lnTo>
                  <a:pt x="1876488" y="14049"/>
                </a:lnTo>
                <a:lnTo>
                  <a:pt x="1861268" y="3768"/>
                </a:lnTo>
                <a:lnTo>
                  <a:pt x="1842643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9600" y="2936494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30" h="288289">
                <a:moveTo>
                  <a:pt x="0" y="48006"/>
                </a:moveTo>
                <a:lnTo>
                  <a:pt x="3769" y="29307"/>
                </a:lnTo>
                <a:lnTo>
                  <a:pt x="14047" y="14049"/>
                </a:lnTo>
                <a:lnTo>
                  <a:pt x="29291" y="3768"/>
                </a:lnTo>
                <a:lnTo>
                  <a:pt x="47955" y="0"/>
                </a:lnTo>
                <a:lnTo>
                  <a:pt x="1842643" y="0"/>
                </a:lnTo>
                <a:lnTo>
                  <a:pt x="1861268" y="3768"/>
                </a:lnTo>
                <a:lnTo>
                  <a:pt x="1876488" y="14049"/>
                </a:lnTo>
                <a:lnTo>
                  <a:pt x="1886755" y="29307"/>
                </a:lnTo>
                <a:lnTo>
                  <a:pt x="1890522" y="48006"/>
                </a:lnTo>
                <a:lnTo>
                  <a:pt x="1890522" y="239775"/>
                </a:lnTo>
                <a:lnTo>
                  <a:pt x="1886755" y="258474"/>
                </a:lnTo>
                <a:lnTo>
                  <a:pt x="1876488" y="273732"/>
                </a:lnTo>
                <a:lnTo>
                  <a:pt x="1861268" y="284013"/>
                </a:lnTo>
                <a:lnTo>
                  <a:pt x="1842643" y="287781"/>
                </a:lnTo>
                <a:lnTo>
                  <a:pt x="47955" y="287781"/>
                </a:lnTo>
                <a:lnTo>
                  <a:pt x="29291" y="284013"/>
                </a:lnTo>
                <a:lnTo>
                  <a:pt x="14047" y="273732"/>
                </a:lnTo>
                <a:lnTo>
                  <a:pt x="3769" y="258474"/>
                </a:lnTo>
                <a:lnTo>
                  <a:pt x="0" y="239775"/>
                </a:lnTo>
                <a:lnTo>
                  <a:pt x="0" y="48006"/>
                </a:lnTo>
                <a:close/>
              </a:path>
            </a:pathLst>
          </a:custGeom>
          <a:ln w="31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02360" y="2982848"/>
            <a:ext cx="1590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Gerente de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Proyecto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50539" y="2936494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29" h="288289">
                <a:moveTo>
                  <a:pt x="1842643" y="0"/>
                </a:moveTo>
                <a:lnTo>
                  <a:pt x="47878" y="0"/>
                </a:lnTo>
                <a:lnTo>
                  <a:pt x="29253" y="3768"/>
                </a:lnTo>
                <a:lnTo>
                  <a:pt x="14033" y="14049"/>
                </a:lnTo>
                <a:lnTo>
                  <a:pt x="3766" y="29307"/>
                </a:lnTo>
                <a:lnTo>
                  <a:pt x="0" y="48006"/>
                </a:lnTo>
                <a:lnTo>
                  <a:pt x="0" y="239775"/>
                </a:lnTo>
                <a:lnTo>
                  <a:pt x="3766" y="258474"/>
                </a:lnTo>
                <a:lnTo>
                  <a:pt x="14033" y="273732"/>
                </a:lnTo>
                <a:lnTo>
                  <a:pt x="29253" y="284013"/>
                </a:lnTo>
                <a:lnTo>
                  <a:pt x="47878" y="287781"/>
                </a:lnTo>
                <a:lnTo>
                  <a:pt x="1842643" y="287781"/>
                </a:lnTo>
                <a:lnTo>
                  <a:pt x="1861268" y="284013"/>
                </a:lnTo>
                <a:lnTo>
                  <a:pt x="1876488" y="273732"/>
                </a:lnTo>
                <a:lnTo>
                  <a:pt x="1886755" y="258474"/>
                </a:lnTo>
                <a:lnTo>
                  <a:pt x="1890522" y="239775"/>
                </a:lnTo>
                <a:lnTo>
                  <a:pt x="1890522" y="48006"/>
                </a:lnTo>
                <a:lnTo>
                  <a:pt x="1886755" y="29307"/>
                </a:lnTo>
                <a:lnTo>
                  <a:pt x="1876488" y="14049"/>
                </a:lnTo>
                <a:lnTo>
                  <a:pt x="1861268" y="3768"/>
                </a:lnTo>
                <a:lnTo>
                  <a:pt x="1842643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50539" y="2936494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29" h="288289">
                <a:moveTo>
                  <a:pt x="0" y="48006"/>
                </a:moveTo>
                <a:lnTo>
                  <a:pt x="3766" y="29307"/>
                </a:lnTo>
                <a:lnTo>
                  <a:pt x="14033" y="14049"/>
                </a:lnTo>
                <a:lnTo>
                  <a:pt x="29253" y="3768"/>
                </a:lnTo>
                <a:lnTo>
                  <a:pt x="47878" y="0"/>
                </a:lnTo>
                <a:lnTo>
                  <a:pt x="1842643" y="0"/>
                </a:lnTo>
                <a:lnTo>
                  <a:pt x="1861268" y="3768"/>
                </a:lnTo>
                <a:lnTo>
                  <a:pt x="1876488" y="14049"/>
                </a:lnTo>
                <a:lnTo>
                  <a:pt x="1886755" y="29307"/>
                </a:lnTo>
                <a:lnTo>
                  <a:pt x="1890522" y="48006"/>
                </a:lnTo>
                <a:lnTo>
                  <a:pt x="1890522" y="239775"/>
                </a:lnTo>
                <a:lnTo>
                  <a:pt x="1886755" y="258474"/>
                </a:lnTo>
                <a:lnTo>
                  <a:pt x="1876488" y="273732"/>
                </a:lnTo>
                <a:lnTo>
                  <a:pt x="1861268" y="284013"/>
                </a:lnTo>
                <a:lnTo>
                  <a:pt x="1842643" y="287781"/>
                </a:lnTo>
                <a:lnTo>
                  <a:pt x="47878" y="287781"/>
                </a:lnTo>
                <a:lnTo>
                  <a:pt x="29253" y="284013"/>
                </a:lnTo>
                <a:lnTo>
                  <a:pt x="14033" y="273732"/>
                </a:lnTo>
                <a:lnTo>
                  <a:pt x="3766" y="258474"/>
                </a:lnTo>
                <a:lnTo>
                  <a:pt x="0" y="239775"/>
                </a:lnTo>
                <a:lnTo>
                  <a:pt x="0" y="48006"/>
                </a:lnTo>
                <a:close/>
              </a:path>
            </a:pathLst>
          </a:custGeom>
          <a:ln w="31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644010" y="2982848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491478" y="2936494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29" h="288289">
                <a:moveTo>
                  <a:pt x="1842516" y="0"/>
                </a:moveTo>
                <a:lnTo>
                  <a:pt x="47878" y="0"/>
                </a:lnTo>
                <a:lnTo>
                  <a:pt x="29253" y="3768"/>
                </a:lnTo>
                <a:lnTo>
                  <a:pt x="14033" y="14049"/>
                </a:lnTo>
                <a:lnTo>
                  <a:pt x="3766" y="29307"/>
                </a:lnTo>
                <a:lnTo>
                  <a:pt x="0" y="48006"/>
                </a:lnTo>
                <a:lnTo>
                  <a:pt x="0" y="239775"/>
                </a:lnTo>
                <a:lnTo>
                  <a:pt x="3766" y="258474"/>
                </a:lnTo>
                <a:lnTo>
                  <a:pt x="14033" y="273732"/>
                </a:lnTo>
                <a:lnTo>
                  <a:pt x="29253" y="284013"/>
                </a:lnTo>
                <a:lnTo>
                  <a:pt x="47878" y="287781"/>
                </a:lnTo>
                <a:lnTo>
                  <a:pt x="1842516" y="287781"/>
                </a:lnTo>
                <a:lnTo>
                  <a:pt x="1861214" y="284013"/>
                </a:lnTo>
                <a:lnTo>
                  <a:pt x="1876472" y="273732"/>
                </a:lnTo>
                <a:lnTo>
                  <a:pt x="1886753" y="258474"/>
                </a:lnTo>
                <a:lnTo>
                  <a:pt x="1890522" y="239775"/>
                </a:lnTo>
                <a:lnTo>
                  <a:pt x="1890522" y="48006"/>
                </a:lnTo>
                <a:lnTo>
                  <a:pt x="1886753" y="29307"/>
                </a:lnTo>
                <a:lnTo>
                  <a:pt x="1876472" y="14049"/>
                </a:lnTo>
                <a:lnTo>
                  <a:pt x="1861214" y="3768"/>
                </a:lnTo>
                <a:lnTo>
                  <a:pt x="1842516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91478" y="2936494"/>
            <a:ext cx="1891030" cy="288290"/>
          </a:xfrm>
          <a:custGeom>
            <a:avLst/>
            <a:gdLst/>
            <a:ahLst/>
            <a:cxnLst/>
            <a:rect l="l" t="t" r="r" b="b"/>
            <a:pathLst>
              <a:path w="1891029" h="288289">
                <a:moveTo>
                  <a:pt x="0" y="48006"/>
                </a:moveTo>
                <a:lnTo>
                  <a:pt x="3766" y="29307"/>
                </a:lnTo>
                <a:lnTo>
                  <a:pt x="14033" y="14049"/>
                </a:lnTo>
                <a:lnTo>
                  <a:pt x="29253" y="3768"/>
                </a:lnTo>
                <a:lnTo>
                  <a:pt x="47878" y="0"/>
                </a:lnTo>
                <a:lnTo>
                  <a:pt x="1842516" y="0"/>
                </a:lnTo>
                <a:lnTo>
                  <a:pt x="1861214" y="3768"/>
                </a:lnTo>
                <a:lnTo>
                  <a:pt x="1876472" y="14049"/>
                </a:lnTo>
                <a:lnTo>
                  <a:pt x="1886753" y="29307"/>
                </a:lnTo>
                <a:lnTo>
                  <a:pt x="1890522" y="48006"/>
                </a:lnTo>
                <a:lnTo>
                  <a:pt x="1890522" y="239775"/>
                </a:lnTo>
                <a:lnTo>
                  <a:pt x="1886753" y="258474"/>
                </a:lnTo>
                <a:lnTo>
                  <a:pt x="1876472" y="273732"/>
                </a:lnTo>
                <a:lnTo>
                  <a:pt x="1861214" y="284013"/>
                </a:lnTo>
                <a:lnTo>
                  <a:pt x="1842516" y="287781"/>
                </a:lnTo>
                <a:lnTo>
                  <a:pt x="47878" y="287781"/>
                </a:lnTo>
                <a:lnTo>
                  <a:pt x="29253" y="284013"/>
                </a:lnTo>
                <a:lnTo>
                  <a:pt x="14033" y="273732"/>
                </a:lnTo>
                <a:lnTo>
                  <a:pt x="3766" y="258474"/>
                </a:lnTo>
                <a:lnTo>
                  <a:pt x="0" y="239775"/>
                </a:lnTo>
                <a:lnTo>
                  <a:pt x="0" y="48006"/>
                </a:lnTo>
                <a:close/>
              </a:path>
            </a:pathLst>
          </a:custGeom>
          <a:ln w="31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585331" y="2982848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600828" y="1593596"/>
            <a:ext cx="0" cy="384175"/>
          </a:xfrm>
          <a:custGeom>
            <a:avLst/>
            <a:gdLst/>
            <a:ahLst/>
            <a:cxnLst/>
            <a:rect l="l" t="t" r="r" b="b"/>
            <a:pathLst>
              <a:path h="384175">
                <a:moveTo>
                  <a:pt x="0" y="0"/>
                </a:moveTo>
                <a:lnTo>
                  <a:pt x="0" y="383666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49832" y="1785492"/>
            <a:ext cx="6092190" cy="0"/>
          </a:xfrm>
          <a:custGeom>
            <a:avLst/>
            <a:gdLst/>
            <a:ahLst/>
            <a:cxnLst/>
            <a:rect l="l" t="t" r="r" b="b"/>
            <a:pathLst>
              <a:path w="6092190">
                <a:moveTo>
                  <a:pt x="0" y="0"/>
                </a:moveTo>
                <a:lnTo>
                  <a:pt x="6091936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49832" y="1785492"/>
            <a:ext cx="0" cy="191770"/>
          </a:xfrm>
          <a:custGeom>
            <a:avLst/>
            <a:gdLst/>
            <a:ahLst/>
            <a:cxnLst/>
            <a:rect l="l" t="t" r="r" b="b"/>
            <a:pathLst>
              <a:path h="191769">
                <a:moveTo>
                  <a:pt x="0" y="191770"/>
                </a:move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541768" y="1785492"/>
            <a:ext cx="0" cy="191770"/>
          </a:xfrm>
          <a:custGeom>
            <a:avLst/>
            <a:gdLst/>
            <a:ahLst/>
            <a:cxnLst/>
            <a:rect l="l" t="t" r="r" b="b"/>
            <a:pathLst>
              <a:path h="191769">
                <a:moveTo>
                  <a:pt x="0" y="191770"/>
                </a:move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49832" y="2265045"/>
            <a:ext cx="0" cy="192405"/>
          </a:xfrm>
          <a:custGeom>
            <a:avLst/>
            <a:gdLst/>
            <a:ahLst/>
            <a:cxnLst/>
            <a:rect l="l" t="t" r="r" b="b"/>
            <a:pathLst>
              <a:path h="192405">
                <a:moveTo>
                  <a:pt x="0" y="191897"/>
                </a:move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49832" y="2744723"/>
            <a:ext cx="0" cy="191770"/>
          </a:xfrm>
          <a:custGeom>
            <a:avLst/>
            <a:gdLst/>
            <a:ahLst/>
            <a:cxnLst/>
            <a:rect l="l" t="t" r="r" b="b"/>
            <a:pathLst>
              <a:path h="191769">
                <a:moveTo>
                  <a:pt x="0" y="191769"/>
                </a:move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600828" y="2265045"/>
            <a:ext cx="0" cy="192405"/>
          </a:xfrm>
          <a:custGeom>
            <a:avLst/>
            <a:gdLst/>
            <a:ahLst/>
            <a:cxnLst/>
            <a:rect l="l" t="t" r="r" b="b"/>
            <a:pathLst>
              <a:path h="192405">
                <a:moveTo>
                  <a:pt x="0" y="191897"/>
                </a:move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600828" y="2744723"/>
            <a:ext cx="0" cy="191770"/>
          </a:xfrm>
          <a:custGeom>
            <a:avLst/>
            <a:gdLst/>
            <a:ahLst/>
            <a:cxnLst/>
            <a:rect l="l" t="t" r="r" b="b"/>
            <a:pathLst>
              <a:path h="191769">
                <a:moveTo>
                  <a:pt x="0" y="191769"/>
                </a:move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541768" y="2265045"/>
            <a:ext cx="0" cy="192405"/>
          </a:xfrm>
          <a:custGeom>
            <a:avLst/>
            <a:gdLst/>
            <a:ahLst/>
            <a:cxnLst/>
            <a:rect l="l" t="t" r="r" b="b"/>
            <a:pathLst>
              <a:path h="192405">
                <a:moveTo>
                  <a:pt x="0" y="191897"/>
                </a:move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541768" y="2744723"/>
            <a:ext cx="0" cy="191770"/>
          </a:xfrm>
          <a:custGeom>
            <a:avLst/>
            <a:gdLst/>
            <a:ahLst/>
            <a:cxnLst/>
            <a:rect l="l" t="t" r="r" b="b"/>
            <a:pathLst>
              <a:path h="191769">
                <a:moveTo>
                  <a:pt x="0" y="191769"/>
                </a:move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0" y="323850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28600" h="457200">
                <a:moveTo>
                  <a:pt x="228600" y="0"/>
                </a:moveTo>
                <a:lnTo>
                  <a:pt x="182529" y="4644"/>
                </a:lnTo>
                <a:lnTo>
                  <a:pt x="139618" y="17966"/>
                </a:lnTo>
                <a:lnTo>
                  <a:pt x="100787" y="39045"/>
                </a:lnTo>
                <a:lnTo>
                  <a:pt x="66955" y="66960"/>
                </a:lnTo>
                <a:lnTo>
                  <a:pt x="39041" y="100793"/>
                </a:lnTo>
                <a:lnTo>
                  <a:pt x="17964" y="139624"/>
                </a:lnTo>
                <a:lnTo>
                  <a:pt x="4644" y="182533"/>
                </a:lnTo>
                <a:lnTo>
                  <a:pt x="0" y="228600"/>
                </a:lnTo>
                <a:lnTo>
                  <a:pt x="4644" y="274666"/>
                </a:lnTo>
                <a:lnTo>
                  <a:pt x="17964" y="317575"/>
                </a:lnTo>
                <a:lnTo>
                  <a:pt x="39041" y="356406"/>
                </a:lnTo>
                <a:lnTo>
                  <a:pt x="66955" y="390239"/>
                </a:lnTo>
                <a:lnTo>
                  <a:pt x="100787" y="418154"/>
                </a:lnTo>
                <a:lnTo>
                  <a:pt x="139618" y="439233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228600" y="323850"/>
            <a:ext cx="3200400" cy="457200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531495">
              <a:lnSpc>
                <a:spcPct val="100000"/>
              </a:lnSpc>
              <a:spcBef>
                <a:spcPts val="165"/>
              </a:spcBef>
            </a:pPr>
            <a:r>
              <a:rPr sz="2200" i="0" spc="-215" dirty="0">
                <a:solidFill>
                  <a:srgbClr val="000000"/>
                </a:solidFill>
                <a:latin typeface="Arial"/>
                <a:cs typeface="Arial"/>
              </a:rPr>
              <a:t>Estuctura</a:t>
            </a:r>
            <a:r>
              <a:rPr sz="2200" i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i="0" spc="-110" dirty="0">
                <a:solidFill>
                  <a:srgbClr val="000000"/>
                </a:solidFill>
                <a:latin typeface="Arial"/>
                <a:cs typeface="Arial"/>
              </a:rPr>
              <a:t>Matricial</a:t>
            </a:r>
            <a:endParaRPr sz="2200">
              <a:latin typeface="Arial"/>
              <a:cs typeface="Arial"/>
            </a:endParaRPr>
          </a:p>
        </p:txBody>
      </p:sp>
      <p:graphicFrame>
        <p:nvGraphicFramePr>
          <p:cNvPr id="45" name="object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208003"/>
              </p:ext>
            </p:extLst>
          </p:nvPr>
        </p:nvGraphicFramePr>
        <p:xfrm>
          <a:off x="0" y="3319462"/>
          <a:ext cx="9060815" cy="18014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6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9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Ventajas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Desventajas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765">
                <a:tc>
                  <a:txBody>
                    <a:bodyPr/>
                    <a:lstStyle/>
                    <a:p>
                      <a:pPr marL="426720" indent="-335280">
                        <a:lnSpc>
                          <a:spcPct val="100000"/>
                        </a:lnSpc>
                        <a:spcBef>
                          <a:spcPts val="240"/>
                        </a:spcBef>
                        <a:buSzPct val="70833"/>
                        <a:buChar char="•"/>
                        <a:tabLst>
                          <a:tab pos="426084" algn="l"/>
                          <a:tab pos="42672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Balance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entre la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estructura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funcional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2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proyectizada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426720" indent="-335280">
                        <a:lnSpc>
                          <a:spcPct val="100000"/>
                        </a:lnSpc>
                        <a:spcBef>
                          <a:spcPts val="290"/>
                        </a:spcBef>
                        <a:buSzPct val="70833"/>
                        <a:buChar char="•"/>
                        <a:tabLst>
                          <a:tab pos="426084" algn="l"/>
                          <a:tab pos="42672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Buena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comunicación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horizontal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426720" indent="-335280">
                        <a:lnSpc>
                          <a:spcPct val="100000"/>
                        </a:lnSpc>
                        <a:spcBef>
                          <a:spcPts val="290"/>
                        </a:spcBef>
                        <a:buSzPct val="70833"/>
                        <a:buChar char="•"/>
                        <a:tabLst>
                          <a:tab pos="426084" algn="l"/>
                          <a:tab pos="42672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Eficiencia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ES" sz="1200" spc="-5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200" dirty="0" err="1">
                          <a:latin typeface="Arial"/>
                          <a:cs typeface="Arial"/>
                        </a:rPr>
                        <a:t>ecursos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426720" indent="-335280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70833"/>
                        <a:buChar char="•"/>
                        <a:tabLst>
                          <a:tab pos="426084" algn="l"/>
                          <a:tab pos="42672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Orientada a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proyectos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426720" indent="-335280">
                        <a:lnSpc>
                          <a:spcPct val="100000"/>
                        </a:lnSpc>
                        <a:spcBef>
                          <a:spcPts val="290"/>
                        </a:spcBef>
                        <a:buSzPct val="70833"/>
                        <a:buChar char="•"/>
                        <a:tabLst>
                          <a:tab pos="426084" algn="l"/>
                          <a:tab pos="426720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El staff puede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tener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informacion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que req</a:t>
                      </a:r>
                      <a:r>
                        <a:rPr lang="es-ES" sz="120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spc="-5" dirty="0" err="1">
                          <a:latin typeface="Arial"/>
                          <a:cs typeface="Arial"/>
                        </a:rPr>
                        <a:t>iere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(big</a:t>
                      </a:r>
                      <a:r>
                        <a:rPr sz="12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picture)</a:t>
                      </a: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0540" indent="-411480">
                        <a:lnSpc>
                          <a:spcPct val="100000"/>
                        </a:lnSpc>
                        <a:spcBef>
                          <a:spcPts val="240"/>
                        </a:spcBef>
                        <a:buSzPct val="70833"/>
                        <a:buChar char="•"/>
                        <a:tabLst>
                          <a:tab pos="510540" algn="l"/>
                          <a:tab pos="51117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Ambiguedad en autoridad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reporte</a:t>
                      </a:r>
                      <a:r>
                        <a:rPr sz="12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200" spc="-5" dirty="0" err="1">
                          <a:latin typeface="Arial"/>
                          <a:cs typeface="Arial"/>
                        </a:rPr>
                        <a:t>dependencia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)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5105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multiples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jefes</a:t>
                      </a:r>
                    </a:p>
                    <a:p>
                      <a:pPr marL="510540" indent="-411480">
                        <a:lnSpc>
                          <a:spcPct val="100000"/>
                        </a:lnSpc>
                        <a:spcBef>
                          <a:spcPts val="290"/>
                        </a:spcBef>
                        <a:buSzPct val="70833"/>
                        <a:buChar char="•"/>
                        <a:tabLst>
                          <a:tab pos="510540" algn="l"/>
                          <a:tab pos="511175" algn="l"/>
                        </a:tabLst>
                      </a:pPr>
                      <a:r>
                        <a:rPr sz="1200" spc="-5" dirty="0" err="1">
                          <a:latin typeface="Arial"/>
                          <a:cs typeface="Arial"/>
                        </a:rPr>
                        <a:t>Comple</a:t>
                      </a:r>
                      <a:r>
                        <a:rPr lang="es-ES" sz="1200" spc="-5" dirty="0">
                          <a:latin typeface="Arial"/>
                          <a:cs typeface="Arial"/>
                        </a:rPr>
                        <a:t>j</a:t>
                      </a:r>
                      <a:r>
                        <a:rPr sz="1200" spc="-5" dirty="0" err="1">
                          <a:latin typeface="Arial"/>
                          <a:cs typeface="Arial"/>
                        </a:rPr>
                        <a:t>idad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510540" indent="-411480">
                        <a:lnSpc>
                          <a:spcPct val="100000"/>
                        </a:lnSpc>
                        <a:spcBef>
                          <a:spcPts val="290"/>
                        </a:spcBef>
                        <a:buSzPct val="70833"/>
                        <a:buChar char="•"/>
                        <a:tabLst>
                          <a:tab pos="510540" algn="l"/>
                          <a:tab pos="51117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Esfuerzos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duplicado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510540" marR="513080" indent="-411480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70833"/>
                        <a:buChar char="•"/>
                        <a:tabLst>
                          <a:tab pos="510540" algn="l"/>
                          <a:tab pos="511175" algn="l"/>
                        </a:tabLst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Puede casar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conflictos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entre el Proyecto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las </a:t>
                      </a:r>
                      <a:r>
                        <a:rPr sz="1200" spc="-5" dirty="0" err="1">
                          <a:latin typeface="Arial"/>
                          <a:cs typeface="Arial"/>
                        </a:rPr>
                        <a:t>áreas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 f</a:t>
                      </a:r>
                      <a:r>
                        <a:rPr lang="es-ES" sz="120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spc="-5" dirty="0" err="1">
                          <a:latin typeface="Arial"/>
                          <a:cs typeface="Arial"/>
                        </a:rPr>
                        <a:t>ncionales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" name="object 46"/>
          <p:cNvSpPr/>
          <p:nvPr/>
        </p:nvSpPr>
        <p:spPr>
          <a:xfrm>
            <a:off x="5764148" y="514350"/>
            <a:ext cx="2313305" cy="1706245"/>
          </a:xfrm>
          <a:custGeom>
            <a:avLst/>
            <a:gdLst/>
            <a:ahLst/>
            <a:cxnLst/>
            <a:rect l="l" t="t" r="r" b="b"/>
            <a:pathLst>
              <a:path w="2313304" h="1706245">
                <a:moveTo>
                  <a:pt x="1290701" y="400050"/>
                </a:moveTo>
                <a:lnTo>
                  <a:pt x="852551" y="400050"/>
                </a:lnTo>
                <a:lnTo>
                  <a:pt x="0" y="1706118"/>
                </a:lnTo>
                <a:lnTo>
                  <a:pt x="1290701" y="400050"/>
                </a:lnTo>
                <a:close/>
              </a:path>
              <a:path w="2313304" h="1706245">
                <a:moveTo>
                  <a:pt x="2246376" y="0"/>
                </a:moveTo>
                <a:lnTo>
                  <a:pt x="627126" y="0"/>
                </a:lnTo>
                <a:lnTo>
                  <a:pt x="601170" y="5238"/>
                </a:lnTo>
                <a:lnTo>
                  <a:pt x="579977" y="19526"/>
                </a:lnTo>
                <a:lnTo>
                  <a:pt x="565689" y="40719"/>
                </a:lnTo>
                <a:lnTo>
                  <a:pt x="560451" y="66675"/>
                </a:lnTo>
                <a:lnTo>
                  <a:pt x="560451" y="333375"/>
                </a:lnTo>
                <a:lnTo>
                  <a:pt x="565689" y="359330"/>
                </a:lnTo>
                <a:lnTo>
                  <a:pt x="579977" y="380523"/>
                </a:lnTo>
                <a:lnTo>
                  <a:pt x="601170" y="394811"/>
                </a:lnTo>
                <a:lnTo>
                  <a:pt x="627126" y="400050"/>
                </a:lnTo>
                <a:lnTo>
                  <a:pt x="2246376" y="400050"/>
                </a:lnTo>
                <a:lnTo>
                  <a:pt x="2272331" y="394811"/>
                </a:lnTo>
                <a:lnTo>
                  <a:pt x="2293524" y="380523"/>
                </a:lnTo>
                <a:lnTo>
                  <a:pt x="2307812" y="359330"/>
                </a:lnTo>
                <a:lnTo>
                  <a:pt x="2313051" y="333375"/>
                </a:lnTo>
                <a:lnTo>
                  <a:pt x="2313051" y="66675"/>
                </a:lnTo>
                <a:lnTo>
                  <a:pt x="2307812" y="40719"/>
                </a:lnTo>
                <a:lnTo>
                  <a:pt x="2293524" y="19526"/>
                </a:lnTo>
                <a:lnTo>
                  <a:pt x="2272331" y="5238"/>
                </a:lnTo>
                <a:lnTo>
                  <a:pt x="22463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764148" y="514350"/>
            <a:ext cx="2313305" cy="1706245"/>
          </a:xfrm>
          <a:custGeom>
            <a:avLst/>
            <a:gdLst/>
            <a:ahLst/>
            <a:cxnLst/>
            <a:rect l="l" t="t" r="r" b="b"/>
            <a:pathLst>
              <a:path w="2313304" h="1706245">
                <a:moveTo>
                  <a:pt x="560451" y="66675"/>
                </a:moveTo>
                <a:lnTo>
                  <a:pt x="565689" y="40719"/>
                </a:lnTo>
                <a:lnTo>
                  <a:pt x="579977" y="19526"/>
                </a:lnTo>
                <a:lnTo>
                  <a:pt x="601170" y="5238"/>
                </a:lnTo>
                <a:lnTo>
                  <a:pt x="627126" y="0"/>
                </a:lnTo>
                <a:lnTo>
                  <a:pt x="852551" y="0"/>
                </a:lnTo>
                <a:lnTo>
                  <a:pt x="1290701" y="0"/>
                </a:lnTo>
                <a:lnTo>
                  <a:pt x="2246376" y="0"/>
                </a:lnTo>
                <a:lnTo>
                  <a:pt x="2272331" y="5238"/>
                </a:lnTo>
                <a:lnTo>
                  <a:pt x="2293524" y="19526"/>
                </a:lnTo>
                <a:lnTo>
                  <a:pt x="2307812" y="40719"/>
                </a:lnTo>
                <a:lnTo>
                  <a:pt x="2313051" y="66675"/>
                </a:lnTo>
                <a:lnTo>
                  <a:pt x="2313051" y="233425"/>
                </a:lnTo>
                <a:lnTo>
                  <a:pt x="2313051" y="333375"/>
                </a:lnTo>
                <a:lnTo>
                  <a:pt x="2307812" y="359330"/>
                </a:lnTo>
                <a:lnTo>
                  <a:pt x="2293524" y="380523"/>
                </a:lnTo>
                <a:lnTo>
                  <a:pt x="2272331" y="394811"/>
                </a:lnTo>
                <a:lnTo>
                  <a:pt x="2246376" y="400050"/>
                </a:lnTo>
                <a:lnTo>
                  <a:pt x="1290701" y="400050"/>
                </a:lnTo>
                <a:lnTo>
                  <a:pt x="0" y="1706118"/>
                </a:lnTo>
                <a:lnTo>
                  <a:pt x="852551" y="400050"/>
                </a:lnTo>
                <a:lnTo>
                  <a:pt x="627126" y="400050"/>
                </a:lnTo>
                <a:lnTo>
                  <a:pt x="601170" y="394811"/>
                </a:lnTo>
                <a:lnTo>
                  <a:pt x="579977" y="380523"/>
                </a:lnTo>
                <a:lnTo>
                  <a:pt x="565689" y="359330"/>
                </a:lnTo>
                <a:lnTo>
                  <a:pt x="560451" y="333375"/>
                </a:lnTo>
                <a:lnTo>
                  <a:pt x="560451" y="233425"/>
                </a:lnTo>
                <a:lnTo>
                  <a:pt x="560451" y="66675"/>
                </a:lnTo>
                <a:close/>
              </a:path>
            </a:pathLst>
          </a:custGeom>
          <a:ln w="952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423786" y="483234"/>
            <a:ext cx="1224915" cy="492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35"/>
              </a:lnSpc>
              <a:spcBef>
                <a:spcPts val="100"/>
              </a:spcBef>
            </a:pPr>
            <a:r>
              <a:rPr sz="1800" spc="-105" dirty="0">
                <a:latin typeface="Arial"/>
                <a:cs typeface="Arial"/>
              </a:rPr>
              <a:t>Coor</a:t>
            </a:r>
            <a:r>
              <a:rPr sz="1800" spc="-70" dirty="0">
                <a:latin typeface="Arial"/>
                <a:cs typeface="Arial"/>
              </a:rPr>
              <a:t>di</a:t>
            </a:r>
            <a:r>
              <a:rPr sz="1800" spc="-90" dirty="0">
                <a:latin typeface="Arial"/>
                <a:cs typeface="Arial"/>
              </a:rPr>
              <a:t>n</a:t>
            </a:r>
            <a:r>
              <a:rPr sz="1800" spc="-110" dirty="0">
                <a:latin typeface="Arial"/>
                <a:cs typeface="Arial"/>
              </a:rPr>
              <a:t>ac</a:t>
            </a:r>
            <a:r>
              <a:rPr sz="1800" spc="-114" dirty="0">
                <a:latin typeface="Arial"/>
                <a:cs typeface="Arial"/>
              </a:rPr>
              <a:t>ión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835"/>
              </a:lnSpc>
            </a:pPr>
            <a:r>
              <a:rPr sz="1800" spc="-40" dirty="0">
                <a:latin typeface="Arial"/>
                <a:cs typeface="Arial"/>
              </a:rPr>
              <a:t>del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proyecto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2654935"/>
            <a:ext cx="8432800" cy="519430"/>
          </a:xfrm>
          <a:custGeom>
            <a:avLst/>
            <a:gdLst/>
            <a:ahLst/>
            <a:cxnLst/>
            <a:rect l="l" t="t" r="r" b="b"/>
            <a:pathLst>
              <a:path w="8432800" h="519430">
                <a:moveTo>
                  <a:pt x="0" y="259714"/>
                </a:moveTo>
                <a:lnTo>
                  <a:pt x="27074" y="230129"/>
                </a:lnTo>
                <a:lnTo>
                  <a:pt x="74296" y="210935"/>
                </a:lnTo>
                <a:lnTo>
                  <a:pt x="124407" y="196855"/>
                </a:lnTo>
                <a:lnTo>
                  <a:pt x="164607" y="187631"/>
                </a:lnTo>
                <a:lnTo>
                  <a:pt x="210114" y="178546"/>
                </a:lnTo>
                <a:lnTo>
                  <a:pt x="260819" y="169605"/>
                </a:lnTo>
                <a:lnTo>
                  <a:pt x="316612" y="160817"/>
                </a:lnTo>
                <a:lnTo>
                  <a:pt x="377384" y="152187"/>
                </a:lnTo>
                <a:lnTo>
                  <a:pt x="443027" y="143722"/>
                </a:lnTo>
                <a:lnTo>
                  <a:pt x="513430" y="135430"/>
                </a:lnTo>
                <a:lnTo>
                  <a:pt x="588485" y="127316"/>
                </a:lnTo>
                <a:lnTo>
                  <a:pt x="627723" y="123328"/>
                </a:lnTo>
                <a:lnTo>
                  <a:pt x="668083" y="119387"/>
                </a:lnTo>
                <a:lnTo>
                  <a:pt x="709551" y="115494"/>
                </a:lnTo>
                <a:lnTo>
                  <a:pt x="752114" y="111651"/>
                </a:lnTo>
                <a:lnTo>
                  <a:pt x="795758" y="107857"/>
                </a:lnTo>
                <a:lnTo>
                  <a:pt x="840469" y="104113"/>
                </a:lnTo>
                <a:lnTo>
                  <a:pt x="886234" y="100421"/>
                </a:lnTo>
                <a:lnTo>
                  <a:pt x="933039" y="96782"/>
                </a:lnTo>
                <a:lnTo>
                  <a:pt x="980871" y="93195"/>
                </a:lnTo>
                <a:lnTo>
                  <a:pt x="1029715" y="89663"/>
                </a:lnTo>
                <a:lnTo>
                  <a:pt x="1079558" y="86185"/>
                </a:lnTo>
                <a:lnTo>
                  <a:pt x="1130387" y="82763"/>
                </a:lnTo>
                <a:lnTo>
                  <a:pt x="1182188" y="79397"/>
                </a:lnTo>
                <a:lnTo>
                  <a:pt x="1234948" y="76088"/>
                </a:lnTo>
                <a:lnTo>
                  <a:pt x="1288651" y="72838"/>
                </a:lnTo>
                <a:lnTo>
                  <a:pt x="1343286" y="69647"/>
                </a:lnTo>
                <a:lnTo>
                  <a:pt x="1398838" y="66515"/>
                </a:lnTo>
                <a:lnTo>
                  <a:pt x="1455293" y="63445"/>
                </a:lnTo>
                <a:lnTo>
                  <a:pt x="1512639" y="60436"/>
                </a:lnTo>
                <a:lnTo>
                  <a:pt x="1570860" y="57489"/>
                </a:lnTo>
                <a:lnTo>
                  <a:pt x="1629945" y="54605"/>
                </a:lnTo>
                <a:lnTo>
                  <a:pt x="1689878" y="51786"/>
                </a:lnTo>
                <a:lnTo>
                  <a:pt x="1750647" y="49031"/>
                </a:lnTo>
                <a:lnTo>
                  <a:pt x="1812238" y="46342"/>
                </a:lnTo>
                <a:lnTo>
                  <a:pt x="1874637" y="43720"/>
                </a:lnTo>
                <a:lnTo>
                  <a:pt x="1937830" y="41165"/>
                </a:lnTo>
                <a:lnTo>
                  <a:pt x="2001804" y="38678"/>
                </a:lnTo>
                <a:lnTo>
                  <a:pt x="2066545" y="36260"/>
                </a:lnTo>
                <a:lnTo>
                  <a:pt x="2132040" y="33913"/>
                </a:lnTo>
                <a:lnTo>
                  <a:pt x="2198274" y="31636"/>
                </a:lnTo>
                <a:lnTo>
                  <a:pt x="2265235" y="29431"/>
                </a:lnTo>
                <a:lnTo>
                  <a:pt x="2332908" y="27298"/>
                </a:lnTo>
                <a:lnTo>
                  <a:pt x="2401280" y="25239"/>
                </a:lnTo>
                <a:lnTo>
                  <a:pt x="2470337" y="23254"/>
                </a:lnTo>
                <a:lnTo>
                  <a:pt x="2540066" y="21343"/>
                </a:lnTo>
                <a:lnTo>
                  <a:pt x="2610453" y="19509"/>
                </a:lnTo>
                <a:lnTo>
                  <a:pt x="2681485" y="17751"/>
                </a:lnTo>
                <a:lnTo>
                  <a:pt x="2753147" y="16071"/>
                </a:lnTo>
                <a:lnTo>
                  <a:pt x="2825426" y="14470"/>
                </a:lnTo>
                <a:lnTo>
                  <a:pt x="2898308" y="12947"/>
                </a:lnTo>
                <a:lnTo>
                  <a:pt x="2971780" y="11504"/>
                </a:lnTo>
                <a:lnTo>
                  <a:pt x="3045828" y="10143"/>
                </a:lnTo>
                <a:lnTo>
                  <a:pt x="3120439" y="8863"/>
                </a:lnTo>
                <a:lnTo>
                  <a:pt x="3195598" y="7666"/>
                </a:lnTo>
                <a:lnTo>
                  <a:pt x="3271293" y="6552"/>
                </a:lnTo>
                <a:lnTo>
                  <a:pt x="3347509" y="5522"/>
                </a:lnTo>
                <a:lnTo>
                  <a:pt x="3424232" y="4578"/>
                </a:lnTo>
                <a:lnTo>
                  <a:pt x="3501450" y="3719"/>
                </a:lnTo>
                <a:lnTo>
                  <a:pt x="3579149" y="2948"/>
                </a:lnTo>
                <a:lnTo>
                  <a:pt x="3657315" y="2264"/>
                </a:lnTo>
                <a:lnTo>
                  <a:pt x="3735933" y="1668"/>
                </a:lnTo>
                <a:lnTo>
                  <a:pt x="3814992" y="1162"/>
                </a:lnTo>
                <a:lnTo>
                  <a:pt x="3894476" y="746"/>
                </a:lnTo>
                <a:lnTo>
                  <a:pt x="3974372" y="420"/>
                </a:lnTo>
                <a:lnTo>
                  <a:pt x="4054668" y="187"/>
                </a:lnTo>
                <a:lnTo>
                  <a:pt x="4135348" y="47"/>
                </a:lnTo>
                <a:lnTo>
                  <a:pt x="4216400" y="0"/>
                </a:lnTo>
                <a:lnTo>
                  <a:pt x="4297451" y="47"/>
                </a:lnTo>
                <a:lnTo>
                  <a:pt x="4378131" y="187"/>
                </a:lnTo>
                <a:lnTo>
                  <a:pt x="4458427" y="420"/>
                </a:lnTo>
                <a:lnTo>
                  <a:pt x="4538323" y="746"/>
                </a:lnTo>
                <a:lnTo>
                  <a:pt x="4617807" y="1162"/>
                </a:lnTo>
                <a:lnTo>
                  <a:pt x="4696866" y="1668"/>
                </a:lnTo>
                <a:lnTo>
                  <a:pt x="4775484" y="2264"/>
                </a:lnTo>
                <a:lnTo>
                  <a:pt x="4853650" y="2948"/>
                </a:lnTo>
                <a:lnTo>
                  <a:pt x="4931349" y="3719"/>
                </a:lnTo>
                <a:lnTo>
                  <a:pt x="5008567" y="4578"/>
                </a:lnTo>
                <a:lnTo>
                  <a:pt x="5085290" y="5522"/>
                </a:lnTo>
                <a:lnTo>
                  <a:pt x="5161506" y="6552"/>
                </a:lnTo>
                <a:lnTo>
                  <a:pt x="5237201" y="7666"/>
                </a:lnTo>
                <a:lnTo>
                  <a:pt x="5312360" y="8863"/>
                </a:lnTo>
                <a:lnTo>
                  <a:pt x="5386971" y="10143"/>
                </a:lnTo>
                <a:lnTo>
                  <a:pt x="5461019" y="11504"/>
                </a:lnTo>
                <a:lnTo>
                  <a:pt x="5534491" y="12947"/>
                </a:lnTo>
                <a:lnTo>
                  <a:pt x="5607373" y="14470"/>
                </a:lnTo>
                <a:lnTo>
                  <a:pt x="5679652" y="16071"/>
                </a:lnTo>
                <a:lnTo>
                  <a:pt x="5751314" y="17751"/>
                </a:lnTo>
                <a:lnTo>
                  <a:pt x="5822346" y="19509"/>
                </a:lnTo>
                <a:lnTo>
                  <a:pt x="5892733" y="21343"/>
                </a:lnTo>
                <a:lnTo>
                  <a:pt x="5962462" y="23254"/>
                </a:lnTo>
                <a:lnTo>
                  <a:pt x="6031519" y="25239"/>
                </a:lnTo>
                <a:lnTo>
                  <a:pt x="6099891" y="27298"/>
                </a:lnTo>
                <a:lnTo>
                  <a:pt x="6167564" y="29431"/>
                </a:lnTo>
                <a:lnTo>
                  <a:pt x="6234525" y="31636"/>
                </a:lnTo>
                <a:lnTo>
                  <a:pt x="6300759" y="33913"/>
                </a:lnTo>
                <a:lnTo>
                  <a:pt x="6366254" y="36260"/>
                </a:lnTo>
                <a:lnTo>
                  <a:pt x="6430995" y="38678"/>
                </a:lnTo>
                <a:lnTo>
                  <a:pt x="6494969" y="41165"/>
                </a:lnTo>
                <a:lnTo>
                  <a:pt x="6558162" y="43720"/>
                </a:lnTo>
                <a:lnTo>
                  <a:pt x="6620561" y="46342"/>
                </a:lnTo>
                <a:lnTo>
                  <a:pt x="6682152" y="49031"/>
                </a:lnTo>
                <a:lnTo>
                  <a:pt x="6742921" y="51786"/>
                </a:lnTo>
                <a:lnTo>
                  <a:pt x="6802854" y="54605"/>
                </a:lnTo>
                <a:lnTo>
                  <a:pt x="6861939" y="57489"/>
                </a:lnTo>
                <a:lnTo>
                  <a:pt x="6920160" y="60436"/>
                </a:lnTo>
                <a:lnTo>
                  <a:pt x="6977506" y="63445"/>
                </a:lnTo>
                <a:lnTo>
                  <a:pt x="7033961" y="66515"/>
                </a:lnTo>
                <a:lnTo>
                  <a:pt x="7089513" y="69647"/>
                </a:lnTo>
                <a:lnTo>
                  <a:pt x="7144148" y="72838"/>
                </a:lnTo>
                <a:lnTo>
                  <a:pt x="7197851" y="76088"/>
                </a:lnTo>
                <a:lnTo>
                  <a:pt x="7250611" y="79397"/>
                </a:lnTo>
                <a:lnTo>
                  <a:pt x="7302412" y="82763"/>
                </a:lnTo>
                <a:lnTo>
                  <a:pt x="7353241" y="86185"/>
                </a:lnTo>
                <a:lnTo>
                  <a:pt x="7403084" y="89663"/>
                </a:lnTo>
                <a:lnTo>
                  <a:pt x="7451928" y="93195"/>
                </a:lnTo>
                <a:lnTo>
                  <a:pt x="7499760" y="96782"/>
                </a:lnTo>
                <a:lnTo>
                  <a:pt x="7546565" y="100421"/>
                </a:lnTo>
                <a:lnTo>
                  <a:pt x="7592330" y="104113"/>
                </a:lnTo>
                <a:lnTo>
                  <a:pt x="7637041" y="107857"/>
                </a:lnTo>
                <a:lnTo>
                  <a:pt x="7680685" y="111651"/>
                </a:lnTo>
                <a:lnTo>
                  <a:pt x="7723248" y="115494"/>
                </a:lnTo>
                <a:lnTo>
                  <a:pt x="7764716" y="119387"/>
                </a:lnTo>
                <a:lnTo>
                  <a:pt x="7805076" y="123328"/>
                </a:lnTo>
                <a:lnTo>
                  <a:pt x="7844314" y="127316"/>
                </a:lnTo>
                <a:lnTo>
                  <a:pt x="7882416" y="131350"/>
                </a:lnTo>
                <a:lnTo>
                  <a:pt x="7955159" y="139554"/>
                </a:lnTo>
                <a:lnTo>
                  <a:pt x="8023195" y="147934"/>
                </a:lnTo>
                <a:lnTo>
                  <a:pt x="8086416" y="156482"/>
                </a:lnTo>
                <a:lnTo>
                  <a:pt x="8144713" y="165192"/>
                </a:lnTo>
                <a:lnTo>
                  <a:pt x="8197975" y="174057"/>
                </a:lnTo>
                <a:lnTo>
                  <a:pt x="8246095" y="183071"/>
                </a:lnTo>
                <a:lnTo>
                  <a:pt x="8288962" y="192226"/>
                </a:lnTo>
                <a:lnTo>
                  <a:pt x="8326468" y="201516"/>
                </a:lnTo>
                <a:lnTo>
                  <a:pt x="8372435" y="215690"/>
                </a:lnTo>
                <a:lnTo>
                  <a:pt x="8413941" y="234998"/>
                </a:lnTo>
                <a:lnTo>
                  <a:pt x="8432800" y="259714"/>
                </a:lnTo>
                <a:lnTo>
                  <a:pt x="8432036" y="264705"/>
                </a:lnTo>
                <a:lnTo>
                  <a:pt x="8396060" y="294141"/>
                </a:lnTo>
                <a:lnTo>
                  <a:pt x="8358503" y="308494"/>
                </a:lnTo>
                <a:lnTo>
                  <a:pt x="8308392" y="322574"/>
                </a:lnTo>
                <a:lnTo>
                  <a:pt x="8268192" y="331798"/>
                </a:lnTo>
                <a:lnTo>
                  <a:pt x="8222685" y="340883"/>
                </a:lnTo>
                <a:lnTo>
                  <a:pt x="8171980" y="349824"/>
                </a:lnTo>
                <a:lnTo>
                  <a:pt x="8116187" y="358612"/>
                </a:lnTo>
                <a:lnTo>
                  <a:pt x="8055415" y="367242"/>
                </a:lnTo>
                <a:lnTo>
                  <a:pt x="7989772" y="375707"/>
                </a:lnTo>
                <a:lnTo>
                  <a:pt x="7919369" y="383999"/>
                </a:lnTo>
                <a:lnTo>
                  <a:pt x="7844314" y="392113"/>
                </a:lnTo>
                <a:lnTo>
                  <a:pt x="7805076" y="396101"/>
                </a:lnTo>
                <a:lnTo>
                  <a:pt x="7764716" y="400042"/>
                </a:lnTo>
                <a:lnTo>
                  <a:pt x="7723248" y="403935"/>
                </a:lnTo>
                <a:lnTo>
                  <a:pt x="7680685" y="407778"/>
                </a:lnTo>
                <a:lnTo>
                  <a:pt x="7637041" y="411572"/>
                </a:lnTo>
                <a:lnTo>
                  <a:pt x="7592330" y="415316"/>
                </a:lnTo>
                <a:lnTo>
                  <a:pt x="7546565" y="419008"/>
                </a:lnTo>
                <a:lnTo>
                  <a:pt x="7499760" y="422647"/>
                </a:lnTo>
                <a:lnTo>
                  <a:pt x="7451928" y="426234"/>
                </a:lnTo>
                <a:lnTo>
                  <a:pt x="7403084" y="429766"/>
                </a:lnTo>
                <a:lnTo>
                  <a:pt x="7353241" y="433244"/>
                </a:lnTo>
                <a:lnTo>
                  <a:pt x="7302412" y="436666"/>
                </a:lnTo>
                <a:lnTo>
                  <a:pt x="7250611" y="440032"/>
                </a:lnTo>
                <a:lnTo>
                  <a:pt x="7197851" y="443341"/>
                </a:lnTo>
                <a:lnTo>
                  <a:pt x="7144148" y="446591"/>
                </a:lnTo>
                <a:lnTo>
                  <a:pt x="7089513" y="449782"/>
                </a:lnTo>
                <a:lnTo>
                  <a:pt x="7033961" y="452914"/>
                </a:lnTo>
                <a:lnTo>
                  <a:pt x="6977506" y="455984"/>
                </a:lnTo>
                <a:lnTo>
                  <a:pt x="6920160" y="458993"/>
                </a:lnTo>
                <a:lnTo>
                  <a:pt x="6861939" y="461940"/>
                </a:lnTo>
                <a:lnTo>
                  <a:pt x="6802854" y="464824"/>
                </a:lnTo>
                <a:lnTo>
                  <a:pt x="6742921" y="467643"/>
                </a:lnTo>
                <a:lnTo>
                  <a:pt x="6682152" y="470398"/>
                </a:lnTo>
                <a:lnTo>
                  <a:pt x="6620561" y="473087"/>
                </a:lnTo>
                <a:lnTo>
                  <a:pt x="6558162" y="475709"/>
                </a:lnTo>
                <a:lnTo>
                  <a:pt x="6494969" y="478264"/>
                </a:lnTo>
                <a:lnTo>
                  <a:pt x="6430995" y="480751"/>
                </a:lnTo>
                <a:lnTo>
                  <a:pt x="6366254" y="483169"/>
                </a:lnTo>
                <a:lnTo>
                  <a:pt x="6300759" y="485516"/>
                </a:lnTo>
                <a:lnTo>
                  <a:pt x="6234525" y="487793"/>
                </a:lnTo>
                <a:lnTo>
                  <a:pt x="6167564" y="489998"/>
                </a:lnTo>
                <a:lnTo>
                  <a:pt x="6099891" y="492131"/>
                </a:lnTo>
                <a:lnTo>
                  <a:pt x="6031519" y="494190"/>
                </a:lnTo>
                <a:lnTo>
                  <a:pt x="5962462" y="496175"/>
                </a:lnTo>
                <a:lnTo>
                  <a:pt x="5892733" y="498086"/>
                </a:lnTo>
                <a:lnTo>
                  <a:pt x="5822346" y="499920"/>
                </a:lnTo>
                <a:lnTo>
                  <a:pt x="5751314" y="501678"/>
                </a:lnTo>
                <a:lnTo>
                  <a:pt x="5679652" y="503358"/>
                </a:lnTo>
                <a:lnTo>
                  <a:pt x="5607373" y="504959"/>
                </a:lnTo>
                <a:lnTo>
                  <a:pt x="5534491" y="506482"/>
                </a:lnTo>
                <a:lnTo>
                  <a:pt x="5461019" y="507925"/>
                </a:lnTo>
                <a:lnTo>
                  <a:pt x="5386971" y="509286"/>
                </a:lnTo>
                <a:lnTo>
                  <a:pt x="5312360" y="510566"/>
                </a:lnTo>
                <a:lnTo>
                  <a:pt x="5237201" y="511763"/>
                </a:lnTo>
                <a:lnTo>
                  <a:pt x="5161506" y="512877"/>
                </a:lnTo>
                <a:lnTo>
                  <a:pt x="5085290" y="513907"/>
                </a:lnTo>
                <a:lnTo>
                  <a:pt x="5008567" y="514851"/>
                </a:lnTo>
                <a:lnTo>
                  <a:pt x="4931349" y="515710"/>
                </a:lnTo>
                <a:lnTo>
                  <a:pt x="4853650" y="516481"/>
                </a:lnTo>
                <a:lnTo>
                  <a:pt x="4775484" y="517165"/>
                </a:lnTo>
                <a:lnTo>
                  <a:pt x="4696866" y="517761"/>
                </a:lnTo>
                <a:lnTo>
                  <a:pt x="4617807" y="518267"/>
                </a:lnTo>
                <a:lnTo>
                  <a:pt x="4538323" y="518683"/>
                </a:lnTo>
                <a:lnTo>
                  <a:pt x="4458427" y="519009"/>
                </a:lnTo>
                <a:lnTo>
                  <a:pt x="4378131" y="519242"/>
                </a:lnTo>
                <a:lnTo>
                  <a:pt x="4297451" y="519382"/>
                </a:lnTo>
                <a:lnTo>
                  <a:pt x="4216400" y="519429"/>
                </a:lnTo>
                <a:lnTo>
                  <a:pt x="4135348" y="519382"/>
                </a:lnTo>
                <a:lnTo>
                  <a:pt x="4054668" y="519242"/>
                </a:lnTo>
                <a:lnTo>
                  <a:pt x="3974372" y="519009"/>
                </a:lnTo>
                <a:lnTo>
                  <a:pt x="3894476" y="518683"/>
                </a:lnTo>
                <a:lnTo>
                  <a:pt x="3814992" y="518267"/>
                </a:lnTo>
                <a:lnTo>
                  <a:pt x="3735933" y="517761"/>
                </a:lnTo>
                <a:lnTo>
                  <a:pt x="3657315" y="517165"/>
                </a:lnTo>
                <a:lnTo>
                  <a:pt x="3579149" y="516481"/>
                </a:lnTo>
                <a:lnTo>
                  <a:pt x="3501450" y="515710"/>
                </a:lnTo>
                <a:lnTo>
                  <a:pt x="3424232" y="514851"/>
                </a:lnTo>
                <a:lnTo>
                  <a:pt x="3347509" y="513907"/>
                </a:lnTo>
                <a:lnTo>
                  <a:pt x="3271293" y="512877"/>
                </a:lnTo>
                <a:lnTo>
                  <a:pt x="3195598" y="511763"/>
                </a:lnTo>
                <a:lnTo>
                  <a:pt x="3120439" y="510566"/>
                </a:lnTo>
                <a:lnTo>
                  <a:pt x="3045828" y="509286"/>
                </a:lnTo>
                <a:lnTo>
                  <a:pt x="2971780" y="507925"/>
                </a:lnTo>
                <a:lnTo>
                  <a:pt x="2898308" y="506482"/>
                </a:lnTo>
                <a:lnTo>
                  <a:pt x="2825426" y="504959"/>
                </a:lnTo>
                <a:lnTo>
                  <a:pt x="2753147" y="503358"/>
                </a:lnTo>
                <a:lnTo>
                  <a:pt x="2681485" y="501678"/>
                </a:lnTo>
                <a:lnTo>
                  <a:pt x="2610453" y="499920"/>
                </a:lnTo>
                <a:lnTo>
                  <a:pt x="2540066" y="498086"/>
                </a:lnTo>
                <a:lnTo>
                  <a:pt x="2470337" y="496175"/>
                </a:lnTo>
                <a:lnTo>
                  <a:pt x="2401280" y="494190"/>
                </a:lnTo>
                <a:lnTo>
                  <a:pt x="2332908" y="492131"/>
                </a:lnTo>
                <a:lnTo>
                  <a:pt x="2265235" y="489998"/>
                </a:lnTo>
                <a:lnTo>
                  <a:pt x="2198274" y="487793"/>
                </a:lnTo>
                <a:lnTo>
                  <a:pt x="2132040" y="485516"/>
                </a:lnTo>
                <a:lnTo>
                  <a:pt x="2066545" y="483169"/>
                </a:lnTo>
                <a:lnTo>
                  <a:pt x="2001804" y="480751"/>
                </a:lnTo>
                <a:lnTo>
                  <a:pt x="1937830" y="478264"/>
                </a:lnTo>
                <a:lnTo>
                  <a:pt x="1874637" y="475709"/>
                </a:lnTo>
                <a:lnTo>
                  <a:pt x="1812238" y="473087"/>
                </a:lnTo>
                <a:lnTo>
                  <a:pt x="1750647" y="470398"/>
                </a:lnTo>
                <a:lnTo>
                  <a:pt x="1689878" y="467643"/>
                </a:lnTo>
                <a:lnTo>
                  <a:pt x="1629945" y="464824"/>
                </a:lnTo>
                <a:lnTo>
                  <a:pt x="1570860" y="461940"/>
                </a:lnTo>
                <a:lnTo>
                  <a:pt x="1512639" y="458993"/>
                </a:lnTo>
                <a:lnTo>
                  <a:pt x="1455293" y="455984"/>
                </a:lnTo>
                <a:lnTo>
                  <a:pt x="1398838" y="452914"/>
                </a:lnTo>
                <a:lnTo>
                  <a:pt x="1343286" y="449782"/>
                </a:lnTo>
                <a:lnTo>
                  <a:pt x="1288651" y="446591"/>
                </a:lnTo>
                <a:lnTo>
                  <a:pt x="1234948" y="443341"/>
                </a:lnTo>
                <a:lnTo>
                  <a:pt x="1182188" y="440032"/>
                </a:lnTo>
                <a:lnTo>
                  <a:pt x="1130387" y="436666"/>
                </a:lnTo>
                <a:lnTo>
                  <a:pt x="1079558" y="433244"/>
                </a:lnTo>
                <a:lnTo>
                  <a:pt x="1029715" y="429766"/>
                </a:lnTo>
                <a:lnTo>
                  <a:pt x="980871" y="426234"/>
                </a:lnTo>
                <a:lnTo>
                  <a:pt x="933039" y="422647"/>
                </a:lnTo>
                <a:lnTo>
                  <a:pt x="886234" y="419008"/>
                </a:lnTo>
                <a:lnTo>
                  <a:pt x="840469" y="415316"/>
                </a:lnTo>
                <a:lnTo>
                  <a:pt x="795758" y="411572"/>
                </a:lnTo>
                <a:lnTo>
                  <a:pt x="752114" y="407778"/>
                </a:lnTo>
                <a:lnTo>
                  <a:pt x="709551" y="403935"/>
                </a:lnTo>
                <a:lnTo>
                  <a:pt x="668083" y="400042"/>
                </a:lnTo>
                <a:lnTo>
                  <a:pt x="627723" y="396101"/>
                </a:lnTo>
                <a:lnTo>
                  <a:pt x="588485" y="392113"/>
                </a:lnTo>
                <a:lnTo>
                  <a:pt x="550383" y="388079"/>
                </a:lnTo>
                <a:lnTo>
                  <a:pt x="477640" y="379875"/>
                </a:lnTo>
                <a:lnTo>
                  <a:pt x="409604" y="371495"/>
                </a:lnTo>
                <a:lnTo>
                  <a:pt x="346383" y="362947"/>
                </a:lnTo>
                <a:lnTo>
                  <a:pt x="288086" y="354237"/>
                </a:lnTo>
                <a:lnTo>
                  <a:pt x="234824" y="345372"/>
                </a:lnTo>
                <a:lnTo>
                  <a:pt x="186704" y="336358"/>
                </a:lnTo>
                <a:lnTo>
                  <a:pt x="143837" y="327203"/>
                </a:lnTo>
                <a:lnTo>
                  <a:pt x="106331" y="317913"/>
                </a:lnTo>
                <a:lnTo>
                  <a:pt x="60364" y="303739"/>
                </a:lnTo>
                <a:lnTo>
                  <a:pt x="18858" y="284431"/>
                </a:lnTo>
                <a:lnTo>
                  <a:pt x="0" y="259714"/>
                </a:lnTo>
                <a:close/>
              </a:path>
            </a:pathLst>
          </a:custGeom>
          <a:ln w="31750">
            <a:solidFill>
              <a:srgbClr val="8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76" y="314325"/>
            <a:ext cx="229870" cy="459740"/>
          </a:xfrm>
          <a:custGeom>
            <a:avLst/>
            <a:gdLst/>
            <a:ahLst/>
            <a:cxnLst/>
            <a:rect l="l" t="t" r="r" b="b"/>
            <a:pathLst>
              <a:path w="229870" h="459740">
                <a:moveTo>
                  <a:pt x="229792" y="0"/>
                </a:moveTo>
                <a:lnTo>
                  <a:pt x="183481" y="4667"/>
                </a:lnTo>
                <a:lnTo>
                  <a:pt x="140346" y="18055"/>
                </a:lnTo>
                <a:lnTo>
                  <a:pt x="101312" y="39239"/>
                </a:lnTo>
                <a:lnTo>
                  <a:pt x="67304" y="67294"/>
                </a:lnTo>
                <a:lnTo>
                  <a:pt x="39244" y="101296"/>
                </a:lnTo>
                <a:lnTo>
                  <a:pt x="18058" y="140321"/>
                </a:lnTo>
                <a:lnTo>
                  <a:pt x="4668" y="183444"/>
                </a:lnTo>
                <a:lnTo>
                  <a:pt x="0" y="229742"/>
                </a:lnTo>
                <a:lnTo>
                  <a:pt x="4668" y="276083"/>
                </a:lnTo>
                <a:lnTo>
                  <a:pt x="18058" y="319238"/>
                </a:lnTo>
                <a:lnTo>
                  <a:pt x="39244" y="358285"/>
                </a:lnTo>
                <a:lnTo>
                  <a:pt x="67304" y="392302"/>
                </a:lnTo>
                <a:lnTo>
                  <a:pt x="101312" y="420367"/>
                </a:lnTo>
                <a:lnTo>
                  <a:pt x="140346" y="441555"/>
                </a:lnTo>
                <a:lnTo>
                  <a:pt x="183481" y="454944"/>
                </a:lnTo>
                <a:lnTo>
                  <a:pt x="229792" y="459613"/>
                </a:lnTo>
                <a:lnTo>
                  <a:pt x="229792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968" y="314363"/>
            <a:ext cx="8911590" cy="459740"/>
          </a:xfrm>
          <a:custGeom>
            <a:avLst/>
            <a:gdLst/>
            <a:ahLst/>
            <a:cxnLst/>
            <a:rect l="l" t="t" r="r" b="b"/>
            <a:pathLst>
              <a:path w="8911590" h="459740">
                <a:moveTo>
                  <a:pt x="0" y="459574"/>
                </a:moveTo>
                <a:lnTo>
                  <a:pt x="8911082" y="459574"/>
                </a:lnTo>
                <a:lnTo>
                  <a:pt x="8911082" y="0"/>
                </a:lnTo>
                <a:lnTo>
                  <a:pt x="0" y="0"/>
                </a:lnTo>
                <a:lnTo>
                  <a:pt x="0" y="459574"/>
                </a:lnTo>
                <a:close/>
              </a:path>
            </a:pathLst>
          </a:custGeom>
          <a:ln w="19050">
            <a:solidFill>
              <a:srgbClr val="2CA1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93010" y="324434"/>
            <a:ext cx="43916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0" spc="-210" dirty="0">
                <a:solidFill>
                  <a:srgbClr val="000000"/>
                </a:solidFill>
                <a:latin typeface="Arial"/>
                <a:cs typeface="Arial"/>
              </a:rPr>
              <a:t>Estructura </a:t>
            </a:r>
            <a:r>
              <a:rPr sz="2200" i="0" spc="-110" dirty="0">
                <a:solidFill>
                  <a:srgbClr val="000000"/>
                </a:solidFill>
                <a:latin typeface="Arial"/>
                <a:cs typeface="Arial"/>
              </a:rPr>
              <a:t>Matricial </a:t>
            </a:r>
            <a:r>
              <a:rPr sz="2200" i="0" spc="-125" dirty="0">
                <a:solidFill>
                  <a:srgbClr val="000000"/>
                </a:solidFill>
                <a:latin typeface="Arial"/>
                <a:cs typeface="Arial"/>
              </a:rPr>
              <a:t>Debil </a:t>
            </a:r>
            <a:r>
              <a:rPr sz="2200" i="0" spc="180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sz="2200" i="0" spc="-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i="0" spc="-165" dirty="0">
                <a:solidFill>
                  <a:srgbClr val="000000"/>
                </a:solidFill>
                <a:latin typeface="Arial"/>
                <a:cs typeface="Arial"/>
              </a:rPr>
              <a:t>Funcional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67678" y="1637410"/>
            <a:ext cx="1890522" cy="334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67678" y="1637410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0" y="55625"/>
                </a:moveTo>
                <a:lnTo>
                  <a:pt x="4369" y="33968"/>
                </a:lnTo>
                <a:lnTo>
                  <a:pt x="16287" y="16287"/>
                </a:lnTo>
                <a:lnTo>
                  <a:pt x="33968" y="4369"/>
                </a:lnTo>
                <a:lnTo>
                  <a:pt x="55625" y="0"/>
                </a:lnTo>
                <a:lnTo>
                  <a:pt x="1834769" y="0"/>
                </a:lnTo>
                <a:lnTo>
                  <a:pt x="1856499" y="4369"/>
                </a:lnTo>
                <a:lnTo>
                  <a:pt x="1874218" y="16287"/>
                </a:lnTo>
                <a:lnTo>
                  <a:pt x="1886150" y="33968"/>
                </a:lnTo>
                <a:lnTo>
                  <a:pt x="1890522" y="55625"/>
                </a:lnTo>
                <a:lnTo>
                  <a:pt x="1890522" y="278511"/>
                </a:lnTo>
                <a:lnTo>
                  <a:pt x="1886150" y="300241"/>
                </a:lnTo>
                <a:lnTo>
                  <a:pt x="1874218" y="317960"/>
                </a:lnTo>
                <a:lnTo>
                  <a:pt x="1856499" y="329892"/>
                </a:lnTo>
                <a:lnTo>
                  <a:pt x="1834769" y="334263"/>
                </a:lnTo>
                <a:lnTo>
                  <a:pt x="55625" y="334263"/>
                </a:lnTo>
                <a:lnTo>
                  <a:pt x="33968" y="329892"/>
                </a:lnTo>
                <a:lnTo>
                  <a:pt x="16287" y="317960"/>
                </a:lnTo>
                <a:lnTo>
                  <a:pt x="4369" y="300241"/>
                </a:lnTo>
                <a:lnTo>
                  <a:pt x="0" y="278511"/>
                </a:lnTo>
                <a:lnTo>
                  <a:pt x="0" y="556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63690" y="1685671"/>
            <a:ext cx="1084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Area </a:t>
            </a:r>
            <a:r>
              <a:rPr sz="1200" b="1" dirty="0">
                <a:latin typeface="Tahoma"/>
                <a:cs typeface="Tahoma"/>
              </a:rPr>
              <a:t>3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Diseño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5800" y="1637410"/>
            <a:ext cx="1890522" cy="334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5800" y="1637410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4">
                <a:moveTo>
                  <a:pt x="0" y="55625"/>
                </a:moveTo>
                <a:lnTo>
                  <a:pt x="4378" y="33968"/>
                </a:lnTo>
                <a:lnTo>
                  <a:pt x="16319" y="16287"/>
                </a:lnTo>
                <a:lnTo>
                  <a:pt x="34032" y="4369"/>
                </a:lnTo>
                <a:lnTo>
                  <a:pt x="55727" y="0"/>
                </a:lnTo>
                <a:lnTo>
                  <a:pt x="1834895" y="0"/>
                </a:lnTo>
                <a:lnTo>
                  <a:pt x="1856553" y="4369"/>
                </a:lnTo>
                <a:lnTo>
                  <a:pt x="1874234" y="16287"/>
                </a:lnTo>
                <a:lnTo>
                  <a:pt x="1886152" y="33968"/>
                </a:lnTo>
                <a:lnTo>
                  <a:pt x="1890522" y="55625"/>
                </a:lnTo>
                <a:lnTo>
                  <a:pt x="1890522" y="278511"/>
                </a:lnTo>
                <a:lnTo>
                  <a:pt x="1886152" y="300241"/>
                </a:lnTo>
                <a:lnTo>
                  <a:pt x="1874234" y="317960"/>
                </a:lnTo>
                <a:lnTo>
                  <a:pt x="1856553" y="329892"/>
                </a:lnTo>
                <a:lnTo>
                  <a:pt x="1834895" y="334263"/>
                </a:lnTo>
                <a:lnTo>
                  <a:pt x="55727" y="334263"/>
                </a:lnTo>
                <a:lnTo>
                  <a:pt x="34032" y="329892"/>
                </a:lnTo>
                <a:lnTo>
                  <a:pt x="16319" y="317960"/>
                </a:lnTo>
                <a:lnTo>
                  <a:pt x="4378" y="300241"/>
                </a:lnTo>
                <a:lnTo>
                  <a:pt x="0" y="278511"/>
                </a:lnTo>
                <a:lnTo>
                  <a:pt x="0" y="556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80999" y="1685671"/>
            <a:ext cx="146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Area </a:t>
            </a:r>
            <a:r>
              <a:rPr sz="1200" b="1" dirty="0">
                <a:latin typeface="Tahoma"/>
                <a:cs typeface="Tahoma"/>
              </a:rPr>
              <a:t>1.</a:t>
            </a:r>
            <a:r>
              <a:rPr sz="1200" b="1" spc="-5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Producción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26739" y="1678813"/>
            <a:ext cx="1890522" cy="250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5800" y="2194560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4">
                <a:moveTo>
                  <a:pt x="1834895" y="0"/>
                </a:moveTo>
                <a:lnTo>
                  <a:pt x="55727" y="0"/>
                </a:lnTo>
                <a:lnTo>
                  <a:pt x="34032" y="4371"/>
                </a:lnTo>
                <a:lnTo>
                  <a:pt x="16319" y="16303"/>
                </a:lnTo>
                <a:lnTo>
                  <a:pt x="4378" y="34022"/>
                </a:lnTo>
                <a:lnTo>
                  <a:pt x="0" y="55752"/>
                </a:lnTo>
                <a:lnTo>
                  <a:pt x="0" y="278638"/>
                </a:lnTo>
                <a:lnTo>
                  <a:pt x="4378" y="300315"/>
                </a:lnTo>
                <a:lnTo>
                  <a:pt x="16319" y="318039"/>
                </a:lnTo>
                <a:lnTo>
                  <a:pt x="34032" y="330001"/>
                </a:lnTo>
                <a:lnTo>
                  <a:pt x="55727" y="334390"/>
                </a:lnTo>
                <a:lnTo>
                  <a:pt x="1834895" y="334390"/>
                </a:lnTo>
                <a:lnTo>
                  <a:pt x="1856553" y="330001"/>
                </a:lnTo>
                <a:lnTo>
                  <a:pt x="1874234" y="318039"/>
                </a:lnTo>
                <a:lnTo>
                  <a:pt x="1886152" y="300315"/>
                </a:lnTo>
                <a:lnTo>
                  <a:pt x="1890522" y="278638"/>
                </a:lnTo>
                <a:lnTo>
                  <a:pt x="1890522" y="55752"/>
                </a:lnTo>
                <a:lnTo>
                  <a:pt x="1886152" y="34022"/>
                </a:lnTo>
                <a:lnTo>
                  <a:pt x="1874234" y="16303"/>
                </a:lnTo>
                <a:lnTo>
                  <a:pt x="1856553" y="4371"/>
                </a:lnTo>
                <a:lnTo>
                  <a:pt x="1834895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26262" y="1723135"/>
            <a:ext cx="1891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833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200" b="1" u="sng" spc="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200" b="1" u="sng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Area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2.</a:t>
            </a:r>
            <a:r>
              <a:rPr sz="1200" b="1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200" b="1" u="sng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Ingenieria	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5800" y="2194560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4">
                <a:moveTo>
                  <a:pt x="0" y="55752"/>
                </a:moveTo>
                <a:lnTo>
                  <a:pt x="4378" y="34022"/>
                </a:lnTo>
                <a:lnTo>
                  <a:pt x="16319" y="16303"/>
                </a:lnTo>
                <a:lnTo>
                  <a:pt x="34032" y="4371"/>
                </a:lnTo>
                <a:lnTo>
                  <a:pt x="55727" y="0"/>
                </a:lnTo>
                <a:lnTo>
                  <a:pt x="1834895" y="0"/>
                </a:lnTo>
                <a:lnTo>
                  <a:pt x="1856553" y="4371"/>
                </a:lnTo>
                <a:lnTo>
                  <a:pt x="1874234" y="16303"/>
                </a:lnTo>
                <a:lnTo>
                  <a:pt x="1886152" y="34022"/>
                </a:lnTo>
                <a:lnTo>
                  <a:pt x="1890522" y="55752"/>
                </a:lnTo>
                <a:lnTo>
                  <a:pt x="1890522" y="278638"/>
                </a:lnTo>
                <a:lnTo>
                  <a:pt x="1886152" y="300315"/>
                </a:lnTo>
                <a:lnTo>
                  <a:pt x="1874234" y="318039"/>
                </a:lnTo>
                <a:lnTo>
                  <a:pt x="1856553" y="330001"/>
                </a:lnTo>
                <a:lnTo>
                  <a:pt x="1834895" y="334390"/>
                </a:lnTo>
                <a:lnTo>
                  <a:pt x="55727" y="334390"/>
                </a:lnTo>
                <a:lnTo>
                  <a:pt x="34032" y="330001"/>
                </a:lnTo>
                <a:lnTo>
                  <a:pt x="16319" y="318039"/>
                </a:lnTo>
                <a:lnTo>
                  <a:pt x="4378" y="30031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80999" y="2243073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26739" y="2194560"/>
            <a:ext cx="1890522" cy="3343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26739" y="2194560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0" y="55752"/>
                </a:moveTo>
                <a:lnTo>
                  <a:pt x="4371" y="34022"/>
                </a:lnTo>
                <a:lnTo>
                  <a:pt x="16303" y="16303"/>
                </a:lnTo>
                <a:lnTo>
                  <a:pt x="34022" y="4371"/>
                </a:lnTo>
                <a:lnTo>
                  <a:pt x="55752" y="0"/>
                </a:lnTo>
                <a:lnTo>
                  <a:pt x="1834769" y="0"/>
                </a:lnTo>
                <a:lnTo>
                  <a:pt x="1856499" y="4371"/>
                </a:lnTo>
                <a:lnTo>
                  <a:pt x="1874218" y="16303"/>
                </a:lnTo>
                <a:lnTo>
                  <a:pt x="1886150" y="34022"/>
                </a:lnTo>
                <a:lnTo>
                  <a:pt x="1890522" y="55752"/>
                </a:lnTo>
                <a:lnTo>
                  <a:pt x="1890522" y="278638"/>
                </a:lnTo>
                <a:lnTo>
                  <a:pt x="1886150" y="300315"/>
                </a:lnTo>
                <a:lnTo>
                  <a:pt x="1874218" y="318039"/>
                </a:lnTo>
                <a:lnTo>
                  <a:pt x="1856499" y="330001"/>
                </a:lnTo>
                <a:lnTo>
                  <a:pt x="1834769" y="334390"/>
                </a:lnTo>
                <a:lnTo>
                  <a:pt x="55752" y="334390"/>
                </a:lnTo>
                <a:lnTo>
                  <a:pt x="34022" y="330001"/>
                </a:lnTo>
                <a:lnTo>
                  <a:pt x="16303" y="318039"/>
                </a:lnTo>
                <a:lnTo>
                  <a:pt x="4371" y="30031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722370" y="2243073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567678" y="2194560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1834769" y="0"/>
                </a:moveTo>
                <a:lnTo>
                  <a:pt x="55625" y="0"/>
                </a:lnTo>
                <a:lnTo>
                  <a:pt x="33968" y="4371"/>
                </a:lnTo>
                <a:lnTo>
                  <a:pt x="16287" y="16303"/>
                </a:lnTo>
                <a:lnTo>
                  <a:pt x="4369" y="34022"/>
                </a:lnTo>
                <a:lnTo>
                  <a:pt x="0" y="55752"/>
                </a:lnTo>
                <a:lnTo>
                  <a:pt x="0" y="278638"/>
                </a:lnTo>
                <a:lnTo>
                  <a:pt x="4369" y="300315"/>
                </a:lnTo>
                <a:lnTo>
                  <a:pt x="16287" y="318039"/>
                </a:lnTo>
                <a:lnTo>
                  <a:pt x="33968" y="330001"/>
                </a:lnTo>
                <a:lnTo>
                  <a:pt x="55625" y="334390"/>
                </a:lnTo>
                <a:lnTo>
                  <a:pt x="1834769" y="334390"/>
                </a:lnTo>
                <a:lnTo>
                  <a:pt x="1856499" y="330001"/>
                </a:lnTo>
                <a:lnTo>
                  <a:pt x="1874218" y="318039"/>
                </a:lnTo>
                <a:lnTo>
                  <a:pt x="1886150" y="300315"/>
                </a:lnTo>
                <a:lnTo>
                  <a:pt x="1890522" y="278638"/>
                </a:lnTo>
                <a:lnTo>
                  <a:pt x="1890522" y="55752"/>
                </a:lnTo>
                <a:lnTo>
                  <a:pt x="1886150" y="34022"/>
                </a:lnTo>
                <a:lnTo>
                  <a:pt x="1874218" y="16303"/>
                </a:lnTo>
                <a:lnTo>
                  <a:pt x="1856499" y="4371"/>
                </a:lnTo>
                <a:lnTo>
                  <a:pt x="1834769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67678" y="2194560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0" y="55752"/>
                </a:moveTo>
                <a:lnTo>
                  <a:pt x="4369" y="34022"/>
                </a:lnTo>
                <a:lnTo>
                  <a:pt x="16287" y="16303"/>
                </a:lnTo>
                <a:lnTo>
                  <a:pt x="33968" y="4371"/>
                </a:lnTo>
                <a:lnTo>
                  <a:pt x="55625" y="0"/>
                </a:lnTo>
                <a:lnTo>
                  <a:pt x="1834769" y="0"/>
                </a:lnTo>
                <a:lnTo>
                  <a:pt x="1856499" y="4371"/>
                </a:lnTo>
                <a:lnTo>
                  <a:pt x="1874218" y="16303"/>
                </a:lnTo>
                <a:lnTo>
                  <a:pt x="1886150" y="34022"/>
                </a:lnTo>
                <a:lnTo>
                  <a:pt x="1890522" y="55752"/>
                </a:lnTo>
                <a:lnTo>
                  <a:pt x="1890522" y="278638"/>
                </a:lnTo>
                <a:lnTo>
                  <a:pt x="1886150" y="300315"/>
                </a:lnTo>
                <a:lnTo>
                  <a:pt x="1874218" y="318039"/>
                </a:lnTo>
                <a:lnTo>
                  <a:pt x="1856499" y="330001"/>
                </a:lnTo>
                <a:lnTo>
                  <a:pt x="1834769" y="334390"/>
                </a:lnTo>
                <a:lnTo>
                  <a:pt x="55625" y="334390"/>
                </a:lnTo>
                <a:lnTo>
                  <a:pt x="33968" y="330001"/>
                </a:lnTo>
                <a:lnTo>
                  <a:pt x="16287" y="318039"/>
                </a:lnTo>
                <a:lnTo>
                  <a:pt x="4369" y="30031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663690" y="2243073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16680" y="857250"/>
            <a:ext cx="2520696" cy="3343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16680" y="857250"/>
            <a:ext cx="2520950" cy="334645"/>
          </a:xfrm>
          <a:custGeom>
            <a:avLst/>
            <a:gdLst/>
            <a:ahLst/>
            <a:cxnLst/>
            <a:rect l="l" t="t" r="r" b="b"/>
            <a:pathLst>
              <a:path w="2520950" h="334644">
                <a:moveTo>
                  <a:pt x="0" y="55752"/>
                </a:moveTo>
                <a:lnTo>
                  <a:pt x="4369" y="34022"/>
                </a:lnTo>
                <a:lnTo>
                  <a:pt x="16287" y="16303"/>
                </a:lnTo>
                <a:lnTo>
                  <a:pt x="33968" y="4371"/>
                </a:lnTo>
                <a:lnTo>
                  <a:pt x="55626" y="0"/>
                </a:lnTo>
                <a:lnTo>
                  <a:pt x="2465070" y="0"/>
                </a:lnTo>
                <a:lnTo>
                  <a:pt x="2486727" y="4371"/>
                </a:lnTo>
                <a:lnTo>
                  <a:pt x="2504408" y="16303"/>
                </a:lnTo>
                <a:lnTo>
                  <a:pt x="2516326" y="34022"/>
                </a:lnTo>
                <a:lnTo>
                  <a:pt x="2520696" y="55752"/>
                </a:lnTo>
                <a:lnTo>
                  <a:pt x="2520696" y="278638"/>
                </a:lnTo>
                <a:lnTo>
                  <a:pt x="2516326" y="300315"/>
                </a:lnTo>
                <a:lnTo>
                  <a:pt x="2504408" y="318039"/>
                </a:lnTo>
                <a:lnTo>
                  <a:pt x="2486727" y="330001"/>
                </a:lnTo>
                <a:lnTo>
                  <a:pt x="2465070" y="334390"/>
                </a:lnTo>
                <a:lnTo>
                  <a:pt x="55626" y="334390"/>
                </a:lnTo>
                <a:lnTo>
                  <a:pt x="33968" y="330001"/>
                </a:lnTo>
                <a:lnTo>
                  <a:pt x="16287" y="318039"/>
                </a:lnTo>
                <a:lnTo>
                  <a:pt x="4369" y="30031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12311" y="905383"/>
            <a:ext cx="494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CEO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85800" y="2751835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4">
                <a:moveTo>
                  <a:pt x="1834895" y="0"/>
                </a:moveTo>
                <a:lnTo>
                  <a:pt x="55727" y="0"/>
                </a:lnTo>
                <a:lnTo>
                  <a:pt x="34032" y="4369"/>
                </a:lnTo>
                <a:lnTo>
                  <a:pt x="16319" y="16287"/>
                </a:lnTo>
                <a:lnTo>
                  <a:pt x="4378" y="33968"/>
                </a:lnTo>
                <a:lnTo>
                  <a:pt x="0" y="55625"/>
                </a:lnTo>
                <a:lnTo>
                  <a:pt x="0" y="278511"/>
                </a:lnTo>
                <a:lnTo>
                  <a:pt x="4378" y="300241"/>
                </a:lnTo>
                <a:lnTo>
                  <a:pt x="16319" y="317960"/>
                </a:lnTo>
                <a:lnTo>
                  <a:pt x="34032" y="329892"/>
                </a:lnTo>
                <a:lnTo>
                  <a:pt x="55727" y="334263"/>
                </a:lnTo>
                <a:lnTo>
                  <a:pt x="1834895" y="334263"/>
                </a:lnTo>
                <a:lnTo>
                  <a:pt x="1856553" y="329892"/>
                </a:lnTo>
                <a:lnTo>
                  <a:pt x="1874234" y="317960"/>
                </a:lnTo>
                <a:lnTo>
                  <a:pt x="1886152" y="300241"/>
                </a:lnTo>
                <a:lnTo>
                  <a:pt x="1890522" y="278511"/>
                </a:lnTo>
                <a:lnTo>
                  <a:pt x="1890522" y="55625"/>
                </a:lnTo>
                <a:lnTo>
                  <a:pt x="1886152" y="33968"/>
                </a:lnTo>
                <a:lnTo>
                  <a:pt x="1874234" y="16287"/>
                </a:lnTo>
                <a:lnTo>
                  <a:pt x="1856553" y="4369"/>
                </a:lnTo>
                <a:lnTo>
                  <a:pt x="1834895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85800" y="2751835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4">
                <a:moveTo>
                  <a:pt x="0" y="55625"/>
                </a:moveTo>
                <a:lnTo>
                  <a:pt x="4378" y="33968"/>
                </a:lnTo>
                <a:lnTo>
                  <a:pt x="16319" y="16287"/>
                </a:lnTo>
                <a:lnTo>
                  <a:pt x="34032" y="4369"/>
                </a:lnTo>
                <a:lnTo>
                  <a:pt x="55727" y="0"/>
                </a:lnTo>
                <a:lnTo>
                  <a:pt x="1834895" y="0"/>
                </a:lnTo>
                <a:lnTo>
                  <a:pt x="1856553" y="4369"/>
                </a:lnTo>
                <a:lnTo>
                  <a:pt x="1874234" y="16287"/>
                </a:lnTo>
                <a:lnTo>
                  <a:pt x="1886152" y="33968"/>
                </a:lnTo>
                <a:lnTo>
                  <a:pt x="1890522" y="55625"/>
                </a:lnTo>
                <a:lnTo>
                  <a:pt x="1890522" y="278511"/>
                </a:lnTo>
                <a:lnTo>
                  <a:pt x="1886152" y="300241"/>
                </a:lnTo>
                <a:lnTo>
                  <a:pt x="1874234" y="317960"/>
                </a:lnTo>
                <a:lnTo>
                  <a:pt x="1856553" y="329892"/>
                </a:lnTo>
                <a:lnTo>
                  <a:pt x="1834895" y="334263"/>
                </a:lnTo>
                <a:lnTo>
                  <a:pt x="55727" y="334263"/>
                </a:lnTo>
                <a:lnTo>
                  <a:pt x="34032" y="329892"/>
                </a:lnTo>
                <a:lnTo>
                  <a:pt x="16319" y="317960"/>
                </a:lnTo>
                <a:lnTo>
                  <a:pt x="4378" y="300241"/>
                </a:lnTo>
                <a:lnTo>
                  <a:pt x="0" y="278511"/>
                </a:lnTo>
                <a:lnTo>
                  <a:pt x="0" y="556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80999" y="2800350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626739" y="2751835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1834769" y="0"/>
                </a:moveTo>
                <a:lnTo>
                  <a:pt x="55752" y="0"/>
                </a:lnTo>
                <a:lnTo>
                  <a:pt x="34022" y="4369"/>
                </a:lnTo>
                <a:lnTo>
                  <a:pt x="16303" y="16287"/>
                </a:lnTo>
                <a:lnTo>
                  <a:pt x="4371" y="33968"/>
                </a:lnTo>
                <a:lnTo>
                  <a:pt x="0" y="55625"/>
                </a:lnTo>
                <a:lnTo>
                  <a:pt x="0" y="278511"/>
                </a:lnTo>
                <a:lnTo>
                  <a:pt x="4371" y="300241"/>
                </a:lnTo>
                <a:lnTo>
                  <a:pt x="16303" y="317960"/>
                </a:lnTo>
                <a:lnTo>
                  <a:pt x="34022" y="329892"/>
                </a:lnTo>
                <a:lnTo>
                  <a:pt x="55752" y="334263"/>
                </a:lnTo>
                <a:lnTo>
                  <a:pt x="1834769" y="334263"/>
                </a:lnTo>
                <a:lnTo>
                  <a:pt x="1856499" y="329892"/>
                </a:lnTo>
                <a:lnTo>
                  <a:pt x="1874218" y="317960"/>
                </a:lnTo>
                <a:lnTo>
                  <a:pt x="1886150" y="300241"/>
                </a:lnTo>
                <a:lnTo>
                  <a:pt x="1890522" y="278511"/>
                </a:lnTo>
                <a:lnTo>
                  <a:pt x="1890522" y="55625"/>
                </a:lnTo>
                <a:lnTo>
                  <a:pt x="1886150" y="33968"/>
                </a:lnTo>
                <a:lnTo>
                  <a:pt x="1874218" y="16287"/>
                </a:lnTo>
                <a:lnTo>
                  <a:pt x="1856499" y="4369"/>
                </a:lnTo>
                <a:lnTo>
                  <a:pt x="1834769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626739" y="2751835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0" y="55625"/>
                </a:moveTo>
                <a:lnTo>
                  <a:pt x="4371" y="33968"/>
                </a:lnTo>
                <a:lnTo>
                  <a:pt x="16303" y="16287"/>
                </a:lnTo>
                <a:lnTo>
                  <a:pt x="34022" y="4369"/>
                </a:lnTo>
                <a:lnTo>
                  <a:pt x="55752" y="0"/>
                </a:lnTo>
                <a:lnTo>
                  <a:pt x="1834769" y="0"/>
                </a:lnTo>
                <a:lnTo>
                  <a:pt x="1856499" y="4369"/>
                </a:lnTo>
                <a:lnTo>
                  <a:pt x="1874218" y="16287"/>
                </a:lnTo>
                <a:lnTo>
                  <a:pt x="1886150" y="33968"/>
                </a:lnTo>
                <a:lnTo>
                  <a:pt x="1890522" y="55625"/>
                </a:lnTo>
                <a:lnTo>
                  <a:pt x="1890522" y="278511"/>
                </a:lnTo>
                <a:lnTo>
                  <a:pt x="1886150" y="300241"/>
                </a:lnTo>
                <a:lnTo>
                  <a:pt x="1874218" y="317960"/>
                </a:lnTo>
                <a:lnTo>
                  <a:pt x="1856499" y="329892"/>
                </a:lnTo>
                <a:lnTo>
                  <a:pt x="1834769" y="334263"/>
                </a:lnTo>
                <a:lnTo>
                  <a:pt x="55752" y="334263"/>
                </a:lnTo>
                <a:lnTo>
                  <a:pt x="34022" y="329892"/>
                </a:lnTo>
                <a:lnTo>
                  <a:pt x="16303" y="317960"/>
                </a:lnTo>
                <a:lnTo>
                  <a:pt x="4371" y="300241"/>
                </a:lnTo>
                <a:lnTo>
                  <a:pt x="0" y="278511"/>
                </a:lnTo>
                <a:lnTo>
                  <a:pt x="0" y="556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722370" y="2800350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567678" y="2751835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1834769" y="0"/>
                </a:moveTo>
                <a:lnTo>
                  <a:pt x="55625" y="0"/>
                </a:lnTo>
                <a:lnTo>
                  <a:pt x="33968" y="4369"/>
                </a:lnTo>
                <a:lnTo>
                  <a:pt x="16287" y="16287"/>
                </a:lnTo>
                <a:lnTo>
                  <a:pt x="4369" y="33968"/>
                </a:lnTo>
                <a:lnTo>
                  <a:pt x="0" y="55625"/>
                </a:lnTo>
                <a:lnTo>
                  <a:pt x="0" y="278511"/>
                </a:lnTo>
                <a:lnTo>
                  <a:pt x="4369" y="300241"/>
                </a:lnTo>
                <a:lnTo>
                  <a:pt x="16287" y="317960"/>
                </a:lnTo>
                <a:lnTo>
                  <a:pt x="33968" y="329892"/>
                </a:lnTo>
                <a:lnTo>
                  <a:pt x="55625" y="334263"/>
                </a:lnTo>
                <a:lnTo>
                  <a:pt x="1834769" y="334263"/>
                </a:lnTo>
                <a:lnTo>
                  <a:pt x="1856499" y="329892"/>
                </a:lnTo>
                <a:lnTo>
                  <a:pt x="1874218" y="317960"/>
                </a:lnTo>
                <a:lnTo>
                  <a:pt x="1886150" y="300241"/>
                </a:lnTo>
                <a:lnTo>
                  <a:pt x="1890522" y="278511"/>
                </a:lnTo>
                <a:lnTo>
                  <a:pt x="1890522" y="55625"/>
                </a:lnTo>
                <a:lnTo>
                  <a:pt x="1886150" y="33968"/>
                </a:lnTo>
                <a:lnTo>
                  <a:pt x="1874218" y="16287"/>
                </a:lnTo>
                <a:lnTo>
                  <a:pt x="1856499" y="4369"/>
                </a:lnTo>
                <a:lnTo>
                  <a:pt x="1834769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67678" y="2751835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0" y="55625"/>
                </a:moveTo>
                <a:lnTo>
                  <a:pt x="4369" y="33968"/>
                </a:lnTo>
                <a:lnTo>
                  <a:pt x="16287" y="16287"/>
                </a:lnTo>
                <a:lnTo>
                  <a:pt x="33968" y="4369"/>
                </a:lnTo>
                <a:lnTo>
                  <a:pt x="55625" y="0"/>
                </a:lnTo>
                <a:lnTo>
                  <a:pt x="1834769" y="0"/>
                </a:lnTo>
                <a:lnTo>
                  <a:pt x="1856499" y="4369"/>
                </a:lnTo>
                <a:lnTo>
                  <a:pt x="1874218" y="16287"/>
                </a:lnTo>
                <a:lnTo>
                  <a:pt x="1886150" y="33968"/>
                </a:lnTo>
                <a:lnTo>
                  <a:pt x="1890522" y="55625"/>
                </a:lnTo>
                <a:lnTo>
                  <a:pt x="1890522" y="278511"/>
                </a:lnTo>
                <a:lnTo>
                  <a:pt x="1886150" y="300241"/>
                </a:lnTo>
                <a:lnTo>
                  <a:pt x="1874218" y="317960"/>
                </a:lnTo>
                <a:lnTo>
                  <a:pt x="1856499" y="329892"/>
                </a:lnTo>
                <a:lnTo>
                  <a:pt x="1834769" y="334263"/>
                </a:lnTo>
                <a:lnTo>
                  <a:pt x="55625" y="334263"/>
                </a:lnTo>
                <a:lnTo>
                  <a:pt x="33968" y="329892"/>
                </a:lnTo>
                <a:lnTo>
                  <a:pt x="16287" y="317960"/>
                </a:lnTo>
                <a:lnTo>
                  <a:pt x="4369" y="300241"/>
                </a:lnTo>
                <a:lnTo>
                  <a:pt x="0" y="278511"/>
                </a:lnTo>
                <a:lnTo>
                  <a:pt x="0" y="556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663690" y="2800350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77028" y="1191641"/>
            <a:ext cx="0" cy="445770"/>
          </a:xfrm>
          <a:custGeom>
            <a:avLst/>
            <a:gdLst/>
            <a:ahLst/>
            <a:cxnLst/>
            <a:rect l="l" t="t" r="r" b="b"/>
            <a:pathLst>
              <a:path h="445769">
                <a:moveTo>
                  <a:pt x="0" y="0"/>
                </a:moveTo>
                <a:lnTo>
                  <a:pt x="0" y="44577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26032" y="1414525"/>
            <a:ext cx="6092190" cy="0"/>
          </a:xfrm>
          <a:custGeom>
            <a:avLst/>
            <a:gdLst/>
            <a:ahLst/>
            <a:cxnLst/>
            <a:rect l="l" t="t" r="r" b="b"/>
            <a:pathLst>
              <a:path w="6092190">
                <a:moveTo>
                  <a:pt x="0" y="0"/>
                </a:moveTo>
                <a:lnTo>
                  <a:pt x="60919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526032" y="1414525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617968" y="1414525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526032" y="1971675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526032" y="2528951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677028" y="1971675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677028" y="2528951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617968" y="1971675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617968" y="2528951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564376" y="3019425"/>
            <a:ext cx="2427605" cy="619125"/>
          </a:xfrm>
          <a:custGeom>
            <a:avLst/>
            <a:gdLst/>
            <a:ahLst/>
            <a:cxnLst/>
            <a:rect l="l" t="t" r="r" b="b"/>
            <a:pathLst>
              <a:path w="2427604" h="619125">
                <a:moveTo>
                  <a:pt x="2360929" y="221487"/>
                </a:moveTo>
                <a:lnTo>
                  <a:pt x="763143" y="221487"/>
                </a:lnTo>
                <a:lnTo>
                  <a:pt x="737354" y="226685"/>
                </a:lnTo>
                <a:lnTo>
                  <a:pt x="716279" y="240871"/>
                </a:lnTo>
                <a:lnTo>
                  <a:pt x="702063" y="261939"/>
                </a:lnTo>
                <a:lnTo>
                  <a:pt x="696849" y="287781"/>
                </a:lnTo>
                <a:lnTo>
                  <a:pt x="696849" y="552831"/>
                </a:lnTo>
                <a:lnTo>
                  <a:pt x="702063" y="578619"/>
                </a:lnTo>
                <a:lnTo>
                  <a:pt x="716280" y="599694"/>
                </a:lnTo>
                <a:lnTo>
                  <a:pt x="737354" y="613910"/>
                </a:lnTo>
                <a:lnTo>
                  <a:pt x="763143" y="619125"/>
                </a:lnTo>
                <a:lnTo>
                  <a:pt x="2360929" y="619125"/>
                </a:lnTo>
                <a:lnTo>
                  <a:pt x="2386718" y="613910"/>
                </a:lnTo>
                <a:lnTo>
                  <a:pt x="2407793" y="599694"/>
                </a:lnTo>
                <a:lnTo>
                  <a:pt x="2422009" y="578619"/>
                </a:lnTo>
                <a:lnTo>
                  <a:pt x="2427224" y="552831"/>
                </a:lnTo>
                <a:lnTo>
                  <a:pt x="2427224" y="287781"/>
                </a:lnTo>
                <a:lnTo>
                  <a:pt x="2422009" y="261939"/>
                </a:lnTo>
                <a:lnTo>
                  <a:pt x="2407792" y="240871"/>
                </a:lnTo>
                <a:lnTo>
                  <a:pt x="2386718" y="226685"/>
                </a:lnTo>
                <a:lnTo>
                  <a:pt x="2360929" y="221487"/>
                </a:lnTo>
                <a:close/>
              </a:path>
              <a:path w="2427604" h="619125">
                <a:moveTo>
                  <a:pt x="0" y="0"/>
                </a:moveTo>
                <a:lnTo>
                  <a:pt x="985266" y="221487"/>
                </a:lnTo>
                <a:lnTo>
                  <a:pt x="1417827" y="2214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64376" y="3019425"/>
            <a:ext cx="2427605" cy="619125"/>
          </a:xfrm>
          <a:custGeom>
            <a:avLst/>
            <a:gdLst/>
            <a:ahLst/>
            <a:cxnLst/>
            <a:rect l="l" t="t" r="r" b="b"/>
            <a:pathLst>
              <a:path w="2427604" h="619125">
                <a:moveTo>
                  <a:pt x="696849" y="287781"/>
                </a:moveTo>
                <a:lnTo>
                  <a:pt x="702063" y="261939"/>
                </a:lnTo>
                <a:lnTo>
                  <a:pt x="716279" y="240871"/>
                </a:lnTo>
                <a:lnTo>
                  <a:pt x="737354" y="226685"/>
                </a:lnTo>
                <a:lnTo>
                  <a:pt x="763143" y="221487"/>
                </a:lnTo>
                <a:lnTo>
                  <a:pt x="985266" y="221487"/>
                </a:lnTo>
                <a:lnTo>
                  <a:pt x="0" y="0"/>
                </a:lnTo>
                <a:lnTo>
                  <a:pt x="1417827" y="221487"/>
                </a:lnTo>
                <a:lnTo>
                  <a:pt x="2360929" y="221487"/>
                </a:lnTo>
                <a:lnTo>
                  <a:pt x="2386718" y="226685"/>
                </a:lnTo>
                <a:lnTo>
                  <a:pt x="2407792" y="240871"/>
                </a:lnTo>
                <a:lnTo>
                  <a:pt x="2422009" y="261939"/>
                </a:lnTo>
                <a:lnTo>
                  <a:pt x="2427224" y="287781"/>
                </a:lnTo>
                <a:lnTo>
                  <a:pt x="2427224" y="387095"/>
                </a:lnTo>
                <a:lnTo>
                  <a:pt x="2427224" y="552831"/>
                </a:lnTo>
                <a:lnTo>
                  <a:pt x="2422009" y="578619"/>
                </a:lnTo>
                <a:lnTo>
                  <a:pt x="2407793" y="599694"/>
                </a:lnTo>
                <a:lnTo>
                  <a:pt x="2386718" y="613910"/>
                </a:lnTo>
                <a:lnTo>
                  <a:pt x="2360929" y="619125"/>
                </a:lnTo>
                <a:lnTo>
                  <a:pt x="1417827" y="619125"/>
                </a:lnTo>
                <a:lnTo>
                  <a:pt x="985266" y="619125"/>
                </a:lnTo>
                <a:lnTo>
                  <a:pt x="763143" y="619125"/>
                </a:lnTo>
                <a:lnTo>
                  <a:pt x="737354" y="613910"/>
                </a:lnTo>
                <a:lnTo>
                  <a:pt x="716280" y="599694"/>
                </a:lnTo>
                <a:lnTo>
                  <a:pt x="702063" y="578619"/>
                </a:lnTo>
                <a:lnTo>
                  <a:pt x="696849" y="552831"/>
                </a:lnTo>
                <a:lnTo>
                  <a:pt x="696849" y="387095"/>
                </a:lnTo>
                <a:lnTo>
                  <a:pt x="696849" y="287781"/>
                </a:lnTo>
                <a:close/>
              </a:path>
            </a:pathLst>
          </a:custGeom>
          <a:ln w="952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360411" y="3210560"/>
            <a:ext cx="1225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Arial"/>
                <a:cs typeface="Arial"/>
              </a:rPr>
              <a:t>Coordinación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360411" y="3402583"/>
            <a:ext cx="1163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Arial"/>
                <a:cs typeface="Arial"/>
              </a:rPr>
              <a:t>del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Proyecto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07340" y="3235767"/>
            <a:ext cx="7572375" cy="17945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4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155" dirty="0">
                <a:latin typeface="Arial"/>
                <a:cs typeface="Arial"/>
              </a:rPr>
              <a:t>Más </a:t>
            </a:r>
            <a:r>
              <a:rPr sz="2000" spc="-85" dirty="0">
                <a:latin typeface="Arial"/>
                <a:cs typeface="Arial"/>
              </a:rPr>
              <a:t>cercada </a:t>
            </a:r>
            <a:r>
              <a:rPr sz="2000" spc="-10" dirty="0">
                <a:latin typeface="Arial"/>
                <a:cs typeface="Arial"/>
              </a:rPr>
              <a:t>a la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funcional.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ts val="2039"/>
              </a:lnSpc>
              <a:spcBef>
                <a:spcPts val="24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175" dirty="0">
                <a:latin typeface="Arial"/>
                <a:cs typeface="Arial"/>
              </a:rPr>
              <a:t>La </a:t>
            </a:r>
            <a:r>
              <a:rPr sz="2000" spc="-155" dirty="0">
                <a:latin typeface="Arial"/>
                <a:cs typeface="Arial"/>
              </a:rPr>
              <a:t>PMO </a:t>
            </a:r>
            <a:r>
              <a:rPr sz="2000" spc="-175" dirty="0">
                <a:latin typeface="Arial"/>
                <a:cs typeface="Arial"/>
              </a:rPr>
              <a:t>no </a:t>
            </a:r>
            <a:r>
              <a:rPr sz="2000" spc="-105" dirty="0">
                <a:latin typeface="Arial"/>
                <a:cs typeface="Arial"/>
              </a:rPr>
              <a:t>existe </a:t>
            </a:r>
            <a:r>
              <a:rPr sz="2000" spc="-120" dirty="0">
                <a:latin typeface="Arial"/>
                <a:cs typeface="Arial"/>
              </a:rPr>
              <a:t>. </a:t>
            </a:r>
            <a:r>
              <a:rPr sz="2000" spc="-220" dirty="0">
                <a:latin typeface="Arial"/>
                <a:cs typeface="Arial"/>
              </a:rPr>
              <a:t>Se </a:t>
            </a:r>
            <a:r>
              <a:rPr sz="2000" spc="-120" dirty="0">
                <a:latin typeface="Arial"/>
                <a:cs typeface="Arial"/>
              </a:rPr>
              <a:t>nombra </a:t>
            </a:r>
            <a:r>
              <a:rPr sz="2000" spc="-235" dirty="0">
                <a:latin typeface="Arial"/>
                <a:cs typeface="Arial"/>
              </a:rPr>
              <a:t>un </a:t>
            </a:r>
            <a:r>
              <a:rPr sz="2000" spc="-170" dirty="0">
                <a:latin typeface="Arial"/>
                <a:cs typeface="Arial"/>
              </a:rPr>
              <a:t>GP </a:t>
            </a:r>
            <a:r>
              <a:rPr sz="2000" spc="-120" dirty="0">
                <a:latin typeface="Arial"/>
                <a:cs typeface="Arial"/>
              </a:rPr>
              <a:t>que </a:t>
            </a:r>
            <a:r>
              <a:rPr sz="2000" spc="-175" dirty="0">
                <a:latin typeface="Arial"/>
                <a:cs typeface="Arial"/>
              </a:rPr>
              <a:t>no </a:t>
            </a:r>
            <a:r>
              <a:rPr sz="2000" spc="-135" dirty="0">
                <a:latin typeface="Arial"/>
                <a:cs typeface="Arial"/>
              </a:rPr>
              <a:t>necesariamente </a:t>
            </a:r>
            <a:r>
              <a:rPr sz="2000" spc="-225" dirty="0">
                <a:latin typeface="Arial"/>
                <a:cs typeface="Arial"/>
              </a:rPr>
              <a:t>es </a:t>
            </a:r>
            <a:r>
              <a:rPr sz="2000" spc="-60" dirty="0">
                <a:latin typeface="Arial"/>
                <a:cs typeface="Arial"/>
              </a:rPr>
              <a:t>de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una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039"/>
              </a:lnSpc>
            </a:pPr>
            <a:r>
              <a:rPr sz="2000" spc="-60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áreas</a:t>
            </a:r>
            <a:endParaRPr sz="2000">
              <a:latin typeface="Arial"/>
              <a:cs typeface="Arial"/>
            </a:endParaRPr>
          </a:p>
          <a:p>
            <a:pPr marL="355600" marR="619125" indent="-342900">
              <a:lnSpc>
                <a:spcPct val="70000"/>
              </a:lnSpc>
              <a:spcBef>
                <a:spcPts val="96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265" dirty="0">
                <a:latin typeface="Arial"/>
                <a:cs typeface="Arial"/>
              </a:rPr>
              <a:t>Los </a:t>
            </a:r>
            <a:r>
              <a:rPr sz="2000" spc="-170" dirty="0">
                <a:latin typeface="Arial"/>
                <a:cs typeface="Arial"/>
              </a:rPr>
              <a:t>recursos </a:t>
            </a:r>
            <a:r>
              <a:rPr sz="2000" spc="-175" dirty="0">
                <a:latin typeface="Arial"/>
                <a:cs typeface="Arial"/>
              </a:rPr>
              <a:t>no </a:t>
            </a:r>
            <a:r>
              <a:rPr sz="2000" spc="-225" dirty="0">
                <a:latin typeface="Arial"/>
                <a:cs typeface="Arial"/>
              </a:rPr>
              <a:t>se </a:t>
            </a:r>
            <a:r>
              <a:rPr sz="2000" spc="-120" dirty="0">
                <a:latin typeface="Arial"/>
                <a:cs typeface="Arial"/>
              </a:rPr>
              <a:t>asignan </a:t>
            </a:r>
            <a:r>
              <a:rPr sz="2000" spc="-195" dirty="0">
                <a:latin typeface="Arial"/>
                <a:cs typeface="Arial"/>
              </a:rPr>
              <a:t>con </a:t>
            </a:r>
            <a:r>
              <a:rPr sz="2000" spc="-50" dirty="0">
                <a:latin typeface="Arial"/>
                <a:cs typeface="Arial"/>
              </a:rPr>
              <a:t>autoridad </a:t>
            </a:r>
            <a:r>
              <a:rPr sz="2000" spc="-45" dirty="0">
                <a:latin typeface="Arial"/>
                <a:cs typeface="Arial"/>
              </a:rPr>
              <a:t>del </a:t>
            </a:r>
            <a:r>
              <a:rPr sz="2000" spc="-240" dirty="0">
                <a:latin typeface="Arial"/>
                <a:cs typeface="Arial"/>
              </a:rPr>
              <a:t>GP. </a:t>
            </a:r>
            <a:r>
              <a:rPr sz="2000" spc="-155" dirty="0">
                <a:latin typeface="Arial"/>
                <a:cs typeface="Arial"/>
              </a:rPr>
              <a:t>Siguen </a:t>
            </a:r>
            <a:r>
              <a:rPr sz="2000" spc="-105" dirty="0">
                <a:latin typeface="Arial"/>
                <a:cs typeface="Arial"/>
              </a:rPr>
              <a:t>teniendo  </a:t>
            </a:r>
            <a:r>
              <a:rPr sz="2000" spc="-50" dirty="0">
                <a:latin typeface="Arial"/>
                <a:cs typeface="Arial"/>
              </a:rPr>
              <a:t>autoridad </a:t>
            </a:r>
            <a:r>
              <a:rPr sz="2000" spc="-60" dirty="0">
                <a:latin typeface="Arial"/>
                <a:cs typeface="Arial"/>
              </a:rPr>
              <a:t>de </a:t>
            </a:r>
            <a:r>
              <a:rPr sz="2000" spc="-285" dirty="0">
                <a:latin typeface="Arial"/>
                <a:cs typeface="Arial"/>
              </a:rPr>
              <a:t>su </a:t>
            </a:r>
            <a:r>
              <a:rPr sz="2000" spc="-30" dirty="0">
                <a:latin typeface="Arial"/>
                <a:cs typeface="Arial"/>
              </a:rPr>
              <a:t>área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funcional.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4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229" dirty="0">
                <a:latin typeface="Arial"/>
                <a:cs typeface="Arial"/>
              </a:rPr>
              <a:t>El </a:t>
            </a:r>
            <a:r>
              <a:rPr sz="2000" spc="-90" dirty="0">
                <a:latin typeface="Arial"/>
                <a:cs typeface="Arial"/>
              </a:rPr>
              <a:t>gerente </a:t>
            </a:r>
            <a:r>
              <a:rPr sz="2000" spc="-110" dirty="0">
                <a:latin typeface="Arial"/>
                <a:cs typeface="Arial"/>
              </a:rPr>
              <a:t>funcional </a:t>
            </a:r>
            <a:r>
              <a:rPr sz="2000" spc="-95" dirty="0">
                <a:latin typeface="Arial"/>
                <a:cs typeface="Arial"/>
              </a:rPr>
              <a:t>tiene </a:t>
            </a:r>
            <a:r>
              <a:rPr sz="2000" spc="-225" dirty="0">
                <a:latin typeface="Arial"/>
                <a:cs typeface="Arial"/>
              </a:rPr>
              <a:t>más </a:t>
            </a:r>
            <a:r>
              <a:rPr sz="2000" spc="-50" dirty="0">
                <a:latin typeface="Arial"/>
                <a:cs typeface="Arial"/>
              </a:rPr>
              <a:t>poder </a:t>
            </a:r>
            <a:r>
              <a:rPr sz="2000" spc="-120" dirty="0">
                <a:latin typeface="Arial"/>
                <a:cs typeface="Arial"/>
              </a:rPr>
              <a:t>que </a:t>
            </a:r>
            <a:r>
              <a:rPr sz="2000" spc="-60" dirty="0">
                <a:latin typeface="Arial"/>
                <a:cs typeface="Arial"/>
              </a:rPr>
              <a:t>el </a:t>
            </a:r>
            <a:r>
              <a:rPr sz="2000" spc="-85" dirty="0">
                <a:latin typeface="Arial"/>
                <a:cs typeface="Arial"/>
              </a:rPr>
              <a:t>Gerente </a:t>
            </a:r>
            <a:r>
              <a:rPr sz="2000" spc="-60" dirty="0">
                <a:latin typeface="Arial"/>
                <a:cs typeface="Arial"/>
              </a:rPr>
              <a:t>de</a:t>
            </a:r>
            <a:r>
              <a:rPr sz="2000" spc="16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Proyecto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5300" y="3159760"/>
            <a:ext cx="8648700" cy="259715"/>
          </a:xfrm>
          <a:custGeom>
            <a:avLst/>
            <a:gdLst/>
            <a:ahLst/>
            <a:cxnLst/>
            <a:rect l="l" t="t" r="r" b="b"/>
            <a:pathLst>
              <a:path w="8648700" h="259714">
                <a:moveTo>
                  <a:pt x="0" y="259714"/>
                </a:moveTo>
                <a:lnTo>
                  <a:pt x="26171" y="231112"/>
                </a:lnTo>
                <a:lnTo>
                  <a:pt x="71849" y="212534"/>
                </a:lnTo>
                <a:lnTo>
                  <a:pt x="120349" y="198893"/>
                </a:lnTo>
                <a:lnTo>
                  <a:pt x="159272" y="189950"/>
                </a:lnTo>
                <a:lnTo>
                  <a:pt x="203349" y="181134"/>
                </a:lnTo>
                <a:lnTo>
                  <a:pt x="252477" y="172452"/>
                </a:lnTo>
                <a:lnTo>
                  <a:pt x="306555" y="163910"/>
                </a:lnTo>
                <a:lnTo>
                  <a:pt x="365481" y="155513"/>
                </a:lnTo>
                <a:lnTo>
                  <a:pt x="429152" y="147268"/>
                </a:lnTo>
                <a:lnTo>
                  <a:pt x="497467" y="139181"/>
                </a:lnTo>
                <a:lnTo>
                  <a:pt x="570324" y="131259"/>
                </a:lnTo>
                <a:lnTo>
                  <a:pt x="608424" y="127361"/>
                </a:lnTo>
                <a:lnTo>
                  <a:pt x="647621" y="123506"/>
                </a:lnTo>
                <a:lnTo>
                  <a:pt x="687902" y="119695"/>
                </a:lnTo>
                <a:lnTo>
                  <a:pt x="729256" y="115929"/>
                </a:lnTo>
                <a:lnTo>
                  <a:pt x="771668" y="112209"/>
                </a:lnTo>
                <a:lnTo>
                  <a:pt x="815127" y="108535"/>
                </a:lnTo>
                <a:lnTo>
                  <a:pt x="859619" y="104908"/>
                </a:lnTo>
                <a:lnTo>
                  <a:pt x="905132" y="101329"/>
                </a:lnTo>
                <a:lnTo>
                  <a:pt x="951653" y="97799"/>
                </a:lnTo>
                <a:lnTo>
                  <a:pt x="999169" y="94318"/>
                </a:lnTo>
                <a:lnTo>
                  <a:pt x="1047668" y="90887"/>
                </a:lnTo>
                <a:lnTo>
                  <a:pt x="1097137" y="87507"/>
                </a:lnTo>
                <a:lnTo>
                  <a:pt x="1147562" y="84178"/>
                </a:lnTo>
                <a:lnTo>
                  <a:pt x="1198933" y="80902"/>
                </a:lnTo>
                <a:lnTo>
                  <a:pt x="1251234" y="77680"/>
                </a:lnTo>
                <a:lnTo>
                  <a:pt x="1304455" y="74511"/>
                </a:lnTo>
                <a:lnTo>
                  <a:pt x="1358582" y="71396"/>
                </a:lnTo>
                <a:lnTo>
                  <a:pt x="1413602" y="68338"/>
                </a:lnTo>
                <a:lnTo>
                  <a:pt x="1469503" y="65335"/>
                </a:lnTo>
                <a:lnTo>
                  <a:pt x="1526272" y="62390"/>
                </a:lnTo>
                <a:lnTo>
                  <a:pt x="1583896" y="59502"/>
                </a:lnTo>
                <a:lnTo>
                  <a:pt x="1642362" y="56672"/>
                </a:lnTo>
                <a:lnTo>
                  <a:pt x="1701658" y="53902"/>
                </a:lnTo>
                <a:lnTo>
                  <a:pt x="1761771" y="51192"/>
                </a:lnTo>
                <a:lnTo>
                  <a:pt x="1822688" y="48543"/>
                </a:lnTo>
                <a:lnTo>
                  <a:pt x="1884397" y="45955"/>
                </a:lnTo>
                <a:lnTo>
                  <a:pt x="1946884" y="43429"/>
                </a:lnTo>
                <a:lnTo>
                  <a:pt x="2010138" y="40967"/>
                </a:lnTo>
                <a:lnTo>
                  <a:pt x="2074144" y="38568"/>
                </a:lnTo>
                <a:lnTo>
                  <a:pt x="2138892" y="36234"/>
                </a:lnTo>
                <a:lnTo>
                  <a:pt x="2204367" y="33965"/>
                </a:lnTo>
                <a:lnTo>
                  <a:pt x="2270557" y="31762"/>
                </a:lnTo>
                <a:lnTo>
                  <a:pt x="2337449" y="29626"/>
                </a:lnTo>
                <a:lnTo>
                  <a:pt x="2405031" y="27558"/>
                </a:lnTo>
                <a:lnTo>
                  <a:pt x="2473289" y="25558"/>
                </a:lnTo>
                <a:lnTo>
                  <a:pt x="2542212" y="23627"/>
                </a:lnTo>
                <a:lnTo>
                  <a:pt x="2611786" y="21766"/>
                </a:lnTo>
                <a:lnTo>
                  <a:pt x="2681998" y="19976"/>
                </a:lnTo>
                <a:lnTo>
                  <a:pt x="2752837" y="18257"/>
                </a:lnTo>
                <a:lnTo>
                  <a:pt x="2824288" y="16610"/>
                </a:lnTo>
                <a:lnTo>
                  <a:pt x="2896340" y="15036"/>
                </a:lnTo>
                <a:lnTo>
                  <a:pt x="2968980" y="13536"/>
                </a:lnTo>
                <a:lnTo>
                  <a:pt x="3042194" y="12111"/>
                </a:lnTo>
                <a:lnTo>
                  <a:pt x="3115971" y="10760"/>
                </a:lnTo>
                <a:lnTo>
                  <a:pt x="3190296" y="9485"/>
                </a:lnTo>
                <a:lnTo>
                  <a:pt x="3265159" y="8288"/>
                </a:lnTo>
                <a:lnTo>
                  <a:pt x="3340546" y="7167"/>
                </a:lnTo>
                <a:lnTo>
                  <a:pt x="3416443" y="6125"/>
                </a:lnTo>
                <a:lnTo>
                  <a:pt x="3492839" y="5162"/>
                </a:lnTo>
                <a:lnTo>
                  <a:pt x="3569721" y="4279"/>
                </a:lnTo>
                <a:lnTo>
                  <a:pt x="3647076" y="3476"/>
                </a:lnTo>
                <a:lnTo>
                  <a:pt x="3724891" y="2754"/>
                </a:lnTo>
                <a:lnTo>
                  <a:pt x="3803153" y="2115"/>
                </a:lnTo>
                <a:lnTo>
                  <a:pt x="3881850" y="1558"/>
                </a:lnTo>
                <a:lnTo>
                  <a:pt x="3960970" y="1085"/>
                </a:lnTo>
                <a:lnTo>
                  <a:pt x="4040498" y="696"/>
                </a:lnTo>
                <a:lnTo>
                  <a:pt x="4120423" y="393"/>
                </a:lnTo>
                <a:lnTo>
                  <a:pt x="4200732" y="175"/>
                </a:lnTo>
                <a:lnTo>
                  <a:pt x="4281411" y="43"/>
                </a:lnTo>
                <a:lnTo>
                  <a:pt x="4362450" y="0"/>
                </a:lnTo>
                <a:lnTo>
                  <a:pt x="4443488" y="43"/>
                </a:lnTo>
                <a:lnTo>
                  <a:pt x="4524167" y="175"/>
                </a:lnTo>
                <a:lnTo>
                  <a:pt x="4604476" y="393"/>
                </a:lnTo>
                <a:lnTo>
                  <a:pt x="4684401" y="696"/>
                </a:lnTo>
                <a:lnTo>
                  <a:pt x="4763929" y="1085"/>
                </a:lnTo>
                <a:lnTo>
                  <a:pt x="4843049" y="1558"/>
                </a:lnTo>
                <a:lnTo>
                  <a:pt x="4921746" y="2115"/>
                </a:lnTo>
                <a:lnTo>
                  <a:pt x="5000008" y="2754"/>
                </a:lnTo>
                <a:lnTo>
                  <a:pt x="5077823" y="3476"/>
                </a:lnTo>
                <a:lnTo>
                  <a:pt x="5155178" y="4279"/>
                </a:lnTo>
                <a:lnTo>
                  <a:pt x="5232060" y="5162"/>
                </a:lnTo>
                <a:lnTo>
                  <a:pt x="5308456" y="6125"/>
                </a:lnTo>
                <a:lnTo>
                  <a:pt x="5384353" y="7167"/>
                </a:lnTo>
                <a:lnTo>
                  <a:pt x="5459740" y="8288"/>
                </a:lnTo>
                <a:lnTo>
                  <a:pt x="5534603" y="9485"/>
                </a:lnTo>
                <a:lnTo>
                  <a:pt x="5608928" y="10760"/>
                </a:lnTo>
                <a:lnTo>
                  <a:pt x="5682705" y="12111"/>
                </a:lnTo>
                <a:lnTo>
                  <a:pt x="5755919" y="13536"/>
                </a:lnTo>
                <a:lnTo>
                  <a:pt x="5828559" y="15036"/>
                </a:lnTo>
                <a:lnTo>
                  <a:pt x="5900611" y="16610"/>
                </a:lnTo>
                <a:lnTo>
                  <a:pt x="5972062" y="18257"/>
                </a:lnTo>
                <a:lnTo>
                  <a:pt x="6042901" y="19976"/>
                </a:lnTo>
                <a:lnTo>
                  <a:pt x="6113113" y="21766"/>
                </a:lnTo>
                <a:lnTo>
                  <a:pt x="6182687" y="23627"/>
                </a:lnTo>
                <a:lnTo>
                  <a:pt x="6251610" y="25558"/>
                </a:lnTo>
                <a:lnTo>
                  <a:pt x="6319868" y="27558"/>
                </a:lnTo>
                <a:lnTo>
                  <a:pt x="6387450" y="29626"/>
                </a:lnTo>
                <a:lnTo>
                  <a:pt x="6454342" y="31762"/>
                </a:lnTo>
                <a:lnTo>
                  <a:pt x="6520532" y="33965"/>
                </a:lnTo>
                <a:lnTo>
                  <a:pt x="6586007" y="36234"/>
                </a:lnTo>
                <a:lnTo>
                  <a:pt x="6650755" y="38568"/>
                </a:lnTo>
                <a:lnTo>
                  <a:pt x="6714761" y="40967"/>
                </a:lnTo>
                <a:lnTo>
                  <a:pt x="6778015" y="43429"/>
                </a:lnTo>
                <a:lnTo>
                  <a:pt x="6840502" y="45955"/>
                </a:lnTo>
                <a:lnTo>
                  <a:pt x="6902211" y="48543"/>
                </a:lnTo>
                <a:lnTo>
                  <a:pt x="6963128" y="51192"/>
                </a:lnTo>
                <a:lnTo>
                  <a:pt x="7023241" y="53902"/>
                </a:lnTo>
                <a:lnTo>
                  <a:pt x="7082537" y="56672"/>
                </a:lnTo>
                <a:lnTo>
                  <a:pt x="7141003" y="59502"/>
                </a:lnTo>
                <a:lnTo>
                  <a:pt x="7198627" y="62390"/>
                </a:lnTo>
                <a:lnTo>
                  <a:pt x="7255396" y="65335"/>
                </a:lnTo>
                <a:lnTo>
                  <a:pt x="7311297" y="68338"/>
                </a:lnTo>
                <a:lnTo>
                  <a:pt x="7366317" y="71396"/>
                </a:lnTo>
                <a:lnTo>
                  <a:pt x="7420444" y="74511"/>
                </a:lnTo>
                <a:lnTo>
                  <a:pt x="7473665" y="77680"/>
                </a:lnTo>
                <a:lnTo>
                  <a:pt x="7525966" y="80902"/>
                </a:lnTo>
                <a:lnTo>
                  <a:pt x="7577337" y="84178"/>
                </a:lnTo>
                <a:lnTo>
                  <a:pt x="7627762" y="87507"/>
                </a:lnTo>
                <a:lnTo>
                  <a:pt x="7677231" y="90887"/>
                </a:lnTo>
                <a:lnTo>
                  <a:pt x="7725730" y="94318"/>
                </a:lnTo>
                <a:lnTo>
                  <a:pt x="7773246" y="97799"/>
                </a:lnTo>
                <a:lnTo>
                  <a:pt x="7819767" y="101329"/>
                </a:lnTo>
                <a:lnTo>
                  <a:pt x="7865280" y="104908"/>
                </a:lnTo>
                <a:lnTo>
                  <a:pt x="7909772" y="108535"/>
                </a:lnTo>
                <a:lnTo>
                  <a:pt x="7953231" y="112209"/>
                </a:lnTo>
                <a:lnTo>
                  <a:pt x="7995643" y="115929"/>
                </a:lnTo>
                <a:lnTo>
                  <a:pt x="8036997" y="119695"/>
                </a:lnTo>
                <a:lnTo>
                  <a:pt x="8077278" y="123506"/>
                </a:lnTo>
                <a:lnTo>
                  <a:pt x="8116475" y="127361"/>
                </a:lnTo>
                <a:lnTo>
                  <a:pt x="8154575" y="131259"/>
                </a:lnTo>
                <a:lnTo>
                  <a:pt x="8227432" y="139181"/>
                </a:lnTo>
                <a:lnTo>
                  <a:pt x="8295747" y="147268"/>
                </a:lnTo>
                <a:lnTo>
                  <a:pt x="8359418" y="155513"/>
                </a:lnTo>
                <a:lnTo>
                  <a:pt x="8418344" y="163910"/>
                </a:lnTo>
                <a:lnTo>
                  <a:pt x="8472422" y="172452"/>
                </a:lnTo>
                <a:lnTo>
                  <a:pt x="8521550" y="181134"/>
                </a:lnTo>
                <a:lnTo>
                  <a:pt x="8565627" y="189950"/>
                </a:lnTo>
                <a:lnTo>
                  <a:pt x="8604550" y="198893"/>
                </a:lnTo>
                <a:lnTo>
                  <a:pt x="8638218" y="207958"/>
                </a:lnTo>
                <a:lnTo>
                  <a:pt x="8648699" y="211192"/>
                </a:lnTo>
              </a:path>
            </a:pathLst>
          </a:custGeom>
          <a:ln w="31750">
            <a:solidFill>
              <a:srgbClr val="8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95300" y="3419475"/>
            <a:ext cx="8648700" cy="259715"/>
          </a:xfrm>
          <a:custGeom>
            <a:avLst/>
            <a:gdLst/>
            <a:ahLst/>
            <a:cxnLst/>
            <a:rect l="l" t="t" r="r" b="b"/>
            <a:pathLst>
              <a:path w="8648700" h="259714">
                <a:moveTo>
                  <a:pt x="8648699" y="48522"/>
                </a:moveTo>
                <a:lnTo>
                  <a:pt x="8604550" y="60821"/>
                </a:lnTo>
                <a:lnTo>
                  <a:pt x="8565627" y="69764"/>
                </a:lnTo>
                <a:lnTo>
                  <a:pt x="8521550" y="78580"/>
                </a:lnTo>
                <a:lnTo>
                  <a:pt x="8472422" y="87262"/>
                </a:lnTo>
                <a:lnTo>
                  <a:pt x="8418344" y="95804"/>
                </a:lnTo>
                <a:lnTo>
                  <a:pt x="8359418" y="104201"/>
                </a:lnTo>
                <a:lnTo>
                  <a:pt x="8295747" y="112446"/>
                </a:lnTo>
                <a:lnTo>
                  <a:pt x="8227432" y="120533"/>
                </a:lnTo>
                <a:lnTo>
                  <a:pt x="8154575" y="128455"/>
                </a:lnTo>
                <a:lnTo>
                  <a:pt x="8116475" y="132353"/>
                </a:lnTo>
                <a:lnTo>
                  <a:pt x="8077278" y="136208"/>
                </a:lnTo>
                <a:lnTo>
                  <a:pt x="8036997" y="140019"/>
                </a:lnTo>
                <a:lnTo>
                  <a:pt x="7995643" y="143785"/>
                </a:lnTo>
                <a:lnTo>
                  <a:pt x="7953231" y="147505"/>
                </a:lnTo>
                <a:lnTo>
                  <a:pt x="7909772" y="151179"/>
                </a:lnTo>
                <a:lnTo>
                  <a:pt x="7865280" y="154806"/>
                </a:lnTo>
                <a:lnTo>
                  <a:pt x="7819767" y="158385"/>
                </a:lnTo>
                <a:lnTo>
                  <a:pt x="7773246" y="161915"/>
                </a:lnTo>
                <a:lnTo>
                  <a:pt x="7725730" y="165396"/>
                </a:lnTo>
                <a:lnTo>
                  <a:pt x="7677231" y="168827"/>
                </a:lnTo>
                <a:lnTo>
                  <a:pt x="7627762" y="172207"/>
                </a:lnTo>
                <a:lnTo>
                  <a:pt x="7577337" y="175536"/>
                </a:lnTo>
                <a:lnTo>
                  <a:pt x="7525966" y="178812"/>
                </a:lnTo>
                <a:lnTo>
                  <a:pt x="7473665" y="182034"/>
                </a:lnTo>
                <a:lnTo>
                  <a:pt x="7420444" y="185203"/>
                </a:lnTo>
                <a:lnTo>
                  <a:pt x="7366317" y="188318"/>
                </a:lnTo>
                <a:lnTo>
                  <a:pt x="7311297" y="191376"/>
                </a:lnTo>
                <a:lnTo>
                  <a:pt x="7255396" y="194379"/>
                </a:lnTo>
                <a:lnTo>
                  <a:pt x="7198627" y="197324"/>
                </a:lnTo>
                <a:lnTo>
                  <a:pt x="7141003" y="200212"/>
                </a:lnTo>
                <a:lnTo>
                  <a:pt x="7082537" y="203042"/>
                </a:lnTo>
                <a:lnTo>
                  <a:pt x="7023241" y="205812"/>
                </a:lnTo>
                <a:lnTo>
                  <a:pt x="6963128" y="208522"/>
                </a:lnTo>
                <a:lnTo>
                  <a:pt x="6902211" y="211171"/>
                </a:lnTo>
                <a:lnTo>
                  <a:pt x="6840502" y="213759"/>
                </a:lnTo>
                <a:lnTo>
                  <a:pt x="6778015" y="216285"/>
                </a:lnTo>
                <a:lnTo>
                  <a:pt x="6714761" y="218747"/>
                </a:lnTo>
                <a:lnTo>
                  <a:pt x="6650755" y="221146"/>
                </a:lnTo>
                <a:lnTo>
                  <a:pt x="6586007" y="223480"/>
                </a:lnTo>
                <a:lnTo>
                  <a:pt x="6520532" y="225749"/>
                </a:lnTo>
                <a:lnTo>
                  <a:pt x="6454342" y="227952"/>
                </a:lnTo>
                <a:lnTo>
                  <a:pt x="6387450" y="230088"/>
                </a:lnTo>
                <a:lnTo>
                  <a:pt x="6319868" y="232156"/>
                </a:lnTo>
                <a:lnTo>
                  <a:pt x="6251610" y="234156"/>
                </a:lnTo>
                <a:lnTo>
                  <a:pt x="6182687" y="236087"/>
                </a:lnTo>
                <a:lnTo>
                  <a:pt x="6113113" y="237948"/>
                </a:lnTo>
                <a:lnTo>
                  <a:pt x="6042901" y="239738"/>
                </a:lnTo>
                <a:lnTo>
                  <a:pt x="5972062" y="241457"/>
                </a:lnTo>
                <a:lnTo>
                  <a:pt x="5900611" y="243104"/>
                </a:lnTo>
                <a:lnTo>
                  <a:pt x="5828559" y="244678"/>
                </a:lnTo>
                <a:lnTo>
                  <a:pt x="5755919" y="246178"/>
                </a:lnTo>
                <a:lnTo>
                  <a:pt x="5682705" y="247603"/>
                </a:lnTo>
                <a:lnTo>
                  <a:pt x="5608928" y="248954"/>
                </a:lnTo>
                <a:lnTo>
                  <a:pt x="5534603" y="250229"/>
                </a:lnTo>
                <a:lnTo>
                  <a:pt x="5459740" y="251426"/>
                </a:lnTo>
                <a:lnTo>
                  <a:pt x="5384353" y="252547"/>
                </a:lnTo>
                <a:lnTo>
                  <a:pt x="5308456" y="253589"/>
                </a:lnTo>
                <a:lnTo>
                  <a:pt x="5232060" y="254552"/>
                </a:lnTo>
                <a:lnTo>
                  <a:pt x="5155178" y="255435"/>
                </a:lnTo>
                <a:lnTo>
                  <a:pt x="5077823" y="256238"/>
                </a:lnTo>
                <a:lnTo>
                  <a:pt x="5000008" y="256960"/>
                </a:lnTo>
                <a:lnTo>
                  <a:pt x="4921746" y="257599"/>
                </a:lnTo>
                <a:lnTo>
                  <a:pt x="4843049" y="258156"/>
                </a:lnTo>
                <a:lnTo>
                  <a:pt x="4763929" y="258629"/>
                </a:lnTo>
                <a:lnTo>
                  <a:pt x="4684401" y="259018"/>
                </a:lnTo>
                <a:lnTo>
                  <a:pt x="4604476" y="259321"/>
                </a:lnTo>
                <a:lnTo>
                  <a:pt x="4524167" y="259539"/>
                </a:lnTo>
                <a:lnTo>
                  <a:pt x="4443488" y="259671"/>
                </a:lnTo>
                <a:lnTo>
                  <a:pt x="4362450" y="259715"/>
                </a:lnTo>
                <a:lnTo>
                  <a:pt x="4281411" y="259671"/>
                </a:lnTo>
                <a:lnTo>
                  <a:pt x="4200732" y="259539"/>
                </a:lnTo>
                <a:lnTo>
                  <a:pt x="4120423" y="259321"/>
                </a:lnTo>
                <a:lnTo>
                  <a:pt x="4040498" y="259018"/>
                </a:lnTo>
                <a:lnTo>
                  <a:pt x="3960970" y="258629"/>
                </a:lnTo>
                <a:lnTo>
                  <a:pt x="3881850" y="258156"/>
                </a:lnTo>
                <a:lnTo>
                  <a:pt x="3803153" y="257599"/>
                </a:lnTo>
                <a:lnTo>
                  <a:pt x="3724891" y="256960"/>
                </a:lnTo>
                <a:lnTo>
                  <a:pt x="3647076" y="256238"/>
                </a:lnTo>
                <a:lnTo>
                  <a:pt x="3569721" y="255435"/>
                </a:lnTo>
                <a:lnTo>
                  <a:pt x="3492839" y="254552"/>
                </a:lnTo>
                <a:lnTo>
                  <a:pt x="3416443" y="253589"/>
                </a:lnTo>
                <a:lnTo>
                  <a:pt x="3340546" y="252547"/>
                </a:lnTo>
                <a:lnTo>
                  <a:pt x="3265159" y="251426"/>
                </a:lnTo>
                <a:lnTo>
                  <a:pt x="3190296" y="250229"/>
                </a:lnTo>
                <a:lnTo>
                  <a:pt x="3115971" y="248954"/>
                </a:lnTo>
                <a:lnTo>
                  <a:pt x="3042194" y="247603"/>
                </a:lnTo>
                <a:lnTo>
                  <a:pt x="2968980" y="246178"/>
                </a:lnTo>
                <a:lnTo>
                  <a:pt x="2896340" y="244678"/>
                </a:lnTo>
                <a:lnTo>
                  <a:pt x="2824288" y="243104"/>
                </a:lnTo>
                <a:lnTo>
                  <a:pt x="2752837" y="241457"/>
                </a:lnTo>
                <a:lnTo>
                  <a:pt x="2681998" y="239738"/>
                </a:lnTo>
                <a:lnTo>
                  <a:pt x="2611786" y="237948"/>
                </a:lnTo>
                <a:lnTo>
                  <a:pt x="2542212" y="236087"/>
                </a:lnTo>
                <a:lnTo>
                  <a:pt x="2473289" y="234156"/>
                </a:lnTo>
                <a:lnTo>
                  <a:pt x="2405031" y="232156"/>
                </a:lnTo>
                <a:lnTo>
                  <a:pt x="2337449" y="230088"/>
                </a:lnTo>
                <a:lnTo>
                  <a:pt x="2270557" y="227952"/>
                </a:lnTo>
                <a:lnTo>
                  <a:pt x="2204367" y="225749"/>
                </a:lnTo>
                <a:lnTo>
                  <a:pt x="2138892" y="223480"/>
                </a:lnTo>
                <a:lnTo>
                  <a:pt x="2074144" y="221146"/>
                </a:lnTo>
                <a:lnTo>
                  <a:pt x="2010138" y="218747"/>
                </a:lnTo>
                <a:lnTo>
                  <a:pt x="1946884" y="216285"/>
                </a:lnTo>
                <a:lnTo>
                  <a:pt x="1884397" y="213759"/>
                </a:lnTo>
                <a:lnTo>
                  <a:pt x="1822688" y="211171"/>
                </a:lnTo>
                <a:lnTo>
                  <a:pt x="1761771" y="208522"/>
                </a:lnTo>
                <a:lnTo>
                  <a:pt x="1701658" y="205812"/>
                </a:lnTo>
                <a:lnTo>
                  <a:pt x="1642362" y="203042"/>
                </a:lnTo>
                <a:lnTo>
                  <a:pt x="1583896" y="200212"/>
                </a:lnTo>
                <a:lnTo>
                  <a:pt x="1526272" y="197324"/>
                </a:lnTo>
                <a:lnTo>
                  <a:pt x="1469503" y="194379"/>
                </a:lnTo>
                <a:lnTo>
                  <a:pt x="1413602" y="191376"/>
                </a:lnTo>
                <a:lnTo>
                  <a:pt x="1358582" y="188318"/>
                </a:lnTo>
                <a:lnTo>
                  <a:pt x="1304455" y="185203"/>
                </a:lnTo>
                <a:lnTo>
                  <a:pt x="1251234" y="182034"/>
                </a:lnTo>
                <a:lnTo>
                  <a:pt x="1198933" y="178812"/>
                </a:lnTo>
                <a:lnTo>
                  <a:pt x="1147562" y="175536"/>
                </a:lnTo>
                <a:lnTo>
                  <a:pt x="1097137" y="172207"/>
                </a:lnTo>
                <a:lnTo>
                  <a:pt x="1047668" y="168827"/>
                </a:lnTo>
                <a:lnTo>
                  <a:pt x="999169" y="165396"/>
                </a:lnTo>
                <a:lnTo>
                  <a:pt x="951653" y="161915"/>
                </a:lnTo>
                <a:lnTo>
                  <a:pt x="905132" y="158385"/>
                </a:lnTo>
                <a:lnTo>
                  <a:pt x="859619" y="154806"/>
                </a:lnTo>
                <a:lnTo>
                  <a:pt x="815127" y="151179"/>
                </a:lnTo>
                <a:lnTo>
                  <a:pt x="771668" y="147505"/>
                </a:lnTo>
                <a:lnTo>
                  <a:pt x="729256" y="143785"/>
                </a:lnTo>
                <a:lnTo>
                  <a:pt x="687902" y="140019"/>
                </a:lnTo>
                <a:lnTo>
                  <a:pt x="647621" y="136208"/>
                </a:lnTo>
                <a:lnTo>
                  <a:pt x="608424" y="132353"/>
                </a:lnTo>
                <a:lnTo>
                  <a:pt x="570324" y="128455"/>
                </a:lnTo>
                <a:lnTo>
                  <a:pt x="497467" y="120533"/>
                </a:lnTo>
                <a:lnTo>
                  <a:pt x="429152" y="112446"/>
                </a:lnTo>
                <a:lnTo>
                  <a:pt x="365481" y="104201"/>
                </a:lnTo>
                <a:lnTo>
                  <a:pt x="306555" y="95804"/>
                </a:lnTo>
                <a:lnTo>
                  <a:pt x="252477" y="87262"/>
                </a:lnTo>
                <a:lnTo>
                  <a:pt x="203349" y="78580"/>
                </a:lnTo>
                <a:lnTo>
                  <a:pt x="159272" y="69764"/>
                </a:lnTo>
                <a:lnTo>
                  <a:pt x="120349" y="60821"/>
                </a:lnTo>
                <a:lnTo>
                  <a:pt x="71849" y="47180"/>
                </a:lnTo>
                <a:lnTo>
                  <a:pt x="35518" y="33286"/>
                </a:lnTo>
                <a:lnTo>
                  <a:pt x="2941" y="9624"/>
                </a:lnTo>
                <a:lnTo>
                  <a:pt x="737" y="4822"/>
                </a:lnTo>
                <a:lnTo>
                  <a:pt x="0" y="0"/>
                </a:lnTo>
              </a:path>
            </a:pathLst>
          </a:custGeom>
          <a:ln w="31750">
            <a:solidFill>
              <a:srgbClr val="8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76" y="371475"/>
            <a:ext cx="229870" cy="459740"/>
          </a:xfrm>
          <a:custGeom>
            <a:avLst/>
            <a:gdLst/>
            <a:ahLst/>
            <a:cxnLst/>
            <a:rect l="l" t="t" r="r" b="b"/>
            <a:pathLst>
              <a:path w="229870" h="459740">
                <a:moveTo>
                  <a:pt x="229792" y="0"/>
                </a:moveTo>
                <a:lnTo>
                  <a:pt x="183481" y="4667"/>
                </a:lnTo>
                <a:lnTo>
                  <a:pt x="140346" y="18055"/>
                </a:lnTo>
                <a:lnTo>
                  <a:pt x="101312" y="39239"/>
                </a:lnTo>
                <a:lnTo>
                  <a:pt x="67304" y="67294"/>
                </a:lnTo>
                <a:lnTo>
                  <a:pt x="39244" y="101296"/>
                </a:lnTo>
                <a:lnTo>
                  <a:pt x="18058" y="140321"/>
                </a:lnTo>
                <a:lnTo>
                  <a:pt x="4668" y="183444"/>
                </a:lnTo>
                <a:lnTo>
                  <a:pt x="0" y="229742"/>
                </a:lnTo>
                <a:lnTo>
                  <a:pt x="4668" y="276083"/>
                </a:lnTo>
                <a:lnTo>
                  <a:pt x="18058" y="319238"/>
                </a:lnTo>
                <a:lnTo>
                  <a:pt x="39244" y="358285"/>
                </a:lnTo>
                <a:lnTo>
                  <a:pt x="67304" y="392302"/>
                </a:lnTo>
                <a:lnTo>
                  <a:pt x="101312" y="420367"/>
                </a:lnTo>
                <a:lnTo>
                  <a:pt x="140346" y="441555"/>
                </a:lnTo>
                <a:lnTo>
                  <a:pt x="183481" y="454944"/>
                </a:lnTo>
                <a:lnTo>
                  <a:pt x="229792" y="459613"/>
                </a:lnTo>
                <a:lnTo>
                  <a:pt x="229792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2968" y="371513"/>
            <a:ext cx="8911590" cy="459740"/>
          </a:xfrm>
          <a:custGeom>
            <a:avLst/>
            <a:gdLst/>
            <a:ahLst/>
            <a:cxnLst/>
            <a:rect l="l" t="t" r="r" b="b"/>
            <a:pathLst>
              <a:path w="8911590" h="459740">
                <a:moveTo>
                  <a:pt x="0" y="459574"/>
                </a:moveTo>
                <a:lnTo>
                  <a:pt x="8911082" y="459574"/>
                </a:lnTo>
                <a:lnTo>
                  <a:pt x="8911082" y="0"/>
                </a:lnTo>
                <a:lnTo>
                  <a:pt x="0" y="0"/>
                </a:lnTo>
                <a:lnTo>
                  <a:pt x="0" y="459574"/>
                </a:lnTo>
                <a:close/>
              </a:path>
            </a:pathLst>
          </a:custGeom>
          <a:ln w="19050">
            <a:solidFill>
              <a:srgbClr val="2CA1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55722" y="381761"/>
            <a:ext cx="36639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0" spc="-110" dirty="0">
                <a:solidFill>
                  <a:srgbClr val="000000"/>
                </a:solidFill>
                <a:latin typeface="Arial"/>
                <a:cs typeface="Arial"/>
              </a:rPr>
              <a:t>Matricial </a:t>
            </a:r>
            <a:r>
              <a:rPr sz="2200" i="0" spc="-175" dirty="0">
                <a:solidFill>
                  <a:srgbClr val="000000"/>
                </a:solidFill>
                <a:latin typeface="Arial"/>
                <a:cs typeface="Arial"/>
              </a:rPr>
              <a:t>Fuerte </a:t>
            </a:r>
            <a:r>
              <a:rPr sz="2200" i="0" spc="175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sz="2200" i="0" spc="-2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i="0" spc="-145" dirty="0">
                <a:solidFill>
                  <a:srgbClr val="000000"/>
                </a:solidFill>
                <a:latin typeface="Arial"/>
                <a:cs typeface="Arial"/>
              </a:rPr>
              <a:t>proyectizada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72351" y="2099055"/>
            <a:ext cx="1890649" cy="33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72351" y="2099055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0" y="55752"/>
                </a:moveTo>
                <a:lnTo>
                  <a:pt x="4371" y="34075"/>
                </a:lnTo>
                <a:lnTo>
                  <a:pt x="16303" y="16351"/>
                </a:lnTo>
                <a:lnTo>
                  <a:pt x="34022" y="4389"/>
                </a:lnTo>
                <a:lnTo>
                  <a:pt x="55752" y="0"/>
                </a:lnTo>
                <a:lnTo>
                  <a:pt x="1834896" y="0"/>
                </a:lnTo>
                <a:lnTo>
                  <a:pt x="1856573" y="4389"/>
                </a:lnTo>
                <a:lnTo>
                  <a:pt x="1874297" y="16351"/>
                </a:lnTo>
                <a:lnTo>
                  <a:pt x="1886259" y="34075"/>
                </a:lnTo>
                <a:lnTo>
                  <a:pt x="1890649" y="55752"/>
                </a:lnTo>
                <a:lnTo>
                  <a:pt x="1890649" y="278764"/>
                </a:lnTo>
                <a:lnTo>
                  <a:pt x="1886259" y="300515"/>
                </a:lnTo>
                <a:lnTo>
                  <a:pt x="1874297" y="318277"/>
                </a:lnTo>
                <a:lnTo>
                  <a:pt x="1856573" y="330253"/>
                </a:lnTo>
                <a:lnTo>
                  <a:pt x="1834896" y="334644"/>
                </a:lnTo>
                <a:lnTo>
                  <a:pt x="55752" y="334644"/>
                </a:lnTo>
                <a:lnTo>
                  <a:pt x="34022" y="330253"/>
                </a:lnTo>
                <a:lnTo>
                  <a:pt x="16303" y="318277"/>
                </a:lnTo>
                <a:lnTo>
                  <a:pt x="4371" y="300515"/>
                </a:lnTo>
                <a:lnTo>
                  <a:pt x="0" y="278764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68490" y="2147442"/>
            <a:ext cx="3797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ahoma"/>
                <a:cs typeface="Tahoma"/>
              </a:rPr>
              <a:t>P</a:t>
            </a:r>
            <a:r>
              <a:rPr sz="1200" b="1" spc="-5" dirty="0">
                <a:latin typeface="Tahoma"/>
                <a:cs typeface="Tahoma"/>
              </a:rPr>
              <a:t>MO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6300" y="2099055"/>
            <a:ext cx="1890776" cy="334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6300" y="2099055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4">
                <a:moveTo>
                  <a:pt x="0" y="55752"/>
                </a:moveTo>
                <a:lnTo>
                  <a:pt x="4382" y="34075"/>
                </a:lnTo>
                <a:lnTo>
                  <a:pt x="16333" y="16351"/>
                </a:lnTo>
                <a:lnTo>
                  <a:pt x="34059" y="4389"/>
                </a:lnTo>
                <a:lnTo>
                  <a:pt x="55765" y="0"/>
                </a:lnTo>
                <a:lnTo>
                  <a:pt x="1834895" y="0"/>
                </a:lnTo>
                <a:lnTo>
                  <a:pt x="1856646" y="4389"/>
                </a:lnTo>
                <a:lnTo>
                  <a:pt x="1874408" y="16351"/>
                </a:lnTo>
                <a:lnTo>
                  <a:pt x="1886384" y="34075"/>
                </a:lnTo>
                <a:lnTo>
                  <a:pt x="1890776" y="55752"/>
                </a:lnTo>
                <a:lnTo>
                  <a:pt x="1890776" y="278764"/>
                </a:lnTo>
                <a:lnTo>
                  <a:pt x="1886384" y="300515"/>
                </a:lnTo>
                <a:lnTo>
                  <a:pt x="1874408" y="318277"/>
                </a:lnTo>
                <a:lnTo>
                  <a:pt x="1856646" y="330253"/>
                </a:lnTo>
                <a:lnTo>
                  <a:pt x="1834895" y="334644"/>
                </a:lnTo>
                <a:lnTo>
                  <a:pt x="55765" y="334644"/>
                </a:lnTo>
                <a:lnTo>
                  <a:pt x="34059" y="330253"/>
                </a:lnTo>
                <a:lnTo>
                  <a:pt x="16333" y="318277"/>
                </a:lnTo>
                <a:lnTo>
                  <a:pt x="4382" y="300515"/>
                </a:lnTo>
                <a:lnTo>
                  <a:pt x="0" y="278764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71499" y="2147442"/>
            <a:ext cx="1416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Area </a:t>
            </a:r>
            <a:r>
              <a:rPr sz="1200" b="1" dirty="0">
                <a:latin typeface="Tahoma"/>
                <a:cs typeface="Tahoma"/>
              </a:rPr>
              <a:t>1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Producción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65501" y="2099055"/>
            <a:ext cx="1889125" cy="3346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65501" y="2099055"/>
            <a:ext cx="1889125" cy="334645"/>
          </a:xfrm>
          <a:custGeom>
            <a:avLst/>
            <a:gdLst/>
            <a:ahLst/>
            <a:cxnLst/>
            <a:rect l="l" t="t" r="r" b="b"/>
            <a:pathLst>
              <a:path w="1889125" h="334644">
                <a:moveTo>
                  <a:pt x="0" y="55752"/>
                </a:moveTo>
                <a:lnTo>
                  <a:pt x="4371" y="34075"/>
                </a:lnTo>
                <a:lnTo>
                  <a:pt x="16303" y="16351"/>
                </a:lnTo>
                <a:lnTo>
                  <a:pt x="34022" y="4389"/>
                </a:lnTo>
                <a:lnTo>
                  <a:pt x="55753" y="0"/>
                </a:lnTo>
                <a:lnTo>
                  <a:pt x="1833245" y="0"/>
                </a:lnTo>
                <a:lnTo>
                  <a:pt x="1854995" y="4389"/>
                </a:lnTo>
                <a:lnTo>
                  <a:pt x="1872757" y="16351"/>
                </a:lnTo>
                <a:lnTo>
                  <a:pt x="1884733" y="34075"/>
                </a:lnTo>
                <a:lnTo>
                  <a:pt x="1889125" y="55752"/>
                </a:lnTo>
                <a:lnTo>
                  <a:pt x="1889125" y="278764"/>
                </a:lnTo>
                <a:lnTo>
                  <a:pt x="1884733" y="300515"/>
                </a:lnTo>
                <a:lnTo>
                  <a:pt x="1872757" y="318277"/>
                </a:lnTo>
                <a:lnTo>
                  <a:pt x="1854995" y="330253"/>
                </a:lnTo>
                <a:lnTo>
                  <a:pt x="1833245" y="334644"/>
                </a:lnTo>
                <a:lnTo>
                  <a:pt x="55753" y="334644"/>
                </a:lnTo>
                <a:lnTo>
                  <a:pt x="34022" y="330253"/>
                </a:lnTo>
                <a:lnTo>
                  <a:pt x="16303" y="318277"/>
                </a:lnTo>
                <a:lnTo>
                  <a:pt x="4371" y="300515"/>
                </a:lnTo>
                <a:lnTo>
                  <a:pt x="0" y="278764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60877" y="2147442"/>
            <a:ext cx="1355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Area </a:t>
            </a:r>
            <a:r>
              <a:rPr sz="1200" b="1" dirty="0">
                <a:latin typeface="Tahoma"/>
                <a:cs typeface="Tahoma"/>
              </a:rPr>
              <a:t>2</a:t>
            </a:r>
            <a:r>
              <a:rPr sz="1200" b="1" spc="-7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Ingenieria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76300" y="2656332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4">
                <a:moveTo>
                  <a:pt x="1834895" y="0"/>
                </a:moveTo>
                <a:lnTo>
                  <a:pt x="55765" y="0"/>
                </a:lnTo>
                <a:lnTo>
                  <a:pt x="34059" y="4371"/>
                </a:lnTo>
                <a:lnTo>
                  <a:pt x="16333" y="16303"/>
                </a:lnTo>
                <a:lnTo>
                  <a:pt x="4382" y="34022"/>
                </a:lnTo>
                <a:lnTo>
                  <a:pt x="0" y="55753"/>
                </a:lnTo>
                <a:lnTo>
                  <a:pt x="0" y="278765"/>
                </a:lnTo>
                <a:lnTo>
                  <a:pt x="4382" y="300442"/>
                </a:lnTo>
                <a:lnTo>
                  <a:pt x="16333" y="318166"/>
                </a:lnTo>
                <a:lnTo>
                  <a:pt x="34059" y="330128"/>
                </a:lnTo>
                <a:lnTo>
                  <a:pt x="55765" y="334518"/>
                </a:lnTo>
                <a:lnTo>
                  <a:pt x="1834895" y="334518"/>
                </a:lnTo>
                <a:lnTo>
                  <a:pt x="1856646" y="330128"/>
                </a:lnTo>
                <a:lnTo>
                  <a:pt x="1874408" y="318166"/>
                </a:lnTo>
                <a:lnTo>
                  <a:pt x="1886384" y="300442"/>
                </a:lnTo>
                <a:lnTo>
                  <a:pt x="1890776" y="278765"/>
                </a:lnTo>
                <a:lnTo>
                  <a:pt x="1890776" y="55753"/>
                </a:lnTo>
                <a:lnTo>
                  <a:pt x="1886384" y="34022"/>
                </a:lnTo>
                <a:lnTo>
                  <a:pt x="1874408" y="16303"/>
                </a:lnTo>
                <a:lnTo>
                  <a:pt x="1856646" y="4371"/>
                </a:lnTo>
                <a:lnTo>
                  <a:pt x="1834895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76300" y="2656332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4">
                <a:moveTo>
                  <a:pt x="0" y="55753"/>
                </a:moveTo>
                <a:lnTo>
                  <a:pt x="4382" y="34022"/>
                </a:lnTo>
                <a:lnTo>
                  <a:pt x="16333" y="16303"/>
                </a:lnTo>
                <a:lnTo>
                  <a:pt x="34059" y="4371"/>
                </a:lnTo>
                <a:lnTo>
                  <a:pt x="55765" y="0"/>
                </a:lnTo>
                <a:lnTo>
                  <a:pt x="1834895" y="0"/>
                </a:lnTo>
                <a:lnTo>
                  <a:pt x="1856646" y="4371"/>
                </a:lnTo>
                <a:lnTo>
                  <a:pt x="1874408" y="16303"/>
                </a:lnTo>
                <a:lnTo>
                  <a:pt x="1886384" y="34022"/>
                </a:lnTo>
                <a:lnTo>
                  <a:pt x="1890776" y="55753"/>
                </a:lnTo>
                <a:lnTo>
                  <a:pt x="1890776" y="278765"/>
                </a:lnTo>
                <a:lnTo>
                  <a:pt x="1886384" y="300442"/>
                </a:lnTo>
                <a:lnTo>
                  <a:pt x="1874408" y="318166"/>
                </a:lnTo>
                <a:lnTo>
                  <a:pt x="1856646" y="330128"/>
                </a:lnTo>
                <a:lnTo>
                  <a:pt x="1834895" y="334518"/>
                </a:lnTo>
                <a:lnTo>
                  <a:pt x="55765" y="334518"/>
                </a:lnTo>
                <a:lnTo>
                  <a:pt x="34059" y="330128"/>
                </a:lnTo>
                <a:lnTo>
                  <a:pt x="16333" y="318166"/>
                </a:lnTo>
                <a:lnTo>
                  <a:pt x="4382" y="300442"/>
                </a:lnTo>
                <a:lnTo>
                  <a:pt x="0" y="278765"/>
                </a:lnTo>
                <a:lnTo>
                  <a:pt x="0" y="55753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71499" y="2704845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65501" y="2656332"/>
            <a:ext cx="1889125" cy="3345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65501" y="2656332"/>
            <a:ext cx="1889125" cy="334645"/>
          </a:xfrm>
          <a:custGeom>
            <a:avLst/>
            <a:gdLst/>
            <a:ahLst/>
            <a:cxnLst/>
            <a:rect l="l" t="t" r="r" b="b"/>
            <a:pathLst>
              <a:path w="1889125" h="334644">
                <a:moveTo>
                  <a:pt x="0" y="55753"/>
                </a:moveTo>
                <a:lnTo>
                  <a:pt x="4371" y="34022"/>
                </a:lnTo>
                <a:lnTo>
                  <a:pt x="16303" y="16303"/>
                </a:lnTo>
                <a:lnTo>
                  <a:pt x="34022" y="4371"/>
                </a:lnTo>
                <a:lnTo>
                  <a:pt x="55753" y="0"/>
                </a:lnTo>
                <a:lnTo>
                  <a:pt x="1833245" y="0"/>
                </a:lnTo>
                <a:lnTo>
                  <a:pt x="1854995" y="4371"/>
                </a:lnTo>
                <a:lnTo>
                  <a:pt x="1872757" y="16303"/>
                </a:lnTo>
                <a:lnTo>
                  <a:pt x="1884733" y="34022"/>
                </a:lnTo>
                <a:lnTo>
                  <a:pt x="1889125" y="55753"/>
                </a:lnTo>
                <a:lnTo>
                  <a:pt x="1889125" y="278765"/>
                </a:lnTo>
                <a:lnTo>
                  <a:pt x="1884733" y="300442"/>
                </a:lnTo>
                <a:lnTo>
                  <a:pt x="1872757" y="318166"/>
                </a:lnTo>
                <a:lnTo>
                  <a:pt x="1854995" y="330128"/>
                </a:lnTo>
                <a:lnTo>
                  <a:pt x="1833245" y="334518"/>
                </a:lnTo>
                <a:lnTo>
                  <a:pt x="55753" y="334518"/>
                </a:lnTo>
                <a:lnTo>
                  <a:pt x="34022" y="330128"/>
                </a:lnTo>
                <a:lnTo>
                  <a:pt x="16303" y="318166"/>
                </a:lnTo>
                <a:lnTo>
                  <a:pt x="4371" y="300442"/>
                </a:lnTo>
                <a:lnTo>
                  <a:pt x="0" y="278765"/>
                </a:lnTo>
                <a:lnTo>
                  <a:pt x="0" y="55753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960877" y="2704845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872351" y="2656332"/>
            <a:ext cx="1890649" cy="3345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872351" y="2656332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0" y="55753"/>
                </a:moveTo>
                <a:lnTo>
                  <a:pt x="4371" y="34022"/>
                </a:lnTo>
                <a:lnTo>
                  <a:pt x="16303" y="16303"/>
                </a:lnTo>
                <a:lnTo>
                  <a:pt x="34022" y="4371"/>
                </a:lnTo>
                <a:lnTo>
                  <a:pt x="55752" y="0"/>
                </a:lnTo>
                <a:lnTo>
                  <a:pt x="1834896" y="0"/>
                </a:lnTo>
                <a:lnTo>
                  <a:pt x="1856573" y="4371"/>
                </a:lnTo>
                <a:lnTo>
                  <a:pt x="1874297" y="16303"/>
                </a:lnTo>
                <a:lnTo>
                  <a:pt x="1886259" y="34022"/>
                </a:lnTo>
                <a:lnTo>
                  <a:pt x="1890649" y="55753"/>
                </a:lnTo>
                <a:lnTo>
                  <a:pt x="1890649" y="278765"/>
                </a:lnTo>
                <a:lnTo>
                  <a:pt x="1886259" y="300442"/>
                </a:lnTo>
                <a:lnTo>
                  <a:pt x="1874297" y="318166"/>
                </a:lnTo>
                <a:lnTo>
                  <a:pt x="1856573" y="330128"/>
                </a:lnTo>
                <a:lnTo>
                  <a:pt x="1834896" y="334518"/>
                </a:lnTo>
                <a:lnTo>
                  <a:pt x="55752" y="334518"/>
                </a:lnTo>
                <a:lnTo>
                  <a:pt x="34022" y="330128"/>
                </a:lnTo>
                <a:lnTo>
                  <a:pt x="16303" y="318166"/>
                </a:lnTo>
                <a:lnTo>
                  <a:pt x="4371" y="300442"/>
                </a:lnTo>
                <a:lnTo>
                  <a:pt x="0" y="278765"/>
                </a:lnTo>
                <a:lnTo>
                  <a:pt x="0" y="5575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968490" y="2704845"/>
            <a:ext cx="1289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Project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Manager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25800" y="1319149"/>
            <a:ext cx="2520950" cy="33464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25800" y="1319149"/>
            <a:ext cx="2520950" cy="334645"/>
          </a:xfrm>
          <a:custGeom>
            <a:avLst/>
            <a:gdLst/>
            <a:ahLst/>
            <a:cxnLst/>
            <a:rect l="l" t="t" r="r" b="b"/>
            <a:pathLst>
              <a:path w="2520950" h="334644">
                <a:moveTo>
                  <a:pt x="0" y="55879"/>
                </a:moveTo>
                <a:lnTo>
                  <a:pt x="4389" y="34129"/>
                </a:lnTo>
                <a:lnTo>
                  <a:pt x="16351" y="16367"/>
                </a:lnTo>
                <a:lnTo>
                  <a:pt x="34075" y="4391"/>
                </a:lnTo>
                <a:lnTo>
                  <a:pt x="55752" y="0"/>
                </a:lnTo>
                <a:lnTo>
                  <a:pt x="2465197" y="0"/>
                </a:lnTo>
                <a:lnTo>
                  <a:pt x="2486874" y="4391"/>
                </a:lnTo>
                <a:lnTo>
                  <a:pt x="2504598" y="16367"/>
                </a:lnTo>
                <a:lnTo>
                  <a:pt x="2516560" y="34129"/>
                </a:lnTo>
                <a:lnTo>
                  <a:pt x="2520950" y="55879"/>
                </a:lnTo>
                <a:lnTo>
                  <a:pt x="2520950" y="278891"/>
                </a:lnTo>
                <a:lnTo>
                  <a:pt x="2516560" y="300569"/>
                </a:lnTo>
                <a:lnTo>
                  <a:pt x="2504598" y="318293"/>
                </a:lnTo>
                <a:lnTo>
                  <a:pt x="2486874" y="330255"/>
                </a:lnTo>
                <a:lnTo>
                  <a:pt x="2465197" y="334645"/>
                </a:lnTo>
                <a:lnTo>
                  <a:pt x="55752" y="334645"/>
                </a:lnTo>
                <a:lnTo>
                  <a:pt x="34075" y="330255"/>
                </a:lnTo>
                <a:lnTo>
                  <a:pt x="16351" y="318293"/>
                </a:lnTo>
                <a:lnTo>
                  <a:pt x="4389" y="300569"/>
                </a:lnTo>
                <a:lnTo>
                  <a:pt x="0" y="278891"/>
                </a:lnTo>
                <a:lnTo>
                  <a:pt x="0" y="5587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239259" y="1367409"/>
            <a:ext cx="494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CEO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76300" y="3213480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5">
                <a:moveTo>
                  <a:pt x="1834895" y="0"/>
                </a:moveTo>
                <a:lnTo>
                  <a:pt x="55765" y="0"/>
                </a:lnTo>
                <a:lnTo>
                  <a:pt x="34059" y="4389"/>
                </a:lnTo>
                <a:lnTo>
                  <a:pt x="16333" y="16351"/>
                </a:lnTo>
                <a:lnTo>
                  <a:pt x="4382" y="34075"/>
                </a:lnTo>
                <a:lnTo>
                  <a:pt x="0" y="55752"/>
                </a:lnTo>
                <a:lnTo>
                  <a:pt x="0" y="278764"/>
                </a:lnTo>
                <a:lnTo>
                  <a:pt x="4382" y="300515"/>
                </a:lnTo>
                <a:lnTo>
                  <a:pt x="16333" y="318277"/>
                </a:lnTo>
                <a:lnTo>
                  <a:pt x="34059" y="330253"/>
                </a:lnTo>
                <a:lnTo>
                  <a:pt x="55765" y="334644"/>
                </a:lnTo>
                <a:lnTo>
                  <a:pt x="1834895" y="334644"/>
                </a:lnTo>
                <a:lnTo>
                  <a:pt x="1856646" y="330253"/>
                </a:lnTo>
                <a:lnTo>
                  <a:pt x="1874408" y="318277"/>
                </a:lnTo>
                <a:lnTo>
                  <a:pt x="1886384" y="300515"/>
                </a:lnTo>
                <a:lnTo>
                  <a:pt x="1890776" y="278764"/>
                </a:lnTo>
                <a:lnTo>
                  <a:pt x="1890776" y="55752"/>
                </a:lnTo>
                <a:lnTo>
                  <a:pt x="1886384" y="34075"/>
                </a:lnTo>
                <a:lnTo>
                  <a:pt x="1874408" y="16351"/>
                </a:lnTo>
                <a:lnTo>
                  <a:pt x="1856646" y="4389"/>
                </a:lnTo>
                <a:lnTo>
                  <a:pt x="1834895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76300" y="3213480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5">
                <a:moveTo>
                  <a:pt x="0" y="55752"/>
                </a:moveTo>
                <a:lnTo>
                  <a:pt x="4382" y="34075"/>
                </a:lnTo>
                <a:lnTo>
                  <a:pt x="16333" y="16351"/>
                </a:lnTo>
                <a:lnTo>
                  <a:pt x="34059" y="4389"/>
                </a:lnTo>
                <a:lnTo>
                  <a:pt x="55765" y="0"/>
                </a:lnTo>
                <a:lnTo>
                  <a:pt x="1834895" y="0"/>
                </a:lnTo>
                <a:lnTo>
                  <a:pt x="1856646" y="4389"/>
                </a:lnTo>
                <a:lnTo>
                  <a:pt x="1874408" y="16351"/>
                </a:lnTo>
                <a:lnTo>
                  <a:pt x="1886384" y="34075"/>
                </a:lnTo>
                <a:lnTo>
                  <a:pt x="1890776" y="55752"/>
                </a:lnTo>
                <a:lnTo>
                  <a:pt x="1890776" y="278764"/>
                </a:lnTo>
                <a:lnTo>
                  <a:pt x="1886384" y="300515"/>
                </a:lnTo>
                <a:lnTo>
                  <a:pt x="1874408" y="318277"/>
                </a:lnTo>
                <a:lnTo>
                  <a:pt x="1856646" y="330253"/>
                </a:lnTo>
                <a:lnTo>
                  <a:pt x="1834895" y="334644"/>
                </a:lnTo>
                <a:lnTo>
                  <a:pt x="55765" y="334644"/>
                </a:lnTo>
                <a:lnTo>
                  <a:pt x="34059" y="330253"/>
                </a:lnTo>
                <a:lnTo>
                  <a:pt x="16333" y="318277"/>
                </a:lnTo>
                <a:lnTo>
                  <a:pt x="4382" y="300515"/>
                </a:lnTo>
                <a:lnTo>
                  <a:pt x="0" y="278764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71499" y="3262376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865501" y="3213480"/>
            <a:ext cx="1889125" cy="334645"/>
          </a:xfrm>
          <a:custGeom>
            <a:avLst/>
            <a:gdLst/>
            <a:ahLst/>
            <a:cxnLst/>
            <a:rect l="l" t="t" r="r" b="b"/>
            <a:pathLst>
              <a:path w="1889125" h="334645">
                <a:moveTo>
                  <a:pt x="1833245" y="0"/>
                </a:moveTo>
                <a:lnTo>
                  <a:pt x="55753" y="0"/>
                </a:lnTo>
                <a:lnTo>
                  <a:pt x="34022" y="4389"/>
                </a:lnTo>
                <a:lnTo>
                  <a:pt x="16303" y="16351"/>
                </a:lnTo>
                <a:lnTo>
                  <a:pt x="4371" y="34075"/>
                </a:lnTo>
                <a:lnTo>
                  <a:pt x="0" y="55752"/>
                </a:lnTo>
                <a:lnTo>
                  <a:pt x="0" y="278764"/>
                </a:lnTo>
                <a:lnTo>
                  <a:pt x="4371" y="300515"/>
                </a:lnTo>
                <a:lnTo>
                  <a:pt x="16303" y="318277"/>
                </a:lnTo>
                <a:lnTo>
                  <a:pt x="34022" y="330253"/>
                </a:lnTo>
                <a:lnTo>
                  <a:pt x="55753" y="334644"/>
                </a:lnTo>
                <a:lnTo>
                  <a:pt x="1833245" y="334644"/>
                </a:lnTo>
                <a:lnTo>
                  <a:pt x="1854995" y="330253"/>
                </a:lnTo>
                <a:lnTo>
                  <a:pt x="1872757" y="318277"/>
                </a:lnTo>
                <a:lnTo>
                  <a:pt x="1884733" y="300515"/>
                </a:lnTo>
                <a:lnTo>
                  <a:pt x="1889125" y="278764"/>
                </a:lnTo>
                <a:lnTo>
                  <a:pt x="1889125" y="55752"/>
                </a:lnTo>
                <a:lnTo>
                  <a:pt x="1884733" y="34075"/>
                </a:lnTo>
                <a:lnTo>
                  <a:pt x="1872757" y="16351"/>
                </a:lnTo>
                <a:lnTo>
                  <a:pt x="1854995" y="4389"/>
                </a:lnTo>
                <a:lnTo>
                  <a:pt x="1833245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65501" y="3213480"/>
            <a:ext cx="1889125" cy="334645"/>
          </a:xfrm>
          <a:custGeom>
            <a:avLst/>
            <a:gdLst/>
            <a:ahLst/>
            <a:cxnLst/>
            <a:rect l="l" t="t" r="r" b="b"/>
            <a:pathLst>
              <a:path w="1889125" h="334645">
                <a:moveTo>
                  <a:pt x="0" y="55752"/>
                </a:moveTo>
                <a:lnTo>
                  <a:pt x="4371" y="34075"/>
                </a:lnTo>
                <a:lnTo>
                  <a:pt x="16303" y="16351"/>
                </a:lnTo>
                <a:lnTo>
                  <a:pt x="34022" y="4389"/>
                </a:lnTo>
                <a:lnTo>
                  <a:pt x="55753" y="0"/>
                </a:lnTo>
                <a:lnTo>
                  <a:pt x="1833245" y="0"/>
                </a:lnTo>
                <a:lnTo>
                  <a:pt x="1854995" y="4389"/>
                </a:lnTo>
                <a:lnTo>
                  <a:pt x="1872757" y="16351"/>
                </a:lnTo>
                <a:lnTo>
                  <a:pt x="1884733" y="34075"/>
                </a:lnTo>
                <a:lnTo>
                  <a:pt x="1889125" y="55752"/>
                </a:lnTo>
                <a:lnTo>
                  <a:pt x="1889125" y="278764"/>
                </a:lnTo>
                <a:lnTo>
                  <a:pt x="1884733" y="300515"/>
                </a:lnTo>
                <a:lnTo>
                  <a:pt x="1872757" y="318277"/>
                </a:lnTo>
                <a:lnTo>
                  <a:pt x="1854995" y="330253"/>
                </a:lnTo>
                <a:lnTo>
                  <a:pt x="1833245" y="334644"/>
                </a:lnTo>
                <a:lnTo>
                  <a:pt x="55753" y="334644"/>
                </a:lnTo>
                <a:lnTo>
                  <a:pt x="34022" y="330253"/>
                </a:lnTo>
                <a:lnTo>
                  <a:pt x="16303" y="318277"/>
                </a:lnTo>
                <a:lnTo>
                  <a:pt x="4371" y="300515"/>
                </a:lnTo>
                <a:lnTo>
                  <a:pt x="0" y="278764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872351" y="3213480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5">
                <a:moveTo>
                  <a:pt x="1834896" y="0"/>
                </a:moveTo>
                <a:lnTo>
                  <a:pt x="55752" y="0"/>
                </a:lnTo>
                <a:lnTo>
                  <a:pt x="34022" y="4389"/>
                </a:lnTo>
                <a:lnTo>
                  <a:pt x="16303" y="16351"/>
                </a:lnTo>
                <a:lnTo>
                  <a:pt x="4371" y="34075"/>
                </a:lnTo>
                <a:lnTo>
                  <a:pt x="0" y="55752"/>
                </a:lnTo>
                <a:lnTo>
                  <a:pt x="0" y="278764"/>
                </a:lnTo>
                <a:lnTo>
                  <a:pt x="4371" y="300515"/>
                </a:lnTo>
                <a:lnTo>
                  <a:pt x="16303" y="318277"/>
                </a:lnTo>
                <a:lnTo>
                  <a:pt x="34022" y="330253"/>
                </a:lnTo>
                <a:lnTo>
                  <a:pt x="55752" y="334644"/>
                </a:lnTo>
                <a:lnTo>
                  <a:pt x="1834896" y="334644"/>
                </a:lnTo>
                <a:lnTo>
                  <a:pt x="1856573" y="330253"/>
                </a:lnTo>
                <a:lnTo>
                  <a:pt x="1874297" y="318277"/>
                </a:lnTo>
                <a:lnTo>
                  <a:pt x="1886259" y="300515"/>
                </a:lnTo>
                <a:lnTo>
                  <a:pt x="1890649" y="278764"/>
                </a:lnTo>
                <a:lnTo>
                  <a:pt x="1890649" y="55752"/>
                </a:lnTo>
                <a:lnTo>
                  <a:pt x="1886259" y="34075"/>
                </a:lnTo>
                <a:lnTo>
                  <a:pt x="1874297" y="16351"/>
                </a:lnTo>
                <a:lnTo>
                  <a:pt x="1856573" y="4389"/>
                </a:lnTo>
                <a:lnTo>
                  <a:pt x="1834896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72351" y="3213480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5">
                <a:moveTo>
                  <a:pt x="0" y="55752"/>
                </a:moveTo>
                <a:lnTo>
                  <a:pt x="4371" y="34075"/>
                </a:lnTo>
                <a:lnTo>
                  <a:pt x="16303" y="16351"/>
                </a:lnTo>
                <a:lnTo>
                  <a:pt x="34022" y="4389"/>
                </a:lnTo>
                <a:lnTo>
                  <a:pt x="55752" y="0"/>
                </a:lnTo>
                <a:lnTo>
                  <a:pt x="1834896" y="0"/>
                </a:lnTo>
                <a:lnTo>
                  <a:pt x="1856573" y="4389"/>
                </a:lnTo>
                <a:lnTo>
                  <a:pt x="1874297" y="16351"/>
                </a:lnTo>
                <a:lnTo>
                  <a:pt x="1886259" y="34075"/>
                </a:lnTo>
                <a:lnTo>
                  <a:pt x="1890649" y="55752"/>
                </a:lnTo>
                <a:lnTo>
                  <a:pt x="1890649" y="278764"/>
                </a:lnTo>
                <a:lnTo>
                  <a:pt x="1886259" y="300515"/>
                </a:lnTo>
                <a:lnTo>
                  <a:pt x="1874297" y="318277"/>
                </a:lnTo>
                <a:lnTo>
                  <a:pt x="1856573" y="330253"/>
                </a:lnTo>
                <a:lnTo>
                  <a:pt x="1834896" y="334644"/>
                </a:lnTo>
                <a:lnTo>
                  <a:pt x="55752" y="334644"/>
                </a:lnTo>
                <a:lnTo>
                  <a:pt x="34022" y="330253"/>
                </a:lnTo>
                <a:lnTo>
                  <a:pt x="16303" y="318277"/>
                </a:lnTo>
                <a:lnTo>
                  <a:pt x="4371" y="300515"/>
                </a:lnTo>
                <a:lnTo>
                  <a:pt x="0" y="278764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968490" y="3262376"/>
            <a:ext cx="1589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Gerente de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Proyecto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143375" y="1653794"/>
            <a:ext cx="0" cy="445770"/>
          </a:xfrm>
          <a:custGeom>
            <a:avLst/>
            <a:gdLst/>
            <a:ahLst/>
            <a:cxnLst/>
            <a:rect l="l" t="t" r="r" b="b"/>
            <a:pathLst>
              <a:path h="445769">
                <a:moveTo>
                  <a:pt x="0" y="0"/>
                </a:moveTo>
                <a:lnTo>
                  <a:pt x="0" y="44526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16151" y="1876425"/>
            <a:ext cx="6149975" cy="0"/>
          </a:xfrm>
          <a:custGeom>
            <a:avLst/>
            <a:gdLst/>
            <a:ahLst/>
            <a:cxnLst/>
            <a:rect l="l" t="t" r="r" b="b"/>
            <a:pathLst>
              <a:path w="6149975">
                <a:moveTo>
                  <a:pt x="0" y="0"/>
                </a:moveTo>
                <a:lnTo>
                  <a:pt x="61499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16151" y="1876425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63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923276" y="1876425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63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716151" y="2433701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63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16151" y="2990850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63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914775" y="2433701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63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914775" y="2990850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63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923276" y="2433701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63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923276" y="2990850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63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753225" y="3639692"/>
            <a:ext cx="2359025" cy="837565"/>
          </a:xfrm>
          <a:custGeom>
            <a:avLst/>
            <a:gdLst/>
            <a:ahLst/>
            <a:cxnLst/>
            <a:rect l="l" t="t" r="r" b="b"/>
            <a:pathLst>
              <a:path w="2359025" h="837564">
                <a:moveTo>
                  <a:pt x="2273300" y="322706"/>
                </a:moveTo>
                <a:lnTo>
                  <a:pt x="692150" y="322706"/>
                </a:lnTo>
                <a:lnTo>
                  <a:pt x="658770" y="329443"/>
                </a:lnTo>
                <a:lnTo>
                  <a:pt x="631523" y="347814"/>
                </a:lnTo>
                <a:lnTo>
                  <a:pt x="613157" y="375063"/>
                </a:lnTo>
                <a:lnTo>
                  <a:pt x="606425" y="408431"/>
                </a:lnTo>
                <a:lnTo>
                  <a:pt x="606425" y="751331"/>
                </a:lnTo>
                <a:lnTo>
                  <a:pt x="613157" y="784700"/>
                </a:lnTo>
                <a:lnTo>
                  <a:pt x="631523" y="811949"/>
                </a:lnTo>
                <a:lnTo>
                  <a:pt x="658770" y="830320"/>
                </a:lnTo>
                <a:lnTo>
                  <a:pt x="692150" y="837056"/>
                </a:lnTo>
                <a:lnTo>
                  <a:pt x="2273300" y="837056"/>
                </a:lnTo>
                <a:lnTo>
                  <a:pt x="2306679" y="830320"/>
                </a:lnTo>
                <a:lnTo>
                  <a:pt x="2333926" y="811949"/>
                </a:lnTo>
                <a:lnTo>
                  <a:pt x="2352292" y="784700"/>
                </a:lnTo>
                <a:lnTo>
                  <a:pt x="2359025" y="751331"/>
                </a:lnTo>
                <a:lnTo>
                  <a:pt x="2359025" y="408431"/>
                </a:lnTo>
                <a:lnTo>
                  <a:pt x="2352292" y="375063"/>
                </a:lnTo>
                <a:lnTo>
                  <a:pt x="2333926" y="347814"/>
                </a:lnTo>
                <a:lnTo>
                  <a:pt x="2306679" y="329443"/>
                </a:lnTo>
                <a:lnTo>
                  <a:pt x="2273300" y="322706"/>
                </a:lnTo>
                <a:close/>
              </a:path>
              <a:path w="2359025" h="837564">
                <a:moveTo>
                  <a:pt x="0" y="0"/>
                </a:moveTo>
                <a:lnTo>
                  <a:pt x="898525" y="322706"/>
                </a:lnTo>
                <a:lnTo>
                  <a:pt x="1336675" y="3227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753225" y="3639692"/>
            <a:ext cx="2359025" cy="837565"/>
          </a:xfrm>
          <a:custGeom>
            <a:avLst/>
            <a:gdLst/>
            <a:ahLst/>
            <a:cxnLst/>
            <a:rect l="l" t="t" r="r" b="b"/>
            <a:pathLst>
              <a:path w="2359025" h="837564">
                <a:moveTo>
                  <a:pt x="606425" y="408431"/>
                </a:moveTo>
                <a:lnTo>
                  <a:pt x="613157" y="375063"/>
                </a:lnTo>
                <a:lnTo>
                  <a:pt x="631523" y="347814"/>
                </a:lnTo>
                <a:lnTo>
                  <a:pt x="658770" y="329443"/>
                </a:lnTo>
                <a:lnTo>
                  <a:pt x="692150" y="322706"/>
                </a:lnTo>
                <a:lnTo>
                  <a:pt x="898525" y="322706"/>
                </a:lnTo>
                <a:lnTo>
                  <a:pt x="0" y="0"/>
                </a:lnTo>
                <a:lnTo>
                  <a:pt x="1336675" y="322706"/>
                </a:lnTo>
                <a:lnTo>
                  <a:pt x="2273300" y="322706"/>
                </a:lnTo>
                <a:lnTo>
                  <a:pt x="2306679" y="329443"/>
                </a:lnTo>
                <a:lnTo>
                  <a:pt x="2333926" y="347814"/>
                </a:lnTo>
                <a:lnTo>
                  <a:pt x="2352292" y="375063"/>
                </a:lnTo>
                <a:lnTo>
                  <a:pt x="2359025" y="408431"/>
                </a:lnTo>
                <a:lnTo>
                  <a:pt x="2359025" y="537019"/>
                </a:lnTo>
                <a:lnTo>
                  <a:pt x="2359025" y="751331"/>
                </a:lnTo>
                <a:lnTo>
                  <a:pt x="2352292" y="784700"/>
                </a:lnTo>
                <a:lnTo>
                  <a:pt x="2333926" y="811949"/>
                </a:lnTo>
                <a:lnTo>
                  <a:pt x="2306679" y="830320"/>
                </a:lnTo>
                <a:lnTo>
                  <a:pt x="2273300" y="837056"/>
                </a:lnTo>
                <a:lnTo>
                  <a:pt x="1336675" y="837056"/>
                </a:lnTo>
                <a:lnTo>
                  <a:pt x="898525" y="837056"/>
                </a:lnTo>
                <a:lnTo>
                  <a:pt x="692150" y="837056"/>
                </a:lnTo>
                <a:lnTo>
                  <a:pt x="658770" y="830320"/>
                </a:lnTo>
                <a:lnTo>
                  <a:pt x="631523" y="811949"/>
                </a:lnTo>
                <a:lnTo>
                  <a:pt x="613157" y="784700"/>
                </a:lnTo>
                <a:lnTo>
                  <a:pt x="606425" y="751331"/>
                </a:lnTo>
                <a:lnTo>
                  <a:pt x="606425" y="537019"/>
                </a:lnTo>
                <a:lnTo>
                  <a:pt x="606425" y="408431"/>
                </a:lnTo>
                <a:close/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464679" y="3937812"/>
            <a:ext cx="1199515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745"/>
              </a:spcBef>
            </a:pPr>
            <a:r>
              <a:rPr sz="1800" spc="-110" dirty="0">
                <a:latin typeface="Arial"/>
                <a:cs typeface="Arial"/>
              </a:rPr>
              <a:t>Project  </a:t>
            </a:r>
            <a:r>
              <a:rPr sz="1800" spc="-105" dirty="0">
                <a:latin typeface="Arial"/>
                <a:cs typeface="Arial"/>
              </a:rPr>
              <a:t>Coor</a:t>
            </a:r>
            <a:r>
              <a:rPr sz="1800" spc="-70" dirty="0">
                <a:latin typeface="Arial"/>
                <a:cs typeface="Arial"/>
              </a:rPr>
              <a:t>di</a:t>
            </a:r>
            <a:r>
              <a:rPr sz="1800" spc="-90" dirty="0">
                <a:latin typeface="Arial"/>
                <a:cs typeface="Arial"/>
              </a:rPr>
              <a:t>n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spc="-114" dirty="0">
                <a:latin typeface="Arial"/>
                <a:cs typeface="Arial"/>
              </a:rPr>
              <a:t>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865751" y="2099055"/>
            <a:ext cx="1889125" cy="3346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865751" y="2099055"/>
            <a:ext cx="1889125" cy="334645"/>
          </a:xfrm>
          <a:custGeom>
            <a:avLst/>
            <a:gdLst/>
            <a:ahLst/>
            <a:cxnLst/>
            <a:rect l="l" t="t" r="r" b="b"/>
            <a:pathLst>
              <a:path w="1889125" h="334644">
                <a:moveTo>
                  <a:pt x="0" y="55752"/>
                </a:moveTo>
                <a:lnTo>
                  <a:pt x="4371" y="34075"/>
                </a:lnTo>
                <a:lnTo>
                  <a:pt x="16303" y="16351"/>
                </a:lnTo>
                <a:lnTo>
                  <a:pt x="34022" y="4389"/>
                </a:lnTo>
                <a:lnTo>
                  <a:pt x="55752" y="0"/>
                </a:lnTo>
                <a:lnTo>
                  <a:pt x="1833245" y="0"/>
                </a:lnTo>
                <a:lnTo>
                  <a:pt x="1854995" y="4389"/>
                </a:lnTo>
                <a:lnTo>
                  <a:pt x="1872757" y="16351"/>
                </a:lnTo>
                <a:lnTo>
                  <a:pt x="1884733" y="34075"/>
                </a:lnTo>
                <a:lnTo>
                  <a:pt x="1889125" y="55752"/>
                </a:lnTo>
                <a:lnTo>
                  <a:pt x="1889125" y="278764"/>
                </a:lnTo>
                <a:lnTo>
                  <a:pt x="1884733" y="300515"/>
                </a:lnTo>
                <a:lnTo>
                  <a:pt x="1872757" y="318277"/>
                </a:lnTo>
                <a:lnTo>
                  <a:pt x="1854995" y="330253"/>
                </a:lnTo>
                <a:lnTo>
                  <a:pt x="1833245" y="334644"/>
                </a:lnTo>
                <a:lnTo>
                  <a:pt x="55752" y="334644"/>
                </a:lnTo>
                <a:lnTo>
                  <a:pt x="34022" y="330253"/>
                </a:lnTo>
                <a:lnTo>
                  <a:pt x="16303" y="318277"/>
                </a:lnTo>
                <a:lnTo>
                  <a:pt x="4371" y="300515"/>
                </a:lnTo>
                <a:lnTo>
                  <a:pt x="0" y="278764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961635" y="2147442"/>
            <a:ext cx="1083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Area </a:t>
            </a:r>
            <a:r>
              <a:rPr sz="1200" b="1" dirty="0">
                <a:latin typeface="Tahoma"/>
                <a:cs typeface="Tahoma"/>
              </a:rPr>
              <a:t>3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Diseño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865751" y="2656332"/>
            <a:ext cx="1889125" cy="3345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865751" y="2656332"/>
            <a:ext cx="1889125" cy="334645"/>
          </a:xfrm>
          <a:custGeom>
            <a:avLst/>
            <a:gdLst/>
            <a:ahLst/>
            <a:cxnLst/>
            <a:rect l="l" t="t" r="r" b="b"/>
            <a:pathLst>
              <a:path w="1889125" h="334644">
                <a:moveTo>
                  <a:pt x="0" y="55753"/>
                </a:moveTo>
                <a:lnTo>
                  <a:pt x="4371" y="34022"/>
                </a:lnTo>
                <a:lnTo>
                  <a:pt x="16303" y="16303"/>
                </a:lnTo>
                <a:lnTo>
                  <a:pt x="34022" y="4371"/>
                </a:lnTo>
                <a:lnTo>
                  <a:pt x="55752" y="0"/>
                </a:lnTo>
                <a:lnTo>
                  <a:pt x="1833245" y="0"/>
                </a:lnTo>
                <a:lnTo>
                  <a:pt x="1854995" y="4371"/>
                </a:lnTo>
                <a:lnTo>
                  <a:pt x="1872757" y="16303"/>
                </a:lnTo>
                <a:lnTo>
                  <a:pt x="1884733" y="34022"/>
                </a:lnTo>
                <a:lnTo>
                  <a:pt x="1889125" y="55753"/>
                </a:lnTo>
                <a:lnTo>
                  <a:pt x="1889125" y="278765"/>
                </a:lnTo>
                <a:lnTo>
                  <a:pt x="1884733" y="300442"/>
                </a:lnTo>
                <a:lnTo>
                  <a:pt x="1872757" y="318166"/>
                </a:lnTo>
                <a:lnTo>
                  <a:pt x="1854995" y="330128"/>
                </a:lnTo>
                <a:lnTo>
                  <a:pt x="1833245" y="334518"/>
                </a:lnTo>
                <a:lnTo>
                  <a:pt x="55752" y="334518"/>
                </a:lnTo>
                <a:lnTo>
                  <a:pt x="34022" y="330128"/>
                </a:lnTo>
                <a:lnTo>
                  <a:pt x="16303" y="318166"/>
                </a:lnTo>
                <a:lnTo>
                  <a:pt x="4371" y="300442"/>
                </a:lnTo>
                <a:lnTo>
                  <a:pt x="0" y="278765"/>
                </a:lnTo>
                <a:lnTo>
                  <a:pt x="0" y="55753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961635" y="2704845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865751" y="3213480"/>
            <a:ext cx="1889125" cy="334645"/>
          </a:xfrm>
          <a:custGeom>
            <a:avLst/>
            <a:gdLst/>
            <a:ahLst/>
            <a:cxnLst/>
            <a:rect l="l" t="t" r="r" b="b"/>
            <a:pathLst>
              <a:path w="1889125" h="334645">
                <a:moveTo>
                  <a:pt x="1833245" y="0"/>
                </a:moveTo>
                <a:lnTo>
                  <a:pt x="55752" y="0"/>
                </a:lnTo>
                <a:lnTo>
                  <a:pt x="34022" y="4389"/>
                </a:lnTo>
                <a:lnTo>
                  <a:pt x="16303" y="16351"/>
                </a:lnTo>
                <a:lnTo>
                  <a:pt x="4371" y="34075"/>
                </a:lnTo>
                <a:lnTo>
                  <a:pt x="0" y="55752"/>
                </a:lnTo>
                <a:lnTo>
                  <a:pt x="0" y="278764"/>
                </a:lnTo>
                <a:lnTo>
                  <a:pt x="4371" y="300515"/>
                </a:lnTo>
                <a:lnTo>
                  <a:pt x="16303" y="318277"/>
                </a:lnTo>
                <a:lnTo>
                  <a:pt x="34022" y="330253"/>
                </a:lnTo>
                <a:lnTo>
                  <a:pt x="55752" y="334644"/>
                </a:lnTo>
                <a:lnTo>
                  <a:pt x="1833245" y="334644"/>
                </a:lnTo>
                <a:lnTo>
                  <a:pt x="1854995" y="330253"/>
                </a:lnTo>
                <a:lnTo>
                  <a:pt x="1872757" y="318277"/>
                </a:lnTo>
                <a:lnTo>
                  <a:pt x="1884733" y="300515"/>
                </a:lnTo>
                <a:lnTo>
                  <a:pt x="1889125" y="278764"/>
                </a:lnTo>
                <a:lnTo>
                  <a:pt x="1889125" y="55752"/>
                </a:lnTo>
                <a:lnTo>
                  <a:pt x="1884733" y="34075"/>
                </a:lnTo>
                <a:lnTo>
                  <a:pt x="1872757" y="16351"/>
                </a:lnTo>
                <a:lnTo>
                  <a:pt x="1854995" y="4389"/>
                </a:lnTo>
                <a:lnTo>
                  <a:pt x="1833245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865751" y="3213480"/>
            <a:ext cx="1889125" cy="334645"/>
          </a:xfrm>
          <a:custGeom>
            <a:avLst/>
            <a:gdLst/>
            <a:ahLst/>
            <a:cxnLst/>
            <a:rect l="l" t="t" r="r" b="b"/>
            <a:pathLst>
              <a:path w="1889125" h="334645">
                <a:moveTo>
                  <a:pt x="0" y="55752"/>
                </a:moveTo>
                <a:lnTo>
                  <a:pt x="4371" y="34075"/>
                </a:lnTo>
                <a:lnTo>
                  <a:pt x="16303" y="16351"/>
                </a:lnTo>
                <a:lnTo>
                  <a:pt x="34022" y="4389"/>
                </a:lnTo>
                <a:lnTo>
                  <a:pt x="55752" y="0"/>
                </a:lnTo>
                <a:lnTo>
                  <a:pt x="1833245" y="0"/>
                </a:lnTo>
                <a:lnTo>
                  <a:pt x="1854995" y="4389"/>
                </a:lnTo>
                <a:lnTo>
                  <a:pt x="1872757" y="16351"/>
                </a:lnTo>
                <a:lnTo>
                  <a:pt x="1884733" y="34075"/>
                </a:lnTo>
                <a:lnTo>
                  <a:pt x="1889125" y="55752"/>
                </a:lnTo>
                <a:lnTo>
                  <a:pt x="1889125" y="278764"/>
                </a:lnTo>
                <a:lnTo>
                  <a:pt x="1884733" y="300515"/>
                </a:lnTo>
                <a:lnTo>
                  <a:pt x="1872757" y="318277"/>
                </a:lnTo>
                <a:lnTo>
                  <a:pt x="1854995" y="330253"/>
                </a:lnTo>
                <a:lnTo>
                  <a:pt x="1833245" y="334644"/>
                </a:lnTo>
                <a:lnTo>
                  <a:pt x="55752" y="334644"/>
                </a:lnTo>
                <a:lnTo>
                  <a:pt x="34022" y="330253"/>
                </a:lnTo>
                <a:lnTo>
                  <a:pt x="16303" y="318277"/>
                </a:lnTo>
                <a:lnTo>
                  <a:pt x="4371" y="300515"/>
                </a:lnTo>
                <a:lnTo>
                  <a:pt x="0" y="278764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915025" y="2433701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63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15025" y="2990850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63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059891" y="3262376"/>
            <a:ext cx="7359015" cy="1710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3255">
              <a:lnSpc>
                <a:spcPct val="100000"/>
              </a:lnSpc>
              <a:spcBef>
                <a:spcPts val="100"/>
              </a:spcBef>
              <a:tabLst>
                <a:tab pos="3914140" algn="l"/>
              </a:tabLst>
            </a:pPr>
            <a:r>
              <a:rPr sz="1200" b="1" spc="-5" dirty="0">
                <a:latin typeface="Tahoma"/>
                <a:cs typeface="Tahoma"/>
              </a:rPr>
              <a:t>Staff	Staff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55"/>
              </a:spcBef>
              <a:buChar char="•"/>
              <a:tabLst>
                <a:tab pos="354965" algn="l"/>
                <a:tab pos="356235" algn="l"/>
              </a:tabLst>
            </a:pPr>
            <a:r>
              <a:rPr sz="2000" spc="-155" dirty="0">
                <a:latin typeface="Arial"/>
                <a:cs typeface="Arial"/>
              </a:rPr>
              <a:t>Mas </a:t>
            </a:r>
            <a:r>
              <a:rPr sz="2000" spc="-120" dirty="0">
                <a:latin typeface="Arial"/>
                <a:cs typeface="Arial"/>
              </a:rPr>
              <a:t>cercana </a:t>
            </a:r>
            <a:r>
              <a:rPr sz="2000" spc="-10" dirty="0">
                <a:latin typeface="Arial"/>
                <a:cs typeface="Arial"/>
              </a:rPr>
              <a:t>a la</a:t>
            </a:r>
            <a:r>
              <a:rPr sz="2000" spc="-19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proyectizada,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har char="•"/>
              <a:tabLst>
                <a:tab pos="354965" algn="l"/>
                <a:tab pos="356235" algn="l"/>
              </a:tabLst>
            </a:pPr>
            <a:r>
              <a:rPr sz="2000" spc="-160" dirty="0">
                <a:latin typeface="Arial"/>
                <a:cs typeface="Arial"/>
              </a:rPr>
              <a:t>Puede </a:t>
            </a:r>
            <a:r>
              <a:rPr sz="2000" spc="-95" dirty="0">
                <a:latin typeface="Arial"/>
                <a:cs typeface="Arial"/>
              </a:rPr>
              <a:t>tener </a:t>
            </a:r>
            <a:r>
              <a:rPr sz="2000" spc="-145" dirty="0">
                <a:latin typeface="Arial"/>
                <a:cs typeface="Arial"/>
              </a:rPr>
              <a:t>personas </a:t>
            </a:r>
            <a:r>
              <a:rPr sz="2000" spc="-35" dirty="0">
                <a:latin typeface="Arial"/>
                <a:cs typeface="Arial"/>
              </a:rPr>
              <a:t>full </a:t>
            </a:r>
            <a:r>
              <a:rPr sz="2000" spc="-114" dirty="0">
                <a:latin typeface="Arial"/>
                <a:cs typeface="Arial"/>
              </a:rPr>
              <a:t>time </a:t>
            </a:r>
            <a:r>
              <a:rPr sz="2000" dirty="0">
                <a:latin typeface="Arial"/>
                <a:cs typeface="Arial"/>
              </a:rPr>
              <a:t>y part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time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ts val="2039"/>
              </a:lnSpc>
              <a:spcBef>
                <a:spcPts val="240"/>
              </a:spcBef>
              <a:buChar char="•"/>
              <a:tabLst>
                <a:tab pos="354965" algn="l"/>
                <a:tab pos="356235" algn="l"/>
              </a:tabLst>
            </a:pPr>
            <a:r>
              <a:rPr sz="2000" spc="-229" dirty="0">
                <a:latin typeface="Arial"/>
                <a:cs typeface="Arial"/>
              </a:rPr>
              <a:t>El </a:t>
            </a:r>
            <a:r>
              <a:rPr sz="2000" spc="-85" dirty="0">
                <a:latin typeface="Arial"/>
                <a:cs typeface="Arial"/>
              </a:rPr>
              <a:t>Gerente </a:t>
            </a:r>
            <a:r>
              <a:rPr sz="2000" spc="-60" dirty="0">
                <a:latin typeface="Arial"/>
                <a:cs typeface="Arial"/>
              </a:rPr>
              <a:t>de </a:t>
            </a:r>
            <a:r>
              <a:rPr sz="2000" spc="-130" dirty="0">
                <a:latin typeface="Arial"/>
                <a:cs typeface="Arial"/>
              </a:rPr>
              <a:t>Proyecto </a:t>
            </a:r>
            <a:r>
              <a:rPr sz="2000" spc="-85" dirty="0">
                <a:latin typeface="Arial"/>
                <a:cs typeface="Arial"/>
              </a:rPr>
              <a:t>depende </a:t>
            </a:r>
            <a:r>
              <a:rPr sz="2000" spc="-60" dirty="0">
                <a:latin typeface="Arial"/>
                <a:cs typeface="Arial"/>
              </a:rPr>
              <a:t>de </a:t>
            </a:r>
            <a:r>
              <a:rPr sz="2000" spc="-165" dirty="0">
                <a:latin typeface="Arial"/>
                <a:cs typeface="Arial"/>
              </a:rPr>
              <a:t>una </a:t>
            </a:r>
            <a:r>
              <a:rPr sz="2000" spc="-155" dirty="0">
                <a:latin typeface="Arial"/>
                <a:cs typeface="Arial"/>
              </a:rPr>
              <a:t>PMO </a:t>
            </a:r>
            <a:r>
              <a:rPr sz="2000" dirty="0">
                <a:latin typeface="Arial"/>
                <a:cs typeface="Arial"/>
              </a:rPr>
              <a:t>y </a:t>
            </a:r>
            <a:r>
              <a:rPr sz="2000" spc="-95" dirty="0">
                <a:latin typeface="Arial"/>
                <a:cs typeface="Arial"/>
              </a:rPr>
              <a:t>tiene </a:t>
            </a:r>
            <a:r>
              <a:rPr sz="2000" spc="-225" dirty="0">
                <a:latin typeface="Arial"/>
                <a:cs typeface="Arial"/>
              </a:rPr>
              <a:t>mas</a:t>
            </a:r>
            <a:r>
              <a:rPr sz="2000" spc="7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autoridad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039"/>
              </a:lnSpc>
            </a:pPr>
            <a:r>
              <a:rPr sz="2000" spc="-114" dirty="0">
                <a:latin typeface="Arial"/>
                <a:cs typeface="Arial"/>
              </a:rPr>
              <a:t>sobre </a:t>
            </a:r>
            <a:r>
              <a:rPr sz="2000" spc="-60" dirty="0">
                <a:latin typeface="Arial"/>
                <a:cs typeface="Arial"/>
              </a:rPr>
              <a:t>el </a:t>
            </a:r>
            <a:r>
              <a:rPr sz="2000" spc="-90" dirty="0">
                <a:latin typeface="Arial"/>
                <a:cs typeface="Arial"/>
              </a:rPr>
              <a:t>proyecto </a:t>
            </a:r>
            <a:r>
              <a:rPr sz="2000" spc="-125" dirty="0">
                <a:latin typeface="Arial"/>
                <a:cs typeface="Arial"/>
              </a:rPr>
              <a:t>que </a:t>
            </a:r>
            <a:r>
              <a:rPr sz="2000" spc="-150" dirty="0">
                <a:latin typeface="Arial"/>
                <a:cs typeface="Arial"/>
              </a:rPr>
              <a:t>los </a:t>
            </a:r>
            <a:r>
              <a:rPr sz="2000" spc="-120" dirty="0">
                <a:latin typeface="Arial"/>
                <a:cs typeface="Arial"/>
              </a:rPr>
              <a:t>gerentes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funcionales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08648" y="1345438"/>
            <a:ext cx="2783205" cy="1764664"/>
          </a:xfrm>
          <a:custGeom>
            <a:avLst/>
            <a:gdLst/>
            <a:ahLst/>
            <a:cxnLst/>
            <a:rect l="l" t="t" r="r" b="b"/>
            <a:pathLst>
              <a:path w="2783204" h="1764664">
                <a:moveTo>
                  <a:pt x="1030351" y="85725"/>
                </a:moveTo>
                <a:lnTo>
                  <a:pt x="1037083" y="52345"/>
                </a:lnTo>
                <a:lnTo>
                  <a:pt x="1055449" y="25098"/>
                </a:lnTo>
                <a:lnTo>
                  <a:pt x="1082696" y="6732"/>
                </a:lnTo>
                <a:lnTo>
                  <a:pt x="1116076" y="0"/>
                </a:lnTo>
                <a:lnTo>
                  <a:pt x="1322451" y="0"/>
                </a:lnTo>
                <a:lnTo>
                  <a:pt x="1760601" y="0"/>
                </a:lnTo>
                <a:lnTo>
                  <a:pt x="2697226" y="0"/>
                </a:lnTo>
                <a:lnTo>
                  <a:pt x="2730605" y="6732"/>
                </a:lnTo>
                <a:lnTo>
                  <a:pt x="2757852" y="25098"/>
                </a:lnTo>
                <a:lnTo>
                  <a:pt x="2776218" y="52345"/>
                </a:lnTo>
                <a:lnTo>
                  <a:pt x="2782951" y="85725"/>
                </a:lnTo>
                <a:lnTo>
                  <a:pt x="2782951" y="299974"/>
                </a:lnTo>
                <a:lnTo>
                  <a:pt x="2782951" y="428625"/>
                </a:lnTo>
                <a:lnTo>
                  <a:pt x="2776218" y="462004"/>
                </a:lnTo>
                <a:lnTo>
                  <a:pt x="2757852" y="489251"/>
                </a:lnTo>
                <a:lnTo>
                  <a:pt x="2730605" y="507617"/>
                </a:lnTo>
                <a:lnTo>
                  <a:pt x="2697226" y="514350"/>
                </a:lnTo>
                <a:lnTo>
                  <a:pt x="1760601" y="514350"/>
                </a:lnTo>
                <a:lnTo>
                  <a:pt x="0" y="1764538"/>
                </a:lnTo>
                <a:lnTo>
                  <a:pt x="1322451" y="514350"/>
                </a:lnTo>
                <a:lnTo>
                  <a:pt x="1116076" y="514350"/>
                </a:lnTo>
                <a:lnTo>
                  <a:pt x="1082696" y="507617"/>
                </a:lnTo>
                <a:lnTo>
                  <a:pt x="1055449" y="489251"/>
                </a:lnTo>
                <a:lnTo>
                  <a:pt x="1037083" y="462004"/>
                </a:lnTo>
                <a:lnTo>
                  <a:pt x="1030351" y="428625"/>
                </a:lnTo>
                <a:lnTo>
                  <a:pt x="1030351" y="299974"/>
                </a:lnTo>
                <a:lnTo>
                  <a:pt x="1030351" y="85725"/>
                </a:lnTo>
                <a:close/>
              </a:path>
            </a:pathLst>
          </a:custGeom>
          <a:ln w="9525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43902" y="1320165"/>
            <a:ext cx="1199515" cy="492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745"/>
              </a:spcBef>
            </a:pPr>
            <a:r>
              <a:rPr sz="1800" spc="-110" dirty="0">
                <a:latin typeface="Arial"/>
                <a:cs typeface="Arial"/>
              </a:rPr>
              <a:t>Project  </a:t>
            </a:r>
            <a:r>
              <a:rPr sz="1800" spc="-160" dirty="0">
                <a:latin typeface="Arial"/>
                <a:cs typeface="Arial"/>
              </a:rPr>
              <a:t>Co</a:t>
            </a:r>
            <a:r>
              <a:rPr sz="1800" spc="-55" dirty="0">
                <a:latin typeface="Arial"/>
                <a:cs typeface="Arial"/>
              </a:rPr>
              <a:t>or</a:t>
            </a:r>
            <a:r>
              <a:rPr sz="1800" spc="-70" dirty="0">
                <a:latin typeface="Arial"/>
                <a:cs typeface="Arial"/>
              </a:rPr>
              <a:t>di</a:t>
            </a:r>
            <a:r>
              <a:rPr sz="1800" spc="-90" dirty="0">
                <a:latin typeface="Arial"/>
                <a:cs typeface="Arial"/>
              </a:rPr>
              <a:t>n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spc="-114" dirty="0">
                <a:latin typeface="Arial"/>
                <a:cs typeface="Arial"/>
              </a:rPr>
              <a:t>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3136010"/>
            <a:ext cx="8451850" cy="519430"/>
          </a:xfrm>
          <a:custGeom>
            <a:avLst/>
            <a:gdLst/>
            <a:ahLst/>
            <a:cxnLst/>
            <a:rect l="l" t="t" r="r" b="b"/>
            <a:pathLst>
              <a:path w="8451850" h="519429">
                <a:moveTo>
                  <a:pt x="0" y="259587"/>
                </a:moveTo>
                <a:lnTo>
                  <a:pt x="27136" y="230004"/>
                </a:lnTo>
                <a:lnTo>
                  <a:pt x="74466" y="210813"/>
                </a:lnTo>
                <a:lnTo>
                  <a:pt x="124691" y="196736"/>
                </a:lnTo>
                <a:lnTo>
                  <a:pt x="164983" y="187514"/>
                </a:lnTo>
                <a:lnTo>
                  <a:pt x="210594" y="178432"/>
                </a:lnTo>
                <a:lnTo>
                  <a:pt x="261414" y="169494"/>
                </a:lnTo>
                <a:lnTo>
                  <a:pt x="317334" y="160709"/>
                </a:lnTo>
                <a:lnTo>
                  <a:pt x="378245" y="152082"/>
                </a:lnTo>
                <a:lnTo>
                  <a:pt x="444037" y="143621"/>
                </a:lnTo>
                <a:lnTo>
                  <a:pt x="514601" y="135332"/>
                </a:lnTo>
                <a:lnTo>
                  <a:pt x="589827" y="127222"/>
                </a:lnTo>
                <a:lnTo>
                  <a:pt x="629154" y="123236"/>
                </a:lnTo>
                <a:lnTo>
                  <a:pt x="669605" y="119298"/>
                </a:lnTo>
                <a:lnTo>
                  <a:pt x="711168" y="115407"/>
                </a:lnTo>
                <a:lnTo>
                  <a:pt x="753827" y="111566"/>
                </a:lnTo>
                <a:lnTo>
                  <a:pt x="797570" y="107774"/>
                </a:lnTo>
                <a:lnTo>
                  <a:pt x="842383" y="104032"/>
                </a:lnTo>
                <a:lnTo>
                  <a:pt x="888252" y="100343"/>
                </a:lnTo>
                <a:lnTo>
                  <a:pt x="935164" y="96705"/>
                </a:lnTo>
                <a:lnTo>
                  <a:pt x="983104" y="93121"/>
                </a:lnTo>
                <a:lnTo>
                  <a:pt x="1032059" y="89590"/>
                </a:lnTo>
                <a:lnTo>
                  <a:pt x="1082016" y="86115"/>
                </a:lnTo>
                <a:lnTo>
                  <a:pt x="1132960" y="82695"/>
                </a:lnTo>
                <a:lnTo>
                  <a:pt x="1184879" y="79331"/>
                </a:lnTo>
                <a:lnTo>
                  <a:pt x="1237757" y="76025"/>
                </a:lnTo>
                <a:lnTo>
                  <a:pt x="1291583" y="72777"/>
                </a:lnTo>
                <a:lnTo>
                  <a:pt x="1346341" y="69588"/>
                </a:lnTo>
                <a:lnTo>
                  <a:pt x="1402019" y="66459"/>
                </a:lnTo>
                <a:lnTo>
                  <a:pt x="1458602" y="63390"/>
                </a:lnTo>
                <a:lnTo>
                  <a:pt x="1516078" y="60383"/>
                </a:lnTo>
                <a:lnTo>
                  <a:pt x="1574432" y="57438"/>
                </a:lnTo>
                <a:lnTo>
                  <a:pt x="1633650" y="54557"/>
                </a:lnTo>
                <a:lnTo>
                  <a:pt x="1693719" y="51740"/>
                </a:lnTo>
                <a:lnTo>
                  <a:pt x="1754625" y="48987"/>
                </a:lnTo>
                <a:lnTo>
                  <a:pt x="1816355" y="46300"/>
                </a:lnTo>
                <a:lnTo>
                  <a:pt x="1878895" y="43680"/>
                </a:lnTo>
                <a:lnTo>
                  <a:pt x="1942231" y="41127"/>
                </a:lnTo>
                <a:lnTo>
                  <a:pt x="2006350" y="38642"/>
                </a:lnTo>
                <a:lnTo>
                  <a:pt x="2071237" y="36227"/>
                </a:lnTo>
                <a:lnTo>
                  <a:pt x="2136880" y="33881"/>
                </a:lnTo>
                <a:lnTo>
                  <a:pt x="2203264" y="31606"/>
                </a:lnTo>
                <a:lnTo>
                  <a:pt x="2270376" y="29403"/>
                </a:lnTo>
                <a:lnTo>
                  <a:pt x="2338202" y="27272"/>
                </a:lnTo>
                <a:lnTo>
                  <a:pt x="2406728" y="25215"/>
                </a:lnTo>
                <a:lnTo>
                  <a:pt x="2475941" y="23231"/>
                </a:lnTo>
                <a:lnTo>
                  <a:pt x="2545827" y="21323"/>
                </a:lnTo>
                <a:lnTo>
                  <a:pt x="2616373" y="19490"/>
                </a:lnTo>
                <a:lnTo>
                  <a:pt x="2687564" y="17734"/>
                </a:lnTo>
                <a:lnTo>
                  <a:pt x="2759388" y="16055"/>
                </a:lnTo>
                <a:lnTo>
                  <a:pt x="2831829" y="14455"/>
                </a:lnTo>
                <a:lnTo>
                  <a:pt x="2904876" y="12934"/>
                </a:lnTo>
                <a:lnTo>
                  <a:pt x="2978513" y="11493"/>
                </a:lnTo>
                <a:lnTo>
                  <a:pt x="3052728" y="10133"/>
                </a:lnTo>
                <a:lnTo>
                  <a:pt x="3127506" y="8854"/>
                </a:lnTo>
                <a:lnTo>
                  <a:pt x="3202835" y="7658"/>
                </a:lnTo>
                <a:lnTo>
                  <a:pt x="3278699" y="6545"/>
                </a:lnTo>
                <a:lnTo>
                  <a:pt x="3355086" y="5517"/>
                </a:lnTo>
                <a:lnTo>
                  <a:pt x="3431983" y="4573"/>
                </a:lnTo>
                <a:lnTo>
                  <a:pt x="3509374" y="3715"/>
                </a:lnTo>
                <a:lnTo>
                  <a:pt x="3587247" y="2945"/>
                </a:lnTo>
                <a:lnTo>
                  <a:pt x="3665588" y="2261"/>
                </a:lnTo>
                <a:lnTo>
                  <a:pt x="3744383" y="1666"/>
                </a:lnTo>
                <a:lnTo>
                  <a:pt x="3823618" y="1160"/>
                </a:lnTo>
                <a:lnTo>
                  <a:pt x="3903280" y="745"/>
                </a:lnTo>
                <a:lnTo>
                  <a:pt x="3983356" y="420"/>
                </a:lnTo>
                <a:lnTo>
                  <a:pt x="4063831" y="187"/>
                </a:lnTo>
                <a:lnTo>
                  <a:pt x="4144692" y="46"/>
                </a:lnTo>
                <a:lnTo>
                  <a:pt x="4225925" y="0"/>
                </a:lnTo>
                <a:lnTo>
                  <a:pt x="4307157" y="46"/>
                </a:lnTo>
                <a:lnTo>
                  <a:pt x="4388018" y="187"/>
                </a:lnTo>
                <a:lnTo>
                  <a:pt x="4468493" y="420"/>
                </a:lnTo>
                <a:lnTo>
                  <a:pt x="4548569" y="745"/>
                </a:lnTo>
                <a:lnTo>
                  <a:pt x="4628231" y="1160"/>
                </a:lnTo>
                <a:lnTo>
                  <a:pt x="4707466" y="1666"/>
                </a:lnTo>
                <a:lnTo>
                  <a:pt x="4786261" y="2261"/>
                </a:lnTo>
                <a:lnTo>
                  <a:pt x="4864602" y="2945"/>
                </a:lnTo>
                <a:lnTo>
                  <a:pt x="4942475" y="3715"/>
                </a:lnTo>
                <a:lnTo>
                  <a:pt x="5019866" y="4573"/>
                </a:lnTo>
                <a:lnTo>
                  <a:pt x="5096763" y="5517"/>
                </a:lnTo>
                <a:lnTo>
                  <a:pt x="5173150" y="6545"/>
                </a:lnTo>
                <a:lnTo>
                  <a:pt x="5249014" y="7658"/>
                </a:lnTo>
                <a:lnTo>
                  <a:pt x="5324343" y="8854"/>
                </a:lnTo>
                <a:lnTo>
                  <a:pt x="5399121" y="10133"/>
                </a:lnTo>
                <a:lnTo>
                  <a:pt x="5473336" y="11493"/>
                </a:lnTo>
                <a:lnTo>
                  <a:pt x="5546973" y="12934"/>
                </a:lnTo>
                <a:lnTo>
                  <a:pt x="5620020" y="14455"/>
                </a:lnTo>
                <a:lnTo>
                  <a:pt x="5692461" y="16055"/>
                </a:lnTo>
                <a:lnTo>
                  <a:pt x="5764285" y="17734"/>
                </a:lnTo>
                <a:lnTo>
                  <a:pt x="5835476" y="19490"/>
                </a:lnTo>
                <a:lnTo>
                  <a:pt x="5906022" y="21323"/>
                </a:lnTo>
                <a:lnTo>
                  <a:pt x="5975908" y="23231"/>
                </a:lnTo>
                <a:lnTo>
                  <a:pt x="6045121" y="25215"/>
                </a:lnTo>
                <a:lnTo>
                  <a:pt x="6113647" y="27272"/>
                </a:lnTo>
                <a:lnTo>
                  <a:pt x="6181473" y="29403"/>
                </a:lnTo>
                <a:lnTo>
                  <a:pt x="6248585" y="31606"/>
                </a:lnTo>
                <a:lnTo>
                  <a:pt x="6314969" y="33881"/>
                </a:lnTo>
                <a:lnTo>
                  <a:pt x="6380612" y="36227"/>
                </a:lnTo>
                <a:lnTo>
                  <a:pt x="6445499" y="38642"/>
                </a:lnTo>
                <a:lnTo>
                  <a:pt x="6509618" y="41127"/>
                </a:lnTo>
                <a:lnTo>
                  <a:pt x="6572954" y="43680"/>
                </a:lnTo>
                <a:lnTo>
                  <a:pt x="6635494" y="46300"/>
                </a:lnTo>
                <a:lnTo>
                  <a:pt x="6697224" y="48987"/>
                </a:lnTo>
                <a:lnTo>
                  <a:pt x="6758130" y="51740"/>
                </a:lnTo>
                <a:lnTo>
                  <a:pt x="6818199" y="54557"/>
                </a:lnTo>
                <a:lnTo>
                  <a:pt x="6877417" y="57438"/>
                </a:lnTo>
                <a:lnTo>
                  <a:pt x="6935771" y="60383"/>
                </a:lnTo>
                <a:lnTo>
                  <a:pt x="6993247" y="63390"/>
                </a:lnTo>
                <a:lnTo>
                  <a:pt x="7049830" y="66459"/>
                </a:lnTo>
                <a:lnTo>
                  <a:pt x="7105508" y="69588"/>
                </a:lnTo>
                <a:lnTo>
                  <a:pt x="7160266" y="72777"/>
                </a:lnTo>
                <a:lnTo>
                  <a:pt x="7214092" y="76025"/>
                </a:lnTo>
                <a:lnTo>
                  <a:pt x="7266970" y="79331"/>
                </a:lnTo>
                <a:lnTo>
                  <a:pt x="7318889" y="82695"/>
                </a:lnTo>
                <a:lnTo>
                  <a:pt x="7369833" y="86115"/>
                </a:lnTo>
                <a:lnTo>
                  <a:pt x="7419790" y="89590"/>
                </a:lnTo>
                <a:lnTo>
                  <a:pt x="7468745" y="93121"/>
                </a:lnTo>
                <a:lnTo>
                  <a:pt x="7516685" y="96705"/>
                </a:lnTo>
                <a:lnTo>
                  <a:pt x="7563597" y="100343"/>
                </a:lnTo>
                <a:lnTo>
                  <a:pt x="7609466" y="104032"/>
                </a:lnTo>
                <a:lnTo>
                  <a:pt x="7654279" y="107774"/>
                </a:lnTo>
                <a:lnTo>
                  <a:pt x="7698022" y="111566"/>
                </a:lnTo>
                <a:lnTo>
                  <a:pt x="7740681" y="115407"/>
                </a:lnTo>
                <a:lnTo>
                  <a:pt x="7782244" y="119298"/>
                </a:lnTo>
                <a:lnTo>
                  <a:pt x="7822695" y="123236"/>
                </a:lnTo>
                <a:lnTo>
                  <a:pt x="7862022" y="127222"/>
                </a:lnTo>
                <a:lnTo>
                  <a:pt x="7900211" y="131254"/>
                </a:lnTo>
                <a:lnTo>
                  <a:pt x="7973120" y="139455"/>
                </a:lnTo>
                <a:lnTo>
                  <a:pt x="8041311" y="147831"/>
                </a:lnTo>
                <a:lnTo>
                  <a:pt x="8104676" y="156375"/>
                </a:lnTo>
                <a:lnTo>
                  <a:pt x="8163105" y="165082"/>
                </a:lnTo>
                <a:lnTo>
                  <a:pt x="8216489" y="173944"/>
                </a:lnTo>
                <a:lnTo>
                  <a:pt x="8264719" y="182955"/>
                </a:lnTo>
                <a:lnTo>
                  <a:pt x="8307684" y="192108"/>
                </a:lnTo>
                <a:lnTo>
                  <a:pt x="8345275" y="201396"/>
                </a:lnTo>
                <a:lnTo>
                  <a:pt x="8391347" y="215567"/>
                </a:lnTo>
                <a:lnTo>
                  <a:pt x="8432948" y="234872"/>
                </a:lnTo>
                <a:lnTo>
                  <a:pt x="8451850" y="259587"/>
                </a:lnTo>
                <a:lnTo>
                  <a:pt x="8451084" y="264582"/>
                </a:lnTo>
                <a:lnTo>
                  <a:pt x="8415026" y="294040"/>
                </a:lnTo>
                <a:lnTo>
                  <a:pt x="8377383" y="308402"/>
                </a:lnTo>
                <a:lnTo>
                  <a:pt x="8327158" y="322489"/>
                </a:lnTo>
                <a:lnTo>
                  <a:pt x="8286866" y="331716"/>
                </a:lnTo>
                <a:lnTo>
                  <a:pt x="8241255" y="340805"/>
                </a:lnTo>
                <a:lnTo>
                  <a:pt x="8190435" y="349748"/>
                </a:lnTo>
                <a:lnTo>
                  <a:pt x="8134515" y="358538"/>
                </a:lnTo>
                <a:lnTo>
                  <a:pt x="8073604" y="367170"/>
                </a:lnTo>
                <a:lnTo>
                  <a:pt x="8007812" y="375635"/>
                </a:lnTo>
                <a:lnTo>
                  <a:pt x="7937248" y="383929"/>
                </a:lnTo>
                <a:lnTo>
                  <a:pt x="7862022" y="392043"/>
                </a:lnTo>
                <a:lnTo>
                  <a:pt x="7822695" y="396031"/>
                </a:lnTo>
                <a:lnTo>
                  <a:pt x="7782244" y="399971"/>
                </a:lnTo>
                <a:lnTo>
                  <a:pt x="7740681" y="403863"/>
                </a:lnTo>
                <a:lnTo>
                  <a:pt x="7698022" y="407707"/>
                </a:lnTo>
                <a:lnTo>
                  <a:pt x="7654279" y="411500"/>
                </a:lnTo>
                <a:lnTo>
                  <a:pt x="7609466" y="415243"/>
                </a:lnTo>
                <a:lnTo>
                  <a:pt x="7563597" y="418934"/>
                </a:lnTo>
                <a:lnTo>
                  <a:pt x="7516685" y="422573"/>
                </a:lnTo>
                <a:lnTo>
                  <a:pt x="7468745" y="426159"/>
                </a:lnTo>
                <a:lnTo>
                  <a:pt x="7419790" y="429691"/>
                </a:lnTo>
                <a:lnTo>
                  <a:pt x="7369833" y="433168"/>
                </a:lnTo>
                <a:lnTo>
                  <a:pt x="7318889" y="436589"/>
                </a:lnTo>
                <a:lnTo>
                  <a:pt x="7266970" y="439954"/>
                </a:lnTo>
                <a:lnTo>
                  <a:pt x="7214092" y="443261"/>
                </a:lnTo>
                <a:lnTo>
                  <a:pt x="7160266" y="446510"/>
                </a:lnTo>
                <a:lnTo>
                  <a:pt x="7105508" y="449700"/>
                </a:lnTo>
                <a:lnTo>
                  <a:pt x="7049830" y="452831"/>
                </a:lnTo>
                <a:lnTo>
                  <a:pt x="6993247" y="455900"/>
                </a:lnTo>
                <a:lnTo>
                  <a:pt x="6935771" y="458908"/>
                </a:lnTo>
                <a:lnTo>
                  <a:pt x="6877417" y="461853"/>
                </a:lnTo>
                <a:lnTo>
                  <a:pt x="6818199" y="464736"/>
                </a:lnTo>
                <a:lnTo>
                  <a:pt x="6758130" y="467554"/>
                </a:lnTo>
                <a:lnTo>
                  <a:pt x="6697224" y="470307"/>
                </a:lnTo>
                <a:lnTo>
                  <a:pt x="6635494" y="472995"/>
                </a:lnTo>
                <a:lnTo>
                  <a:pt x="6572954" y="475616"/>
                </a:lnTo>
                <a:lnTo>
                  <a:pt x="6509618" y="478169"/>
                </a:lnTo>
                <a:lnTo>
                  <a:pt x="6445499" y="480654"/>
                </a:lnTo>
                <a:lnTo>
                  <a:pt x="6380612" y="483070"/>
                </a:lnTo>
                <a:lnTo>
                  <a:pt x="6314969" y="485416"/>
                </a:lnTo>
                <a:lnTo>
                  <a:pt x="6248585" y="487692"/>
                </a:lnTo>
                <a:lnTo>
                  <a:pt x="6181473" y="489895"/>
                </a:lnTo>
                <a:lnTo>
                  <a:pt x="6113647" y="492027"/>
                </a:lnTo>
                <a:lnTo>
                  <a:pt x="6045121" y="494085"/>
                </a:lnTo>
                <a:lnTo>
                  <a:pt x="5975908" y="496068"/>
                </a:lnTo>
                <a:lnTo>
                  <a:pt x="5906022" y="497977"/>
                </a:lnTo>
                <a:lnTo>
                  <a:pt x="5835476" y="499810"/>
                </a:lnTo>
                <a:lnTo>
                  <a:pt x="5764285" y="501566"/>
                </a:lnTo>
                <a:lnTo>
                  <a:pt x="5692461" y="503245"/>
                </a:lnTo>
                <a:lnTo>
                  <a:pt x="5620020" y="504846"/>
                </a:lnTo>
                <a:lnTo>
                  <a:pt x="5546973" y="506367"/>
                </a:lnTo>
                <a:lnTo>
                  <a:pt x="5473336" y="507808"/>
                </a:lnTo>
                <a:lnTo>
                  <a:pt x="5399121" y="509169"/>
                </a:lnTo>
                <a:lnTo>
                  <a:pt x="5324343" y="510447"/>
                </a:lnTo>
                <a:lnTo>
                  <a:pt x="5249014" y="511644"/>
                </a:lnTo>
                <a:lnTo>
                  <a:pt x="5173150" y="512756"/>
                </a:lnTo>
                <a:lnTo>
                  <a:pt x="5096763" y="513785"/>
                </a:lnTo>
                <a:lnTo>
                  <a:pt x="5019866" y="514729"/>
                </a:lnTo>
                <a:lnTo>
                  <a:pt x="4942475" y="515586"/>
                </a:lnTo>
                <a:lnTo>
                  <a:pt x="4864602" y="516357"/>
                </a:lnTo>
                <a:lnTo>
                  <a:pt x="4786261" y="517041"/>
                </a:lnTo>
                <a:lnTo>
                  <a:pt x="4707466" y="517636"/>
                </a:lnTo>
                <a:lnTo>
                  <a:pt x="4628231" y="518142"/>
                </a:lnTo>
                <a:lnTo>
                  <a:pt x="4548569" y="518557"/>
                </a:lnTo>
                <a:lnTo>
                  <a:pt x="4468493" y="518882"/>
                </a:lnTo>
                <a:lnTo>
                  <a:pt x="4388018" y="519115"/>
                </a:lnTo>
                <a:lnTo>
                  <a:pt x="4307157" y="519256"/>
                </a:lnTo>
                <a:lnTo>
                  <a:pt x="4225925" y="519302"/>
                </a:lnTo>
                <a:lnTo>
                  <a:pt x="4144692" y="519256"/>
                </a:lnTo>
                <a:lnTo>
                  <a:pt x="4063831" y="519115"/>
                </a:lnTo>
                <a:lnTo>
                  <a:pt x="3983356" y="518882"/>
                </a:lnTo>
                <a:lnTo>
                  <a:pt x="3903280" y="518557"/>
                </a:lnTo>
                <a:lnTo>
                  <a:pt x="3823618" y="518142"/>
                </a:lnTo>
                <a:lnTo>
                  <a:pt x="3744383" y="517636"/>
                </a:lnTo>
                <a:lnTo>
                  <a:pt x="3665588" y="517041"/>
                </a:lnTo>
                <a:lnTo>
                  <a:pt x="3587247" y="516357"/>
                </a:lnTo>
                <a:lnTo>
                  <a:pt x="3509374" y="515586"/>
                </a:lnTo>
                <a:lnTo>
                  <a:pt x="3431983" y="514729"/>
                </a:lnTo>
                <a:lnTo>
                  <a:pt x="3355086" y="513785"/>
                </a:lnTo>
                <a:lnTo>
                  <a:pt x="3278699" y="512756"/>
                </a:lnTo>
                <a:lnTo>
                  <a:pt x="3202835" y="511644"/>
                </a:lnTo>
                <a:lnTo>
                  <a:pt x="3127506" y="510447"/>
                </a:lnTo>
                <a:lnTo>
                  <a:pt x="3052728" y="509169"/>
                </a:lnTo>
                <a:lnTo>
                  <a:pt x="2978513" y="507808"/>
                </a:lnTo>
                <a:lnTo>
                  <a:pt x="2904876" y="506367"/>
                </a:lnTo>
                <a:lnTo>
                  <a:pt x="2831829" y="504846"/>
                </a:lnTo>
                <a:lnTo>
                  <a:pt x="2759388" y="503245"/>
                </a:lnTo>
                <a:lnTo>
                  <a:pt x="2687564" y="501566"/>
                </a:lnTo>
                <a:lnTo>
                  <a:pt x="2616373" y="499810"/>
                </a:lnTo>
                <a:lnTo>
                  <a:pt x="2545827" y="497977"/>
                </a:lnTo>
                <a:lnTo>
                  <a:pt x="2475941" y="496068"/>
                </a:lnTo>
                <a:lnTo>
                  <a:pt x="2406728" y="494085"/>
                </a:lnTo>
                <a:lnTo>
                  <a:pt x="2338202" y="492027"/>
                </a:lnTo>
                <a:lnTo>
                  <a:pt x="2270376" y="489895"/>
                </a:lnTo>
                <a:lnTo>
                  <a:pt x="2203264" y="487692"/>
                </a:lnTo>
                <a:lnTo>
                  <a:pt x="2136880" y="485416"/>
                </a:lnTo>
                <a:lnTo>
                  <a:pt x="2071237" y="483070"/>
                </a:lnTo>
                <a:lnTo>
                  <a:pt x="2006350" y="480654"/>
                </a:lnTo>
                <a:lnTo>
                  <a:pt x="1942231" y="478169"/>
                </a:lnTo>
                <a:lnTo>
                  <a:pt x="1878895" y="475616"/>
                </a:lnTo>
                <a:lnTo>
                  <a:pt x="1816355" y="472995"/>
                </a:lnTo>
                <a:lnTo>
                  <a:pt x="1754625" y="470307"/>
                </a:lnTo>
                <a:lnTo>
                  <a:pt x="1693719" y="467554"/>
                </a:lnTo>
                <a:lnTo>
                  <a:pt x="1633650" y="464736"/>
                </a:lnTo>
                <a:lnTo>
                  <a:pt x="1574432" y="461853"/>
                </a:lnTo>
                <a:lnTo>
                  <a:pt x="1516078" y="458908"/>
                </a:lnTo>
                <a:lnTo>
                  <a:pt x="1458602" y="455900"/>
                </a:lnTo>
                <a:lnTo>
                  <a:pt x="1402019" y="452831"/>
                </a:lnTo>
                <a:lnTo>
                  <a:pt x="1346341" y="449700"/>
                </a:lnTo>
                <a:lnTo>
                  <a:pt x="1291583" y="446510"/>
                </a:lnTo>
                <a:lnTo>
                  <a:pt x="1237757" y="443261"/>
                </a:lnTo>
                <a:lnTo>
                  <a:pt x="1184879" y="439954"/>
                </a:lnTo>
                <a:lnTo>
                  <a:pt x="1132960" y="436589"/>
                </a:lnTo>
                <a:lnTo>
                  <a:pt x="1082016" y="433168"/>
                </a:lnTo>
                <a:lnTo>
                  <a:pt x="1032059" y="429691"/>
                </a:lnTo>
                <a:lnTo>
                  <a:pt x="983104" y="426159"/>
                </a:lnTo>
                <a:lnTo>
                  <a:pt x="935164" y="422573"/>
                </a:lnTo>
                <a:lnTo>
                  <a:pt x="888252" y="418934"/>
                </a:lnTo>
                <a:lnTo>
                  <a:pt x="842383" y="415243"/>
                </a:lnTo>
                <a:lnTo>
                  <a:pt x="797570" y="411500"/>
                </a:lnTo>
                <a:lnTo>
                  <a:pt x="753827" y="407707"/>
                </a:lnTo>
                <a:lnTo>
                  <a:pt x="711168" y="403863"/>
                </a:lnTo>
                <a:lnTo>
                  <a:pt x="669605" y="399971"/>
                </a:lnTo>
                <a:lnTo>
                  <a:pt x="629154" y="396031"/>
                </a:lnTo>
                <a:lnTo>
                  <a:pt x="589827" y="392043"/>
                </a:lnTo>
                <a:lnTo>
                  <a:pt x="551638" y="388009"/>
                </a:lnTo>
                <a:lnTo>
                  <a:pt x="478729" y="379804"/>
                </a:lnTo>
                <a:lnTo>
                  <a:pt x="410538" y="371424"/>
                </a:lnTo>
                <a:lnTo>
                  <a:pt x="347173" y="362874"/>
                </a:lnTo>
                <a:lnTo>
                  <a:pt x="288744" y="354162"/>
                </a:lnTo>
                <a:lnTo>
                  <a:pt x="235360" y="345295"/>
                </a:lnTo>
                <a:lnTo>
                  <a:pt x="187130" y="336278"/>
                </a:lnTo>
                <a:lnTo>
                  <a:pt x="144165" y="327119"/>
                </a:lnTo>
                <a:lnTo>
                  <a:pt x="106574" y="317825"/>
                </a:lnTo>
                <a:lnTo>
                  <a:pt x="60502" y="303644"/>
                </a:lnTo>
                <a:lnTo>
                  <a:pt x="18901" y="284324"/>
                </a:lnTo>
                <a:lnTo>
                  <a:pt x="0" y="259587"/>
                </a:lnTo>
                <a:close/>
              </a:path>
            </a:pathLst>
          </a:custGeom>
          <a:ln w="25400">
            <a:solidFill>
              <a:srgbClr val="8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33375"/>
            <a:ext cx="229870" cy="459740"/>
          </a:xfrm>
          <a:custGeom>
            <a:avLst/>
            <a:gdLst/>
            <a:ahLst/>
            <a:cxnLst/>
            <a:rect l="l" t="t" r="r" b="b"/>
            <a:pathLst>
              <a:path w="229870" h="459740">
                <a:moveTo>
                  <a:pt x="229793" y="0"/>
                </a:moveTo>
                <a:lnTo>
                  <a:pt x="183482" y="4667"/>
                </a:lnTo>
                <a:lnTo>
                  <a:pt x="140347" y="18055"/>
                </a:lnTo>
                <a:lnTo>
                  <a:pt x="101313" y="39239"/>
                </a:lnTo>
                <a:lnTo>
                  <a:pt x="67304" y="67294"/>
                </a:lnTo>
                <a:lnTo>
                  <a:pt x="39244" y="101296"/>
                </a:lnTo>
                <a:lnTo>
                  <a:pt x="18058" y="140321"/>
                </a:lnTo>
                <a:lnTo>
                  <a:pt x="4668" y="183444"/>
                </a:lnTo>
                <a:lnTo>
                  <a:pt x="0" y="229742"/>
                </a:lnTo>
                <a:lnTo>
                  <a:pt x="4668" y="276083"/>
                </a:lnTo>
                <a:lnTo>
                  <a:pt x="18058" y="319238"/>
                </a:lnTo>
                <a:lnTo>
                  <a:pt x="39244" y="358285"/>
                </a:lnTo>
                <a:lnTo>
                  <a:pt x="67304" y="392302"/>
                </a:lnTo>
                <a:lnTo>
                  <a:pt x="101313" y="420367"/>
                </a:lnTo>
                <a:lnTo>
                  <a:pt x="140347" y="441555"/>
                </a:lnTo>
                <a:lnTo>
                  <a:pt x="183482" y="454944"/>
                </a:lnTo>
                <a:lnTo>
                  <a:pt x="229793" y="459613"/>
                </a:lnTo>
                <a:lnTo>
                  <a:pt x="229793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9793" y="333413"/>
            <a:ext cx="8911590" cy="459740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340995">
              <a:lnSpc>
                <a:spcPct val="100000"/>
              </a:lnSpc>
              <a:spcBef>
                <a:spcPts val="175"/>
              </a:spcBef>
            </a:pPr>
            <a:r>
              <a:rPr sz="2200" i="0" spc="-110" dirty="0">
                <a:solidFill>
                  <a:srgbClr val="000000"/>
                </a:solidFill>
                <a:latin typeface="Arial"/>
                <a:cs typeface="Arial"/>
              </a:rPr>
              <a:t>Matricial </a:t>
            </a:r>
            <a:r>
              <a:rPr sz="2200" i="0" spc="-150" dirty="0">
                <a:solidFill>
                  <a:srgbClr val="000000"/>
                </a:solidFill>
                <a:latin typeface="Arial"/>
                <a:cs typeface="Arial"/>
              </a:rPr>
              <a:t>Balanceada, </a:t>
            </a:r>
            <a:r>
              <a:rPr sz="2200" i="0" spc="-175" dirty="0">
                <a:solidFill>
                  <a:srgbClr val="000000"/>
                </a:solidFill>
                <a:latin typeface="Arial"/>
                <a:cs typeface="Arial"/>
              </a:rPr>
              <a:t>Parecida </a:t>
            </a:r>
            <a:r>
              <a:rPr sz="2200" i="0" spc="-65" dirty="0">
                <a:solidFill>
                  <a:srgbClr val="000000"/>
                </a:solidFill>
                <a:latin typeface="Arial"/>
                <a:cs typeface="Arial"/>
              </a:rPr>
              <a:t>a </a:t>
            </a:r>
            <a:r>
              <a:rPr sz="2200" i="0" spc="-55" dirty="0">
                <a:solidFill>
                  <a:srgbClr val="000000"/>
                </a:solidFill>
                <a:latin typeface="Arial"/>
                <a:cs typeface="Arial"/>
              </a:rPr>
              <a:t>la </a:t>
            </a:r>
            <a:r>
              <a:rPr sz="2200" i="0" spc="-140" dirty="0">
                <a:solidFill>
                  <a:srgbClr val="000000"/>
                </a:solidFill>
                <a:latin typeface="Arial"/>
                <a:cs typeface="Arial"/>
              </a:rPr>
              <a:t>funcional </a:t>
            </a:r>
            <a:r>
              <a:rPr sz="2200" i="0" spc="-175" dirty="0">
                <a:solidFill>
                  <a:srgbClr val="000000"/>
                </a:solidFill>
                <a:latin typeface="Arial"/>
                <a:cs typeface="Arial"/>
              </a:rPr>
              <a:t>pero </a:t>
            </a:r>
            <a:r>
              <a:rPr sz="2200" i="0" spc="-125" dirty="0">
                <a:solidFill>
                  <a:srgbClr val="000000"/>
                </a:solidFill>
                <a:latin typeface="Arial"/>
                <a:cs typeface="Arial"/>
              </a:rPr>
              <a:t>da </a:t>
            </a:r>
            <a:r>
              <a:rPr sz="2200" i="0" spc="-190" dirty="0">
                <a:solidFill>
                  <a:srgbClr val="000000"/>
                </a:solidFill>
                <a:latin typeface="Arial"/>
                <a:cs typeface="Arial"/>
              </a:rPr>
              <a:t>mas </a:t>
            </a:r>
            <a:r>
              <a:rPr sz="2200" i="0" spc="-180" dirty="0">
                <a:solidFill>
                  <a:srgbClr val="000000"/>
                </a:solidFill>
                <a:latin typeface="Arial"/>
                <a:cs typeface="Arial"/>
              </a:rPr>
              <a:t>poder </a:t>
            </a:r>
            <a:r>
              <a:rPr sz="2200" i="0" spc="-55" dirty="0">
                <a:solidFill>
                  <a:srgbClr val="000000"/>
                </a:solidFill>
                <a:latin typeface="Arial"/>
                <a:cs typeface="Arial"/>
              </a:rPr>
              <a:t>al</a:t>
            </a:r>
            <a:r>
              <a:rPr sz="2200" i="0" spc="2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i="0" spc="-254" dirty="0">
                <a:solidFill>
                  <a:srgbClr val="000000"/>
                </a:solidFill>
                <a:latin typeface="Arial"/>
                <a:cs typeface="Arial"/>
              </a:rPr>
              <a:t>GP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67678" y="2082673"/>
            <a:ext cx="1890522" cy="334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67678" y="2082673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0" y="55752"/>
                </a:moveTo>
                <a:lnTo>
                  <a:pt x="4369" y="34022"/>
                </a:lnTo>
                <a:lnTo>
                  <a:pt x="16287" y="16303"/>
                </a:lnTo>
                <a:lnTo>
                  <a:pt x="33968" y="4371"/>
                </a:lnTo>
                <a:lnTo>
                  <a:pt x="55625" y="0"/>
                </a:lnTo>
                <a:lnTo>
                  <a:pt x="1834769" y="0"/>
                </a:lnTo>
                <a:lnTo>
                  <a:pt x="1856499" y="4371"/>
                </a:lnTo>
                <a:lnTo>
                  <a:pt x="1874218" y="16303"/>
                </a:lnTo>
                <a:lnTo>
                  <a:pt x="1886150" y="34022"/>
                </a:lnTo>
                <a:lnTo>
                  <a:pt x="1890522" y="55752"/>
                </a:lnTo>
                <a:lnTo>
                  <a:pt x="1890522" y="278638"/>
                </a:lnTo>
                <a:lnTo>
                  <a:pt x="1886150" y="300295"/>
                </a:lnTo>
                <a:lnTo>
                  <a:pt x="1874218" y="317976"/>
                </a:lnTo>
                <a:lnTo>
                  <a:pt x="1856499" y="329894"/>
                </a:lnTo>
                <a:lnTo>
                  <a:pt x="1834769" y="334263"/>
                </a:lnTo>
                <a:lnTo>
                  <a:pt x="55625" y="334263"/>
                </a:lnTo>
                <a:lnTo>
                  <a:pt x="33968" y="329894"/>
                </a:lnTo>
                <a:lnTo>
                  <a:pt x="16287" y="317976"/>
                </a:lnTo>
                <a:lnTo>
                  <a:pt x="4369" y="30029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63690" y="2130932"/>
            <a:ext cx="1356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Area </a:t>
            </a:r>
            <a:r>
              <a:rPr sz="1200" b="1" dirty="0">
                <a:latin typeface="Tahoma"/>
                <a:cs typeface="Tahoma"/>
              </a:rPr>
              <a:t>3</a:t>
            </a:r>
            <a:r>
              <a:rPr sz="1200" b="1" spc="-70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Ingenieria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5800" y="2082673"/>
            <a:ext cx="1890522" cy="334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5800" y="2082673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4">
                <a:moveTo>
                  <a:pt x="0" y="55752"/>
                </a:moveTo>
                <a:lnTo>
                  <a:pt x="4378" y="34022"/>
                </a:lnTo>
                <a:lnTo>
                  <a:pt x="16319" y="16303"/>
                </a:lnTo>
                <a:lnTo>
                  <a:pt x="34032" y="4371"/>
                </a:lnTo>
                <a:lnTo>
                  <a:pt x="55727" y="0"/>
                </a:lnTo>
                <a:lnTo>
                  <a:pt x="1834895" y="0"/>
                </a:lnTo>
                <a:lnTo>
                  <a:pt x="1856553" y="4371"/>
                </a:lnTo>
                <a:lnTo>
                  <a:pt x="1874234" y="16303"/>
                </a:lnTo>
                <a:lnTo>
                  <a:pt x="1886152" y="34022"/>
                </a:lnTo>
                <a:lnTo>
                  <a:pt x="1890522" y="55752"/>
                </a:lnTo>
                <a:lnTo>
                  <a:pt x="1890522" y="278638"/>
                </a:lnTo>
                <a:lnTo>
                  <a:pt x="1886152" y="300295"/>
                </a:lnTo>
                <a:lnTo>
                  <a:pt x="1874234" y="317976"/>
                </a:lnTo>
                <a:lnTo>
                  <a:pt x="1856553" y="329894"/>
                </a:lnTo>
                <a:lnTo>
                  <a:pt x="1834895" y="334263"/>
                </a:lnTo>
                <a:lnTo>
                  <a:pt x="55727" y="334263"/>
                </a:lnTo>
                <a:lnTo>
                  <a:pt x="34032" y="329894"/>
                </a:lnTo>
                <a:lnTo>
                  <a:pt x="16319" y="317976"/>
                </a:lnTo>
                <a:lnTo>
                  <a:pt x="4378" y="30029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0999" y="2130932"/>
            <a:ext cx="1416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Area </a:t>
            </a:r>
            <a:r>
              <a:rPr sz="1200" b="1" dirty="0">
                <a:latin typeface="Tahoma"/>
                <a:cs typeface="Tahoma"/>
              </a:rPr>
              <a:t>1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Producción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26739" y="2082673"/>
            <a:ext cx="1890522" cy="334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26739" y="2082673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0" y="55752"/>
                </a:moveTo>
                <a:lnTo>
                  <a:pt x="4371" y="34022"/>
                </a:lnTo>
                <a:lnTo>
                  <a:pt x="16303" y="16303"/>
                </a:lnTo>
                <a:lnTo>
                  <a:pt x="34022" y="4371"/>
                </a:lnTo>
                <a:lnTo>
                  <a:pt x="55752" y="0"/>
                </a:lnTo>
                <a:lnTo>
                  <a:pt x="1834769" y="0"/>
                </a:lnTo>
                <a:lnTo>
                  <a:pt x="1856499" y="4371"/>
                </a:lnTo>
                <a:lnTo>
                  <a:pt x="1874218" y="16303"/>
                </a:lnTo>
                <a:lnTo>
                  <a:pt x="1886150" y="34022"/>
                </a:lnTo>
                <a:lnTo>
                  <a:pt x="1890522" y="55752"/>
                </a:lnTo>
                <a:lnTo>
                  <a:pt x="1890522" y="278638"/>
                </a:lnTo>
                <a:lnTo>
                  <a:pt x="1886150" y="300295"/>
                </a:lnTo>
                <a:lnTo>
                  <a:pt x="1874218" y="317976"/>
                </a:lnTo>
                <a:lnTo>
                  <a:pt x="1856499" y="329894"/>
                </a:lnTo>
                <a:lnTo>
                  <a:pt x="1834769" y="334263"/>
                </a:lnTo>
                <a:lnTo>
                  <a:pt x="55752" y="334263"/>
                </a:lnTo>
                <a:lnTo>
                  <a:pt x="34022" y="329894"/>
                </a:lnTo>
                <a:lnTo>
                  <a:pt x="16303" y="317976"/>
                </a:lnTo>
                <a:lnTo>
                  <a:pt x="4371" y="30029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22370" y="2130932"/>
            <a:ext cx="1083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Area </a:t>
            </a:r>
            <a:r>
              <a:rPr sz="1200" b="1" dirty="0">
                <a:latin typeface="Tahoma"/>
                <a:cs typeface="Tahoma"/>
              </a:rPr>
              <a:t>2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Diseño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5800" y="2639822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4">
                <a:moveTo>
                  <a:pt x="1834895" y="0"/>
                </a:moveTo>
                <a:lnTo>
                  <a:pt x="55727" y="0"/>
                </a:lnTo>
                <a:lnTo>
                  <a:pt x="34032" y="4389"/>
                </a:lnTo>
                <a:lnTo>
                  <a:pt x="16319" y="16351"/>
                </a:lnTo>
                <a:lnTo>
                  <a:pt x="4378" y="34075"/>
                </a:lnTo>
                <a:lnTo>
                  <a:pt x="0" y="55752"/>
                </a:lnTo>
                <a:lnTo>
                  <a:pt x="0" y="278638"/>
                </a:lnTo>
                <a:lnTo>
                  <a:pt x="4378" y="300315"/>
                </a:lnTo>
                <a:lnTo>
                  <a:pt x="16319" y="318039"/>
                </a:lnTo>
                <a:lnTo>
                  <a:pt x="34032" y="330001"/>
                </a:lnTo>
                <a:lnTo>
                  <a:pt x="55727" y="334390"/>
                </a:lnTo>
                <a:lnTo>
                  <a:pt x="1834895" y="334390"/>
                </a:lnTo>
                <a:lnTo>
                  <a:pt x="1856553" y="330001"/>
                </a:lnTo>
                <a:lnTo>
                  <a:pt x="1874234" y="318039"/>
                </a:lnTo>
                <a:lnTo>
                  <a:pt x="1886152" y="300315"/>
                </a:lnTo>
                <a:lnTo>
                  <a:pt x="1890522" y="278638"/>
                </a:lnTo>
                <a:lnTo>
                  <a:pt x="1890522" y="55752"/>
                </a:lnTo>
                <a:lnTo>
                  <a:pt x="1886152" y="34075"/>
                </a:lnTo>
                <a:lnTo>
                  <a:pt x="1874234" y="16351"/>
                </a:lnTo>
                <a:lnTo>
                  <a:pt x="1856553" y="4389"/>
                </a:lnTo>
                <a:lnTo>
                  <a:pt x="1834895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5800" y="2639822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4">
                <a:moveTo>
                  <a:pt x="0" y="55752"/>
                </a:moveTo>
                <a:lnTo>
                  <a:pt x="4378" y="34075"/>
                </a:lnTo>
                <a:lnTo>
                  <a:pt x="16319" y="16351"/>
                </a:lnTo>
                <a:lnTo>
                  <a:pt x="34032" y="4389"/>
                </a:lnTo>
                <a:lnTo>
                  <a:pt x="55727" y="0"/>
                </a:lnTo>
                <a:lnTo>
                  <a:pt x="1834895" y="0"/>
                </a:lnTo>
                <a:lnTo>
                  <a:pt x="1856553" y="4389"/>
                </a:lnTo>
                <a:lnTo>
                  <a:pt x="1874234" y="16351"/>
                </a:lnTo>
                <a:lnTo>
                  <a:pt x="1886152" y="34075"/>
                </a:lnTo>
                <a:lnTo>
                  <a:pt x="1890522" y="55752"/>
                </a:lnTo>
                <a:lnTo>
                  <a:pt x="1890522" y="278638"/>
                </a:lnTo>
                <a:lnTo>
                  <a:pt x="1886152" y="300315"/>
                </a:lnTo>
                <a:lnTo>
                  <a:pt x="1874234" y="318039"/>
                </a:lnTo>
                <a:lnTo>
                  <a:pt x="1856553" y="330001"/>
                </a:lnTo>
                <a:lnTo>
                  <a:pt x="1834895" y="334390"/>
                </a:lnTo>
                <a:lnTo>
                  <a:pt x="55727" y="334390"/>
                </a:lnTo>
                <a:lnTo>
                  <a:pt x="34032" y="330001"/>
                </a:lnTo>
                <a:lnTo>
                  <a:pt x="16319" y="318039"/>
                </a:lnTo>
                <a:lnTo>
                  <a:pt x="4378" y="30031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80999" y="2688463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26739" y="2639822"/>
            <a:ext cx="1890522" cy="3343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26739" y="2639822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0" y="55752"/>
                </a:moveTo>
                <a:lnTo>
                  <a:pt x="4371" y="34075"/>
                </a:lnTo>
                <a:lnTo>
                  <a:pt x="16303" y="16351"/>
                </a:lnTo>
                <a:lnTo>
                  <a:pt x="34022" y="4389"/>
                </a:lnTo>
                <a:lnTo>
                  <a:pt x="55752" y="0"/>
                </a:lnTo>
                <a:lnTo>
                  <a:pt x="1834769" y="0"/>
                </a:lnTo>
                <a:lnTo>
                  <a:pt x="1856499" y="4389"/>
                </a:lnTo>
                <a:lnTo>
                  <a:pt x="1874218" y="16351"/>
                </a:lnTo>
                <a:lnTo>
                  <a:pt x="1886150" y="34075"/>
                </a:lnTo>
                <a:lnTo>
                  <a:pt x="1890522" y="55752"/>
                </a:lnTo>
                <a:lnTo>
                  <a:pt x="1890522" y="278638"/>
                </a:lnTo>
                <a:lnTo>
                  <a:pt x="1886150" y="300315"/>
                </a:lnTo>
                <a:lnTo>
                  <a:pt x="1874218" y="318039"/>
                </a:lnTo>
                <a:lnTo>
                  <a:pt x="1856499" y="330001"/>
                </a:lnTo>
                <a:lnTo>
                  <a:pt x="1834769" y="334390"/>
                </a:lnTo>
                <a:lnTo>
                  <a:pt x="55752" y="334390"/>
                </a:lnTo>
                <a:lnTo>
                  <a:pt x="34022" y="330001"/>
                </a:lnTo>
                <a:lnTo>
                  <a:pt x="16303" y="318039"/>
                </a:lnTo>
                <a:lnTo>
                  <a:pt x="4371" y="30031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722370" y="2688463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67678" y="2639822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1834769" y="0"/>
                </a:moveTo>
                <a:lnTo>
                  <a:pt x="55625" y="0"/>
                </a:lnTo>
                <a:lnTo>
                  <a:pt x="33968" y="4389"/>
                </a:lnTo>
                <a:lnTo>
                  <a:pt x="16287" y="16351"/>
                </a:lnTo>
                <a:lnTo>
                  <a:pt x="4369" y="34075"/>
                </a:lnTo>
                <a:lnTo>
                  <a:pt x="0" y="55752"/>
                </a:lnTo>
                <a:lnTo>
                  <a:pt x="0" y="278638"/>
                </a:lnTo>
                <a:lnTo>
                  <a:pt x="4369" y="300315"/>
                </a:lnTo>
                <a:lnTo>
                  <a:pt x="16287" y="318039"/>
                </a:lnTo>
                <a:lnTo>
                  <a:pt x="33968" y="330001"/>
                </a:lnTo>
                <a:lnTo>
                  <a:pt x="55625" y="334390"/>
                </a:lnTo>
                <a:lnTo>
                  <a:pt x="1834769" y="334390"/>
                </a:lnTo>
                <a:lnTo>
                  <a:pt x="1856499" y="330001"/>
                </a:lnTo>
                <a:lnTo>
                  <a:pt x="1874218" y="318039"/>
                </a:lnTo>
                <a:lnTo>
                  <a:pt x="1886150" y="300315"/>
                </a:lnTo>
                <a:lnTo>
                  <a:pt x="1890522" y="278638"/>
                </a:lnTo>
                <a:lnTo>
                  <a:pt x="1890522" y="55752"/>
                </a:lnTo>
                <a:lnTo>
                  <a:pt x="1886150" y="34075"/>
                </a:lnTo>
                <a:lnTo>
                  <a:pt x="1874218" y="16351"/>
                </a:lnTo>
                <a:lnTo>
                  <a:pt x="1856499" y="4389"/>
                </a:lnTo>
                <a:lnTo>
                  <a:pt x="1834769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67678" y="2639822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4">
                <a:moveTo>
                  <a:pt x="0" y="55752"/>
                </a:moveTo>
                <a:lnTo>
                  <a:pt x="4369" y="34075"/>
                </a:lnTo>
                <a:lnTo>
                  <a:pt x="16287" y="16351"/>
                </a:lnTo>
                <a:lnTo>
                  <a:pt x="33968" y="4389"/>
                </a:lnTo>
                <a:lnTo>
                  <a:pt x="55625" y="0"/>
                </a:lnTo>
                <a:lnTo>
                  <a:pt x="1834769" y="0"/>
                </a:lnTo>
                <a:lnTo>
                  <a:pt x="1856499" y="4389"/>
                </a:lnTo>
                <a:lnTo>
                  <a:pt x="1874218" y="16351"/>
                </a:lnTo>
                <a:lnTo>
                  <a:pt x="1886150" y="34075"/>
                </a:lnTo>
                <a:lnTo>
                  <a:pt x="1890522" y="55752"/>
                </a:lnTo>
                <a:lnTo>
                  <a:pt x="1890522" y="278638"/>
                </a:lnTo>
                <a:lnTo>
                  <a:pt x="1886150" y="300315"/>
                </a:lnTo>
                <a:lnTo>
                  <a:pt x="1874218" y="318039"/>
                </a:lnTo>
                <a:lnTo>
                  <a:pt x="1856499" y="330001"/>
                </a:lnTo>
                <a:lnTo>
                  <a:pt x="1834769" y="334390"/>
                </a:lnTo>
                <a:lnTo>
                  <a:pt x="55625" y="334390"/>
                </a:lnTo>
                <a:lnTo>
                  <a:pt x="33968" y="330001"/>
                </a:lnTo>
                <a:lnTo>
                  <a:pt x="16287" y="318039"/>
                </a:lnTo>
                <a:lnTo>
                  <a:pt x="4369" y="30031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663690" y="2688463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16680" y="1302511"/>
            <a:ext cx="2520696" cy="3343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16680" y="1302511"/>
            <a:ext cx="2520950" cy="334645"/>
          </a:xfrm>
          <a:custGeom>
            <a:avLst/>
            <a:gdLst/>
            <a:ahLst/>
            <a:cxnLst/>
            <a:rect l="l" t="t" r="r" b="b"/>
            <a:pathLst>
              <a:path w="2520950" h="334644">
                <a:moveTo>
                  <a:pt x="0" y="55752"/>
                </a:moveTo>
                <a:lnTo>
                  <a:pt x="4369" y="34075"/>
                </a:lnTo>
                <a:lnTo>
                  <a:pt x="16287" y="16351"/>
                </a:lnTo>
                <a:lnTo>
                  <a:pt x="33968" y="4389"/>
                </a:lnTo>
                <a:lnTo>
                  <a:pt x="55626" y="0"/>
                </a:lnTo>
                <a:lnTo>
                  <a:pt x="2465070" y="0"/>
                </a:lnTo>
                <a:lnTo>
                  <a:pt x="2486727" y="4389"/>
                </a:lnTo>
                <a:lnTo>
                  <a:pt x="2504408" y="16351"/>
                </a:lnTo>
                <a:lnTo>
                  <a:pt x="2516326" y="34075"/>
                </a:lnTo>
                <a:lnTo>
                  <a:pt x="2520696" y="55752"/>
                </a:lnTo>
                <a:lnTo>
                  <a:pt x="2520696" y="278638"/>
                </a:lnTo>
                <a:lnTo>
                  <a:pt x="2516326" y="300315"/>
                </a:lnTo>
                <a:lnTo>
                  <a:pt x="2504408" y="318039"/>
                </a:lnTo>
                <a:lnTo>
                  <a:pt x="2486727" y="330001"/>
                </a:lnTo>
                <a:lnTo>
                  <a:pt x="2465070" y="334390"/>
                </a:lnTo>
                <a:lnTo>
                  <a:pt x="55626" y="334390"/>
                </a:lnTo>
                <a:lnTo>
                  <a:pt x="33968" y="330001"/>
                </a:lnTo>
                <a:lnTo>
                  <a:pt x="16287" y="318039"/>
                </a:lnTo>
                <a:lnTo>
                  <a:pt x="4369" y="30031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430014" y="1350645"/>
            <a:ext cx="494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ahoma"/>
                <a:cs typeface="Tahoma"/>
              </a:rPr>
              <a:t>CEO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85800" y="3197098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5">
                <a:moveTo>
                  <a:pt x="1834895" y="0"/>
                </a:moveTo>
                <a:lnTo>
                  <a:pt x="55727" y="0"/>
                </a:lnTo>
                <a:lnTo>
                  <a:pt x="34032" y="4371"/>
                </a:lnTo>
                <a:lnTo>
                  <a:pt x="16319" y="16303"/>
                </a:lnTo>
                <a:lnTo>
                  <a:pt x="4378" y="34022"/>
                </a:lnTo>
                <a:lnTo>
                  <a:pt x="0" y="55752"/>
                </a:lnTo>
                <a:lnTo>
                  <a:pt x="0" y="278638"/>
                </a:lnTo>
                <a:lnTo>
                  <a:pt x="4378" y="300295"/>
                </a:lnTo>
                <a:lnTo>
                  <a:pt x="16319" y="317976"/>
                </a:lnTo>
                <a:lnTo>
                  <a:pt x="34032" y="329894"/>
                </a:lnTo>
                <a:lnTo>
                  <a:pt x="55727" y="334263"/>
                </a:lnTo>
                <a:lnTo>
                  <a:pt x="1834895" y="334263"/>
                </a:lnTo>
                <a:lnTo>
                  <a:pt x="1856553" y="329894"/>
                </a:lnTo>
                <a:lnTo>
                  <a:pt x="1874234" y="317976"/>
                </a:lnTo>
                <a:lnTo>
                  <a:pt x="1886152" y="300295"/>
                </a:lnTo>
                <a:lnTo>
                  <a:pt x="1890522" y="278638"/>
                </a:lnTo>
                <a:lnTo>
                  <a:pt x="1890522" y="55752"/>
                </a:lnTo>
                <a:lnTo>
                  <a:pt x="1886152" y="34022"/>
                </a:lnTo>
                <a:lnTo>
                  <a:pt x="1874234" y="16303"/>
                </a:lnTo>
                <a:lnTo>
                  <a:pt x="1856553" y="4371"/>
                </a:lnTo>
                <a:lnTo>
                  <a:pt x="1834895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5800" y="3197098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30" h="334645">
                <a:moveTo>
                  <a:pt x="0" y="55752"/>
                </a:moveTo>
                <a:lnTo>
                  <a:pt x="4378" y="34022"/>
                </a:lnTo>
                <a:lnTo>
                  <a:pt x="16319" y="16303"/>
                </a:lnTo>
                <a:lnTo>
                  <a:pt x="34032" y="4371"/>
                </a:lnTo>
                <a:lnTo>
                  <a:pt x="55727" y="0"/>
                </a:lnTo>
                <a:lnTo>
                  <a:pt x="1834895" y="0"/>
                </a:lnTo>
                <a:lnTo>
                  <a:pt x="1856553" y="4371"/>
                </a:lnTo>
                <a:lnTo>
                  <a:pt x="1874234" y="16303"/>
                </a:lnTo>
                <a:lnTo>
                  <a:pt x="1886152" y="34022"/>
                </a:lnTo>
                <a:lnTo>
                  <a:pt x="1890522" y="55752"/>
                </a:lnTo>
                <a:lnTo>
                  <a:pt x="1890522" y="278638"/>
                </a:lnTo>
                <a:lnTo>
                  <a:pt x="1886152" y="300295"/>
                </a:lnTo>
                <a:lnTo>
                  <a:pt x="1874234" y="317976"/>
                </a:lnTo>
                <a:lnTo>
                  <a:pt x="1856553" y="329894"/>
                </a:lnTo>
                <a:lnTo>
                  <a:pt x="1834895" y="334263"/>
                </a:lnTo>
                <a:lnTo>
                  <a:pt x="55727" y="334263"/>
                </a:lnTo>
                <a:lnTo>
                  <a:pt x="34032" y="329894"/>
                </a:lnTo>
                <a:lnTo>
                  <a:pt x="16319" y="317976"/>
                </a:lnTo>
                <a:lnTo>
                  <a:pt x="4378" y="30029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80999" y="3245866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626739" y="3197098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5">
                <a:moveTo>
                  <a:pt x="1834769" y="0"/>
                </a:moveTo>
                <a:lnTo>
                  <a:pt x="55752" y="0"/>
                </a:lnTo>
                <a:lnTo>
                  <a:pt x="34022" y="4371"/>
                </a:lnTo>
                <a:lnTo>
                  <a:pt x="16303" y="16303"/>
                </a:lnTo>
                <a:lnTo>
                  <a:pt x="4371" y="34022"/>
                </a:lnTo>
                <a:lnTo>
                  <a:pt x="0" y="55752"/>
                </a:lnTo>
                <a:lnTo>
                  <a:pt x="0" y="278638"/>
                </a:lnTo>
                <a:lnTo>
                  <a:pt x="4371" y="300295"/>
                </a:lnTo>
                <a:lnTo>
                  <a:pt x="16303" y="317976"/>
                </a:lnTo>
                <a:lnTo>
                  <a:pt x="34022" y="329894"/>
                </a:lnTo>
                <a:lnTo>
                  <a:pt x="55752" y="334263"/>
                </a:lnTo>
                <a:lnTo>
                  <a:pt x="1834769" y="334263"/>
                </a:lnTo>
                <a:lnTo>
                  <a:pt x="1856499" y="329894"/>
                </a:lnTo>
                <a:lnTo>
                  <a:pt x="1874218" y="317976"/>
                </a:lnTo>
                <a:lnTo>
                  <a:pt x="1886150" y="300295"/>
                </a:lnTo>
                <a:lnTo>
                  <a:pt x="1890522" y="278638"/>
                </a:lnTo>
                <a:lnTo>
                  <a:pt x="1890522" y="55752"/>
                </a:lnTo>
                <a:lnTo>
                  <a:pt x="1886150" y="34022"/>
                </a:lnTo>
                <a:lnTo>
                  <a:pt x="1874218" y="16303"/>
                </a:lnTo>
                <a:lnTo>
                  <a:pt x="1856499" y="4371"/>
                </a:lnTo>
                <a:lnTo>
                  <a:pt x="1834769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26739" y="3197098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5">
                <a:moveTo>
                  <a:pt x="0" y="55752"/>
                </a:moveTo>
                <a:lnTo>
                  <a:pt x="4371" y="34022"/>
                </a:lnTo>
                <a:lnTo>
                  <a:pt x="16303" y="16303"/>
                </a:lnTo>
                <a:lnTo>
                  <a:pt x="34022" y="4371"/>
                </a:lnTo>
                <a:lnTo>
                  <a:pt x="55752" y="0"/>
                </a:lnTo>
                <a:lnTo>
                  <a:pt x="1834769" y="0"/>
                </a:lnTo>
                <a:lnTo>
                  <a:pt x="1856499" y="4371"/>
                </a:lnTo>
                <a:lnTo>
                  <a:pt x="1874218" y="16303"/>
                </a:lnTo>
                <a:lnTo>
                  <a:pt x="1886150" y="34022"/>
                </a:lnTo>
                <a:lnTo>
                  <a:pt x="1890522" y="55752"/>
                </a:lnTo>
                <a:lnTo>
                  <a:pt x="1890522" y="278638"/>
                </a:lnTo>
                <a:lnTo>
                  <a:pt x="1886150" y="300295"/>
                </a:lnTo>
                <a:lnTo>
                  <a:pt x="1874218" y="317976"/>
                </a:lnTo>
                <a:lnTo>
                  <a:pt x="1856499" y="329894"/>
                </a:lnTo>
                <a:lnTo>
                  <a:pt x="1834769" y="334263"/>
                </a:lnTo>
                <a:lnTo>
                  <a:pt x="55752" y="334263"/>
                </a:lnTo>
                <a:lnTo>
                  <a:pt x="34022" y="329894"/>
                </a:lnTo>
                <a:lnTo>
                  <a:pt x="16303" y="317976"/>
                </a:lnTo>
                <a:lnTo>
                  <a:pt x="4371" y="30029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722370" y="3245866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S</a:t>
            </a:r>
            <a:r>
              <a:rPr sz="1200" b="1" dirty="0">
                <a:latin typeface="Tahoma"/>
                <a:cs typeface="Tahoma"/>
              </a:rPr>
              <a:t>taff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567678" y="3197098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5">
                <a:moveTo>
                  <a:pt x="1834769" y="0"/>
                </a:moveTo>
                <a:lnTo>
                  <a:pt x="55625" y="0"/>
                </a:lnTo>
                <a:lnTo>
                  <a:pt x="33968" y="4371"/>
                </a:lnTo>
                <a:lnTo>
                  <a:pt x="16287" y="16303"/>
                </a:lnTo>
                <a:lnTo>
                  <a:pt x="4369" y="34022"/>
                </a:lnTo>
                <a:lnTo>
                  <a:pt x="0" y="55752"/>
                </a:lnTo>
                <a:lnTo>
                  <a:pt x="0" y="278638"/>
                </a:lnTo>
                <a:lnTo>
                  <a:pt x="4369" y="300295"/>
                </a:lnTo>
                <a:lnTo>
                  <a:pt x="16287" y="317976"/>
                </a:lnTo>
                <a:lnTo>
                  <a:pt x="33968" y="329894"/>
                </a:lnTo>
                <a:lnTo>
                  <a:pt x="55625" y="334263"/>
                </a:lnTo>
                <a:lnTo>
                  <a:pt x="1834769" y="334263"/>
                </a:lnTo>
                <a:lnTo>
                  <a:pt x="1856499" y="329894"/>
                </a:lnTo>
                <a:lnTo>
                  <a:pt x="1874218" y="317976"/>
                </a:lnTo>
                <a:lnTo>
                  <a:pt x="1886150" y="300295"/>
                </a:lnTo>
                <a:lnTo>
                  <a:pt x="1890522" y="278638"/>
                </a:lnTo>
                <a:lnTo>
                  <a:pt x="1890522" y="55752"/>
                </a:lnTo>
                <a:lnTo>
                  <a:pt x="1886150" y="34022"/>
                </a:lnTo>
                <a:lnTo>
                  <a:pt x="1874218" y="16303"/>
                </a:lnTo>
                <a:lnTo>
                  <a:pt x="1856499" y="4371"/>
                </a:lnTo>
                <a:lnTo>
                  <a:pt x="1834769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67678" y="3197098"/>
            <a:ext cx="1891030" cy="334645"/>
          </a:xfrm>
          <a:custGeom>
            <a:avLst/>
            <a:gdLst/>
            <a:ahLst/>
            <a:cxnLst/>
            <a:rect l="l" t="t" r="r" b="b"/>
            <a:pathLst>
              <a:path w="1891029" h="334645">
                <a:moveTo>
                  <a:pt x="0" y="55752"/>
                </a:moveTo>
                <a:lnTo>
                  <a:pt x="4369" y="34022"/>
                </a:lnTo>
                <a:lnTo>
                  <a:pt x="16287" y="16303"/>
                </a:lnTo>
                <a:lnTo>
                  <a:pt x="33968" y="4371"/>
                </a:lnTo>
                <a:lnTo>
                  <a:pt x="55625" y="0"/>
                </a:lnTo>
                <a:lnTo>
                  <a:pt x="1834769" y="0"/>
                </a:lnTo>
                <a:lnTo>
                  <a:pt x="1856499" y="4371"/>
                </a:lnTo>
                <a:lnTo>
                  <a:pt x="1874218" y="16303"/>
                </a:lnTo>
                <a:lnTo>
                  <a:pt x="1886150" y="34022"/>
                </a:lnTo>
                <a:lnTo>
                  <a:pt x="1890522" y="55752"/>
                </a:lnTo>
                <a:lnTo>
                  <a:pt x="1890522" y="278638"/>
                </a:lnTo>
                <a:lnTo>
                  <a:pt x="1886150" y="300295"/>
                </a:lnTo>
                <a:lnTo>
                  <a:pt x="1874218" y="317976"/>
                </a:lnTo>
                <a:lnTo>
                  <a:pt x="1856499" y="329894"/>
                </a:lnTo>
                <a:lnTo>
                  <a:pt x="1834769" y="334263"/>
                </a:lnTo>
                <a:lnTo>
                  <a:pt x="55625" y="334263"/>
                </a:lnTo>
                <a:lnTo>
                  <a:pt x="33968" y="329894"/>
                </a:lnTo>
                <a:lnTo>
                  <a:pt x="16287" y="317976"/>
                </a:lnTo>
                <a:lnTo>
                  <a:pt x="4369" y="300295"/>
                </a:lnTo>
                <a:lnTo>
                  <a:pt x="0" y="278638"/>
                </a:lnTo>
                <a:lnTo>
                  <a:pt x="0" y="557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663690" y="3245866"/>
            <a:ext cx="1289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ahoma"/>
                <a:cs typeface="Tahoma"/>
              </a:rPr>
              <a:t>Project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b="1" spc="-5" dirty="0">
                <a:latin typeface="Tahoma"/>
                <a:cs typeface="Tahoma"/>
              </a:rPr>
              <a:t>Manager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677028" y="1636902"/>
            <a:ext cx="0" cy="445770"/>
          </a:xfrm>
          <a:custGeom>
            <a:avLst/>
            <a:gdLst/>
            <a:ahLst/>
            <a:cxnLst/>
            <a:rect l="l" t="t" r="r" b="b"/>
            <a:pathLst>
              <a:path h="445769">
                <a:moveTo>
                  <a:pt x="0" y="0"/>
                </a:moveTo>
                <a:lnTo>
                  <a:pt x="0" y="44577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526032" y="1859788"/>
            <a:ext cx="6092190" cy="0"/>
          </a:xfrm>
          <a:custGeom>
            <a:avLst/>
            <a:gdLst/>
            <a:ahLst/>
            <a:cxnLst/>
            <a:rect l="l" t="t" r="r" b="b"/>
            <a:pathLst>
              <a:path w="6092190">
                <a:moveTo>
                  <a:pt x="0" y="0"/>
                </a:moveTo>
                <a:lnTo>
                  <a:pt x="60919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526032" y="1859788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617968" y="1859788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526032" y="2416936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526032" y="2974213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677028" y="2416936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677028" y="2974213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617968" y="2416936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617968" y="2974213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31140" y="3959148"/>
            <a:ext cx="8515985" cy="121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039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204" dirty="0">
                <a:latin typeface="Arial"/>
                <a:cs typeface="Arial"/>
              </a:rPr>
              <a:t>Reconoce </a:t>
            </a:r>
            <a:r>
              <a:rPr sz="2000" spc="-10" dirty="0">
                <a:latin typeface="Arial"/>
                <a:cs typeface="Arial"/>
              </a:rPr>
              <a:t>la </a:t>
            </a:r>
            <a:r>
              <a:rPr sz="2000" spc="-120" dirty="0">
                <a:latin typeface="Arial"/>
                <a:cs typeface="Arial"/>
              </a:rPr>
              <a:t>necesidad </a:t>
            </a:r>
            <a:r>
              <a:rPr sz="2000" spc="-60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Gerente </a:t>
            </a:r>
            <a:r>
              <a:rPr sz="2000" spc="-60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proyecto </a:t>
            </a:r>
            <a:r>
              <a:rPr sz="2000" spc="-195" dirty="0">
                <a:latin typeface="Arial"/>
                <a:cs typeface="Arial"/>
              </a:rPr>
              <a:t>con </a:t>
            </a:r>
            <a:r>
              <a:rPr sz="2000" spc="-55" dirty="0">
                <a:latin typeface="Arial"/>
                <a:cs typeface="Arial"/>
              </a:rPr>
              <a:t>autoridad, </a:t>
            </a:r>
            <a:r>
              <a:rPr sz="2000" spc="-65" dirty="0">
                <a:latin typeface="Arial"/>
                <a:cs typeface="Arial"/>
              </a:rPr>
              <a:t>pero </a:t>
            </a:r>
            <a:r>
              <a:rPr sz="2000" spc="-175" dirty="0">
                <a:latin typeface="Arial"/>
                <a:cs typeface="Arial"/>
              </a:rPr>
              <a:t>no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requiere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039"/>
              </a:lnSpc>
            </a:pPr>
            <a:r>
              <a:rPr sz="2000" spc="-165" dirty="0">
                <a:latin typeface="Arial"/>
                <a:cs typeface="Arial"/>
              </a:rPr>
              <a:t>una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PMO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110" dirty="0">
                <a:latin typeface="Arial"/>
                <a:cs typeface="Arial"/>
              </a:rPr>
              <a:t>No </a:t>
            </a:r>
            <a:r>
              <a:rPr sz="2000" spc="-75" dirty="0">
                <a:latin typeface="Arial"/>
                <a:cs typeface="Arial"/>
              </a:rPr>
              <a:t>entrega </a:t>
            </a:r>
            <a:r>
              <a:rPr sz="2000" spc="-35" dirty="0">
                <a:latin typeface="Arial"/>
                <a:cs typeface="Arial"/>
              </a:rPr>
              <a:t>toda </a:t>
            </a:r>
            <a:r>
              <a:rPr sz="2000" spc="-10" dirty="0">
                <a:latin typeface="Arial"/>
                <a:cs typeface="Arial"/>
              </a:rPr>
              <a:t>la </a:t>
            </a:r>
            <a:r>
              <a:rPr sz="2000" spc="-50" dirty="0">
                <a:latin typeface="Arial"/>
                <a:cs typeface="Arial"/>
              </a:rPr>
              <a:t>autoridad </a:t>
            </a:r>
            <a:r>
              <a:rPr sz="2000" spc="-10" dirty="0">
                <a:latin typeface="Arial"/>
                <a:cs typeface="Arial"/>
              </a:rPr>
              <a:t>al </a:t>
            </a:r>
            <a:r>
              <a:rPr sz="2000" spc="-85" dirty="0">
                <a:latin typeface="Arial"/>
                <a:cs typeface="Arial"/>
              </a:rPr>
              <a:t>Gerente </a:t>
            </a:r>
            <a:r>
              <a:rPr sz="2000" spc="-60" dirty="0">
                <a:latin typeface="Arial"/>
                <a:cs typeface="Arial"/>
              </a:rPr>
              <a:t>de</a:t>
            </a:r>
            <a:r>
              <a:rPr sz="2000" spc="15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Proyecto.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220" dirty="0">
                <a:latin typeface="Arial"/>
                <a:cs typeface="Arial"/>
              </a:rPr>
              <a:t>Se </a:t>
            </a:r>
            <a:r>
              <a:rPr sz="2000" spc="-114" dirty="0">
                <a:latin typeface="Arial"/>
                <a:cs typeface="Arial"/>
              </a:rPr>
              <a:t>comparten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150" dirty="0">
                <a:latin typeface="Arial"/>
                <a:cs typeface="Arial"/>
              </a:rPr>
              <a:t>decisiones </a:t>
            </a:r>
            <a:r>
              <a:rPr sz="2000" spc="-195" dirty="0">
                <a:latin typeface="Arial"/>
                <a:cs typeface="Arial"/>
              </a:rPr>
              <a:t>con </a:t>
            </a:r>
            <a:r>
              <a:rPr sz="2000" spc="-150" dirty="0">
                <a:latin typeface="Arial"/>
                <a:cs typeface="Arial"/>
              </a:rPr>
              <a:t>los </a:t>
            </a:r>
            <a:r>
              <a:rPr sz="2000" spc="-120" dirty="0">
                <a:latin typeface="Arial"/>
                <a:cs typeface="Arial"/>
              </a:rPr>
              <a:t>gerentes</a:t>
            </a:r>
            <a:r>
              <a:rPr sz="2000" spc="-33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funcionales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0512" y="1293050"/>
          <a:ext cx="8564878" cy="3776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2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6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72160">
                <a:tc>
                  <a:txBody>
                    <a:bodyPr/>
                    <a:lstStyle/>
                    <a:p>
                      <a:pPr marL="720090" marR="69215" indent="3028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stru</a:t>
                      </a:r>
                      <a:r>
                        <a:rPr sz="1100" b="1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tura  Orga</a:t>
                      </a:r>
                      <a:r>
                        <a:rPr sz="1100" b="1" spc="-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iza</a:t>
                      </a:r>
                      <a:r>
                        <a:rPr sz="1100" b="1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io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al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Caracteristica</a:t>
                      </a:r>
                      <a:r>
                        <a:rPr sz="11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del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1100" b="1" spc="-5" dirty="0">
                          <a:latin typeface="Arial"/>
                          <a:cs typeface="Arial"/>
                        </a:rPr>
                        <a:t>proyecto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Funcional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 marR="477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spc="1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atr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al 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Debil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Balanceada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680" marR="3162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spc="1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atr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al 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Fuerte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275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Pr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jecti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z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105410" marR="219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100" b="1" spc="-5" dirty="0">
                          <a:latin typeface="Arial"/>
                          <a:cs typeface="Arial"/>
                        </a:rPr>
                        <a:t>Autoridad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11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Gerente  </a:t>
                      </a:r>
                      <a:r>
                        <a:rPr sz="1100" b="1" spc="-5" dirty="0">
                          <a:latin typeface="Arial"/>
                          <a:cs typeface="Arial"/>
                        </a:rPr>
                        <a:t>deProyecto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51790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Poco o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Nulo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 marR="187325" indent="13398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Limitado- 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rdin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ci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 marR="238125" indent="1282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Bajo a  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oder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do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0" marR="149225" indent="-28194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Moderado</a:t>
                      </a:r>
                      <a:r>
                        <a:rPr sz="12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a  alto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405765" algn="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Alto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total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910">
                <a:tc>
                  <a:txBody>
                    <a:bodyPr/>
                    <a:lstStyle/>
                    <a:p>
                      <a:pPr marL="105410" marR="5257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Disponibilidad</a:t>
                      </a:r>
                      <a:r>
                        <a:rPr sz="1100" b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5" dirty="0">
                          <a:latin typeface="Arial"/>
                          <a:cs typeface="Arial"/>
                        </a:rPr>
                        <a:t>de  Recursos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51790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Poco o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Nulo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670" algn="ctr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Llitado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Bajo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3048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Moderado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Moderado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3048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alto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405765" algn="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Alto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total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105410" marR="1060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Quien controla el  </a:t>
                      </a:r>
                      <a:r>
                        <a:rPr sz="1100" b="1" spc="-5" dirty="0">
                          <a:latin typeface="Arial"/>
                          <a:cs typeface="Arial"/>
                        </a:rPr>
                        <a:t>prespuestodel</a:t>
                      </a:r>
                      <a:r>
                        <a:rPr sz="11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5" dirty="0">
                          <a:latin typeface="Arial"/>
                          <a:cs typeface="Arial"/>
                        </a:rPr>
                        <a:t>proyecto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3970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Gerente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Funcional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995" marR="304800" indent="5461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Gerente  Fu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cio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8575" algn="ctr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Mezcla,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 marR="173355" indent="-8128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Gerente</a:t>
                      </a:r>
                      <a:r>
                        <a:rPr sz="12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de  Proyecto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0" marR="383540" indent="-8128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Gerente</a:t>
                      </a:r>
                      <a:r>
                        <a:rPr sz="12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de  Proyecto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105410" marR="1339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Dedicación del</a:t>
                      </a:r>
                      <a:r>
                        <a:rPr sz="1100" b="1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Gerente  de</a:t>
                      </a:r>
                      <a:r>
                        <a:rPr sz="11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5" dirty="0">
                          <a:latin typeface="Arial"/>
                          <a:cs typeface="Arial"/>
                        </a:rPr>
                        <a:t>Proyecto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3370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Part-Time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8575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Part-time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8575" algn="ctr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Full-time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0035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Full-time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1117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Full-time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Staff</a:t>
                      </a:r>
                      <a:r>
                        <a:rPr sz="11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5" dirty="0">
                          <a:latin typeface="Arial"/>
                          <a:cs typeface="Arial"/>
                        </a:rPr>
                        <a:t>asignado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45656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Part-time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28575" algn="ctr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Part-time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29845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Part-time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30035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Full-time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51117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Full-time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0" y="342900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28600" h="457200">
                <a:moveTo>
                  <a:pt x="228600" y="0"/>
                </a:moveTo>
                <a:lnTo>
                  <a:pt x="182529" y="4644"/>
                </a:lnTo>
                <a:lnTo>
                  <a:pt x="139618" y="17966"/>
                </a:lnTo>
                <a:lnTo>
                  <a:pt x="100787" y="39045"/>
                </a:lnTo>
                <a:lnTo>
                  <a:pt x="66955" y="66960"/>
                </a:lnTo>
                <a:lnTo>
                  <a:pt x="39041" y="100793"/>
                </a:lnTo>
                <a:lnTo>
                  <a:pt x="17964" y="139624"/>
                </a:lnTo>
                <a:lnTo>
                  <a:pt x="4644" y="182533"/>
                </a:lnTo>
                <a:lnTo>
                  <a:pt x="0" y="228600"/>
                </a:lnTo>
                <a:lnTo>
                  <a:pt x="4644" y="274666"/>
                </a:lnTo>
                <a:lnTo>
                  <a:pt x="17964" y="317575"/>
                </a:lnTo>
                <a:lnTo>
                  <a:pt x="39041" y="356406"/>
                </a:lnTo>
                <a:lnTo>
                  <a:pt x="66955" y="390239"/>
                </a:lnTo>
                <a:lnTo>
                  <a:pt x="100787" y="418154"/>
                </a:lnTo>
                <a:lnTo>
                  <a:pt x="139618" y="439233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2860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8600" y="342900"/>
            <a:ext cx="8915400" cy="457200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078865">
              <a:lnSpc>
                <a:spcPct val="100000"/>
              </a:lnSpc>
              <a:spcBef>
                <a:spcPts val="165"/>
              </a:spcBef>
            </a:pPr>
            <a:r>
              <a:rPr sz="2200" i="0" spc="-210" dirty="0">
                <a:solidFill>
                  <a:srgbClr val="000000"/>
                </a:solidFill>
                <a:latin typeface="Arial"/>
                <a:cs typeface="Arial"/>
              </a:rPr>
              <a:t>Estructura </a:t>
            </a:r>
            <a:r>
              <a:rPr sz="2200" i="0" spc="-120" dirty="0">
                <a:solidFill>
                  <a:srgbClr val="000000"/>
                </a:solidFill>
                <a:latin typeface="Arial"/>
                <a:cs typeface="Arial"/>
              </a:rPr>
              <a:t>Organizacional </a:t>
            </a:r>
            <a:r>
              <a:rPr sz="2200" i="0" spc="-60" dirty="0">
                <a:solidFill>
                  <a:srgbClr val="000000"/>
                </a:solidFill>
                <a:latin typeface="Arial"/>
                <a:cs typeface="Arial"/>
              </a:rPr>
              <a:t>y </a:t>
            </a:r>
            <a:r>
              <a:rPr sz="2200" i="0" spc="-305" dirty="0">
                <a:solidFill>
                  <a:srgbClr val="000000"/>
                </a:solidFill>
                <a:latin typeface="Arial"/>
                <a:cs typeface="Arial"/>
              </a:rPr>
              <a:t>Su </a:t>
            </a:r>
            <a:r>
              <a:rPr sz="2200" i="0" spc="-130" dirty="0">
                <a:solidFill>
                  <a:srgbClr val="000000"/>
                </a:solidFill>
                <a:latin typeface="Arial"/>
                <a:cs typeface="Arial"/>
              </a:rPr>
              <a:t>Influencia </a:t>
            </a:r>
            <a:r>
              <a:rPr sz="2200" i="0" spc="-175" dirty="0">
                <a:solidFill>
                  <a:srgbClr val="000000"/>
                </a:solidFill>
                <a:latin typeface="Arial"/>
                <a:cs typeface="Arial"/>
              </a:rPr>
              <a:t>en </a:t>
            </a:r>
            <a:r>
              <a:rPr sz="2200" i="0" spc="-170" dirty="0">
                <a:solidFill>
                  <a:srgbClr val="000000"/>
                </a:solidFill>
                <a:latin typeface="Arial"/>
                <a:cs typeface="Arial"/>
              </a:rPr>
              <a:t>los</a:t>
            </a:r>
            <a:r>
              <a:rPr sz="22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i="0" spc="-200" dirty="0">
                <a:solidFill>
                  <a:srgbClr val="000000"/>
                </a:solidFill>
                <a:latin typeface="Arial"/>
                <a:cs typeface="Arial"/>
              </a:rPr>
              <a:t>proyectos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2900" y="1295400"/>
            <a:ext cx="1714500" cy="742950"/>
          </a:xfrm>
          <a:custGeom>
            <a:avLst/>
            <a:gdLst/>
            <a:ahLst/>
            <a:cxnLst/>
            <a:rect l="l" t="t" r="r" b="b"/>
            <a:pathLst>
              <a:path w="1714500" h="742950">
                <a:moveTo>
                  <a:pt x="0" y="0"/>
                </a:moveTo>
                <a:lnTo>
                  <a:pt x="1714500" y="7429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95096"/>
            <a:ext cx="70097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i="0" spc="-260" dirty="0">
                <a:latin typeface="Arial"/>
                <a:cs typeface="Arial"/>
              </a:rPr>
              <a:t>Cual </a:t>
            </a:r>
            <a:r>
              <a:rPr sz="4200" b="0" i="0" spc="-130" dirty="0">
                <a:latin typeface="Arial"/>
                <a:cs typeface="Arial"/>
              </a:rPr>
              <a:t>de </a:t>
            </a:r>
            <a:r>
              <a:rPr sz="4200" b="0" i="0" spc="-245" dirty="0">
                <a:latin typeface="Arial"/>
                <a:cs typeface="Arial"/>
              </a:rPr>
              <a:t>las </a:t>
            </a:r>
            <a:r>
              <a:rPr sz="4200" b="0" i="0" spc="-290" dirty="0">
                <a:latin typeface="Arial"/>
                <a:cs typeface="Arial"/>
              </a:rPr>
              <a:t>estructuras </a:t>
            </a:r>
            <a:r>
              <a:rPr sz="4200" b="0" i="0" spc="-470" dirty="0">
                <a:latin typeface="Arial"/>
                <a:cs typeface="Arial"/>
              </a:rPr>
              <a:t>es</a:t>
            </a:r>
            <a:r>
              <a:rPr sz="4200" b="0" i="0" spc="160" dirty="0">
                <a:latin typeface="Arial"/>
                <a:cs typeface="Arial"/>
              </a:rPr>
              <a:t> </a:t>
            </a:r>
            <a:r>
              <a:rPr sz="4200" b="0" i="0" spc="-245" dirty="0">
                <a:latin typeface="Arial"/>
                <a:cs typeface="Arial"/>
              </a:rPr>
              <a:t>Mejor?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1975885"/>
            <a:ext cx="4063365" cy="241681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32740" marR="5715" indent="-320040">
              <a:lnSpc>
                <a:spcPct val="80000"/>
              </a:lnSpc>
              <a:spcBef>
                <a:spcPts val="620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200" spc="-140" dirty="0">
                <a:latin typeface="Arial"/>
                <a:cs typeface="Arial"/>
              </a:rPr>
              <a:t>Para </a:t>
            </a:r>
            <a:r>
              <a:rPr sz="2200" spc="-180" dirty="0">
                <a:latin typeface="Arial"/>
                <a:cs typeface="Arial"/>
              </a:rPr>
              <a:t>una </a:t>
            </a:r>
            <a:r>
              <a:rPr sz="2200" spc="-145" dirty="0">
                <a:latin typeface="Arial"/>
                <a:cs typeface="Arial"/>
              </a:rPr>
              <a:t>empresa </a:t>
            </a:r>
            <a:r>
              <a:rPr sz="2200" spc="-60" dirty="0">
                <a:latin typeface="Arial"/>
                <a:cs typeface="Arial"/>
              </a:rPr>
              <a:t>dedicada </a:t>
            </a:r>
            <a:r>
              <a:rPr sz="2200" spc="-15" dirty="0">
                <a:latin typeface="Arial"/>
                <a:cs typeface="Arial"/>
              </a:rPr>
              <a:t>a la  </a:t>
            </a:r>
            <a:r>
              <a:rPr sz="2200" spc="-180" dirty="0">
                <a:latin typeface="Arial"/>
                <a:cs typeface="Arial"/>
              </a:rPr>
              <a:t>construcción </a:t>
            </a:r>
            <a:r>
              <a:rPr sz="2200" spc="-70" dirty="0">
                <a:latin typeface="Arial"/>
                <a:cs typeface="Arial"/>
              </a:rPr>
              <a:t>de</a:t>
            </a:r>
            <a:r>
              <a:rPr sz="2200" spc="-225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edificios</a:t>
            </a:r>
            <a:endParaRPr sz="2200" dirty="0">
              <a:latin typeface="Arial"/>
              <a:cs typeface="Arial"/>
            </a:endParaRPr>
          </a:p>
          <a:p>
            <a:pPr marL="332740" marR="143510" indent="-320040">
              <a:lnSpc>
                <a:spcPts val="2110"/>
              </a:lnSpc>
              <a:spcBef>
                <a:spcPts val="68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200" spc="-140" dirty="0">
                <a:latin typeface="Arial"/>
                <a:cs typeface="Arial"/>
              </a:rPr>
              <a:t>Para </a:t>
            </a:r>
            <a:r>
              <a:rPr sz="2200" spc="-265" dirty="0">
                <a:latin typeface="Arial"/>
                <a:cs typeface="Arial"/>
              </a:rPr>
              <a:t>un </a:t>
            </a:r>
            <a:r>
              <a:rPr sz="2200" spc="-75" dirty="0">
                <a:latin typeface="Arial"/>
                <a:cs typeface="Arial"/>
              </a:rPr>
              <a:t>call </a:t>
            </a:r>
            <a:r>
              <a:rPr sz="2200" spc="-130" dirty="0">
                <a:latin typeface="Arial"/>
                <a:cs typeface="Arial"/>
              </a:rPr>
              <a:t>center </a:t>
            </a:r>
            <a:r>
              <a:rPr sz="2200" spc="-85" dirty="0">
                <a:latin typeface="Arial"/>
                <a:cs typeface="Arial"/>
              </a:rPr>
              <a:t>local </a:t>
            </a:r>
            <a:r>
              <a:rPr sz="2200" spc="-70" dirty="0">
                <a:latin typeface="Arial"/>
                <a:cs typeface="Arial"/>
              </a:rPr>
              <a:t>de  </a:t>
            </a:r>
            <a:r>
              <a:rPr sz="2200" spc="-135" dirty="0">
                <a:latin typeface="Arial"/>
                <a:cs typeface="Arial"/>
              </a:rPr>
              <a:t>tamaño pequeño </a:t>
            </a:r>
            <a:r>
              <a:rPr sz="2200" spc="-140" dirty="0">
                <a:latin typeface="Arial"/>
                <a:cs typeface="Arial"/>
              </a:rPr>
              <a:t>que </a:t>
            </a:r>
            <a:r>
              <a:rPr sz="2200" spc="-45" dirty="0">
                <a:latin typeface="Arial"/>
                <a:cs typeface="Arial"/>
              </a:rPr>
              <a:t>realiza </a:t>
            </a:r>
            <a:r>
              <a:rPr sz="2200" spc="-195" dirty="0">
                <a:latin typeface="Arial"/>
                <a:cs typeface="Arial"/>
              </a:rPr>
              <a:t>no  </a:t>
            </a:r>
            <a:r>
              <a:rPr sz="2200" spc="-250" dirty="0">
                <a:latin typeface="Arial"/>
                <a:cs typeface="Arial"/>
              </a:rPr>
              <a:t>más </a:t>
            </a:r>
            <a:r>
              <a:rPr sz="2200" spc="-70" dirty="0">
                <a:latin typeface="Arial"/>
                <a:cs typeface="Arial"/>
              </a:rPr>
              <a:t>de </a:t>
            </a:r>
            <a:r>
              <a:rPr sz="2200" spc="-170" dirty="0">
                <a:latin typeface="Arial"/>
                <a:cs typeface="Arial"/>
              </a:rPr>
              <a:t>dos </a:t>
            </a:r>
            <a:r>
              <a:rPr sz="2200" spc="-130" dirty="0">
                <a:latin typeface="Arial"/>
                <a:cs typeface="Arial"/>
              </a:rPr>
              <a:t>proyectos </a:t>
            </a:r>
            <a:r>
              <a:rPr sz="2200" spc="-10" dirty="0">
                <a:latin typeface="Arial"/>
                <a:cs typeface="Arial"/>
              </a:rPr>
              <a:t>al</a:t>
            </a:r>
            <a:r>
              <a:rPr sz="2200" spc="-210" dirty="0">
                <a:latin typeface="Arial"/>
                <a:cs typeface="Arial"/>
              </a:rPr>
              <a:t> </a:t>
            </a:r>
            <a:r>
              <a:rPr sz="2200" spc="-135" dirty="0">
                <a:latin typeface="Arial"/>
                <a:cs typeface="Arial"/>
              </a:rPr>
              <a:t>año</a:t>
            </a:r>
            <a:endParaRPr sz="2200" dirty="0">
              <a:latin typeface="Arial"/>
              <a:cs typeface="Arial"/>
            </a:endParaRPr>
          </a:p>
          <a:p>
            <a:pPr marL="332740" marR="5080" indent="-320040" algn="just">
              <a:lnSpc>
                <a:spcPct val="80000"/>
              </a:lnSpc>
              <a:spcBef>
                <a:spcPts val="730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spc="-140" dirty="0">
                <a:latin typeface="Arial"/>
                <a:cs typeface="Arial"/>
              </a:rPr>
              <a:t>Para </a:t>
            </a:r>
            <a:r>
              <a:rPr sz="2200" spc="-180" dirty="0">
                <a:latin typeface="Arial"/>
                <a:cs typeface="Arial"/>
              </a:rPr>
              <a:t>una </a:t>
            </a:r>
            <a:r>
              <a:rPr sz="2200" spc="-145" dirty="0">
                <a:latin typeface="Arial"/>
                <a:cs typeface="Arial"/>
              </a:rPr>
              <a:t>empresa </a:t>
            </a:r>
            <a:r>
              <a:rPr sz="2200" spc="-70" dirty="0">
                <a:latin typeface="Arial"/>
                <a:cs typeface="Arial"/>
              </a:rPr>
              <a:t>de </a:t>
            </a:r>
            <a:r>
              <a:rPr sz="2200" spc="-135" dirty="0">
                <a:latin typeface="Arial"/>
                <a:cs typeface="Arial"/>
              </a:rPr>
              <a:t>Consultoria  </a:t>
            </a:r>
            <a:r>
              <a:rPr sz="2200" spc="-45" dirty="0">
                <a:latin typeface="Arial"/>
                <a:cs typeface="Arial"/>
              </a:rPr>
              <a:t>Global, </a:t>
            </a:r>
            <a:r>
              <a:rPr sz="2200" spc="-135" dirty="0">
                <a:latin typeface="Arial"/>
                <a:cs typeface="Arial"/>
              </a:rPr>
              <a:t>que </a:t>
            </a:r>
            <a:r>
              <a:rPr sz="2200" spc="-120" dirty="0">
                <a:latin typeface="Arial"/>
                <a:cs typeface="Arial"/>
              </a:rPr>
              <a:t>ejecuta </a:t>
            </a:r>
            <a:r>
              <a:rPr sz="2200" spc="-130" dirty="0">
                <a:latin typeface="Arial"/>
                <a:cs typeface="Arial"/>
              </a:rPr>
              <a:t>proyectos </a:t>
            </a:r>
            <a:r>
              <a:rPr sz="2200" spc="-195" dirty="0">
                <a:latin typeface="Arial"/>
                <a:cs typeface="Arial"/>
              </a:rPr>
              <a:t>en  </a:t>
            </a:r>
            <a:r>
              <a:rPr sz="2200" spc="-70" dirty="0">
                <a:latin typeface="Arial"/>
                <a:cs typeface="Arial"/>
              </a:rPr>
              <a:t>todo el</a:t>
            </a:r>
            <a:r>
              <a:rPr sz="2200" spc="70" dirty="0">
                <a:latin typeface="Arial"/>
                <a:cs typeface="Arial"/>
              </a:rPr>
              <a:t> </a:t>
            </a:r>
            <a:r>
              <a:rPr sz="2200" spc="-200" dirty="0">
                <a:latin typeface="Arial"/>
                <a:cs typeface="Arial"/>
              </a:rPr>
              <a:t>mundo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05400" y="1933194"/>
            <a:ext cx="3733800" cy="2240280"/>
          </a:xfrm>
          <a:custGeom>
            <a:avLst/>
            <a:gdLst/>
            <a:ahLst/>
            <a:cxnLst/>
            <a:rect l="l" t="t" r="r" b="b"/>
            <a:pathLst>
              <a:path w="3733800" h="2240279">
                <a:moveTo>
                  <a:pt x="0" y="2240279"/>
                </a:moveTo>
                <a:lnTo>
                  <a:pt x="3733800" y="2240279"/>
                </a:lnTo>
                <a:lnTo>
                  <a:pt x="3733800" y="0"/>
                </a:lnTo>
                <a:lnTo>
                  <a:pt x="0" y="0"/>
                </a:lnTo>
                <a:lnTo>
                  <a:pt x="0" y="2240279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29859" y="1946148"/>
            <a:ext cx="3489325" cy="211899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065" marR="5080" indent="-1905" algn="ctr">
              <a:lnSpc>
                <a:spcPct val="81700"/>
              </a:lnSpc>
              <a:spcBef>
                <a:spcPts val="690"/>
              </a:spcBef>
              <a:tabLst>
                <a:tab pos="2395855" algn="l"/>
              </a:tabLst>
            </a:pPr>
            <a:r>
              <a:rPr sz="2700" spc="-155" dirty="0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sz="2700" spc="-150" dirty="0">
                <a:solidFill>
                  <a:srgbClr val="FFFFFF"/>
                </a:solidFill>
                <a:latin typeface="Arial"/>
                <a:cs typeface="Arial"/>
              </a:rPr>
              <a:t>existe </a:t>
            </a:r>
            <a:r>
              <a:rPr sz="2700" spc="-215" dirty="0">
                <a:solidFill>
                  <a:srgbClr val="FFFFFF"/>
                </a:solidFill>
                <a:latin typeface="Arial"/>
                <a:cs typeface="Arial"/>
              </a:rPr>
              <a:t>una </a:t>
            </a:r>
            <a:r>
              <a:rPr sz="2700" spc="-160" dirty="0">
                <a:solidFill>
                  <a:srgbClr val="FFFFFF"/>
                </a:solidFill>
                <a:latin typeface="Arial"/>
                <a:cs typeface="Arial"/>
              </a:rPr>
              <a:t>estructura  </a:t>
            </a:r>
            <a:r>
              <a:rPr sz="2700" spc="-50" dirty="0">
                <a:solidFill>
                  <a:srgbClr val="FFFFFF"/>
                </a:solidFill>
                <a:latin typeface="Arial"/>
                <a:cs typeface="Arial"/>
              </a:rPr>
              <a:t>predefinida </a:t>
            </a:r>
            <a:r>
              <a:rPr sz="2700" spc="-16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sz="2700" spc="-110" dirty="0">
                <a:solidFill>
                  <a:srgbClr val="FFFFFF"/>
                </a:solidFill>
                <a:latin typeface="Arial"/>
                <a:cs typeface="Arial"/>
              </a:rPr>
              <a:t>diferentes  </a:t>
            </a:r>
            <a:r>
              <a:rPr sz="2700" spc="-120" dirty="0">
                <a:solidFill>
                  <a:srgbClr val="FFFFFF"/>
                </a:solidFill>
                <a:latin typeface="Arial"/>
                <a:cs typeface="Arial"/>
              </a:rPr>
              <a:t>factores </a:t>
            </a:r>
            <a:r>
              <a:rPr sz="2700" spc="-140" dirty="0">
                <a:solidFill>
                  <a:srgbClr val="FFFFFF"/>
                </a:solidFill>
                <a:latin typeface="Arial"/>
                <a:cs typeface="Arial"/>
              </a:rPr>
              <a:t>deben  </a:t>
            </a:r>
            <a:r>
              <a:rPr sz="2700" spc="-114" dirty="0">
                <a:solidFill>
                  <a:srgbClr val="FFFFFF"/>
                </a:solidFill>
                <a:latin typeface="Arial"/>
                <a:cs typeface="Arial"/>
              </a:rPr>
              <a:t>analizarse</a:t>
            </a:r>
            <a:r>
              <a:rPr sz="27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Arial"/>
                <a:cs typeface="Arial"/>
              </a:rPr>
              <a:t>para	</a:t>
            </a:r>
            <a:r>
              <a:rPr sz="2700" spc="-95" dirty="0">
                <a:solidFill>
                  <a:srgbClr val="FFFFFF"/>
                </a:solidFill>
                <a:latin typeface="Arial"/>
                <a:cs typeface="Arial"/>
              </a:rPr>
              <a:t>crear</a:t>
            </a:r>
            <a:r>
              <a:rPr sz="27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spc="-15" dirty="0">
                <a:solidFill>
                  <a:srgbClr val="FFFFFF"/>
                </a:solidFill>
                <a:latin typeface="Arial"/>
                <a:cs typeface="Arial"/>
              </a:rPr>
              <a:t>la  </a:t>
            </a:r>
            <a:r>
              <a:rPr sz="2700" spc="-160" dirty="0">
                <a:solidFill>
                  <a:srgbClr val="FFFFFF"/>
                </a:solidFill>
                <a:latin typeface="Arial"/>
                <a:cs typeface="Arial"/>
              </a:rPr>
              <a:t>estructura </a:t>
            </a:r>
            <a:r>
              <a:rPr sz="2700" spc="-105" dirty="0">
                <a:solidFill>
                  <a:srgbClr val="FFFFFF"/>
                </a:solidFill>
                <a:latin typeface="Arial"/>
                <a:cs typeface="Arial"/>
              </a:rPr>
              <a:t>adecuada  </a:t>
            </a:r>
            <a:r>
              <a:rPr sz="2700" spc="-2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2700" spc="-1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27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spc="-180" dirty="0">
                <a:solidFill>
                  <a:srgbClr val="FFFFFF"/>
                </a:solidFill>
                <a:latin typeface="Arial"/>
                <a:cs typeface="Arial"/>
              </a:rPr>
              <a:t>compañía.</a:t>
            </a:r>
            <a:endParaRPr sz="2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34136"/>
            <a:ext cx="50476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i="0" spc="-310" dirty="0">
                <a:latin typeface="Arial"/>
                <a:cs typeface="Arial"/>
              </a:rPr>
              <a:t>Evaluación </a:t>
            </a:r>
            <a:r>
              <a:rPr sz="4200" b="0" i="0" spc="-90" dirty="0">
                <a:latin typeface="Arial"/>
                <a:cs typeface="Arial"/>
              </a:rPr>
              <a:t>del</a:t>
            </a:r>
            <a:r>
              <a:rPr sz="4200" b="0" i="0" spc="-625" dirty="0">
                <a:latin typeface="Arial"/>
                <a:cs typeface="Arial"/>
              </a:rPr>
              <a:t> </a:t>
            </a:r>
            <a:r>
              <a:rPr sz="4200" b="0" i="0" spc="-275" dirty="0">
                <a:latin typeface="Arial"/>
                <a:cs typeface="Arial"/>
              </a:rPr>
              <a:t>Proyecto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939" y="1293114"/>
            <a:ext cx="8323580" cy="202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240" dirty="0">
                <a:latin typeface="Arial"/>
                <a:cs typeface="Arial"/>
              </a:rPr>
              <a:t>Como </a:t>
            </a:r>
            <a:r>
              <a:rPr sz="2400" b="1" spc="-220" dirty="0">
                <a:latin typeface="Arial"/>
                <a:cs typeface="Arial"/>
              </a:rPr>
              <a:t>podemos </a:t>
            </a:r>
            <a:r>
              <a:rPr sz="2400" b="1" spc="-125" dirty="0" err="1">
                <a:latin typeface="Arial"/>
                <a:cs typeface="Arial"/>
              </a:rPr>
              <a:t>evaluar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lang="es-ES" sz="2400" b="1" spc="-125" dirty="0">
                <a:latin typeface="Arial"/>
                <a:cs typeface="Arial"/>
              </a:rPr>
              <a:t>un</a:t>
            </a:r>
            <a:r>
              <a:rPr sz="2400" b="1" spc="-215" dirty="0">
                <a:latin typeface="Arial"/>
                <a:cs typeface="Arial"/>
              </a:rPr>
              <a:t> </a:t>
            </a:r>
            <a:r>
              <a:rPr sz="2400" b="1" spc="-204" dirty="0">
                <a:latin typeface="Arial"/>
                <a:cs typeface="Arial"/>
              </a:rPr>
              <a:t>proyecto </a:t>
            </a:r>
            <a:r>
              <a:rPr sz="2400" b="1" spc="-125" dirty="0">
                <a:latin typeface="Arial"/>
                <a:cs typeface="Arial"/>
              </a:rPr>
              <a:t>para </a:t>
            </a:r>
            <a:r>
              <a:rPr sz="2400" b="1" spc="-140" dirty="0">
                <a:latin typeface="Arial"/>
                <a:cs typeface="Arial"/>
              </a:rPr>
              <a:t>identificar </a:t>
            </a:r>
            <a:r>
              <a:rPr sz="2400" b="1" spc="-180" dirty="0">
                <a:latin typeface="Arial"/>
                <a:cs typeface="Arial"/>
              </a:rPr>
              <a:t>si </a:t>
            </a:r>
            <a:r>
              <a:rPr sz="2400" b="1" spc="-215" dirty="0">
                <a:latin typeface="Arial"/>
                <a:cs typeface="Arial"/>
              </a:rPr>
              <a:t>debemos  </a:t>
            </a:r>
            <a:r>
              <a:rPr sz="2400" b="1" spc="-195" dirty="0">
                <a:latin typeface="Arial"/>
                <a:cs typeface="Arial"/>
              </a:rPr>
              <a:t>continuar?</a:t>
            </a:r>
            <a:endParaRPr sz="2400" dirty="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113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100" dirty="0">
                <a:latin typeface="Arial"/>
                <a:cs typeface="Arial"/>
              </a:rPr>
              <a:t>Determinar </a:t>
            </a:r>
            <a:r>
              <a:rPr sz="2000" spc="-10" dirty="0">
                <a:latin typeface="Arial"/>
                <a:cs typeface="Arial"/>
              </a:rPr>
              <a:t>la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viabilidad</a:t>
            </a:r>
            <a:endParaRPr sz="2000" dirty="0">
              <a:latin typeface="Arial"/>
              <a:cs typeface="Arial"/>
            </a:endParaRPr>
          </a:p>
          <a:p>
            <a:pPr marL="332740" marR="1376680" indent="-320040">
              <a:lnSpc>
                <a:spcPct val="120100"/>
              </a:lnSpc>
              <a:spcBef>
                <a:spcPts val="6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70" dirty="0" err="1">
                <a:latin typeface="Arial"/>
                <a:cs typeface="Arial"/>
              </a:rPr>
              <a:t>Identifi</a:t>
            </a:r>
            <a:r>
              <a:rPr lang="es-ES" sz="2000" spc="-70" dirty="0">
                <a:latin typeface="Arial"/>
                <a:cs typeface="Arial"/>
              </a:rPr>
              <a:t>car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70" dirty="0">
                <a:latin typeface="Arial"/>
                <a:cs typeface="Arial"/>
              </a:rPr>
              <a:t>si </a:t>
            </a:r>
            <a:r>
              <a:rPr sz="2000" spc="-60" dirty="0">
                <a:latin typeface="Arial"/>
                <a:cs typeface="Arial"/>
              </a:rPr>
              <a:t>el </a:t>
            </a:r>
            <a:r>
              <a:rPr sz="2000" spc="-90" dirty="0">
                <a:latin typeface="Arial"/>
                <a:cs typeface="Arial"/>
              </a:rPr>
              <a:t>proyecto </a:t>
            </a:r>
            <a:r>
              <a:rPr sz="2000" spc="-114" dirty="0">
                <a:latin typeface="Arial"/>
                <a:cs typeface="Arial"/>
              </a:rPr>
              <a:t>o </a:t>
            </a:r>
            <a:r>
              <a:rPr sz="2000" spc="-35" dirty="0">
                <a:latin typeface="Arial"/>
                <a:cs typeface="Arial"/>
              </a:rPr>
              <a:t>idea </a:t>
            </a:r>
            <a:r>
              <a:rPr sz="2000" spc="-114" dirty="0">
                <a:latin typeface="Arial"/>
                <a:cs typeface="Arial"/>
              </a:rPr>
              <a:t>esta </a:t>
            </a:r>
            <a:r>
              <a:rPr sz="2000" spc="-90" dirty="0">
                <a:latin typeface="Arial"/>
                <a:cs typeface="Arial"/>
              </a:rPr>
              <a:t>bien </a:t>
            </a:r>
            <a:r>
              <a:rPr sz="2000" spc="-15" dirty="0">
                <a:latin typeface="Arial"/>
                <a:cs typeface="Arial"/>
              </a:rPr>
              <a:t>para </a:t>
            </a:r>
            <a:r>
              <a:rPr sz="2000" spc="-10" dirty="0">
                <a:latin typeface="Arial"/>
                <a:cs typeface="Arial"/>
              </a:rPr>
              <a:t>la </a:t>
            </a:r>
            <a:r>
              <a:rPr sz="2000" spc="-95" dirty="0">
                <a:latin typeface="Arial"/>
                <a:cs typeface="Arial"/>
              </a:rPr>
              <a:t>organización </a:t>
            </a:r>
            <a:r>
              <a:rPr sz="2000" spc="-114" dirty="0">
                <a:latin typeface="Arial"/>
                <a:cs typeface="Arial"/>
              </a:rPr>
              <a:t>o  </a:t>
            </a:r>
            <a:r>
              <a:rPr sz="2000" spc="-225" dirty="0">
                <a:latin typeface="Arial"/>
                <a:cs typeface="Arial"/>
              </a:rPr>
              <a:t>es </a:t>
            </a:r>
            <a:r>
              <a:rPr sz="2000" spc="-60" dirty="0">
                <a:latin typeface="Arial"/>
                <a:cs typeface="Arial"/>
              </a:rPr>
              <a:t>el </a:t>
            </a:r>
            <a:r>
              <a:rPr sz="2000" spc="-180" dirty="0">
                <a:latin typeface="Arial"/>
                <a:cs typeface="Arial"/>
              </a:rPr>
              <a:t>momento </a:t>
            </a:r>
            <a:r>
              <a:rPr sz="2000" spc="-95" dirty="0">
                <a:latin typeface="Arial"/>
                <a:cs typeface="Arial"/>
              </a:rPr>
              <a:t>adecuado </a:t>
            </a:r>
            <a:r>
              <a:rPr sz="2000" dirty="0">
                <a:latin typeface="Arial"/>
                <a:cs typeface="Arial"/>
              </a:rPr>
              <a:t>y </a:t>
            </a:r>
            <a:r>
              <a:rPr sz="2000" spc="-114" dirty="0">
                <a:latin typeface="Arial"/>
                <a:cs typeface="Arial"/>
              </a:rPr>
              <a:t>esta </a:t>
            </a:r>
            <a:r>
              <a:rPr sz="2000" spc="-175" dirty="0">
                <a:latin typeface="Arial"/>
                <a:cs typeface="Arial"/>
              </a:rPr>
              <a:t>en </a:t>
            </a:r>
            <a:r>
              <a:rPr sz="2000" spc="-95" dirty="0">
                <a:latin typeface="Arial"/>
                <a:cs typeface="Arial"/>
              </a:rPr>
              <a:t>línea </a:t>
            </a:r>
            <a:r>
              <a:rPr sz="2000" spc="-195" dirty="0">
                <a:latin typeface="Arial"/>
                <a:cs typeface="Arial"/>
              </a:rPr>
              <a:t>con </a:t>
            </a:r>
            <a:r>
              <a:rPr sz="2000" spc="-10" dirty="0">
                <a:latin typeface="Arial"/>
                <a:cs typeface="Arial"/>
              </a:rPr>
              <a:t>la</a:t>
            </a:r>
            <a:r>
              <a:rPr sz="2000" spc="25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estrategia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939" y="3295192"/>
            <a:ext cx="3525520" cy="932948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27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70" dirty="0" err="1">
                <a:latin typeface="Arial"/>
                <a:cs typeface="Arial"/>
              </a:rPr>
              <a:t>Identif</a:t>
            </a:r>
            <a:r>
              <a:rPr lang="es-ES" sz="2000" spc="-70" dirty="0" err="1">
                <a:latin typeface="Arial"/>
                <a:cs typeface="Arial"/>
              </a:rPr>
              <a:t>icar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los </a:t>
            </a:r>
            <a:r>
              <a:rPr sz="2000" spc="-114" dirty="0">
                <a:latin typeface="Arial"/>
                <a:cs typeface="Arial"/>
              </a:rPr>
              <a:t>posibles</a:t>
            </a:r>
            <a:r>
              <a:rPr sz="2000" spc="50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ingresos</a:t>
            </a:r>
            <a:endParaRPr sz="2000" dirty="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117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70" dirty="0" err="1">
                <a:latin typeface="Arial"/>
                <a:cs typeface="Arial"/>
              </a:rPr>
              <a:t>Identif</a:t>
            </a:r>
            <a:r>
              <a:rPr lang="es-ES" sz="2000" spc="-70" dirty="0" err="1">
                <a:latin typeface="Arial"/>
                <a:cs typeface="Arial"/>
              </a:rPr>
              <a:t>icar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todos </a:t>
            </a:r>
            <a:r>
              <a:rPr sz="2000" spc="-150" dirty="0">
                <a:latin typeface="Arial"/>
                <a:cs typeface="Arial"/>
              </a:rPr>
              <a:t>los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-190" dirty="0" err="1">
                <a:latin typeface="Arial"/>
                <a:cs typeface="Arial"/>
              </a:rPr>
              <a:t>costos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95096"/>
            <a:ext cx="54749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i="0" spc="-75" dirty="0">
                <a:latin typeface="Arial"/>
                <a:cs typeface="Arial"/>
              </a:rPr>
              <a:t>Material</a:t>
            </a:r>
            <a:r>
              <a:rPr sz="4200" b="0" i="0" spc="-85" dirty="0">
                <a:latin typeface="Arial"/>
                <a:cs typeface="Arial"/>
              </a:rPr>
              <a:t> </a:t>
            </a:r>
            <a:r>
              <a:rPr sz="4200" b="0" i="0" spc="-245" dirty="0">
                <a:latin typeface="Arial"/>
                <a:cs typeface="Arial"/>
              </a:rPr>
              <a:t>Complementario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4388" y="1282065"/>
            <a:ext cx="8549640" cy="377825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32740" marR="5080" indent="-320040">
              <a:lnSpc>
                <a:spcPts val="1540"/>
              </a:lnSpc>
              <a:spcBef>
                <a:spcPts val="459"/>
              </a:spcBef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  <a:tab pos="922655" algn="l"/>
              </a:tabLst>
            </a:pPr>
            <a:r>
              <a:rPr sz="1600" b="1" spc="-114" dirty="0">
                <a:solidFill>
                  <a:srgbClr val="001F5F"/>
                </a:solidFill>
                <a:latin typeface="Arial"/>
                <a:cs typeface="Arial"/>
              </a:rPr>
              <a:t>VPN:	</a:t>
            </a:r>
            <a:r>
              <a:rPr sz="1600" b="1" spc="-90" dirty="0">
                <a:solidFill>
                  <a:srgbClr val="001F5F"/>
                </a:solidFill>
                <a:latin typeface="Arial"/>
                <a:cs typeface="Arial"/>
              </a:rPr>
              <a:t>Valor </a:t>
            </a:r>
            <a:r>
              <a:rPr sz="1600" b="1" spc="-145" dirty="0">
                <a:solidFill>
                  <a:srgbClr val="001F5F"/>
                </a:solidFill>
                <a:latin typeface="Arial"/>
                <a:cs typeface="Arial"/>
              </a:rPr>
              <a:t>Presente </a:t>
            </a:r>
            <a:r>
              <a:rPr sz="1600" b="1" spc="-120" dirty="0">
                <a:solidFill>
                  <a:srgbClr val="001F5F"/>
                </a:solidFill>
                <a:latin typeface="Arial"/>
                <a:cs typeface="Arial"/>
              </a:rPr>
              <a:t>neto. </a:t>
            </a:r>
            <a:r>
              <a:rPr sz="1600" spc="-80" dirty="0">
                <a:latin typeface="Arial"/>
                <a:cs typeface="Arial"/>
              </a:rPr>
              <a:t>puede </a:t>
            </a:r>
            <a:r>
              <a:rPr sz="1600" spc="-125" dirty="0">
                <a:latin typeface="Arial"/>
                <a:cs typeface="Arial"/>
              </a:rPr>
              <a:t>ser </a:t>
            </a:r>
            <a:r>
              <a:rPr sz="1600" spc="-90" dirty="0">
                <a:latin typeface="Arial"/>
                <a:cs typeface="Arial"/>
              </a:rPr>
              <a:t>positivo, </a:t>
            </a:r>
            <a:r>
              <a:rPr sz="1600" spc="-80" dirty="0">
                <a:latin typeface="Arial"/>
                <a:cs typeface="Arial"/>
              </a:rPr>
              <a:t>negativo </a:t>
            </a:r>
            <a:r>
              <a:rPr sz="1600" spc="-95" dirty="0">
                <a:latin typeface="Arial"/>
                <a:cs typeface="Arial"/>
              </a:rPr>
              <a:t>o </a:t>
            </a:r>
            <a:r>
              <a:rPr sz="1600" spc="-100" dirty="0">
                <a:latin typeface="Arial"/>
                <a:cs typeface="Arial"/>
              </a:rPr>
              <a:t>continuar </a:t>
            </a:r>
            <a:r>
              <a:rPr sz="1600" spc="-60" dirty="0">
                <a:latin typeface="Arial"/>
                <a:cs typeface="Arial"/>
              </a:rPr>
              <a:t>igual. </a:t>
            </a:r>
            <a:r>
              <a:rPr sz="1600" spc="-140" dirty="0">
                <a:latin typeface="Arial"/>
                <a:cs typeface="Arial"/>
              </a:rPr>
              <a:t>Si </a:t>
            </a:r>
            <a:r>
              <a:rPr sz="1600" spc="-180" dirty="0">
                <a:latin typeface="Arial"/>
                <a:cs typeface="Arial"/>
              </a:rPr>
              <a:t>es </a:t>
            </a:r>
            <a:r>
              <a:rPr sz="1600" spc="-85" dirty="0">
                <a:latin typeface="Arial"/>
                <a:cs typeface="Arial"/>
              </a:rPr>
              <a:t>positivo </a:t>
            </a:r>
            <a:r>
              <a:rPr sz="1600" spc="-60" dirty="0">
                <a:latin typeface="Arial"/>
                <a:cs typeface="Arial"/>
              </a:rPr>
              <a:t>significará  </a:t>
            </a:r>
            <a:r>
              <a:rPr sz="1600" spc="-100" dirty="0">
                <a:latin typeface="Arial"/>
                <a:cs typeface="Arial"/>
              </a:rPr>
              <a:t>que </a:t>
            </a:r>
            <a:r>
              <a:rPr sz="1600" spc="-50" dirty="0">
                <a:latin typeface="Arial"/>
                <a:cs typeface="Arial"/>
              </a:rPr>
              <a:t>el </a:t>
            </a:r>
            <a:r>
              <a:rPr sz="1600" spc="-80" dirty="0">
                <a:latin typeface="Arial"/>
                <a:cs typeface="Arial"/>
              </a:rPr>
              <a:t>proyecto </a:t>
            </a:r>
            <a:r>
              <a:rPr sz="1600" spc="-65" dirty="0">
                <a:latin typeface="Arial"/>
                <a:cs typeface="Arial"/>
              </a:rPr>
              <a:t>generara </a:t>
            </a:r>
            <a:r>
              <a:rPr sz="1600" spc="-80" dirty="0">
                <a:latin typeface="Arial"/>
                <a:cs typeface="Arial"/>
              </a:rPr>
              <a:t>valor. </a:t>
            </a:r>
            <a:r>
              <a:rPr sz="1600" spc="-140" dirty="0">
                <a:latin typeface="Arial"/>
                <a:cs typeface="Arial"/>
              </a:rPr>
              <a:t>Si </a:t>
            </a:r>
            <a:r>
              <a:rPr sz="1600" spc="-180" dirty="0">
                <a:latin typeface="Arial"/>
                <a:cs typeface="Arial"/>
              </a:rPr>
              <a:t>es </a:t>
            </a:r>
            <a:r>
              <a:rPr sz="1600" spc="-80" dirty="0">
                <a:latin typeface="Arial"/>
                <a:cs typeface="Arial"/>
              </a:rPr>
              <a:t>negativo </a:t>
            </a:r>
            <a:r>
              <a:rPr sz="1600" spc="-70" dirty="0">
                <a:latin typeface="Arial"/>
                <a:cs typeface="Arial"/>
              </a:rPr>
              <a:t>quiere </a:t>
            </a:r>
            <a:r>
              <a:rPr sz="1600" spc="-60" dirty="0">
                <a:latin typeface="Arial"/>
                <a:cs typeface="Arial"/>
              </a:rPr>
              <a:t>decir </a:t>
            </a:r>
            <a:r>
              <a:rPr sz="1600" spc="-100" dirty="0">
                <a:latin typeface="Arial"/>
                <a:cs typeface="Arial"/>
              </a:rPr>
              <a:t>que </a:t>
            </a:r>
            <a:r>
              <a:rPr sz="1600" spc="-185" dirty="0">
                <a:latin typeface="Arial"/>
                <a:cs typeface="Arial"/>
              </a:rPr>
              <a:t>se </a:t>
            </a:r>
            <a:r>
              <a:rPr sz="1600" spc="-55" dirty="0">
                <a:latin typeface="Arial"/>
                <a:cs typeface="Arial"/>
              </a:rPr>
              <a:t>tendrà </a:t>
            </a:r>
            <a:r>
              <a:rPr sz="1600" spc="-114" dirty="0">
                <a:latin typeface="Arial"/>
                <a:cs typeface="Arial"/>
              </a:rPr>
              <a:t>destrucciòn </a:t>
            </a:r>
            <a:r>
              <a:rPr sz="1600" spc="-55" dirty="0">
                <a:latin typeface="Arial"/>
                <a:cs typeface="Arial"/>
              </a:rPr>
              <a:t>de </a:t>
            </a:r>
            <a:r>
              <a:rPr sz="1600" spc="-80" dirty="0">
                <a:latin typeface="Arial"/>
                <a:cs typeface="Arial"/>
              </a:rPr>
              <a:t>valor. </a:t>
            </a:r>
            <a:r>
              <a:rPr sz="1600" spc="-140" dirty="0">
                <a:latin typeface="Arial"/>
                <a:cs typeface="Arial"/>
              </a:rPr>
              <a:t>Si </a:t>
            </a:r>
            <a:r>
              <a:rPr sz="1600" spc="-50" dirty="0">
                <a:latin typeface="Arial"/>
                <a:cs typeface="Arial"/>
              </a:rPr>
              <a:t>el  </a:t>
            </a:r>
            <a:r>
              <a:rPr sz="1600" spc="-80" dirty="0">
                <a:latin typeface="Arial"/>
                <a:cs typeface="Arial"/>
              </a:rPr>
              <a:t>resultado </a:t>
            </a:r>
            <a:r>
              <a:rPr sz="1600" spc="-40" dirty="0">
                <a:latin typeface="Arial"/>
                <a:cs typeface="Arial"/>
              </a:rPr>
              <a:t>del </a:t>
            </a:r>
            <a:r>
              <a:rPr sz="1600" spc="-155" dirty="0">
                <a:latin typeface="Arial"/>
                <a:cs typeface="Arial"/>
              </a:rPr>
              <a:t>VPN </a:t>
            </a:r>
            <a:r>
              <a:rPr sz="1600" spc="-185" dirty="0">
                <a:latin typeface="Arial"/>
                <a:cs typeface="Arial"/>
              </a:rPr>
              <a:t>es </a:t>
            </a:r>
            <a:r>
              <a:rPr sz="1600" spc="-110" dirty="0">
                <a:latin typeface="Arial"/>
                <a:cs typeface="Arial"/>
              </a:rPr>
              <a:t>cero, </a:t>
            </a:r>
            <a:r>
              <a:rPr sz="1600" spc="-10" dirty="0">
                <a:latin typeface="Arial"/>
                <a:cs typeface="Arial"/>
              </a:rPr>
              <a:t>la </a:t>
            </a:r>
            <a:r>
              <a:rPr sz="1600" spc="-110" dirty="0">
                <a:latin typeface="Arial"/>
                <a:cs typeface="Arial"/>
              </a:rPr>
              <a:t>empresa </a:t>
            </a:r>
            <a:r>
              <a:rPr sz="1600" spc="-145" dirty="0">
                <a:latin typeface="Arial"/>
                <a:cs typeface="Arial"/>
              </a:rPr>
              <a:t>no </a:t>
            </a:r>
            <a:r>
              <a:rPr sz="1600" spc="-55" dirty="0">
                <a:latin typeface="Arial"/>
                <a:cs typeface="Arial"/>
              </a:rPr>
              <a:t>modificará </a:t>
            </a:r>
            <a:r>
              <a:rPr sz="1600" spc="-50" dirty="0">
                <a:latin typeface="Arial"/>
                <a:cs typeface="Arial"/>
              </a:rPr>
              <a:t>el </a:t>
            </a:r>
            <a:r>
              <a:rPr sz="1600" spc="-130" dirty="0">
                <a:latin typeface="Arial"/>
                <a:cs typeface="Arial"/>
              </a:rPr>
              <a:t>monto </a:t>
            </a:r>
            <a:r>
              <a:rPr sz="1600" spc="-55" dirty="0">
                <a:latin typeface="Arial"/>
                <a:cs typeface="Arial"/>
              </a:rPr>
              <a:t>de</a:t>
            </a:r>
            <a:r>
              <a:rPr sz="1600" spc="260" dirty="0">
                <a:latin typeface="Arial"/>
                <a:cs typeface="Arial"/>
              </a:rPr>
              <a:t> </a:t>
            </a:r>
            <a:r>
              <a:rPr sz="1600" spc="-229" dirty="0">
                <a:latin typeface="Arial"/>
                <a:cs typeface="Arial"/>
              </a:rPr>
              <a:t>su </a:t>
            </a:r>
            <a:r>
              <a:rPr sz="1600" spc="-80" dirty="0">
                <a:latin typeface="Arial"/>
                <a:cs typeface="Arial"/>
              </a:rPr>
              <a:t>valor.</a:t>
            </a:r>
            <a:endParaRPr sz="16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320"/>
              </a:spcBef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600" b="1" spc="-165" dirty="0">
                <a:solidFill>
                  <a:srgbClr val="001F5F"/>
                </a:solidFill>
                <a:latin typeface="Arial"/>
                <a:cs typeface="Arial"/>
              </a:rPr>
              <a:t>Costo</a:t>
            </a:r>
            <a:r>
              <a:rPr sz="16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spc="-130" dirty="0">
                <a:solidFill>
                  <a:srgbClr val="001F5F"/>
                </a:solidFill>
                <a:latin typeface="Arial"/>
                <a:cs typeface="Arial"/>
              </a:rPr>
              <a:t>Beneficio</a:t>
            </a:r>
            <a:endParaRPr sz="160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275"/>
              </a:spcBef>
              <a:buClr>
                <a:srgbClr val="2CA1BE"/>
              </a:buClr>
              <a:buSzPct val="67857"/>
              <a:buFont typeface="Arial"/>
              <a:buChar char=""/>
              <a:tabLst>
                <a:tab pos="652780" algn="l"/>
                <a:tab pos="653415" algn="l"/>
              </a:tabLst>
            </a:pPr>
            <a:r>
              <a:rPr sz="1400" b="1" spc="-114" dirty="0">
                <a:solidFill>
                  <a:srgbClr val="001F5F"/>
                </a:solidFill>
                <a:latin typeface="Arial"/>
                <a:cs typeface="Arial"/>
              </a:rPr>
              <a:t>B/C </a:t>
            </a:r>
            <a:r>
              <a:rPr sz="1400" b="1" spc="114" dirty="0">
                <a:solidFill>
                  <a:srgbClr val="001F5F"/>
                </a:solidFill>
                <a:latin typeface="Arial"/>
                <a:cs typeface="Arial"/>
              </a:rPr>
              <a:t>&gt; </a:t>
            </a:r>
            <a:r>
              <a:rPr sz="1400" b="1" spc="-35" dirty="0">
                <a:solidFill>
                  <a:srgbClr val="001F5F"/>
                </a:solidFill>
                <a:latin typeface="Arial"/>
                <a:cs typeface="Arial"/>
              </a:rPr>
              <a:t>1 </a:t>
            </a:r>
            <a:r>
              <a:rPr sz="1400" b="1" spc="-145" dirty="0">
                <a:solidFill>
                  <a:srgbClr val="001F5F"/>
                </a:solidFill>
                <a:latin typeface="Arial"/>
                <a:cs typeface="Arial"/>
              </a:rPr>
              <a:t>es</a:t>
            </a:r>
            <a:r>
              <a:rPr sz="1400" b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0" dirty="0">
                <a:solidFill>
                  <a:srgbClr val="001F5F"/>
                </a:solidFill>
                <a:latin typeface="Arial"/>
                <a:cs typeface="Arial"/>
              </a:rPr>
              <a:t>conveniente</a:t>
            </a:r>
            <a:endParaRPr sz="140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260"/>
              </a:spcBef>
              <a:buClr>
                <a:srgbClr val="2CA1BE"/>
              </a:buClr>
              <a:buSzPct val="67857"/>
              <a:buFont typeface="Arial"/>
              <a:buChar char=""/>
              <a:tabLst>
                <a:tab pos="652780" algn="l"/>
                <a:tab pos="653415" algn="l"/>
              </a:tabLst>
            </a:pPr>
            <a:r>
              <a:rPr sz="1400" b="1" spc="-114" dirty="0">
                <a:solidFill>
                  <a:srgbClr val="001F5F"/>
                </a:solidFill>
                <a:latin typeface="Arial"/>
                <a:cs typeface="Arial"/>
              </a:rPr>
              <a:t>B/C </a:t>
            </a:r>
            <a:r>
              <a:rPr sz="1400" b="1" spc="114" dirty="0">
                <a:solidFill>
                  <a:srgbClr val="001F5F"/>
                </a:solidFill>
                <a:latin typeface="Arial"/>
                <a:cs typeface="Arial"/>
              </a:rPr>
              <a:t>&lt; </a:t>
            </a:r>
            <a:r>
              <a:rPr sz="1400" b="1" spc="-35" dirty="0">
                <a:solidFill>
                  <a:srgbClr val="001F5F"/>
                </a:solidFill>
                <a:latin typeface="Arial"/>
                <a:cs typeface="Arial"/>
              </a:rPr>
              <a:t>1 </a:t>
            </a:r>
            <a:r>
              <a:rPr sz="1400" b="1" spc="-110" dirty="0">
                <a:solidFill>
                  <a:srgbClr val="001F5F"/>
                </a:solidFill>
                <a:latin typeface="Arial"/>
                <a:cs typeface="Arial"/>
              </a:rPr>
              <a:t>no </a:t>
            </a:r>
            <a:r>
              <a:rPr sz="1400" b="1" spc="-145" dirty="0">
                <a:solidFill>
                  <a:srgbClr val="001F5F"/>
                </a:solidFill>
                <a:latin typeface="Arial"/>
                <a:cs typeface="Arial"/>
              </a:rPr>
              <a:t>es</a:t>
            </a:r>
            <a:r>
              <a:rPr sz="1400" b="1" spc="-25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0" dirty="0">
                <a:solidFill>
                  <a:srgbClr val="001F5F"/>
                </a:solidFill>
                <a:latin typeface="Arial"/>
                <a:cs typeface="Arial"/>
              </a:rPr>
              <a:t>conveniente</a:t>
            </a:r>
            <a:endParaRPr sz="140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265"/>
              </a:spcBef>
              <a:buClr>
                <a:srgbClr val="2CA1BE"/>
              </a:buClr>
              <a:buSzPct val="67857"/>
              <a:buFont typeface="Arial"/>
              <a:buChar char=""/>
              <a:tabLst>
                <a:tab pos="652780" algn="l"/>
                <a:tab pos="653415" algn="l"/>
              </a:tabLst>
            </a:pPr>
            <a:r>
              <a:rPr sz="1400" b="1" spc="-50" dirty="0">
                <a:solidFill>
                  <a:srgbClr val="001F5F"/>
                </a:solidFill>
                <a:latin typeface="Arial"/>
                <a:cs typeface="Arial"/>
              </a:rPr>
              <a:t>O </a:t>
            </a:r>
            <a:r>
              <a:rPr sz="1400" b="1" spc="-165" dirty="0">
                <a:solidFill>
                  <a:srgbClr val="001F5F"/>
                </a:solidFill>
                <a:latin typeface="Arial"/>
                <a:cs typeface="Arial"/>
              </a:rPr>
              <a:t>B-C </a:t>
            </a:r>
            <a:r>
              <a:rPr sz="1400" b="1" spc="114" dirty="0">
                <a:solidFill>
                  <a:srgbClr val="001F5F"/>
                </a:solidFill>
                <a:latin typeface="Arial"/>
                <a:cs typeface="Arial"/>
              </a:rPr>
              <a:t>&gt; </a:t>
            </a:r>
            <a:r>
              <a:rPr sz="1400" b="1" spc="-35" dirty="0">
                <a:solidFill>
                  <a:srgbClr val="001F5F"/>
                </a:solidFill>
                <a:latin typeface="Arial"/>
                <a:cs typeface="Arial"/>
              </a:rPr>
              <a:t>0</a:t>
            </a:r>
            <a:r>
              <a:rPr sz="1400" b="1" spc="-2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0" dirty="0">
                <a:solidFill>
                  <a:srgbClr val="001F5F"/>
                </a:solidFill>
                <a:latin typeface="Arial"/>
                <a:cs typeface="Arial"/>
              </a:rPr>
              <a:t>conveniente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2CA1BE"/>
              </a:buClr>
              <a:buFont typeface="Arial"/>
              <a:buChar char=""/>
            </a:pPr>
            <a:endParaRPr sz="19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600" b="1" spc="-145" dirty="0">
                <a:solidFill>
                  <a:srgbClr val="001F5F"/>
                </a:solidFill>
                <a:latin typeface="Arial"/>
                <a:cs typeface="Arial"/>
              </a:rPr>
              <a:t>Punto </a:t>
            </a:r>
            <a:r>
              <a:rPr sz="1600" b="1" spc="-130" dirty="0">
                <a:solidFill>
                  <a:srgbClr val="001F5F"/>
                </a:solidFill>
                <a:latin typeface="Arial"/>
                <a:cs typeface="Arial"/>
              </a:rPr>
              <a:t>de </a:t>
            </a:r>
            <a:r>
              <a:rPr sz="1600" b="1" spc="-110" dirty="0">
                <a:solidFill>
                  <a:srgbClr val="001F5F"/>
                </a:solidFill>
                <a:latin typeface="Arial"/>
                <a:cs typeface="Arial"/>
              </a:rPr>
              <a:t>Equilibrio: </a:t>
            </a:r>
            <a:r>
              <a:rPr sz="1600" b="1" spc="-120" dirty="0">
                <a:solidFill>
                  <a:srgbClr val="001F5F"/>
                </a:solidFill>
                <a:latin typeface="Arial"/>
                <a:cs typeface="Arial"/>
              </a:rPr>
              <a:t>Framework </a:t>
            </a:r>
            <a:r>
              <a:rPr sz="1600" b="1" spc="-130" dirty="0">
                <a:solidFill>
                  <a:srgbClr val="001F5F"/>
                </a:solidFill>
                <a:latin typeface="Arial"/>
                <a:cs typeface="Arial"/>
              </a:rPr>
              <a:t>de </a:t>
            </a:r>
            <a:r>
              <a:rPr sz="1600" b="1" spc="-120" dirty="0">
                <a:solidFill>
                  <a:srgbClr val="001F5F"/>
                </a:solidFill>
                <a:latin typeface="Arial"/>
                <a:cs typeface="Arial"/>
              </a:rPr>
              <a:t>tiempo </a:t>
            </a:r>
            <a:r>
              <a:rPr sz="1600" b="1" spc="-130" dirty="0">
                <a:solidFill>
                  <a:srgbClr val="001F5F"/>
                </a:solidFill>
                <a:latin typeface="Arial"/>
                <a:cs typeface="Arial"/>
              </a:rPr>
              <a:t>en </a:t>
            </a:r>
            <a:r>
              <a:rPr sz="1600" b="1" spc="-80" dirty="0">
                <a:solidFill>
                  <a:srgbClr val="001F5F"/>
                </a:solidFill>
                <a:latin typeface="Arial"/>
                <a:cs typeface="Arial"/>
              </a:rPr>
              <a:t>el </a:t>
            </a:r>
            <a:r>
              <a:rPr sz="1600" b="1" spc="-114" dirty="0">
                <a:solidFill>
                  <a:srgbClr val="001F5F"/>
                </a:solidFill>
                <a:latin typeface="Arial"/>
                <a:cs typeface="Arial"/>
              </a:rPr>
              <a:t>cual </a:t>
            </a:r>
            <a:r>
              <a:rPr sz="1600" b="1" spc="-170" dirty="0">
                <a:solidFill>
                  <a:srgbClr val="001F5F"/>
                </a:solidFill>
                <a:latin typeface="Arial"/>
                <a:cs typeface="Arial"/>
              </a:rPr>
              <a:t>se </a:t>
            </a:r>
            <a:r>
              <a:rPr sz="1600" b="1" spc="-125" dirty="0">
                <a:solidFill>
                  <a:srgbClr val="001F5F"/>
                </a:solidFill>
                <a:latin typeface="Arial"/>
                <a:cs typeface="Arial"/>
              </a:rPr>
              <a:t>recupera </a:t>
            </a:r>
            <a:r>
              <a:rPr sz="1600" b="1" spc="-40" dirty="0">
                <a:solidFill>
                  <a:srgbClr val="001F5F"/>
                </a:solidFill>
                <a:latin typeface="Arial"/>
                <a:cs typeface="Arial"/>
              </a:rPr>
              <a:t>la</a:t>
            </a:r>
            <a:r>
              <a:rPr sz="1600" b="1" spc="-3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spc="-110" dirty="0">
                <a:solidFill>
                  <a:srgbClr val="001F5F"/>
                </a:solidFill>
                <a:latin typeface="Arial"/>
                <a:cs typeface="Arial"/>
              </a:rPr>
              <a:t>inversión </a:t>
            </a:r>
            <a:r>
              <a:rPr sz="1600" b="1" spc="-95" dirty="0">
                <a:solidFill>
                  <a:srgbClr val="001F5F"/>
                </a:solidFill>
                <a:latin typeface="Arial"/>
                <a:cs typeface="Arial"/>
              </a:rPr>
              <a:t>del </a:t>
            </a:r>
            <a:r>
              <a:rPr sz="1600" b="1" spc="-135" dirty="0">
                <a:solidFill>
                  <a:srgbClr val="001F5F"/>
                </a:solidFill>
                <a:latin typeface="Arial"/>
                <a:cs typeface="Arial"/>
              </a:rPr>
              <a:t>proyecto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DA1F28"/>
              </a:buClr>
              <a:buFont typeface="Wingdings"/>
              <a:buChar char=""/>
            </a:pPr>
            <a:endParaRPr sz="22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600" b="1" spc="-130" dirty="0">
                <a:solidFill>
                  <a:srgbClr val="001F5F"/>
                </a:solidFill>
                <a:latin typeface="Arial"/>
                <a:cs typeface="Arial"/>
              </a:rPr>
              <a:t>ROI: </a:t>
            </a:r>
            <a:r>
              <a:rPr sz="1600" b="1" spc="-145" dirty="0">
                <a:solidFill>
                  <a:srgbClr val="001F5F"/>
                </a:solidFill>
                <a:latin typeface="Arial"/>
                <a:cs typeface="Arial"/>
              </a:rPr>
              <a:t>Retorno </a:t>
            </a:r>
            <a:r>
              <a:rPr sz="1600" b="1" spc="-130" dirty="0">
                <a:solidFill>
                  <a:srgbClr val="001F5F"/>
                </a:solidFill>
                <a:latin typeface="Arial"/>
                <a:cs typeface="Arial"/>
              </a:rPr>
              <a:t>de </a:t>
            </a:r>
            <a:r>
              <a:rPr sz="1600" b="1" spc="-40" dirty="0">
                <a:solidFill>
                  <a:srgbClr val="001F5F"/>
                </a:solidFill>
                <a:latin typeface="Arial"/>
                <a:cs typeface="Arial"/>
              </a:rPr>
              <a:t>la </a:t>
            </a:r>
            <a:r>
              <a:rPr sz="1600" b="1" spc="-110" dirty="0">
                <a:solidFill>
                  <a:srgbClr val="001F5F"/>
                </a:solidFill>
                <a:latin typeface="Arial"/>
                <a:cs typeface="Arial"/>
              </a:rPr>
              <a:t>inversión: </a:t>
            </a:r>
            <a:r>
              <a:rPr sz="1600" b="1" spc="-120" dirty="0">
                <a:solidFill>
                  <a:srgbClr val="001F5F"/>
                </a:solidFill>
                <a:latin typeface="Arial"/>
                <a:cs typeface="Arial"/>
              </a:rPr>
              <a:t>Numero </a:t>
            </a:r>
            <a:r>
              <a:rPr sz="1600" b="1" spc="-130" dirty="0">
                <a:solidFill>
                  <a:srgbClr val="001F5F"/>
                </a:solidFill>
                <a:latin typeface="Arial"/>
                <a:cs typeface="Arial"/>
              </a:rPr>
              <a:t>de </a:t>
            </a:r>
            <a:r>
              <a:rPr sz="1600" b="1" spc="-155" dirty="0">
                <a:solidFill>
                  <a:srgbClr val="001F5F"/>
                </a:solidFill>
                <a:latin typeface="Arial"/>
                <a:cs typeface="Arial"/>
              </a:rPr>
              <a:t>veces </a:t>
            </a:r>
            <a:r>
              <a:rPr sz="1600" b="1" spc="-135" dirty="0">
                <a:solidFill>
                  <a:srgbClr val="001F5F"/>
                </a:solidFill>
                <a:latin typeface="Arial"/>
                <a:cs typeface="Arial"/>
              </a:rPr>
              <a:t>que </a:t>
            </a:r>
            <a:r>
              <a:rPr sz="1600" b="1" spc="-40" dirty="0">
                <a:solidFill>
                  <a:srgbClr val="001F5F"/>
                </a:solidFill>
                <a:latin typeface="Arial"/>
                <a:cs typeface="Arial"/>
              </a:rPr>
              <a:t>la </a:t>
            </a:r>
            <a:r>
              <a:rPr sz="1600" b="1" spc="-110" dirty="0">
                <a:solidFill>
                  <a:srgbClr val="001F5F"/>
                </a:solidFill>
                <a:latin typeface="Arial"/>
                <a:cs typeface="Arial"/>
              </a:rPr>
              <a:t>inversión </a:t>
            </a:r>
            <a:r>
              <a:rPr sz="1600" b="1" spc="-170" dirty="0">
                <a:solidFill>
                  <a:srgbClr val="001F5F"/>
                </a:solidFill>
                <a:latin typeface="Arial"/>
                <a:cs typeface="Arial"/>
              </a:rPr>
              <a:t>es</a:t>
            </a:r>
            <a:r>
              <a:rPr sz="1600" b="1" spc="-27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spc="-120" dirty="0">
                <a:solidFill>
                  <a:srgbClr val="001F5F"/>
                </a:solidFill>
                <a:latin typeface="Arial"/>
                <a:cs typeface="Arial"/>
              </a:rPr>
              <a:t>recuperada</a:t>
            </a:r>
            <a:endParaRPr sz="1600">
              <a:latin typeface="Arial"/>
              <a:cs typeface="Arial"/>
            </a:endParaRPr>
          </a:p>
          <a:p>
            <a:pPr marL="1984375" marR="2506980">
              <a:lnSpc>
                <a:spcPct val="100000"/>
              </a:lnSpc>
              <a:spcBef>
                <a:spcPts val="685"/>
              </a:spcBef>
            </a:pPr>
            <a:r>
              <a:rPr sz="1800" u="heavy" spc="-165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Documento </a:t>
            </a:r>
            <a:r>
              <a:rPr sz="1800" u="heavy" spc="-55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de </a:t>
            </a:r>
            <a:r>
              <a:rPr sz="1800" u="heavy" spc="-11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Inicio </a:t>
            </a:r>
            <a:r>
              <a:rPr sz="1800" u="heavy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y </a:t>
            </a:r>
            <a:r>
              <a:rPr sz="1800" u="heavy" spc="-12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Análisis </a:t>
            </a:r>
            <a:r>
              <a:rPr sz="1800" u="heavy" spc="-55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de </a:t>
            </a:r>
            <a:r>
              <a:rPr sz="1800" u="heavy" spc="-2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Viabilidad </a:t>
            </a:r>
            <a:r>
              <a:rPr sz="1800" spc="-20" dirty="0">
                <a:solidFill>
                  <a:srgbClr val="FF8118"/>
                </a:solidFill>
                <a:latin typeface="Arial"/>
                <a:cs typeface="Arial"/>
              </a:rPr>
              <a:t> </a:t>
            </a:r>
            <a:r>
              <a:rPr sz="1800" u="heavy" spc="-155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Caso </a:t>
            </a:r>
            <a:r>
              <a:rPr sz="1800" u="heavy" spc="-16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en </a:t>
            </a:r>
            <a:r>
              <a:rPr sz="1800" u="heavy" spc="-105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excel </a:t>
            </a:r>
            <a:r>
              <a:rPr sz="1800" u="heavy" spc="-175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con </a:t>
            </a:r>
            <a:r>
              <a:rPr sz="1800" u="heavy" spc="-105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todos </a:t>
            </a:r>
            <a:r>
              <a:rPr sz="1800" u="heavy" spc="-14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los</a:t>
            </a:r>
            <a:r>
              <a:rPr sz="1800" u="heavy" spc="-2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135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</a:rPr>
              <a:t>cálculos</a:t>
            </a:r>
            <a:endParaRPr sz="1800">
              <a:latin typeface="Arial"/>
              <a:cs typeface="Arial"/>
            </a:endParaRPr>
          </a:p>
          <a:p>
            <a:pPr marL="1069975">
              <a:lnSpc>
                <a:spcPct val="100000"/>
              </a:lnSpc>
              <a:spcBef>
                <a:spcPts val="675"/>
              </a:spcBef>
            </a:pPr>
            <a:r>
              <a:rPr sz="1800" b="1" spc="-250" dirty="0">
                <a:latin typeface="Arial"/>
                <a:cs typeface="Arial"/>
              </a:rPr>
              <a:t>Se </a:t>
            </a:r>
            <a:r>
              <a:rPr sz="1800" b="1" spc="-140" dirty="0">
                <a:latin typeface="Arial"/>
                <a:cs typeface="Arial"/>
              </a:rPr>
              <a:t>debe </a:t>
            </a:r>
            <a:r>
              <a:rPr sz="1800" b="1" spc="-75" dirty="0">
                <a:latin typeface="Arial"/>
                <a:cs typeface="Arial"/>
              </a:rPr>
              <a:t>realizar </a:t>
            </a:r>
            <a:r>
              <a:rPr sz="1800" b="1" spc="-85" dirty="0">
                <a:latin typeface="Arial"/>
                <a:cs typeface="Arial"/>
              </a:rPr>
              <a:t>el </a:t>
            </a:r>
            <a:r>
              <a:rPr sz="1800" b="1" spc="-155" dirty="0">
                <a:latin typeface="Arial"/>
                <a:cs typeface="Arial"/>
              </a:rPr>
              <a:t>proyecto </a:t>
            </a:r>
            <a:r>
              <a:rPr sz="1800" b="1" spc="-114" dirty="0">
                <a:latin typeface="Arial"/>
                <a:cs typeface="Arial"/>
              </a:rPr>
              <a:t>aun </a:t>
            </a:r>
            <a:r>
              <a:rPr sz="1800" b="1" spc="-185" dirty="0">
                <a:latin typeface="Arial"/>
                <a:cs typeface="Arial"/>
              </a:rPr>
              <a:t>con </a:t>
            </a:r>
            <a:r>
              <a:rPr sz="1800" b="1" spc="-180" dirty="0">
                <a:latin typeface="Arial"/>
                <a:cs typeface="Arial"/>
              </a:rPr>
              <a:t>estos </a:t>
            </a:r>
            <a:r>
              <a:rPr sz="1800" b="1" spc="-135" dirty="0">
                <a:latin typeface="Arial"/>
                <a:cs typeface="Arial"/>
              </a:rPr>
              <a:t>indicadores</a:t>
            </a:r>
            <a:r>
              <a:rPr sz="1800" b="1" spc="-120" dirty="0">
                <a:latin typeface="Arial"/>
                <a:cs typeface="Arial"/>
              </a:rPr>
              <a:t> </a:t>
            </a:r>
            <a:r>
              <a:rPr sz="1800" b="1" spc="-130" dirty="0">
                <a:latin typeface="Arial"/>
                <a:cs typeface="Arial"/>
              </a:rPr>
              <a:t>negativos?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95096"/>
            <a:ext cx="34461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i="0" spc="-405" dirty="0">
                <a:latin typeface="Arial"/>
                <a:cs typeface="Arial"/>
              </a:rPr>
              <a:t>PMI </a:t>
            </a:r>
            <a:r>
              <a:rPr sz="4200" b="0" i="0" dirty="0">
                <a:latin typeface="Arial"/>
                <a:cs typeface="Arial"/>
              </a:rPr>
              <a:t>y</a:t>
            </a:r>
            <a:r>
              <a:rPr sz="4200" b="0" i="0" spc="-440" dirty="0">
                <a:latin typeface="Arial"/>
                <a:cs typeface="Arial"/>
              </a:rPr>
              <a:t> </a:t>
            </a:r>
            <a:r>
              <a:rPr sz="4200" b="0" i="0" spc="-370" dirty="0">
                <a:latin typeface="Arial"/>
                <a:cs typeface="Arial"/>
              </a:rPr>
              <a:t>PMBOOK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  <a:tab pos="333375" algn="l"/>
              </a:tabLst>
            </a:pPr>
            <a:r>
              <a:rPr spc="-150" dirty="0"/>
              <a:t>PMI</a:t>
            </a:r>
          </a:p>
          <a:p>
            <a:pPr marL="652780" marR="102235" lvl="1" indent="-274320">
              <a:lnSpc>
                <a:spcPct val="80000"/>
              </a:lnSpc>
              <a:spcBef>
                <a:spcPts val="600"/>
              </a:spcBef>
              <a:buClr>
                <a:srgbClr val="2CA1BE"/>
              </a:buClr>
              <a:buSzPct val="68181"/>
              <a:buChar char=""/>
              <a:tabLst>
                <a:tab pos="653415" algn="l"/>
              </a:tabLst>
            </a:pPr>
            <a:r>
              <a:rPr sz="2200" spc="-100" dirty="0">
                <a:latin typeface="Arial"/>
                <a:cs typeface="Arial"/>
              </a:rPr>
              <a:t>Organizacion </a:t>
            </a:r>
            <a:r>
              <a:rPr sz="2200" spc="-135" dirty="0">
                <a:latin typeface="Arial"/>
                <a:cs typeface="Arial"/>
              </a:rPr>
              <a:t>que </a:t>
            </a:r>
            <a:r>
              <a:rPr sz="2200" spc="-15" dirty="0">
                <a:latin typeface="Arial"/>
                <a:cs typeface="Arial"/>
              </a:rPr>
              <a:t>da  </a:t>
            </a:r>
            <a:r>
              <a:rPr sz="2200" spc="-145" dirty="0">
                <a:latin typeface="Arial"/>
                <a:cs typeface="Arial"/>
              </a:rPr>
              <a:t>lineamientos </a:t>
            </a:r>
            <a:r>
              <a:rPr sz="2200" spc="-5" dirty="0">
                <a:latin typeface="Arial"/>
                <a:cs typeface="Arial"/>
              </a:rPr>
              <a:t>y </a:t>
            </a:r>
            <a:r>
              <a:rPr sz="2200" spc="-125" dirty="0">
                <a:latin typeface="Arial"/>
                <a:cs typeface="Arial"/>
              </a:rPr>
              <a:t>frameworks  </a:t>
            </a:r>
            <a:r>
              <a:rPr sz="2200" spc="-20" dirty="0">
                <a:latin typeface="Arial"/>
                <a:cs typeface="Arial"/>
              </a:rPr>
              <a:t>para </a:t>
            </a:r>
            <a:r>
              <a:rPr sz="2200" spc="-140" dirty="0">
                <a:latin typeface="Arial"/>
                <a:cs typeface="Arial"/>
              </a:rPr>
              <a:t>gestion </a:t>
            </a:r>
            <a:r>
              <a:rPr sz="2200" spc="-70" dirty="0">
                <a:latin typeface="Arial"/>
                <a:cs typeface="Arial"/>
              </a:rPr>
              <a:t>de </a:t>
            </a:r>
            <a:r>
              <a:rPr sz="2200" spc="-130" dirty="0">
                <a:latin typeface="Arial"/>
                <a:cs typeface="Arial"/>
              </a:rPr>
              <a:t>proyectos  </a:t>
            </a:r>
            <a:r>
              <a:rPr sz="2200" spc="-110" dirty="0">
                <a:latin typeface="Arial"/>
                <a:cs typeface="Arial"/>
              </a:rPr>
              <a:t>programas </a:t>
            </a:r>
            <a:r>
              <a:rPr sz="2200" spc="-5" dirty="0">
                <a:latin typeface="Arial"/>
                <a:cs typeface="Arial"/>
              </a:rPr>
              <a:t>y</a:t>
            </a:r>
            <a:r>
              <a:rPr sz="2200" spc="100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portafolios</a:t>
            </a:r>
            <a:endParaRPr sz="2200">
              <a:latin typeface="Arial"/>
              <a:cs typeface="Arial"/>
            </a:endParaRPr>
          </a:p>
          <a:p>
            <a:pPr marL="927100" lvl="2" indent="-228600">
              <a:lnSpc>
                <a:spcPts val="2615"/>
              </a:lnSpc>
              <a:buClr>
                <a:srgbClr val="DA1F28"/>
              </a:buClr>
              <a:buSzPct val="75000"/>
              <a:buFont typeface="Wingdings"/>
              <a:buChar char=""/>
              <a:tabLst>
                <a:tab pos="927735" algn="l"/>
              </a:tabLst>
            </a:pPr>
            <a:r>
              <a:rPr sz="2200" u="heavy" spc="-125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2"/>
              </a:rPr>
              <a:t>www.pmi.org</a:t>
            </a:r>
            <a:endParaRPr sz="2200">
              <a:latin typeface="Arial"/>
              <a:cs typeface="Arial"/>
            </a:endParaRPr>
          </a:p>
          <a:p>
            <a:pPr marL="652780" lvl="1" indent="-274320">
              <a:lnSpc>
                <a:spcPts val="2375"/>
              </a:lnSpc>
              <a:spcBef>
                <a:spcPts val="75"/>
              </a:spcBef>
              <a:buClr>
                <a:srgbClr val="2CA1BE"/>
              </a:buClr>
              <a:buSzPct val="68181"/>
              <a:buChar char=""/>
              <a:tabLst>
                <a:tab pos="653415" algn="l"/>
              </a:tabLst>
            </a:pPr>
            <a:r>
              <a:rPr sz="2200" spc="-165" dirty="0">
                <a:latin typeface="Arial"/>
                <a:cs typeface="Arial"/>
              </a:rPr>
              <a:t>Provee </a:t>
            </a:r>
            <a:r>
              <a:rPr sz="2200" spc="-114" dirty="0">
                <a:latin typeface="Arial"/>
                <a:cs typeface="Arial"/>
              </a:rPr>
              <a:t>certificaciones </a:t>
            </a:r>
            <a:r>
              <a:rPr sz="2200" spc="-195" dirty="0">
                <a:latin typeface="Arial"/>
                <a:cs typeface="Arial"/>
              </a:rPr>
              <a:t>en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385" dirty="0">
                <a:latin typeface="Arial"/>
                <a:cs typeface="Arial"/>
              </a:rPr>
              <a:t>la</a:t>
            </a:r>
            <a:endParaRPr sz="2200">
              <a:latin typeface="Arial"/>
              <a:cs typeface="Arial"/>
            </a:endParaRPr>
          </a:p>
          <a:p>
            <a:pPr marL="652780">
              <a:lnSpc>
                <a:spcPts val="2375"/>
              </a:lnSpc>
            </a:pPr>
            <a:r>
              <a:rPr b="0" spc="-100" dirty="0">
                <a:latin typeface="Arial"/>
                <a:cs typeface="Arial"/>
              </a:rPr>
              <a:t>disciplina</a:t>
            </a:r>
          </a:p>
          <a:p>
            <a:pPr marL="652780" lvl="1" indent="-274320">
              <a:lnSpc>
                <a:spcPts val="2375"/>
              </a:lnSpc>
              <a:spcBef>
                <a:spcPts val="70"/>
              </a:spcBef>
              <a:buClr>
                <a:srgbClr val="2CA1BE"/>
              </a:buClr>
              <a:buSzPct val="68181"/>
              <a:buChar char=""/>
              <a:tabLst>
                <a:tab pos="653415" algn="l"/>
              </a:tabLst>
            </a:pPr>
            <a:r>
              <a:rPr sz="2200" spc="-195" dirty="0">
                <a:latin typeface="Arial"/>
                <a:cs typeface="Arial"/>
              </a:rPr>
              <a:t>Promueve </a:t>
            </a:r>
            <a:r>
              <a:rPr sz="2200" spc="-70" dirty="0">
                <a:latin typeface="Arial"/>
                <a:cs typeface="Arial"/>
              </a:rPr>
              <a:t>el </a:t>
            </a:r>
            <a:r>
              <a:rPr sz="2200" spc="-85" dirty="0">
                <a:latin typeface="Arial"/>
                <a:cs typeface="Arial"/>
              </a:rPr>
              <a:t>desarrollo</a:t>
            </a:r>
            <a:r>
              <a:rPr sz="2200" spc="-15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de</a:t>
            </a:r>
            <a:endParaRPr sz="2200">
              <a:latin typeface="Arial"/>
              <a:cs typeface="Arial"/>
            </a:endParaRPr>
          </a:p>
          <a:p>
            <a:pPr marL="652780">
              <a:lnSpc>
                <a:spcPts val="2375"/>
              </a:lnSpc>
            </a:pPr>
            <a:r>
              <a:rPr b="0" spc="-15" dirty="0">
                <a:latin typeface="Arial"/>
                <a:cs typeface="Arial"/>
              </a:rPr>
              <a:t>la </a:t>
            </a:r>
            <a:r>
              <a:rPr b="0" spc="-140" dirty="0">
                <a:latin typeface="Arial"/>
                <a:cs typeface="Arial"/>
              </a:rPr>
              <a:t>gestion </a:t>
            </a:r>
            <a:r>
              <a:rPr b="0" spc="-70" dirty="0">
                <a:latin typeface="Arial"/>
                <a:cs typeface="Arial"/>
              </a:rPr>
              <a:t>de</a:t>
            </a:r>
            <a:r>
              <a:rPr b="0" spc="-325" dirty="0">
                <a:latin typeface="Arial"/>
                <a:cs typeface="Arial"/>
              </a:rPr>
              <a:t> </a:t>
            </a:r>
            <a:r>
              <a:rPr b="0" spc="-130" dirty="0">
                <a:latin typeface="Arial"/>
                <a:cs typeface="Arial"/>
              </a:rPr>
              <a:t>proyectos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24425" y="1256383"/>
            <a:ext cx="3577590" cy="366458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b="1" spc="-254" dirty="0">
                <a:latin typeface="Arial"/>
                <a:cs typeface="Arial"/>
              </a:rPr>
              <a:t>PMBOOK</a:t>
            </a:r>
            <a:endParaRPr sz="2900" dirty="0">
              <a:latin typeface="Arial"/>
              <a:cs typeface="Arial"/>
            </a:endParaRPr>
          </a:p>
          <a:p>
            <a:pPr marL="652780" marR="10160" lvl="1" indent="-274320">
              <a:lnSpc>
                <a:spcPct val="100000"/>
              </a:lnSpc>
              <a:spcBef>
                <a:spcPts val="645"/>
              </a:spcBef>
              <a:buClr>
                <a:srgbClr val="2CA1BE"/>
              </a:buClr>
              <a:buSzPct val="68181"/>
              <a:buChar char=""/>
              <a:tabLst>
                <a:tab pos="652780" algn="l"/>
              </a:tabLst>
            </a:pPr>
            <a:r>
              <a:rPr sz="2200" spc="-135" dirty="0">
                <a:latin typeface="Arial"/>
                <a:cs typeface="Arial"/>
              </a:rPr>
              <a:t>Estandard </a:t>
            </a:r>
            <a:r>
              <a:rPr sz="2200" spc="-20" dirty="0">
                <a:latin typeface="Arial"/>
                <a:cs typeface="Arial"/>
              </a:rPr>
              <a:t>para </a:t>
            </a:r>
            <a:r>
              <a:rPr sz="2200" spc="-15" dirty="0">
                <a:latin typeface="Arial"/>
                <a:cs typeface="Arial"/>
              </a:rPr>
              <a:t>la </a:t>
            </a:r>
            <a:r>
              <a:rPr sz="2200" spc="-210" dirty="0">
                <a:latin typeface="Arial"/>
                <a:cs typeface="Arial"/>
              </a:rPr>
              <a:t>gestion  </a:t>
            </a:r>
            <a:r>
              <a:rPr sz="2200" spc="-7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130" dirty="0">
                <a:latin typeface="Arial"/>
                <a:cs typeface="Arial"/>
              </a:rPr>
              <a:t>proyectos</a:t>
            </a:r>
            <a:endParaRPr sz="2200" dirty="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68181"/>
              <a:buChar char=""/>
              <a:tabLst>
                <a:tab pos="652780" algn="l"/>
              </a:tabLst>
            </a:pPr>
            <a:r>
              <a:rPr sz="2200" spc="-15" dirty="0">
                <a:latin typeface="Arial"/>
                <a:cs typeface="Arial"/>
              </a:rPr>
              <a:t>5 </a:t>
            </a:r>
            <a:r>
              <a:rPr sz="2200" spc="-125" dirty="0">
                <a:latin typeface="Arial"/>
                <a:cs typeface="Arial"/>
              </a:rPr>
              <a:t>Grupos</a:t>
            </a:r>
            <a:r>
              <a:rPr sz="2200" spc="20" dirty="0">
                <a:latin typeface="Arial"/>
                <a:cs typeface="Arial"/>
              </a:rPr>
              <a:t> </a:t>
            </a:r>
            <a:r>
              <a:rPr sz="2200" spc="-225" dirty="0">
                <a:latin typeface="Arial"/>
                <a:cs typeface="Arial"/>
              </a:rPr>
              <a:t>Procesos</a:t>
            </a:r>
            <a:endParaRPr sz="2200" dirty="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68181"/>
              <a:buChar char=""/>
              <a:tabLst>
                <a:tab pos="652780" algn="l"/>
              </a:tabLst>
            </a:pPr>
            <a:r>
              <a:rPr sz="2200" spc="-15" dirty="0">
                <a:latin typeface="Arial"/>
                <a:cs typeface="Arial"/>
              </a:rPr>
              <a:t>10 </a:t>
            </a:r>
            <a:r>
              <a:rPr sz="2200" spc="-105" dirty="0">
                <a:latin typeface="Arial"/>
                <a:cs typeface="Arial"/>
              </a:rPr>
              <a:t>areas </a:t>
            </a:r>
            <a:r>
              <a:rPr sz="2200" spc="-70" dirty="0">
                <a:latin typeface="Arial"/>
                <a:cs typeface="Arial"/>
              </a:rPr>
              <a:t>de</a:t>
            </a:r>
            <a:r>
              <a:rPr sz="2200" spc="120" dirty="0">
                <a:latin typeface="Arial"/>
                <a:cs typeface="Arial"/>
              </a:rPr>
              <a:t> </a:t>
            </a:r>
            <a:r>
              <a:rPr sz="2200" spc="-170" dirty="0">
                <a:latin typeface="Arial"/>
                <a:cs typeface="Arial"/>
              </a:rPr>
              <a:t>conocimiento</a:t>
            </a:r>
            <a:endParaRPr sz="2200" dirty="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68181"/>
              <a:buChar char=""/>
              <a:tabLst>
                <a:tab pos="652780" algn="l"/>
              </a:tabLst>
            </a:pPr>
            <a:r>
              <a:rPr sz="2200" spc="-15" dirty="0">
                <a:latin typeface="Arial"/>
                <a:cs typeface="Arial"/>
              </a:rPr>
              <a:t>47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225" dirty="0">
                <a:latin typeface="Arial"/>
                <a:cs typeface="Arial"/>
              </a:rPr>
              <a:t>Procesos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273050" marR="5080" algn="ctr">
              <a:lnSpc>
                <a:spcPct val="100000"/>
              </a:lnSpc>
              <a:spcBef>
                <a:spcPts val="1590"/>
              </a:spcBef>
            </a:pPr>
            <a:r>
              <a:rPr sz="1800" spc="-120" dirty="0">
                <a:latin typeface="Arial"/>
                <a:cs typeface="Arial"/>
              </a:rPr>
              <a:t>Prince2: </a:t>
            </a:r>
            <a:r>
              <a:rPr sz="1800" spc="-45" dirty="0">
                <a:latin typeface="Arial"/>
                <a:cs typeface="Arial"/>
              </a:rPr>
              <a:t>Otro </a:t>
            </a:r>
            <a:r>
              <a:rPr sz="1800" spc="-85" dirty="0">
                <a:latin typeface="Arial"/>
                <a:cs typeface="Arial"/>
              </a:rPr>
              <a:t>estandar </a:t>
            </a:r>
            <a:r>
              <a:rPr sz="1800" spc="-10" dirty="0">
                <a:latin typeface="Arial"/>
                <a:cs typeface="Arial"/>
              </a:rPr>
              <a:t>para </a:t>
            </a:r>
            <a:r>
              <a:rPr sz="1800" spc="-114" dirty="0">
                <a:latin typeface="Arial"/>
                <a:cs typeface="Arial"/>
              </a:rPr>
              <a:t>gestion  </a:t>
            </a:r>
            <a:r>
              <a:rPr sz="1800" spc="-55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proyectos. </a:t>
            </a:r>
            <a:r>
              <a:rPr sz="1800" spc="-140" dirty="0">
                <a:latin typeface="Arial"/>
                <a:cs typeface="Arial"/>
              </a:rPr>
              <a:t>Mas </a:t>
            </a:r>
            <a:r>
              <a:rPr sz="1800" spc="-125" dirty="0">
                <a:latin typeface="Arial"/>
                <a:cs typeface="Arial"/>
              </a:rPr>
              <a:t>usado </a:t>
            </a:r>
            <a:r>
              <a:rPr sz="1800" spc="-160" dirty="0">
                <a:latin typeface="Arial"/>
                <a:cs typeface="Arial"/>
              </a:rPr>
              <a:t>en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30" dirty="0">
                <a:latin typeface="Arial"/>
                <a:cs typeface="Arial"/>
              </a:rPr>
              <a:t>Europa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85750"/>
            <a:ext cx="254000" cy="507365"/>
          </a:xfrm>
          <a:custGeom>
            <a:avLst/>
            <a:gdLst/>
            <a:ahLst/>
            <a:cxnLst/>
            <a:rect l="l" t="t" r="r" b="b"/>
            <a:pathLst>
              <a:path w="254000" h="507365">
                <a:moveTo>
                  <a:pt x="253606" y="0"/>
                </a:moveTo>
                <a:lnTo>
                  <a:pt x="208018" y="4085"/>
                </a:lnTo>
                <a:lnTo>
                  <a:pt x="165112" y="15865"/>
                </a:lnTo>
                <a:lnTo>
                  <a:pt x="125603" y="34623"/>
                </a:lnTo>
                <a:lnTo>
                  <a:pt x="90208" y="59644"/>
                </a:lnTo>
                <a:lnTo>
                  <a:pt x="59643" y="90210"/>
                </a:lnTo>
                <a:lnTo>
                  <a:pt x="34623" y="125607"/>
                </a:lnTo>
                <a:lnTo>
                  <a:pt x="15865" y="165118"/>
                </a:lnTo>
                <a:lnTo>
                  <a:pt x="4085" y="208027"/>
                </a:lnTo>
                <a:lnTo>
                  <a:pt x="0" y="253619"/>
                </a:lnTo>
                <a:lnTo>
                  <a:pt x="4085" y="299210"/>
                </a:lnTo>
                <a:lnTo>
                  <a:pt x="15865" y="342119"/>
                </a:lnTo>
                <a:lnTo>
                  <a:pt x="34623" y="381630"/>
                </a:lnTo>
                <a:lnTo>
                  <a:pt x="59643" y="417027"/>
                </a:lnTo>
                <a:lnTo>
                  <a:pt x="90208" y="447593"/>
                </a:lnTo>
                <a:lnTo>
                  <a:pt x="125603" y="472614"/>
                </a:lnTo>
                <a:lnTo>
                  <a:pt x="165112" y="491372"/>
                </a:lnTo>
                <a:lnTo>
                  <a:pt x="208018" y="503152"/>
                </a:lnTo>
                <a:lnTo>
                  <a:pt x="253606" y="507238"/>
                </a:lnTo>
                <a:lnTo>
                  <a:pt x="253606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0806" y="285788"/>
            <a:ext cx="7976234" cy="507365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896745">
              <a:lnSpc>
                <a:spcPct val="100000"/>
              </a:lnSpc>
              <a:spcBef>
                <a:spcPts val="145"/>
              </a:spcBef>
            </a:pPr>
            <a:r>
              <a:rPr sz="2500" i="0" spc="-200" dirty="0">
                <a:solidFill>
                  <a:srgbClr val="000000"/>
                </a:solidFill>
                <a:latin typeface="Arial"/>
                <a:cs typeface="Arial"/>
              </a:rPr>
              <a:t>Gestion de </a:t>
            </a:r>
            <a:r>
              <a:rPr sz="2500" i="0" spc="-245" dirty="0">
                <a:solidFill>
                  <a:srgbClr val="000000"/>
                </a:solidFill>
                <a:latin typeface="Arial"/>
                <a:cs typeface="Arial"/>
              </a:rPr>
              <a:t>Proyectos </a:t>
            </a:r>
            <a:r>
              <a:rPr sz="2500" i="0" spc="-55" dirty="0">
                <a:solidFill>
                  <a:srgbClr val="000000"/>
                </a:solidFill>
                <a:latin typeface="Arial"/>
                <a:cs typeface="Arial"/>
              </a:rPr>
              <a:t>-</a:t>
            </a:r>
            <a:r>
              <a:rPr sz="2500" i="0" spc="1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500" i="0" spc="-275" dirty="0">
                <a:solidFill>
                  <a:srgbClr val="000000"/>
                </a:solidFill>
                <a:latin typeface="Arial"/>
                <a:cs typeface="Arial"/>
              </a:rPr>
              <a:t>Procesos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93288" y="1981200"/>
            <a:ext cx="2800350" cy="2800350"/>
          </a:xfrm>
          <a:custGeom>
            <a:avLst/>
            <a:gdLst/>
            <a:ahLst/>
            <a:cxnLst/>
            <a:rect l="l" t="t" r="r" b="b"/>
            <a:pathLst>
              <a:path w="2800350" h="2800350">
                <a:moveTo>
                  <a:pt x="1400175" y="0"/>
                </a:moveTo>
                <a:lnTo>
                  <a:pt x="1352038" y="811"/>
                </a:lnTo>
                <a:lnTo>
                  <a:pt x="1304309" y="3230"/>
                </a:lnTo>
                <a:lnTo>
                  <a:pt x="1257013" y="7228"/>
                </a:lnTo>
                <a:lnTo>
                  <a:pt x="1210177" y="12781"/>
                </a:lnTo>
                <a:lnTo>
                  <a:pt x="1163827" y="19862"/>
                </a:lnTo>
                <a:lnTo>
                  <a:pt x="1117988" y="28446"/>
                </a:lnTo>
                <a:lnTo>
                  <a:pt x="1072687" y="38505"/>
                </a:lnTo>
                <a:lnTo>
                  <a:pt x="1027950" y="50015"/>
                </a:lnTo>
                <a:lnTo>
                  <a:pt x="983802" y="62948"/>
                </a:lnTo>
                <a:lnTo>
                  <a:pt x="940271" y="77279"/>
                </a:lnTo>
                <a:lnTo>
                  <a:pt x="897381" y="92982"/>
                </a:lnTo>
                <a:lnTo>
                  <a:pt x="855160" y="110031"/>
                </a:lnTo>
                <a:lnTo>
                  <a:pt x="813633" y="128400"/>
                </a:lnTo>
                <a:lnTo>
                  <a:pt x="772825" y="148062"/>
                </a:lnTo>
                <a:lnTo>
                  <a:pt x="732765" y="168992"/>
                </a:lnTo>
                <a:lnTo>
                  <a:pt x="693476" y="191163"/>
                </a:lnTo>
                <a:lnTo>
                  <a:pt x="654986" y="214549"/>
                </a:lnTo>
                <a:lnTo>
                  <a:pt x="617320" y="239125"/>
                </a:lnTo>
                <a:lnTo>
                  <a:pt x="580505" y="264865"/>
                </a:lnTo>
                <a:lnTo>
                  <a:pt x="544566" y="291741"/>
                </a:lnTo>
                <a:lnTo>
                  <a:pt x="509530" y="319729"/>
                </a:lnTo>
                <a:lnTo>
                  <a:pt x="475423" y="348802"/>
                </a:lnTo>
                <a:lnTo>
                  <a:pt x="442270" y="378934"/>
                </a:lnTo>
                <a:lnTo>
                  <a:pt x="410098" y="410098"/>
                </a:lnTo>
                <a:lnTo>
                  <a:pt x="378934" y="442270"/>
                </a:lnTo>
                <a:lnTo>
                  <a:pt x="348802" y="475423"/>
                </a:lnTo>
                <a:lnTo>
                  <a:pt x="319729" y="509530"/>
                </a:lnTo>
                <a:lnTo>
                  <a:pt x="291741" y="544566"/>
                </a:lnTo>
                <a:lnTo>
                  <a:pt x="264865" y="580505"/>
                </a:lnTo>
                <a:lnTo>
                  <a:pt x="239125" y="617320"/>
                </a:lnTo>
                <a:lnTo>
                  <a:pt x="214549" y="654986"/>
                </a:lnTo>
                <a:lnTo>
                  <a:pt x="191163" y="693476"/>
                </a:lnTo>
                <a:lnTo>
                  <a:pt x="168992" y="732765"/>
                </a:lnTo>
                <a:lnTo>
                  <a:pt x="148062" y="772825"/>
                </a:lnTo>
                <a:lnTo>
                  <a:pt x="128400" y="813633"/>
                </a:lnTo>
                <a:lnTo>
                  <a:pt x="110031" y="855160"/>
                </a:lnTo>
                <a:lnTo>
                  <a:pt x="92982" y="897381"/>
                </a:lnTo>
                <a:lnTo>
                  <a:pt x="77279" y="940271"/>
                </a:lnTo>
                <a:lnTo>
                  <a:pt x="62948" y="983802"/>
                </a:lnTo>
                <a:lnTo>
                  <a:pt x="50015" y="1027950"/>
                </a:lnTo>
                <a:lnTo>
                  <a:pt x="38505" y="1072687"/>
                </a:lnTo>
                <a:lnTo>
                  <a:pt x="28446" y="1117988"/>
                </a:lnTo>
                <a:lnTo>
                  <a:pt x="19862" y="1163827"/>
                </a:lnTo>
                <a:lnTo>
                  <a:pt x="12781" y="1210177"/>
                </a:lnTo>
                <a:lnTo>
                  <a:pt x="7228" y="1257013"/>
                </a:lnTo>
                <a:lnTo>
                  <a:pt x="3230" y="1304309"/>
                </a:lnTo>
                <a:lnTo>
                  <a:pt x="811" y="1352038"/>
                </a:lnTo>
                <a:lnTo>
                  <a:pt x="0" y="1400175"/>
                </a:lnTo>
                <a:lnTo>
                  <a:pt x="811" y="1448310"/>
                </a:lnTo>
                <a:lnTo>
                  <a:pt x="3230" y="1496039"/>
                </a:lnTo>
                <a:lnTo>
                  <a:pt x="7228" y="1543333"/>
                </a:lnTo>
                <a:lnTo>
                  <a:pt x="12781" y="1590169"/>
                </a:lnTo>
                <a:lnTo>
                  <a:pt x="19862" y="1636519"/>
                </a:lnTo>
                <a:lnTo>
                  <a:pt x="28446" y="1682357"/>
                </a:lnTo>
                <a:lnTo>
                  <a:pt x="38505" y="1727658"/>
                </a:lnTo>
                <a:lnTo>
                  <a:pt x="50015" y="1772395"/>
                </a:lnTo>
                <a:lnTo>
                  <a:pt x="62948" y="1816542"/>
                </a:lnTo>
                <a:lnTo>
                  <a:pt x="77279" y="1860073"/>
                </a:lnTo>
                <a:lnTo>
                  <a:pt x="92982" y="1902962"/>
                </a:lnTo>
                <a:lnTo>
                  <a:pt x="110031" y="1945184"/>
                </a:lnTo>
                <a:lnTo>
                  <a:pt x="128400" y="1986711"/>
                </a:lnTo>
                <a:lnTo>
                  <a:pt x="148062" y="2027518"/>
                </a:lnTo>
                <a:lnTo>
                  <a:pt x="168992" y="2067579"/>
                </a:lnTo>
                <a:lnTo>
                  <a:pt x="191163" y="2106867"/>
                </a:lnTo>
                <a:lnTo>
                  <a:pt x="214549" y="2145358"/>
                </a:lnTo>
                <a:lnTo>
                  <a:pt x="239125" y="2183023"/>
                </a:lnTo>
                <a:lnTo>
                  <a:pt x="264865" y="2219839"/>
                </a:lnTo>
                <a:lnTo>
                  <a:pt x="291741" y="2255778"/>
                </a:lnTo>
                <a:lnTo>
                  <a:pt x="319729" y="2290814"/>
                </a:lnTo>
                <a:lnTo>
                  <a:pt x="348802" y="2324921"/>
                </a:lnTo>
                <a:lnTo>
                  <a:pt x="378934" y="2358074"/>
                </a:lnTo>
                <a:lnTo>
                  <a:pt x="410098" y="2390246"/>
                </a:lnTo>
                <a:lnTo>
                  <a:pt x="442270" y="2421411"/>
                </a:lnTo>
                <a:lnTo>
                  <a:pt x="475423" y="2451543"/>
                </a:lnTo>
                <a:lnTo>
                  <a:pt x="509530" y="2480616"/>
                </a:lnTo>
                <a:lnTo>
                  <a:pt x="544566" y="2508604"/>
                </a:lnTo>
                <a:lnTo>
                  <a:pt x="580505" y="2535481"/>
                </a:lnTo>
                <a:lnTo>
                  <a:pt x="617320" y="2561220"/>
                </a:lnTo>
                <a:lnTo>
                  <a:pt x="654986" y="2585797"/>
                </a:lnTo>
                <a:lnTo>
                  <a:pt x="693476" y="2609183"/>
                </a:lnTo>
                <a:lnTo>
                  <a:pt x="732765" y="2631355"/>
                </a:lnTo>
                <a:lnTo>
                  <a:pt x="772825" y="2652285"/>
                </a:lnTo>
                <a:lnTo>
                  <a:pt x="813633" y="2671947"/>
                </a:lnTo>
                <a:lnTo>
                  <a:pt x="855160" y="2690316"/>
                </a:lnTo>
                <a:lnTo>
                  <a:pt x="897381" y="2707365"/>
                </a:lnTo>
                <a:lnTo>
                  <a:pt x="940271" y="2723068"/>
                </a:lnTo>
                <a:lnTo>
                  <a:pt x="983802" y="2737400"/>
                </a:lnTo>
                <a:lnTo>
                  <a:pt x="1027950" y="2750334"/>
                </a:lnTo>
                <a:lnTo>
                  <a:pt x="1072687" y="2761843"/>
                </a:lnTo>
                <a:lnTo>
                  <a:pt x="1117988" y="2771903"/>
                </a:lnTo>
                <a:lnTo>
                  <a:pt x="1163827" y="2780486"/>
                </a:lnTo>
                <a:lnTo>
                  <a:pt x="1210177" y="2787567"/>
                </a:lnTo>
                <a:lnTo>
                  <a:pt x="1257013" y="2793120"/>
                </a:lnTo>
                <a:lnTo>
                  <a:pt x="1304309" y="2797119"/>
                </a:lnTo>
                <a:lnTo>
                  <a:pt x="1352038" y="2799538"/>
                </a:lnTo>
                <a:lnTo>
                  <a:pt x="1400175" y="2800350"/>
                </a:lnTo>
                <a:lnTo>
                  <a:pt x="1448311" y="2799538"/>
                </a:lnTo>
                <a:lnTo>
                  <a:pt x="1496040" y="2797119"/>
                </a:lnTo>
                <a:lnTo>
                  <a:pt x="1543336" y="2793120"/>
                </a:lnTo>
                <a:lnTo>
                  <a:pt x="1590172" y="2787567"/>
                </a:lnTo>
                <a:lnTo>
                  <a:pt x="1636522" y="2780486"/>
                </a:lnTo>
                <a:lnTo>
                  <a:pt x="1682361" y="2771903"/>
                </a:lnTo>
                <a:lnTo>
                  <a:pt x="1727662" y="2761843"/>
                </a:lnTo>
                <a:lnTo>
                  <a:pt x="1772399" y="2750334"/>
                </a:lnTo>
                <a:lnTo>
                  <a:pt x="1816547" y="2737400"/>
                </a:lnTo>
                <a:lnTo>
                  <a:pt x="1860078" y="2723068"/>
                </a:lnTo>
                <a:lnTo>
                  <a:pt x="1902968" y="2707365"/>
                </a:lnTo>
                <a:lnTo>
                  <a:pt x="1945189" y="2690316"/>
                </a:lnTo>
                <a:lnTo>
                  <a:pt x="1986716" y="2671947"/>
                </a:lnTo>
                <a:lnTo>
                  <a:pt x="2027524" y="2652285"/>
                </a:lnTo>
                <a:lnTo>
                  <a:pt x="2067584" y="2631355"/>
                </a:lnTo>
                <a:lnTo>
                  <a:pt x="2106873" y="2609183"/>
                </a:lnTo>
                <a:lnTo>
                  <a:pt x="2145363" y="2585797"/>
                </a:lnTo>
                <a:lnTo>
                  <a:pt x="2183029" y="2561220"/>
                </a:lnTo>
                <a:lnTo>
                  <a:pt x="2219844" y="2535481"/>
                </a:lnTo>
                <a:lnTo>
                  <a:pt x="2255783" y="2508604"/>
                </a:lnTo>
                <a:lnTo>
                  <a:pt x="2290819" y="2480616"/>
                </a:lnTo>
                <a:lnTo>
                  <a:pt x="2324926" y="2451543"/>
                </a:lnTo>
                <a:lnTo>
                  <a:pt x="2358079" y="2421411"/>
                </a:lnTo>
                <a:lnTo>
                  <a:pt x="2390251" y="2390246"/>
                </a:lnTo>
                <a:lnTo>
                  <a:pt x="2421415" y="2358074"/>
                </a:lnTo>
                <a:lnTo>
                  <a:pt x="2451547" y="2324921"/>
                </a:lnTo>
                <a:lnTo>
                  <a:pt x="2480620" y="2290814"/>
                </a:lnTo>
                <a:lnTo>
                  <a:pt x="2508608" y="2255778"/>
                </a:lnTo>
                <a:lnTo>
                  <a:pt x="2535484" y="2219839"/>
                </a:lnTo>
                <a:lnTo>
                  <a:pt x="2561224" y="2183023"/>
                </a:lnTo>
                <a:lnTo>
                  <a:pt x="2585800" y="2145358"/>
                </a:lnTo>
                <a:lnTo>
                  <a:pt x="2609186" y="2106867"/>
                </a:lnTo>
                <a:lnTo>
                  <a:pt x="2631357" y="2067579"/>
                </a:lnTo>
                <a:lnTo>
                  <a:pt x="2652287" y="2027518"/>
                </a:lnTo>
                <a:lnTo>
                  <a:pt x="2671949" y="1986711"/>
                </a:lnTo>
                <a:lnTo>
                  <a:pt x="2690318" y="1945184"/>
                </a:lnTo>
                <a:lnTo>
                  <a:pt x="2707367" y="1902962"/>
                </a:lnTo>
                <a:lnTo>
                  <a:pt x="2723070" y="1860073"/>
                </a:lnTo>
                <a:lnTo>
                  <a:pt x="2737401" y="1816542"/>
                </a:lnTo>
                <a:lnTo>
                  <a:pt x="2750334" y="1772395"/>
                </a:lnTo>
                <a:lnTo>
                  <a:pt x="2761844" y="1727658"/>
                </a:lnTo>
                <a:lnTo>
                  <a:pt x="2771903" y="1682357"/>
                </a:lnTo>
                <a:lnTo>
                  <a:pt x="2780487" y="1636519"/>
                </a:lnTo>
                <a:lnTo>
                  <a:pt x="2787568" y="1590169"/>
                </a:lnTo>
                <a:lnTo>
                  <a:pt x="2793121" y="1543333"/>
                </a:lnTo>
                <a:lnTo>
                  <a:pt x="2797119" y="1496039"/>
                </a:lnTo>
                <a:lnTo>
                  <a:pt x="2799538" y="1448310"/>
                </a:lnTo>
                <a:lnTo>
                  <a:pt x="2800350" y="1400175"/>
                </a:lnTo>
                <a:lnTo>
                  <a:pt x="2799538" y="1352038"/>
                </a:lnTo>
                <a:lnTo>
                  <a:pt x="2797119" y="1304309"/>
                </a:lnTo>
                <a:lnTo>
                  <a:pt x="2793121" y="1257013"/>
                </a:lnTo>
                <a:lnTo>
                  <a:pt x="2787568" y="1210177"/>
                </a:lnTo>
                <a:lnTo>
                  <a:pt x="2780487" y="1163827"/>
                </a:lnTo>
                <a:lnTo>
                  <a:pt x="2771903" y="1117988"/>
                </a:lnTo>
                <a:lnTo>
                  <a:pt x="2761844" y="1072687"/>
                </a:lnTo>
                <a:lnTo>
                  <a:pt x="2750334" y="1027950"/>
                </a:lnTo>
                <a:lnTo>
                  <a:pt x="2737401" y="983802"/>
                </a:lnTo>
                <a:lnTo>
                  <a:pt x="2723070" y="940271"/>
                </a:lnTo>
                <a:lnTo>
                  <a:pt x="2707367" y="897381"/>
                </a:lnTo>
                <a:lnTo>
                  <a:pt x="2690318" y="855160"/>
                </a:lnTo>
                <a:lnTo>
                  <a:pt x="2671949" y="813633"/>
                </a:lnTo>
                <a:lnTo>
                  <a:pt x="2652287" y="772825"/>
                </a:lnTo>
                <a:lnTo>
                  <a:pt x="2631357" y="732765"/>
                </a:lnTo>
                <a:lnTo>
                  <a:pt x="2609186" y="693476"/>
                </a:lnTo>
                <a:lnTo>
                  <a:pt x="2585800" y="654986"/>
                </a:lnTo>
                <a:lnTo>
                  <a:pt x="2561224" y="617320"/>
                </a:lnTo>
                <a:lnTo>
                  <a:pt x="2535484" y="580505"/>
                </a:lnTo>
                <a:lnTo>
                  <a:pt x="2508608" y="544566"/>
                </a:lnTo>
                <a:lnTo>
                  <a:pt x="2480620" y="509530"/>
                </a:lnTo>
                <a:lnTo>
                  <a:pt x="2451547" y="475423"/>
                </a:lnTo>
                <a:lnTo>
                  <a:pt x="2421415" y="442270"/>
                </a:lnTo>
                <a:lnTo>
                  <a:pt x="2390251" y="410098"/>
                </a:lnTo>
                <a:lnTo>
                  <a:pt x="2358079" y="378934"/>
                </a:lnTo>
                <a:lnTo>
                  <a:pt x="2324926" y="348802"/>
                </a:lnTo>
                <a:lnTo>
                  <a:pt x="2290819" y="319729"/>
                </a:lnTo>
                <a:lnTo>
                  <a:pt x="2255783" y="291741"/>
                </a:lnTo>
                <a:lnTo>
                  <a:pt x="2219844" y="264865"/>
                </a:lnTo>
                <a:lnTo>
                  <a:pt x="2183029" y="239125"/>
                </a:lnTo>
                <a:lnTo>
                  <a:pt x="2145363" y="214549"/>
                </a:lnTo>
                <a:lnTo>
                  <a:pt x="2106873" y="191163"/>
                </a:lnTo>
                <a:lnTo>
                  <a:pt x="2067584" y="168992"/>
                </a:lnTo>
                <a:lnTo>
                  <a:pt x="2027524" y="148062"/>
                </a:lnTo>
                <a:lnTo>
                  <a:pt x="1986716" y="128400"/>
                </a:lnTo>
                <a:lnTo>
                  <a:pt x="1945189" y="110031"/>
                </a:lnTo>
                <a:lnTo>
                  <a:pt x="1902968" y="92982"/>
                </a:lnTo>
                <a:lnTo>
                  <a:pt x="1860078" y="77279"/>
                </a:lnTo>
                <a:lnTo>
                  <a:pt x="1816547" y="62948"/>
                </a:lnTo>
                <a:lnTo>
                  <a:pt x="1772399" y="50015"/>
                </a:lnTo>
                <a:lnTo>
                  <a:pt x="1727662" y="38505"/>
                </a:lnTo>
                <a:lnTo>
                  <a:pt x="1682361" y="28446"/>
                </a:lnTo>
                <a:lnTo>
                  <a:pt x="1636522" y="19862"/>
                </a:lnTo>
                <a:lnTo>
                  <a:pt x="1590172" y="12781"/>
                </a:lnTo>
                <a:lnTo>
                  <a:pt x="1543336" y="7228"/>
                </a:lnTo>
                <a:lnTo>
                  <a:pt x="1496040" y="3230"/>
                </a:lnTo>
                <a:lnTo>
                  <a:pt x="1448311" y="811"/>
                </a:lnTo>
                <a:lnTo>
                  <a:pt x="1400175" y="0"/>
                </a:lnTo>
                <a:close/>
              </a:path>
            </a:pathLst>
          </a:custGeom>
          <a:solidFill>
            <a:srgbClr val="3962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1361" y="3048000"/>
            <a:ext cx="1393825" cy="685800"/>
          </a:xfrm>
          <a:custGeom>
            <a:avLst/>
            <a:gdLst/>
            <a:ahLst/>
            <a:cxnLst/>
            <a:rect l="l" t="t" r="r" b="b"/>
            <a:pathLst>
              <a:path w="1393825" h="685800">
                <a:moveTo>
                  <a:pt x="1050416" y="0"/>
                </a:moveTo>
                <a:lnTo>
                  <a:pt x="1050416" y="171450"/>
                </a:lnTo>
                <a:lnTo>
                  <a:pt x="0" y="171450"/>
                </a:lnTo>
                <a:lnTo>
                  <a:pt x="0" y="514350"/>
                </a:lnTo>
                <a:lnTo>
                  <a:pt x="1050416" y="514350"/>
                </a:lnTo>
                <a:lnTo>
                  <a:pt x="1050416" y="685800"/>
                </a:lnTo>
                <a:lnTo>
                  <a:pt x="1393316" y="342900"/>
                </a:lnTo>
                <a:lnTo>
                  <a:pt x="105041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91361" y="3048000"/>
            <a:ext cx="1393825" cy="685800"/>
          </a:xfrm>
          <a:custGeom>
            <a:avLst/>
            <a:gdLst/>
            <a:ahLst/>
            <a:cxnLst/>
            <a:rect l="l" t="t" r="r" b="b"/>
            <a:pathLst>
              <a:path w="1393825" h="685800">
                <a:moveTo>
                  <a:pt x="0" y="171450"/>
                </a:moveTo>
                <a:lnTo>
                  <a:pt x="1050416" y="171450"/>
                </a:lnTo>
                <a:lnTo>
                  <a:pt x="1050416" y="0"/>
                </a:lnTo>
                <a:lnTo>
                  <a:pt x="1393316" y="342900"/>
                </a:lnTo>
                <a:lnTo>
                  <a:pt x="1050416" y="685800"/>
                </a:lnTo>
                <a:lnTo>
                  <a:pt x="1050416" y="514350"/>
                </a:lnTo>
                <a:lnTo>
                  <a:pt x="0" y="514350"/>
                </a:lnTo>
                <a:lnTo>
                  <a:pt x="0" y="171450"/>
                </a:lnTo>
                <a:close/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78939" y="3229736"/>
            <a:ext cx="843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800" spc="-2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ic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ac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200" y="2343150"/>
            <a:ext cx="1034148" cy="1104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3000" y="2190750"/>
            <a:ext cx="1828800" cy="6286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05200" y="2286000"/>
            <a:ext cx="2057400" cy="1219200"/>
          </a:xfrm>
          <a:custGeom>
            <a:avLst/>
            <a:gdLst/>
            <a:ahLst/>
            <a:cxnLst/>
            <a:rect l="l" t="t" r="r" b="b"/>
            <a:pathLst>
              <a:path w="2057400" h="1219200">
                <a:moveTo>
                  <a:pt x="1371600" y="0"/>
                </a:moveTo>
                <a:lnTo>
                  <a:pt x="533400" y="0"/>
                </a:lnTo>
                <a:lnTo>
                  <a:pt x="484842" y="2179"/>
                </a:lnTo>
                <a:lnTo>
                  <a:pt x="437507" y="8592"/>
                </a:lnTo>
                <a:lnTo>
                  <a:pt x="391583" y="19050"/>
                </a:lnTo>
                <a:lnTo>
                  <a:pt x="347258" y="33364"/>
                </a:lnTo>
                <a:lnTo>
                  <a:pt x="304721" y="51348"/>
                </a:lnTo>
                <a:lnTo>
                  <a:pt x="264159" y="72813"/>
                </a:lnTo>
                <a:lnTo>
                  <a:pt x="225762" y="97570"/>
                </a:lnTo>
                <a:lnTo>
                  <a:pt x="189716" y="125432"/>
                </a:lnTo>
                <a:lnTo>
                  <a:pt x="156209" y="156210"/>
                </a:lnTo>
                <a:lnTo>
                  <a:pt x="125432" y="189716"/>
                </a:lnTo>
                <a:lnTo>
                  <a:pt x="97570" y="225762"/>
                </a:lnTo>
                <a:lnTo>
                  <a:pt x="72813" y="264159"/>
                </a:lnTo>
                <a:lnTo>
                  <a:pt x="51315" y="304800"/>
                </a:lnTo>
                <a:lnTo>
                  <a:pt x="33364" y="347258"/>
                </a:lnTo>
                <a:lnTo>
                  <a:pt x="19050" y="391583"/>
                </a:lnTo>
                <a:lnTo>
                  <a:pt x="8592" y="437507"/>
                </a:lnTo>
                <a:lnTo>
                  <a:pt x="2179" y="484842"/>
                </a:lnTo>
                <a:lnTo>
                  <a:pt x="0" y="533400"/>
                </a:lnTo>
                <a:lnTo>
                  <a:pt x="0" y="1219200"/>
                </a:lnTo>
                <a:lnTo>
                  <a:pt x="304800" y="1219200"/>
                </a:lnTo>
                <a:lnTo>
                  <a:pt x="304800" y="533400"/>
                </a:lnTo>
                <a:lnTo>
                  <a:pt x="309444" y="487333"/>
                </a:lnTo>
                <a:lnTo>
                  <a:pt x="322766" y="444424"/>
                </a:lnTo>
                <a:lnTo>
                  <a:pt x="343845" y="405593"/>
                </a:lnTo>
                <a:lnTo>
                  <a:pt x="371760" y="371760"/>
                </a:lnTo>
                <a:lnTo>
                  <a:pt x="405593" y="343845"/>
                </a:lnTo>
                <a:lnTo>
                  <a:pt x="444424" y="322766"/>
                </a:lnTo>
                <a:lnTo>
                  <a:pt x="487333" y="309444"/>
                </a:lnTo>
                <a:lnTo>
                  <a:pt x="533400" y="304800"/>
                </a:lnTo>
                <a:lnTo>
                  <a:pt x="1853684" y="304800"/>
                </a:lnTo>
                <a:lnTo>
                  <a:pt x="1832186" y="264159"/>
                </a:lnTo>
                <a:lnTo>
                  <a:pt x="1807429" y="225762"/>
                </a:lnTo>
                <a:lnTo>
                  <a:pt x="1779567" y="189716"/>
                </a:lnTo>
                <a:lnTo>
                  <a:pt x="1748789" y="156210"/>
                </a:lnTo>
                <a:lnTo>
                  <a:pt x="1715283" y="125432"/>
                </a:lnTo>
                <a:lnTo>
                  <a:pt x="1679237" y="97570"/>
                </a:lnTo>
                <a:lnTo>
                  <a:pt x="1640839" y="72813"/>
                </a:lnTo>
                <a:lnTo>
                  <a:pt x="1600278" y="51348"/>
                </a:lnTo>
                <a:lnTo>
                  <a:pt x="1557741" y="33364"/>
                </a:lnTo>
                <a:lnTo>
                  <a:pt x="1513416" y="19050"/>
                </a:lnTo>
                <a:lnTo>
                  <a:pt x="1467492" y="8592"/>
                </a:lnTo>
                <a:lnTo>
                  <a:pt x="1420157" y="2179"/>
                </a:lnTo>
                <a:lnTo>
                  <a:pt x="1371600" y="0"/>
                </a:lnTo>
                <a:close/>
              </a:path>
              <a:path w="2057400" h="1219200">
                <a:moveTo>
                  <a:pt x="2057400" y="609600"/>
                </a:moveTo>
                <a:lnTo>
                  <a:pt x="1447800" y="609600"/>
                </a:lnTo>
                <a:lnTo>
                  <a:pt x="1752600" y="914400"/>
                </a:lnTo>
                <a:lnTo>
                  <a:pt x="2057400" y="609600"/>
                </a:lnTo>
                <a:close/>
              </a:path>
              <a:path w="2057400" h="1219200">
                <a:moveTo>
                  <a:pt x="1853684" y="304800"/>
                </a:moveTo>
                <a:lnTo>
                  <a:pt x="1371600" y="304800"/>
                </a:lnTo>
                <a:lnTo>
                  <a:pt x="1417666" y="309444"/>
                </a:lnTo>
                <a:lnTo>
                  <a:pt x="1460575" y="322766"/>
                </a:lnTo>
                <a:lnTo>
                  <a:pt x="1499406" y="343845"/>
                </a:lnTo>
                <a:lnTo>
                  <a:pt x="1533239" y="371760"/>
                </a:lnTo>
                <a:lnTo>
                  <a:pt x="1561154" y="405593"/>
                </a:lnTo>
                <a:lnTo>
                  <a:pt x="1582233" y="444424"/>
                </a:lnTo>
                <a:lnTo>
                  <a:pt x="1595555" y="487333"/>
                </a:lnTo>
                <a:lnTo>
                  <a:pt x="1600200" y="533400"/>
                </a:lnTo>
                <a:lnTo>
                  <a:pt x="1600200" y="609600"/>
                </a:lnTo>
                <a:lnTo>
                  <a:pt x="1905000" y="609600"/>
                </a:lnTo>
                <a:lnTo>
                  <a:pt x="1905000" y="533400"/>
                </a:lnTo>
                <a:lnTo>
                  <a:pt x="1902820" y="484842"/>
                </a:lnTo>
                <a:lnTo>
                  <a:pt x="1896407" y="437507"/>
                </a:lnTo>
                <a:lnTo>
                  <a:pt x="1885949" y="391583"/>
                </a:lnTo>
                <a:lnTo>
                  <a:pt x="1871635" y="347258"/>
                </a:lnTo>
                <a:lnTo>
                  <a:pt x="1853684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05200" y="2286000"/>
            <a:ext cx="2057400" cy="1219200"/>
          </a:xfrm>
          <a:custGeom>
            <a:avLst/>
            <a:gdLst/>
            <a:ahLst/>
            <a:cxnLst/>
            <a:rect l="l" t="t" r="r" b="b"/>
            <a:pathLst>
              <a:path w="2057400" h="1219200">
                <a:moveTo>
                  <a:pt x="0" y="1219200"/>
                </a:moveTo>
                <a:lnTo>
                  <a:pt x="0" y="533400"/>
                </a:lnTo>
                <a:lnTo>
                  <a:pt x="2179" y="484842"/>
                </a:lnTo>
                <a:lnTo>
                  <a:pt x="8592" y="437507"/>
                </a:lnTo>
                <a:lnTo>
                  <a:pt x="19050" y="391583"/>
                </a:lnTo>
                <a:lnTo>
                  <a:pt x="33364" y="347258"/>
                </a:lnTo>
                <a:lnTo>
                  <a:pt x="51348" y="304721"/>
                </a:lnTo>
                <a:lnTo>
                  <a:pt x="72813" y="264159"/>
                </a:lnTo>
                <a:lnTo>
                  <a:pt x="97570" y="225762"/>
                </a:lnTo>
                <a:lnTo>
                  <a:pt x="125432" y="189716"/>
                </a:lnTo>
                <a:lnTo>
                  <a:pt x="156209" y="156210"/>
                </a:lnTo>
                <a:lnTo>
                  <a:pt x="189716" y="125432"/>
                </a:lnTo>
                <a:lnTo>
                  <a:pt x="225762" y="97570"/>
                </a:lnTo>
                <a:lnTo>
                  <a:pt x="264159" y="72813"/>
                </a:lnTo>
                <a:lnTo>
                  <a:pt x="304721" y="51348"/>
                </a:lnTo>
                <a:lnTo>
                  <a:pt x="347258" y="33364"/>
                </a:lnTo>
                <a:lnTo>
                  <a:pt x="391583" y="19050"/>
                </a:lnTo>
                <a:lnTo>
                  <a:pt x="437507" y="8592"/>
                </a:lnTo>
                <a:lnTo>
                  <a:pt x="484842" y="2179"/>
                </a:lnTo>
                <a:lnTo>
                  <a:pt x="533400" y="0"/>
                </a:lnTo>
                <a:lnTo>
                  <a:pt x="1371600" y="0"/>
                </a:lnTo>
                <a:lnTo>
                  <a:pt x="1420157" y="2179"/>
                </a:lnTo>
                <a:lnTo>
                  <a:pt x="1467492" y="8592"/>
                </a:lnTo>
                <a:lnTo>
                  <a:pt x="1513416" y="19050"/>
                </a:lnTo>
                <a:lnTo>
                  <a:pt x="1557741" y="33364"/>
                </a:lnTo>
                <a:lnTo>
                  <a:pt x="1600278" y="51348"/>
                </a:lnTo>
                <a:lnTo>
                  <a:pt x="1640839" y="72813"/>
                </a:lnTo>
                <a:lnTo>
                  <a:pt x="1679237" y="97570"/>
                </a:lnTo>
                <a:lnTo>
                  <a:pt x="1715283" y="125432"/>
                </a:lnTo>
                <a:lnTo>
                  <a:pt x="1748789" y="156209"/>
                </a:lnTo>
                <a:lnTo>
                  <a:pt x="1779567" y="189716"/>
                </a:lnTo>
                <a:lnTo>
                  <a:pt x="1807429" y="225762"/>
                </a:lnTo>
                <a:lnTo>
                  <a:pt x="1832186" y="264159"/>
                </a:lnTo>
                <a:lnTo>
                  <a:pt x="1853651" y="304721"/>
                </a:lnTo>
                <a:lnTo>
                  <a:pt x="1871635" y="347258"/>
                </a:lnTo>
                <a:lnTo>
                  <a:pt x="1885949" y="391583"/>
                </a:lnTo>
                <a:lnTo>
                  <a:pt x="1896407" y="437507"/>
                </a:lnTo>
                <a:lnTo>
                  <a:pt x="1902820" y="484842"/>
                </a:lnTo>
                <a:lnTo>
                  <a:pt x="1905000" y="533400"/>
                </a:lnTo>
                <a:lnTo>
                  <a:pt x="1905000" y="609600"/>
                </a:lnTo>
                <a:lnTo>
                  <a:pt x="2057400" y="609600"/>
                </a:lnTo>
                <a:lnTo>
                  <a:pt x="1752600" y="914400"/>
                </a:lnTo>
                <a:lnTo>
                  <a:pt x="1447800" y="609600"/>
                </a:lnTo>
                <a:lnTo>
                  <a:pt x="1600200" y="609600"/>
                </a:lnTo>
                <a:lnTo>
                  <a:pt x="1600200" y="533400"/>
                </a:lnTo>
                <a:lnTo>
                  <a:pt x="1595555" y="487333"/>
                </a:lnTo>
                <a:lnTo>
                  <a:pt x="1582233" y="444424"/>
                </a:lnTo>
                <a:lnTo>
                  <a:pt x="1561154" y="405593"/>
                </a:lnTo>
                <a:lnTo>
                  <a:pt x="1533239" y="371760"/>
                </a:lnTo>
                <a:lnTo>
                  <a:pt x="1499406" y="343845"/>
                </a:lnTo>
                <a:lnTo>
                  <a:pt x="1460575" y="322766"/>
                </a:lnTo>
                <a:lnTo>
                  <a:pt x="1417666" y="309444"/>
                </a:lnTo>
                <a:lnTo>
                  <a:pt x="1371600" y="304800"/>
                </a:lnTo>
                <a:lnTo>
                  <a:pt x="533400" y="304800"/>
                </a:lnTo>
                <a:lnTo>
                  <a:pt x="487333" y="309444"/>
                </a:lnTo>
                <a:lnTo>
                  <a:pt x="444424" y="322766"/>
                </a:lnTo>
                <a:lnTo>
                  <a:pt x="405593" y="343845"/>
                </a:lnTo>
                <a:lnTo>
                  <a:pt x="371760" y="371760"/>
                </a:lnTo>
                <a:lnTo>
                  <a:pt x="343845" y="405593"/>
                </a:lnTo>
                <a:lnTo>
                  <a:pt x="322766" y="444424"/>
                </a:lnTo>
                <a:lnTo>
                  <a:pt x="309444" y="487333"/>
                </a:lnTo>
                <a:lnTo>
                  <a:pt x="304800" y="533400"/>
                </a:lnTo>
                <a:lnTo>
                  <a:pt x="304800" y="1219200"/>
                </a:lnTo>
                <a:lnTo>
                  <a:pt x="0" y="1219200"/>
                </a:lnTo>
                <a:close/>
              </a:path>
            </a:pathLst>
          </a:custGeom>
          <a:ln w="19050">
            <a:solidFill>
              <a:srgbClr val="1E76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1140" y="1308353"/>
            <a:ext cx="8653780" cy="1235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  <a:tab pos="3985895" algn="l"/>
              </a:tabLst>
            </a:pPr>
            <a:r>
              <a:rPr sz="2000" spc="-235" dirty="0">
                <a:solidFill>
                  <a:srgbClr val="222222"/>
                </a:solidFill>
                <a:latin typeface="Arial"/>
                <a:cs typeface="Arial"/>
              </a:rPr>
              <a:t>El </a:t>
            </a:r>
            <a:r>
              <a:rPr sz="2000" spc="-30" dirty="0">
                <a:solidFill>
                  <a:srgbClr val="222222"/>
                </a:solidFill>
                <a:latin typeface="Arial"/>
                <a:cs typeface="Arial"/>
              </a:rPr>
              <a:t>trabajo </a:t>
            </a:r>
            <a:r>
              <a:rPr sz="2000" spc="-60" dirty="0">
                <a:solidFill>
                  <a:srgbClr val="222222"/>
                </a:solidFill>
                <a:latin typeface="Arial"/>
                <a:cs typeface="Arial"/>
              </a:rPr>
              <a:t>de </a:t>
            </a:r>
            <a:r>
              <a:rPr sz="2000" spc="-10" dirty="0">
                <a:solidFill>
                  <a:srgbClr val="222222"/>
                </a:solidFill>
                <a:latin typeface="Arial"/>
                <a:cs typeface="Arial"/>
              </a:rPr>
              <a:t>la </a:t>
            </a:r>
            <a:r>
              <a:rPr sz="2000" spc="-125" dirty="0">
                <a:solidFill>
                  <a:srgbClr val="222222"/>
                </a:solidFill>
                <a:latin typeface="Arial"/>
                <a:cs typeface="Arial"/>
              </a:rPr>
              <a:t>gestion </a:t>
            </a:r>
            <a:r>
              <a:rPr sz="2000" spc="-45" dirty="0">
                <a:solidFill>
                  <a:srgbClr val="222222"/>
                </a:solidFill>
                <a:latin typeface="Arial"/>
                <a:cs typeface="Arial"/>
              </a:rPr>
              <a:t>del </a:t>
            </a:r>
            <a:r>
              <a:rPr sz="2000" spc="-90" dirty="0">
                <a:solidFill>
                  <a:srgbClr val="222222"/>
                </a:solidFill>
                <a:latin typeface="Arial"/>
                <a:cs typeface="Arial"/>
              </a:rPr>
              <a:t>proyecto </a:t>
            </a:r>
            <a:r>
              <a:rPr sz="2000" spc="-95" dirty="0">
                <a:solidFill>
                  <a:srgbClr val="222222"/>
                </a:solidFill>
                <a:latin typeface="Arial"/>
                <a:cs typeface="Arial"/>
              </a:rPr>
              <a:t>puede organizarse </a:t>
            </a:r>
            <a:r>
              <a:rPr sz="2000" spc="-175" dirty="0">
                <a:solidFill>
                  <a:srgbClr val="222222"/>
                </a:solidFill>
                <a:latin typeface="Arial"/>
                <a:cs typeface="Arial"/>
              </a:rPr>
              <a:t>en </a:t>
            </a:r>
            <a:r>
              <a:rPr sz="2000" spc="-10" dirty="0">
                <a:solidFill>
                  <a:srgbClr val="222222"/>
                </a:solidFill>
                <a:latin typeface="Arial"/>
                <a:cs typeface="Arial"/>
              </a:rPr>
              <a:t>5 </a:t>
            </a:r>
            <a:r>
              <a:rPr sz="2000" spc="-110" dirty="0">
                <a:solidFill>
                  <a:srgbClr val="222222"/>
                </a:solidFill>
                <a:latin typeface="Arial"/>
                <a:cs typeface="Arial"/>
              </a:rPr>
              <a:t>grupos </a:t>
            </a:r>
            <a:r>
              <a:rPr sz="2000" spc="-60" dirty="0">
                <a:solidFill>
                  <a:srgbClr val="222222"/>
                </a:solidFill>
                <a:latin typeface="Arial"/>
                <a:cs typeface="Arial"/>
              </a:rPr>
              <a:t>de </a:t>
            </a:r>
            <a:r>
              <a:rPr sz="2000" spc="-155" dirty="0">
                <a:solidFill>
                  <a:srgbClr val="222222"/>
                </a:solidFill>
                <a:latin typeface="Arial"/>
                <a:cs typeface="Arial"/>
              </a:rPr>
              <a:t>procesos:  </a:t>
            </a:r>
            <a:r>
              <a:rPr sz="2000" spc="-120" dirty="0">
                <a:solidFill>
                  <a:srgbClr val="222222"/>
                </a:solidFill>
                <a:latin typeface="Arial"/>
                <a:cs typeface="Arial"/>
              </a:rPr>
              <a:t>Iniciacion, </a:t>
            </a:r>
            <a:r>
              <a:rPr sz="2000" spc="-100" dirty="0" err="1">
                <a:solidFill>
                  <a:srgbClr val="222222"/>
                </a:solidFill>
                <a:latin typeface="Arial"/>
                <a:cs typeface="Arial"/>
              </a:rPr>
              <a:t>planeaci</a:t>
            </a:r>
            <a:r>
              <a:rPr lang="es-ES" sz="2000" spc="-100" dirty="0" err="1">
                <a:solidFill>
                  <a:srgbClr val="222222"/>
                </a:solidFill>
                <a:latin typeface="Arial"/>
                <a:cs typeface="Arial"/>
              </a:rPr>
              <a:t>ó</a:t>
            </a:r>
            <a:r>
              <a:rPr sz="2000" spc="-100" dirty="0">
                <a:solidFill>
                  <a:srgbClr val="222222"/>
                </a:solidFill>
                <a:latin typeface="Arial"/>
                <a:cs typeface="Arial"/>
              </a:rPr>
              <a:t>n,</a:t>
            </a:r>
            <a:r>
              <a:rPr lang="es-419" sz="2000" spc="-1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000" spc="-114" dirty="0" err="1">
                <a:solidFill>
                  <a:srgbClr val="222222"/>
                </a:solidFill>
                <a:latin typeface="Arial"/>
                <a:cs typeface="Arial"/>
              </a:rPr>
              <a:t>monitoreo</a:t>
            </a:r>
            <a:r>
              <a:rPr sz="20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22222"/>
                </a:solidFill>
                <a:latin typeface="Arial"/>
                <a:cs typeface="Arial"/>
              </a:rPr>
              <a:t>y</a:t>
            </a:r>
            <a:r>
              <a:rPr lang="es-419" sz="20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222222"/>
                </a:solidFill>
                <a:latin typeface="Arial"/>
                <a:cs typeface="Arial"/>
              </a:rPr>
              <a:t>control </a:t>
            </a:r>
            <a:r>
              <a:rPr sz="2000" dirty="0">
                <a:solidFill>
                  <a:srgbClr val="222222"/>
                </a:solidFill>
                <a:latin typeface="Arial"/>
                <a:cs typeface="Arial"/>
              </a:rPr>
              <a:t>y</a:t>
            </a:r>
            <a:r>
              <a:rPr sz="2000" spc="6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222222"/>
                </a:solidFill>
                <a:latin typeface="Arial"/>
                <a:cs typeface="Arial"/>
              </a:rPr>
              <a:t>Cierre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R="318770" algn="ctr">
              <a:lnSpc>
                <a:spcPct val="100000"/>
              </a:lnSpc>
            </a:pPr>
            <a:r>
              <a:rPr sz="1800" spc="-120" dirty="0">
                <a:latin typeface="Arial"/>
                <a:cs typeface="Arial"/>
              </a:rPr>
              <a:t>Planeacion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29000" y="3276600"/>
            <a:ext cx="2057400" cy="1219200"/>
          </a:xfrm>
          <a:custGeom>
            <a:avLst/>
            <a:gdLst/>
            <a:ahLst/>
            <a:cxnLst/>
            <a:rect l="l" t="t" r="r" b="b"/>
            <a:pathLst>
              <a:path w="2057400" h="1219200">
                <a:moveTo>
                  <a:pt x="457200" y="609600"/>
                </a:moveTo>
                <a:lnTo>
                  <a:pt x="152400" y="609600"/>
                </a:lnTo>
                <a:lnTo>
                  <a:pt x="152400" y="685800"/>
                </a:lnTo>
                <a:lnTo>
                  <a:pt x="154579" y="734350"/>
                </a:lnTo>
                <a:lnTo>
                  <a:pt x="160992" y="781679"/>
                </a:lnTo>
                <a:lnTo>
                  <a:pt x="171450" y="827599"/>
                </a:lnTo>
                <a:lnTo>
                  <a:pt x="185764" y="871920"/>
                </a:lnTo>
                <a:lnTo>
                  <a:pt x="203748" y="914456"/>
                </a:lnTo>
                <a:lnTo>
                  <a:pt x="225213" y="955017"/>
                </a:lnTo>
                <a:lnTo>
                  <a:pt x="249970" y="993415"/>
                </a:lnTo>
                <a:lnTo>
                  <a:pt x="277832" y="1029463"/>
                </a:lnTo>
                <a:lnTo>
                  <a:pt x="308610" y="1062970"/>
                </a:lnTo>
                <a:lnTo>
                  <a:pt x="342116" y="1093751"/>
                </a:lnTo>
                <a:lnTo>
                  <a:pt x="378162" y="1121615"/>
                </a:lnTo>
                <a:lnTo>
                  <a:pt x="416560" y="1146375"/>
                </a:lnTo>
                <a:lnTo>
                  <a:pt x="457121" y="1167842"/>
                </a:lnTo>
                <a:lnTo>
                  <a:pt x="499658" y="1185829"/>
                </a:lnTo>
                <a:lnTo>
                  <a:pt x="543983" y="1200146"/>
                </a:lnTo>
                <a:lnTo>
                  <a:pt x="589907" y="1210606"/>
                </a:lnTo>
                <a:lnTo>
                  <a:pt x="637242" y="1217020"/>
                </a:lnTo>
                <a:lnTo>
                  <a:pt x="685800" y="1219200"/>
                </a:lnTo>
                <a:lnTo>
                  <a:pt x="1524000" y="1219200"/>
                </a:lnTo>
                <a:lnTo>
                  <a:pt x="1572557" y="1217020"/>
                </a:lnTo>
                <a:lnTo>
                  <a:pt x="1619892" y="1210606"/>
                </a:lnTo>
                <a:lnTo>
                  <a:pt x="1665816" y="1200146"/>
                </a:lnTo>
                <a:lnTo>
                  <a:pt x="1710141" y="1185829"/>
                </a:lnTo>
                <a:lnTo>
                  <a:pt x="1752678" y="1167842"/>
                </a:lnTo>
                <a:lnTo>
                  <a:pt x="1793240" y="1146375"/>
                </a:lnTo>
                <a:lnTo>
                  <a:pt x="1831637" y="1121615"/>
                </a:lnTo>
                <a:lnTo>
                  <a:pt x="1867683" y="1093751"/>
                </a:lnTo>
                <a:lnTo>
                  <a:pt x="1901190" y="1062970"/>
                </a:lnTo>
                <a:lnTo>
                  <a:pt x="1931967" y="1029463"/>
                </a:lnTo>
                <a:lnTo>
                  <a:pt x="1959829" y="993415"/>
                </a:lnTo>
                <a:lnTo>
                  <a:pt x="1984586" y="955017"/>
                </a:lnTo>
                <a:lnTo>
                  <a:pt x="2006075" y="914400"/>
                </a:lnTo>
                <a:lnTo>
                  <a:pt x="685800" y="914400"/>
                </a:lnTo>
                <a:lnTo>
                  <a:pt x="639733" y="909755"/>
                </a:lnTo>
                <a:lnTo>
                  <a:pt x="596824" y="896435"/>
                </a:lnTo>
                <a:lnTo>
                  <a:pt x="557993" y="875358"/>
                </a:lnTo>
                <a:lnTo>
                  <a:pt x="524160" y="847444"/>
                </a:lnTo>
                <a:lnTo>
                  <a:pt x="496245" y="813611"/>
                </a:lnTo>
                <a:lnTo>
                  <a:pt x="475166" y="774780"/>
                </a:lnTo>
                <a:lnTo>
                  <a:pt x="461844" y="731870"/>
                </a:lnTo>
                <a:lnTo>
                  <a:pt x="457200" y="685800"/>
                </a:lnTo>
                <a:lnTo>
                  <a:pt x="457200" y="609600"/>
                </a:lnTo>
                <a:close/>
              </a:path>
              <a:path w="2057400" h="1219200">
                <a:moveTo>
                  <a:pt x="2057400" y="0"/>
                </a:moveTo>
                <a:lnTo>
                  <a:pt x="1752600" y="0"/>
                </a:lnTo>
                <a:lnTo>
                  <a:pt x="1752600" y="685800"/>
                </a:lnTo>
                <a:lnTo>
                  <a:pt x="1747955" y="731870"/>
                </a:lnTo>
                <a:lnTo>
                  <a:pt x="1734633" y="774780"/>
                </a:lnTo>
                <a:lnTo>
                  <a:pt x="1713554" y="813611"/>
                </a:lnTo>
                <a:lnTo>
                  <a:pt x="1685639" y="847444"/>
                </a:lnTo>
                <a:lnTo>
                  <a:pt x="1651806" y="875358"/>
                </a:lnTo>
                <a:lnTo>
                  <a:pt x="1612975" y="896435"/>
                </a:lnTo>
                <a:lnTo>
                  <a:pt x="1570066" y="909755"/>
                </a:lnTo>
                <a:lnTo>
                  <a:pt x="1524000" y="914400"/>
                </a:lnTo>
                <a:lnTo>
                  <a:pt x="2006075" y="914400"/>
                </a:lnTo>
                <a:lnTo>
                  <a:pt x="2024035" y="871920"/>
                </a:lnTo>
                <a:lnTo>
                  <a:pt x="2038350" y="827599"/>
                </a:lnTo>
                <a:lnTo>
                  <a:pt x="2048807" y="781679"/>
                </a:lnTo>
                <a:lnTo>
                  <a:pt x="2055220" y="734350"/>
                </a:lnTo>
                <a:lnTo>
                  <a:pt x="2057400" y="685800"/>
                </a:lnTo>
                <a:lnTo>
                  <a:pt x="2057400" y="0"/>
                </a:lnTo>
                <a:close/>
              </a:path>
              <a:path w="2057400" h="1219200">
                <a:moveTo>
                  <a:pt x="304800" y="304800"/>
                </a:moveTo>
                <a:lnTo>
                  <a:pt x="0" y="609600"/>
                </a:lnTo>
                <a:lnTo>
                  <a:pt x="609600" y="609600"/>
                </a:lnTo>
                <a:lnTo>
                  <a:pt x="3048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29000" y="3276600"/>
            <a:ext cx="2057400" cy="1219200"/>
          </a:xfrm>
          <a:custGeom>
            <a:avLst/>
            <a:gdLst/>
            <a:ahLst/>
            <a:cxnLst/>
            <a:rect l="l" t="t" r="r" b="b"/>
            <a:pathLst>
              <a:path w="2057400" h="1219200">
                <a:moveTo>
                  <a:pt x="2057400" y="0"/>
                </a:moveTo>
                <a:lnTo>
                  <a:pt x="2057400" y="685800"/>
                </a:lnTo>
                <a:lnTo>
                  <a:pt x="2055220" y="734350"/>
                </a:lnTo>
                <a:lnTo>
                  <a:pt x="2048807" y="781679"/>
                </a:lnTo>
                <a:lnTo>
                  <a:pt x="2038350" y="827599"/>
                </a:lnTo>
                <a:lnTo>
                  <a:pt x="2024035" y="871920"/>
                </a:lnTo>
                <a:lnTo>
                  <a:pt x="2006051" y="914456"/>
                </a:lnTo>
                <a:lnTo>
                  <a:pt x="1984586" y="955017"/>
                </a:lnTo>
                <a:lnTo>
                  <a:pt x="1959829" y="993415"/>
                </a:lnTo>
                <a:lnTo>
                  <a:pt x="1931967" y="1029463"/>
                </a:lnTo>
                <a:lnTo>
                  <a:pt x="1901190" y="1062970"/>
                </a:lnTo>
                <a:lnTo>
                  <a:pt x="1867683" y="1093751"/>
                </a:lnTo>
                <a:lnTo>
                  <a:pt x="1831637" y="1121615"/>
                </a:lnTo>
                <a:lnTo>
                  <a:pt x="1793240" y="1146375"/>
                </a:lnTo>
                <a:lnTo>
                  <a:pt x="1752678" y="1167842"/>
                </a:lnTo>
                <a:lnTo>
                  <a:pt x="1710141" y="1185829"/>
                </a:lnTo>
                <a:lnTo>
                  <a:pt x="1665816" y="1200146"/>
                </a:lnTo>
                <a:lnTo>
                  <a:pt x="1619892" y="1210606"/>
                </a:lnTo>
                <a:lnTo>
                  <a:pt x="1572557" y="1217020"/>
                </a:lnTo>
                <a:lnTo>
                  <a:pt x="1524000" y="1219200"/>
                </a:lnTo>
                <a:lnTo>
                  <a:pt x="685800" y="1219200"/>
                </a:lnTo>
                <a:lnTo>
                  <a:pt x="637242" y="1217020"/>
                </a:lnTo>
                <a:lnTo>
                  <a:pt x="589907" y="1210606"/>
                </a:lnTo>
                <a:lnTo>
                  <a:pt x="543983" y="1200146"/>
                </a:lnTo>
                <a:lnTo>
                  <a:pt x="499658" y="1185829"/>
                </a:lnTo>
                <a:lnTo>
                  <a:pt x="457121" y="1167842"/>
                </a:lnTo>
                <a:lnTo>
                  <a:pt x="416560" y="1146375"/>
                </a:lnTo>
                <a:lnTo>
                  <a:pt x="378162" y="1121615"/>
                </a:lnTo>
                <a:lnTo>
                  <a:pt x="342116" y="1093751"/>
                </a:lnTo>
                <a:lnTo>
                  <a:pt x="308610" y="1062970"/>
                </a:lnTo>
                <a:lnTo>
                  <a:pt x="277832" y="1029463"/>
                </a:lnTo>
                <a:lnTo>
                  <a:pt x="249970" y="993415"/>
                </a:lnTo>
                <a:lnTo>
                  <a:pt x="225213" y="955017"/>
                </a:lnTo>
                <a:lnTo>
                  <a:pt x="203748" y="914456"/>
                </a:lnTo>
                <a:lnTo>
                  <a:pt x="185764" y="871920"/>
                </a:lnTo>
                <a:lnTo>
                  <a:pt x="171450" y="827599"/>
                </a:lnTo>
                <a:lnTo>
                  <a:pt x="160992" y="781679"/>
                </a:lnTo>
                <a:lnTo>
                  <a:pt x="154579" y="734350"/>
                </a:lnTo>
                <a:lnTo>
                  <a:pt x="152400" y="685800"/>
                </a:lnTo>
                <a:lnTo>
                  <a:pt x="152400" y="609600"/>
                </a:lnTo>
                <a:lnTo>
                  <a:pt x="0" y="609600"/>
                </a:lnTo>
                <a:lnTo>
                  <a:pt x="304800" y="304800"/>
                </a:lnTo>
                <a:lnTo>
                  <a:pt x="609600" y="609600"/>
                </a:lnTo>
                <a:lnTo>
                  <a:pt x="457200" y="609600"/>
                </a:lnTo>
                <a:lnTo>
                  <a:pt x="457200" y="685800"/>
                </a:lnTo>
                <a:lnTo>
                  <a:pt x="461844" y="731870"/>
                </a:lnTo>
                <a:lnTo>
                  <a:pt x="475166" y="774780"/>
                </a:lnTo>
                <a:lnTo>
                  <a:pt x="496245" y="813611"/>
                </a:lnTo>
                <a:lnTo>
                  <a:pt x="524160" y="847444"/>
                </a:lnTo>
                <a:lnTo>
                  <a:pt x="557993" y="875358"/>
                </a:lnTo>
                <a:lnTo>
                  <a:pt x="596824" y="896435"/>
                </a:lnTo>
                <a:lnTo>
                  <a:pt x="639733" y="909755"/>
                </a:lnTo>
                <a:lnTo>
                  <a:pt x="685800" y="914400"/>
                </a:lnTo>
                <a:lnTo>
                  <a:pt x="1524000" y="914400"/>
                </a:lnTo>
                <a:lnTo>
                  <a:pt x="1570066" y="909755"/>
                </a:lnTo>
                <a:lnTo>
                  <a:pt x="1612975" y="896435"/>
                </a:lnTo>
                <a:lnTo>
                  <a:pt x="1651806" y="875358"/>
                </a:lnTo>
                <a:lnTo>
                  <a:pt x="1685639" y="847444"/>
                </a:lnTo>
                <a:lnTo>
                  <a:pt x="1713554" y="813611"/>
                </a:lnTo>
                <a:lnTo>
                  <a:pt x="1734633" y="774780"/>
                </a:lnTo>
                <a:lnTo>
                  <a:pt x="1747955" y="731870"/>
                </a:lnTo>
                <a:lnTo>
                  <a:pt x="1752600" y="685800"/>
                </a:lnTo>
                <a:lnTo>
                  <a:pt x="1752600" y="0"/>
                </a:lnTo>
                <a:lnTo>
                  <a:pt x="2057400" y="0"/>
                </a:lnTo>
                <a:close/>
              </a:path>
            </a:pathLst>
          </a:custGeom>
          <a:ln w="19050">
            <a:solidFill>
              <a:srgbClr val="1E76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41775" y="4148429"/>
            <a:ext cx="832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10" dirty="0">
                <a:latin typeface="Arial"/>
                <a:cs typeface="Arial"/>
              </a:rPr>
              <a:t>Ej</a:t>
            </a:r>
            <a:r>
              <a:rPr sz="1800" spc="-175" dirty="0">
                <a:latin typeface="Arial"/>
                <a:cs typeface="Arial"/>
              </a:rPr>
              <a:t>ecu</a:t>
            </a:r>
            <a:r>
              <a:rPr sz="1800" spc="-135" dirty="0">
                <a:latin typeface="Arial"/>
                <a:cs typeface="Arial"/>
              </a:rPr>
              <a:t>cion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72200" y="3028950"/>
            <a:ext cx="1219200" cy="685800"/>
          </a:xfrm>
          <a:custGeom>
            <a:avLst/>
            <a:gdLst/>
            <a:ahLst/>
            <a:cxnLst/>
            <a:rect l="l" t="t" r="r" b="b"/>
            <a:pathLst>
              <a:path w="1219200" h="685800">
                <a:moveTo>
                  <a:pt x="876300" y="0"/>
                </a:moveTo>
                <a:lnTo>
                  <a:pt x="876300" y="171450"/>
                </a:lnTo>
                <a:lnTo>
                  <a:pt x="0" y="171450"/>
                </a:lnTo>
                <a:lnTo>
                  <a:pt x="0" y="514350"/>
                </a:lnTo>
                <a:lnTo>
                  <a:pt x="876300" y="514350"/>
                </a:lnTo>
                <a:lnTo>
                  <a:pt x="876300" y="685800"/>
                </a:lnTo>
                <a:lnTo>
                  <a:pt x="1219200" y="342900"/>
                </a:lnTo>
                <a:lnTo>
                  <a:pt x="8763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72200" y="3028950"/>
            <a:ext cx="1219200" cy="685800"/>
          </a:xfrm>
          <a:custGeom>
            <a:avLst/>
            <a:gdLst/>
            <a:ahLst/>
            <a:cxnLst/>
            <a:rect l="l" t="t" r="r" b="b"/>
            <a:pathLst>
              <a:path w="1219200" h="685800">
                <a:moveTo>
                  <a:pt x="0" y="171450"/>
                </a:moveTo>
                <a:lnTo>
                  <a:pt x="876300" y="171450"/>
                </a:lnTo>
                <a:lnTo>
                  <a:pt x="876300" y="0"/>
                </a:lnTo>
                <a:lnTo>
                  <a:pt x="1219200" y="342900"/>
                </a:lnTo>
                <a:lnTo>
                  <a:pt x="876300" y="685800"/>
                </a:lnTo>
                <a:lnTo>
                  <a:pt x="876300" y="514350"/>
                </a:lnTo>
                <a:lnTo>
                  <a:pt x="0" y="514350"/>
                </a:lnTo>
                <a:lnTo>
                  <a:pt x="0" y="17145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99021" y="3210814"/>
            <a:ext cx="594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ierre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86600" y="2038350"/>
            <a:ext cx="1219200" cy="1009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7200" y="4781550"/>
            <a:ext cx="8534400" cy="361950"/>
          </a:xfrm>
          <a:custGeom>
            <a:avLst/>
            <a:gdLst/>
            <a:ahLst/>
            <a:cxnLst/>
            <a:rect l="l" t="t" r="r" b="b"/>
            <a:pathLst>
              <a:path w="8534400" h="361950">
                <a:moveTo>
                  <a:pt x="8353425" y="0"/>
                </a:moveTo>
                <a:lnTo>
                  <a:pt x="8353425" y="90487"/>
                </a:lnTo>
                <a:lnTo>
                  <a:pt x="0" y="90487"/>
                </a:lnTo>
                <a:lnTo>
                  <a:pt x="0" y="271462"/>
                </a:lnTo>
                <a:lnTo>
                  <a:pt x="8353425" y="271462"/>
                </a:lnTo>
                <a:lnTo>
                  <a:pt x="8353425" y="361949"/>
                </a:lnTo>
                <a:lnTo>
                  <a:pt x="8534400" y="180975"/>
                </a:lnTo>
                <a:lnTo>
                  <a:pt x="835342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7200" y="4781550"/>
            <a:ext cx="8534400" cy="361950"/>
          </a:xfrm>
          <a:custGeom>
            <a:avLst/>
            <a:gdLst/>
            <a:ahLst/>
            <a:cxnLst/>
            <a:rect l="l" t="t" r="r" b="b"/>
            <a:pathLst>
              <a:path w="8534400" h="361950">
                <a:moveTo>
                  <a:pt x="0" y="90487"/>
                </a:moveTo>
                <a:lnTo>
                  <a:pt x="8353425" y="90487"/>
                </a:lnTo>
                <a:lnTo>
                  <a:pt x="8353425" y="0"/>
                </a:lnTo>
                <a:lnTo>
                  <a:pt x="8534400" y="180975"/>
                </a:lnTo>
                <a:lnTo>
                  <a:pt x="8353425" y="361949"/>
                </a:lnTo>
                <a:lnTo>
                  <a:pt x="8353425" y="271462"/>
                </a:lnTo>
                <a:lnTo>
                  <a:pt x="0" y="271462"/>
                </a:lnTo>
                <a:lnTo>
                  <a:pt x="0" y="90487"/>
                </a:lnTo>
                <a:close/>
              </a:path>
            </a:pathLst>
          </a:custGeom>
          <a:ln w="190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670553" y="4801920"/>
            <a:ext cx="2017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Seguimiento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1000" y="3943350"/>
            <a:ext cx="747712" cy="8667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29400" y="4207206"/>
            <a:ext cx="1586405" cy="5552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95096"/>
            <a:ext cx="42487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i="0" spc="-235" dirty="0">
                <a:latin typeface="Arial"/>
                <a:cs typeface="Arial"/>
              </a:rPr>
              <a:t>Grupos </a:t>
            </a:r>
            <a:r>
              <a:rPr sz="4200" b="0" i="0" spc="-130" dirty="0">
                <a:latin typeface="Arial"/>
                <a:cs typeface="Arial"/>
              </a:rPr>
              <a:t>de</a:t>
            </a:r>
            <a:r>
              <a:rPr sz="4200" b="0" i="0" spc="155" dirty="0">
                <a:latin typeface="Arial"/>
                <a:cs typeface="Arial"/>
              </a:rPr>
              <a:t> </a:t>
            </a:r>
            <a:r>
              <a:rPr sz="4200" b="0" i="0" spc="-425" dirty="0">
                <a:latin typeface="Arial"/>
                <a:cs typeface="Arial"/>
              </a:rPr>
              <a:t>Procesos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28" y="1548891"/>
            <a:ext cx="1157605" cy="645160"/>
          </a:xfrm>
          <a:custGeom>
            <a:avLst/>
            <a:gdLst/>
            <a:ahLst/>
            <a:cxnLst/>
            <a:rect l="l" t="t" r="r" b="b"/>
            <a:pathLst>
              <a:path w="1157605" h="645160">
                <a:moveTo>
                  <a:pt x="1092596" y="0"/>
                </a:moveTo>
                <a:lnTo>
                  <a:pt x="64479" y="0"/>
                </a:lnTo>
                <a:lnTo>
                  <a:pt x="39381" y="5060"/>
                </a:lnTo>
                <a:lnTo>
                  <a:pt x="18885" y="18859"/>
                </a:lnTo>
                <a:lnTo>
                  <a:pt x="5067" y="39326"/>
                </a:lnTo>
                <a:lnTo>
                  <a:pt x="0" y="64388"/>
                </a:lnTo>
                <a:lnTo>
                  <a:pt x="0" y="580263"/>
                </a:lnTo>
                <a:lnTo>
                  <a:pt x="5067" y="605345"/>
                </a:lnTo>
                <a:lnTo>
                  <a:pt x="18885" y="625856"/>
                </a:lnTo>
                <a:lnTo>
                  <a:pt x="39381" y="639699"/>
                </a:lnTo>
                <a:lnTo>
                  <a:pt x="64479" y="644779"/>
                </a:lnTo>
                <a:lnTo>
                  <a:pt x="1092596" y="644779"/>
                </a:lnTo>
                <a:lnTo>
                  <a:pt x="1117694" y="639699"/>
                </a:lnTo>
                <a:lnTo>
                  <a:pt x="1138189" y="625856"/>
                </a:lnTo>
                <a:lnTo>
                  <a:pt x="1152007" y="605345"/>
                </a:lnTo>
                <a:lnTo>
                  <a:pt x="1157074" y="580263"/>
                </a:lnTo>
                <a:lnTo>
                  <a:pt x="1157074" y="64388"/>
                </a:lnTo>
                <a:lnTo>
                  <a:pt x="1152007" y="39326"/>
                </a:lnTo>
                <a:lnTo>
                  <a:pt x="1138189" y="18859"/>
                </a:lnTo>
                <a:lnTo>
                  <a:pt x="1117694" y="5060"/>
                </a:lnTo>
                <a:lnTo>
                  <a:pt x="1092596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825" y="1583816"/>
            <a:ext cx="568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Iniciacion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2125" y="1978660"/>
            <a:ext cx="1157605" cy="1616075"/>
          </a:xfrm>
          <a:custGeom>
            <a:avLst/>
            <a:gdLst/>
            <a:ahLst/>
            <a:cxnLst/>
            <a:rect l="l" t="t" r="r" b="b"/>
            <a:pathLst>
              <a:path w="1157605" h="1616075">
                <a:moveTo>
                  <a:pt x="1041336" y="0"/>
                </a:moveTo>
                <a:lnTo>
                  <a:pt x="115697" y="0"/>
                </a:lnTo>
                <a:lnTo>
                  <a:pt x="70664" y="9094"/>
                </a:lnTo>
                <a:lnTo>
                  <a:pt x="33888" y="33893"/>
                </a:lnTo>
                <a:lnTo>
                  <a:pt x="9092" y="70669"/>
                </a:lnTo>
                <a:lnTo>
                  <a:pt x="0" y="115696"/>
                </a:lnTo>
                <a:lnTo>
                  <a:pt x="0" y="1500251"/>
                </a:lnTo>
                <a:lnTo>
                  <a:pt x="9092" y="1545278"/>
                </a:lnTo>
                <a:lnTo>
                  <a:pt x="33888" y="1582054"/>
                </a:lnTo>
                <a:lnTo>
                  <a:pt x="70664" y="1606853"/>
                </a:lnTo>
                <a:lnTo>
                  <a:pt x="115697" y="1615948"/>
                </a:lnTo>
                <a:lnTo>
                  <a:pt x="1041336" y="1615948"/>
                </a:lnTo>
                <a:lnTo>
                  <a:pt x="1086363" y="1606853"/>
                </a:lnTo>
                <a:lnTo>
                  <a:pt x="1123140" y="1582054"/>
                </a:lnTo>
                <a:lnTo>
                  <a:pt x="1147939" y="1545278"/>
                </a:lnTo>
                <a:lnTo>
                  <a:pt x="1157033" y="1500251"/>
                </a:lnTo>
                <a:lnTo>
                  <a:pt x="1157033" y="115696"/>
                </a:lnTo>
                <a:lnTo>
                  <a:pt x="1147939" y="70669"/>
                </a:lnTo>
                <a:lnTo>
                  <a:pt x="1123140" y="33893"/>
                </a:lnTo>
                <a:lnTo>
                  <a:pt x="1086363" y="9094"/>
                </a:lnTo>
                <a:lnTo>
                  <a:pt x="104133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2125" y="1978660"/>
            <a:ext cx="1157605" cy="1616075"/>
          </a:xfrm>
          <a:custGeom>
            <a:avLst/>
            <a:gdLst/>
            <a:ahLst/>
            <a:cxnLst/>
            <a:rect l="l" t="t" r="r" b="b"/>
            <a:pathLst>
              <a:path w="1157605" h="1616075">
                <a:moveTo>
                  <a:pt x="0" y="115696"/>
                </a:moveTo>
                <a:lnTo>
                  <a:pt x="9092" y="70669"/>
                </a:lnTo>
                <a:lnTo>
                  <a:pt x="33888" y="33893"/>
                </a:lnTo>
                <a:lnTo>
                  <a:pt x="70664" y="9094"/>
                </a:lnTo>
                <a:lnTo>
                  <a:pt x="115697" y="0"/>
                </a:lnTo>
                <a:lnTo>
                  <a:pt x="1041336" y="0"/>
                </a:lnTo>
                <a:lnTo>
                  <a:pt x="1086363" y="9094"/>
                </a:lnTo>
                <a:lnTo>
                  <a:pt x="1123140" y="33893"/>
                </a:lnTo>
                <a:lnTo>
                  <a:pt x="1147939" y="70669"/>
                </a:lnTo>
                <a:lnTo>
                  <a:pt x="1157033" y="115696"/>
                </a:lnTo>
                <a:lnTo>
                  <a:pt x="1157033" y="1500251"/>
                </a:lnTo>
                <a:lnTo>
                  <a:pt x="1147939" y="1545278"/>
                </a:lnTo>
                <a:lnTo>
                  <a:pt x="1123140" y="1582054"/>
                </a:lnTo>
                <a:lnTo>
                  <a:pt x="1086363" y="1606853"/>
                </a:lnTo>
                <a:lnTo>
                  <a:pt x="1041336" y="1615948"/>
                </a:lnTo>
                <a:lnTo>
                  <a:pt x="115697" y="1615948"/>
                </a:lnTo>
                <a:lnTo>
                  <a:pt x="70664" y="1606853"/>
                </a:lnTo>
                <a:lnTo>
                  <a:pt x="33888" y="1582054"/>
                </a:lnTo>
                <a:lnTo>
                  <a:pt x="9092" y="1545278"/>
                </a:lnTo>
                <a:lnTo>
                  <a:pt x="0" y="1500251"/>
                </a:lnTo>
                <a:lnTo>
                  <a:pt x="0" y="115696"/>
                </a:lnTo>
                <a:close/>
              </a:path>
            </a:pathLst>
          </a:custGeom>
          <a:ln w="19050">
            <a:solidFill>
              <a:srgbClr val="DA1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8792" y="2047748"/>
            <a:ext cx="795020" cy="6565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0" marR="5080" indent="-114300">
              <a:lnSpc>
                <a:spcPts val="1180"/>
              </a:lnSpc>
              <a:spcBef>
                <a:spcPts val="355"/>
              </a:spcBef>
              <a:buChar char="•"/>
              <a:tabLst>
                <a:tab pos="127000" algn="l"/>
              </a:tabLst>
            </a:pPr>
            <a:r>
              <a:rPr sz="1200" spc="-65" dirty="0">
                <a:latin typeface="Arial"/>
                <a:cs typeface="Arial"/>
              </a:rPr>
              <a:t>Define </a:t>
            </a:r>
            <a:r>
              <a:rPr sz="1200" dirty="0">
                <a:latin typeface="Arial"/>
                <a:cs typeface="Arial"/>
              </a:rPr>
              <a:t>y  </a:t>
            </a:r>
            <a:r>
              <a:rPr sz="1200" spc="-40" dirty="0">
                <a:latin typeface="Arial"/>
                <a:cs typeface="Arial"/>
              </a:rPr>
              <a:t>autoriza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el  </a:t>
            </a:r>
            <a:r>
              <a:rPr sz="1200" spc="-60" dirty="0">
                <a:latin typeface="Arial"/>
                <a:cs typeface="Arial"/>
              </a:rPr>
              <a:t>proyecto </a:t>
            </a:r>
            <a:r>
              <a:rPr sz="1200" spc="-70" dirty="0">
                <a:latin typeface="Arial"/>
                <a:cs typeface="Arial"/>
              </a:rPr>
              <a:t>o  </a:t>
            </a:r>
            <a:r>
              <a:rPr sz="1200" spc="-100" dirty="0">
                <a:latin typeface="Arial"/>
                <a:cs typeface="Arial"/>
              </a:rPr>
              <a:t>una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fase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37563" y="1619758"/>
            <a:ext cx="372110" cy="288290"/>
          </a:xfrm>
          <a:custGeom>
            <a:avLst/>
            <a:gdLst/>
            <a:ahLst/>
            <a:cxnLst/>
            <a:rect l="l" t="t" r="r" b="b"/>
            <a:pathLst>
              <a:path w="372110" h="288289">
                <a:moveTo>
                  <a:pt x="227838" y="0"/>
                </a:moveTo>
                <a:lnTo>
                  <a:pt x="227838" y="57530"/>
                </a:lnTo>
                <a:lnTo>
                  <a:pt x="0" y="57530"/>
                </a:lnTo>
                <a:lnTo>
                  <a:pt x="0" y="230377"/>
                </a:lnTo>
                <a:lnTo>
                  <a:pt x="227838" y="230377"/>
                </a:lnTo>
                <a:lnTo>
                  <a:pt x="227838" y="288035"/>
                </a:lnTo>
                <a:lnTo>
                  <a:pt x="371983" y="144017"/>
                </a:lnTo>
                <a:lnTo>
                  <a:pt x="227838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63851" y="1548891"/>
            <a:ext cx="1157605" cy="645160"/>
          </a:xfrm>
          <a:custGeom>
            <a:avLst/>
            <a:gdLst/>
            <a:ahLst/>
            <a:cxnLst/>
            <a:rect l="l" t="t" r="r" b="b"/>
            <a:pathLst>
              <a:path w="1157605" h="645160">
                <a:moveTo>
                  <a:pt x="1092581" y="0"/>
                </a:moveTo>
                <a:lnTo>
                  <a:pt x="64516" y="0"/>
                </a:lnTo>
                <a:lnTo>
                  <a:pt x="39379" y="5060"/>
                </a:lnTo>
                <a:lnTo>
                  <a:pt x="18875" y="18859"/>
                </a:lnTo>
                <a:lnTo>
                  <a:pt x="5062" y="39326"/>
                </a:lnTo>
                <a:lnTo>
                  <a:pt x="0" y="64388"/>
                </a:lnTo>
                <a:lnTo>
                  <a:pt x="0" y="580263"/>
                </a:lnTo>
                <a:lnTo>
                  <a:pt x="5062" y="605345"/>
                </a:lnTo>
                <a:lnTo>
                  <a:pt x="18875" y="625856"/>
                </a:lnTo>
                <a:lnTo>
                  <a:pt x="39379" y="639699"/>
                </a:lnTo>
                <a:lnTo>
                  <a:pt x="64516" y="644779"/>
                </a:lnTo>
                <a:lnTo>
                  <a:pt x="1092581" y="644779"/>
                </a:lnTo>
                <a:lnTo>
                  <a:pt x="1117717" y="639699"/>
                </a:lnTo>
                <a:lnTo>
                  <a:pt x="1138221" y="625856"/>
                </a:lnTo>
                <a:lnTo>
                  <a:pt x="1152034" y="605345"/>
                </a:lnTo>
                <a:lnTo>
                  <a:pt x="1157097" y="580263"/>
                </a:lnTo>
                <a:lnTo>
                  <a:pt x="1157097" y="64388"/>
                </a:lnTo>
                <a:lnTo>
                  <a:pt x="1152034" y="39326"/>
                </a:lnTo>
                <a:lnTo>
                  <a:pt x="1138221" y="18859"/>
                </a:lnTo>
                <a:lnTo>
                  <a:pt x="1117717" y="5060"/>
                </a:lnTo>
                <a:lnTo>
                  <a:pt x="1092581" y="0"/>
                </a:lnTo>
                <a:close/>
              </a:path>
            </a:pathLst>
          </a:custGeom>
          <a:solidFill>
            <a:srgbClr val="EB63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36750" y="1583816"/>
            <a:ext cx="680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Planea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00833" y="1978660"/>
            <a:ext cx="1157605" cy="1616075"/>
          </a:xfrm>
          <a:custGeom>
            <a:avLst/>
            <a:gdLst/>
            <a:ahLst/>
            <a:cxnLst/>
            <a:rect l="l" t="t" r="r" b="b"/>
            <a:pathLst>
              <a:path w="1157604" h="1616075">
                <a:moveTo>
                  <a:pt x="1041400" y="0"/>
                </a:moveTo>
                <a:lnTo>
                  <a:pt x="115697" y="0"/>
                </a:lnTo>
                <a:lnTo>
                  <a:pt x="70669" y="9094"/>
                </a:lnTo>
                <a:lnTo>
                  <a:pt x="33893" y="33893"/>
                </a:lnTo>
                <a:lnTo>
                  <a:pt x="9094" y="70669"/>
                </a:lnTo>
                <a:lnTo>
                  <a:pt x="0" y="115696"/>
                </a:lnTo>
                <a:lnTo>
                  <a:pt x="0" y="1500251"/>
                </a:lnTo>
                <a:lnTo>
                  <a:pt x="9094" y="1545278"/>
                </a:lnTo>
                <a:lnTo>
                  <a:pt x="33893" y="1582054"/>
                </a:lnTo>
                <a:lnTo>
                  <a:pt x="70669" y="1606853"/>
                </a:lnTo>
                <a:lnTo>
                  <a:pt x="115697" y="1615948"/>
                </a:lnTo>
                <a:lnTo>
                  <a:pt x="1041400" y="1615948"/>
                </a:lnTo>
                <a:lnTo>
                  <a:pt x="1086427" y="1606853"/>
                </a:lnTo>
                <a:lnTo>
                  <a:pt x="1123203" y="1582054"/>
                </a:lnTo>
                <a:lnTo>
                  <a:pt x="1148002" y="1545278"/>
                </a:lnTo>
                <a:lnTo>
                  <a:pt x="1157096" y="1500251"/>
                </a:lnTo>
                <a:lnTo>
                  <a:pt x="1157096" y="115696"/>
                </a:lnTo>
                <a:lnTo>
                  <a:pt x="1148002" y="70669"/>
                </a:lnTo>
                <a:lnTo>
                  <a:pt x="1123203" y="33893"/>
                </a:lnTo>
                <a:lnTo>
                  <a:pt x="1086427" y="9094"/>
                </a:lnTo>
                <a:lnTo>
                  <a:pt x="1041400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00833" y="1978660"/>
            <a:ext cx="1157605" cy="1616075"/>
          </a:xfrm>
          <a:custGeom>
            <a:avLst/>
            <a:gdLst/>
            <a:ahLst/>
            <a:cxnLst/>
            <a:rect l="l" t="t" r="r" b="b"/>
            <a:pathLst>
              <a:path w="1157604" h="1616075">
                <a:moveTo>
                  <a:pt x="0" y="115696"/>
                </a:moveTo>
                <a:lnTo>
                  <a:pt x="9094" y="70669"/>
                </a:lnTo>
                <a:lnTo>
                  <a:pt x="33893" y="33893"/>
                </a:lnTo>
                <a:lnTo>
                  <a:pt x="70669" y="9094"/>
                </a:lnTo>
                <a:lnTo>
                  <a:pt x="115697" y="0"/>
                </a:lnTo>
                <a:lnTo>
                  <a:pt x="1041400" y="0"/>
                </a:lnTo>
                <a:lnTo>
                  <a:pt x="1086427" y="9094"/>
                </a:lnTo>
                <a:lnTo>
                  <a:pt x="1123203" y="33893"/>
                </a:lnTo>
                <a:lnTo>
                  <a:pt x="1148002" y="70669"/>
                </a:lnTo>
                <a:lnTo>
                  <a:pt x="1157096" y="115696"/>
                </a:lnTo>
                <a:lnTo>
                  <a:pt x="1157096" y="1500251"/>
                </a:lnTo>
                <a:lnTo>
                  <a:pt x="1148002" y="1545278"/>
                </a:lnTo>
                <a:lnTo>
                  <a:pt x="1123203" y="1582054"/>
                </a:lnTo>
                <a:lnTo>
                  <a:pt x="1086427" y="1606853"/>
                </a:lnTo>
                <a:lnTo>
                  <a:pt x="1041400" y="1615948"/>
                </a:lnTo>
                <a:lnTo>
                  <a:pt x="115697" y="1615948"/>
                </a:lnTo>
                <a:lnTo>
                  <a:pt x="70669" y="1606853"/>
                </a:lnTo>
                <a:lnTo>
                  <a:pt x="33893" y="1582054"/>
                </a:lnTo>
                <a:lnTo>
                  <a:pt x="9094" y="1545278"/>
                </a:lnTo>
                <a:lnTo>
                  <a:pt x="0" y="1500251"/>
                </a:lnTo>
                <a:lnTo>
                  <a:pt x="0" y="115696"/>
                </a:lnTo>
                <a:close/>
              </a:path>
            </a:pathLst>
          </a:custGeom>
          <a:ln w="19050">
            <a:solidFill>
              <a:srgbClr val="EB63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07767" y="2047748"/>
            <a:ext cx="819785" cy="14281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0" marR="5080" indent="-114300">
              <a:lnSpc>
                <a:spcPct val="81700"/>
              </a:lnSpc>
              <a:spcBef>
                <a:spcPts val="360"/>
              </a:spcBef>
              <a:buChar char="•"/>
              <a:tabLst>
                <a:tab pos="127000" algn="l"/>
              </a:tabLst>
            </a:pPr>
            <a:r>
              <a:rPr sz="1200" spc="-65" dirty="0">
                <a:latin typeface="Arial"/>
                <a:cs typeface="Arial"/>
              </a:rPr>
              <a:t>Define </a:t>
            </a:r>
            <a:r>
              <a:rPr sz="1200" dirty="0">
                <a:latin typeface="Arial"/>
                <a:cs typeface="Arial"/>
              </a:rPr>
              <a:t>y  </a:t>
            </a:r>
            <a:r>
              <a:rPr sz="1200" spc="-30" dirty="0">
                <a:latin typeface="Arial"/>
                <a:cs typeface="Arial"/>
              </a:rPr>
              <a:t>refina </a:t>
            </a:r>
            <a:r>
              <a:rPr sz="1200" spc="-100" dirty="0">
                <a:latin typeface="Arial"/>
                <a:cs typeface="Arial"/>
              </a:rPr>
              <a:t>los  </a:t>
            </a:r>
            <a:r>
              <a:rPr sz="1200" spc="-60" dirty="0">
                <a:latin typeface="Arial"/>
                <a:cs typeface="Arial"/>
              </a:rPr>
              <a:t>objetivos </a:t>
            </a:r>
            <a:r>
              <a:rPr sz="1200" dirty="0">
                <a:latin typeface="Arial"/>
                <a:cs typeface="Arial"/>
              </a:rPr>
              <a:t>y  </a:t>
            </a:r>
            <a:r>
              <a:rPr sz="1200" spc="-35" dirty="0">
                <a:latin typeface="Arial"/>
                <a:cs typeface="Arial"/>
              </a:rPr>
              <a:t>planifica el  </a:t>
            </a:r>
            <a:r>
              <a:rPr sz="1200" spc="-114" dirty="0">
                <a:latin typeface="Arial"/>
                <a:cs typeface="Arial"/>
              </a:rPr>
              <a:t>curso </a:t>
            </a:r>
            <a:r>
              <a:rPr sz="1200" spc="-40" dirty="0">
                <a:latin typeface="Arial"/>
                <a:cs typeface="Arial"/>
              </a:rPr>
              <a:t>de  </a:t>
            </a:r>
            <a:r>
              <a:rPr sz="1200" spc="-90" dirty="0">
                <a:latin typeface="Arial"/>
                <a:cs typeface="Arial"/>
              </a:rPr>
              <a:t>accion</a:t>
            </a:r>
            <a:endParaRPr sz="1200">
              <a:latin typeface="Arial"/>
              <a:cs typeface="Arial"/>
            </a:endParaRPr>
          </a:p>
          <a:p>
            <a:pPr marL="127000" marR="59690" indent="-114300">
              <a:lnSpc>
                <a:spcPts val="1180"/>
              </a:lnSpc>
              <a:spcBef>
                <a:spcPts val="185"/>
              </a:spcBef>
              <a:buChar char="•"/>
              <a:tabLst>
                <a:tab pos="127000" algn="l"/>
              </a:tabLst>
            </a:pPr>
            <a:r>
              <a:rPr sz="1200" spc="-150" dirty="0">
                <a:latin typeface="Arial"/>
                <a:cs typeface="Arial"/>
              </a:rPr>
              <a:t>D</a:t>
            </a:r>
            <a:r>
              <a:rPr sz="1200" spc="-40" dirty="0">
                <a:latin typeface="Arial"/>
                <a:cs typeface="Arial"/>
              </a:rPr>
              <a:t>ete</a:t>
            </a:r>
            <a:r>
              <a:rPr sz="1200" spc="-15" dirty="0">
                <a:latin typeface="Arial"/>
                <a:cs typeface="Arial"/>
              </a:rPr>
              <a:t>r</a:t>
            </a:r>
            <a:r>
              <a:rPr sz="1200" spc="-200" dirty="0">
                <a:latin typeface="Arial"/>
                <a:cs typeface="Arial"/>
              </a:rPr>
              <a:t>m</a:t>
            </a:r>
            <a:r>
              <a:rPr sz="1200" spc="-50" dirty="0">
                <a:latin typeface="Arial"/>
                <a:cs typeface="Arial"/>
              </a:rPr>
              <a:t>i</a:t>
            </a:r>
            <a:r>
              <a:rPr sz="1200" spc="-105" dirty="0">
                <a:latin typeface="Arial"/>
                <a:cs typeface="Arial"/>
              </a:rPr>
              <a:t>n</a:t>
            </a:r>
            <a:r>
              <a:rPr sz="1200" spc="-5" dirty="0">
                <a:latin typeface="Arial"/>
                <a:cs typeface="Arial"/>
              </a:rPr>
              <a:t>a  </a:t>
            </a:r>
            <a:r>
              <a:rPr sz="1200" spc="-60" dirty="0">
                <a:latin typeface="Arial"/>
                <a:cs typeface="Arial"/>
              </a:rPr>
              <a:t>tiempo  </a:t>
            </a:r>
            <a:r>
              <a:rPr sz="1200" spc="-105" dirty="0">
                <a:latin typeface="Arial"/>
                <a:cs typeface="Arial"/>
              </a:rPr>
              <a:t>recursos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96335" y="1619758"/>
            <a:ext cx="372110" cy="288290"/>
          </a:xfrm>
          <a:custGeom>
            <a:avLst/>
            <a:gdLst/>
            <a:ahLst/>
            <a:cxnLst/>
            <a:rect l="l" t="t" r="r" b="b"/>
            <a:pathLst>
              <a:path w="372110" h="288289">
                <a:moveTo>
                  <a:pt x="227837" y="0"/>
                </a:moveTo>
                <a:lnTo>
                  <a:pt x="227837" y="57530"/>
                </a:lnTo>
                <a:lnTo>
                  <a:pt x="0" y="57530"/>
                </a:lnTo>
                <a:lnTo>
                  <a:pt x="0" y="230377"/>
                </a:lnTo>
                <a:lnTo>
                  <a:pt x="227837" y="230377"/>
                </a:lnTo>
                <a:lnTo>
                  <a:pt x="227837" y="288035"/>
                </a:lnTo>
                <a:lnTo>
                  <a:pt x="371855" y="144017"/>
                </a:lnTo>
                <a:lnTo>
                  <a:pt x="227837" y="0"/>
                </a:lnTo>
                <a:close/>
              </a:path>
            </a:pathLst>
          </a:custGeom>
          <a:solidFill>
            <a:srgbClr val="EB63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22623" y="1548891"/>
            <a:ext cx="1156970" cy="645160"/>
          </a:xfrm>
          <a:custGeom>
            <a:avLst/>
            <a:gdLst/>
            <a:ahLst/>
            <a:cxnLst/>
            <a:rect l="l" t="t" r="r" b="b"/>
            <a:pathLst>
              <a:path w="1156970" h="645160">
                <a:moveTo>
                  <a:pt x="1092580" y="0"/>
                </a:moveTo>
                <a:lnTo>
                  <a:pt x="64388" y="0"/>
                </a:lnTo>
                <a:lnTo>
                  <a:pt x="39326" y="5060"/>
                </a:lnTo>
                <a:lnTo>
                  <a:pt x="18859" y="18859"/>
                </a:lnTo>
                <a:lnTo>
                  <a:pt x="5060" y="39326"/>
                </a:lnTo>
                <a:lnTo>
                  <a:pt x="0" y="64388"/>
                </a:lnTo>
                <a:lnTo>
                  <a:pt x="0" y="580263"/>
                </a:lnTo>
                <a:lnTo>
                  <a:pt x="5060" y="605345"/>
                </a:lnTo>
                <a:lnTo>
                  <a:pt x="18859" y="625856"/>
                </a:lnTo>
                <a:lnTo>
                  <a:pt x="39326" y="639699"/>
                </a:lnTo>
                <a:lnTo>
                  <a:pt x="64388" y="644779"/>
                </a:lnTo>
                <a:lnTo>
                  <a:pt x="1092580" y="644779"/>
                </a:lnTo>
                <a:lnTo>
                  <a:pt x="1117643" y="639699"/>
                </a:lnTo>
                <a:lnTo>
                  <a:pt x="1138110" y="625856"/>
                </a:lnTo>
                <a:lnTo>
                  <a:pt x="1151909" y="605345"/>
                </a:lnTo>
                <a:lnTo>
                  <a:pt x="1156970" y="580263"/>
                </a:lnTo>
                <a:lnTo>
                  <a:pt x="1156970" y="64388"/>
                </a:lnTo>
                <a:lnTo>
                  <a:pt x="1151909" y="39326"/>
                </a:lnTo>
                <a:lnTo>
                  <a:pt x="1138110" y="18859"/>
                </a:lnTo>
                <a:lnTo>
                  <a:pt x="1117643" y="5060"/>
                </a:lnTo>
                <a:lnTo>
                  <a:pt x="1092580" y="0"/>
                </a:lnTo>
                <a:close/>
              </a:path>
            </a:pathLst>
          </a:custGeom>
          <a:solidFill>
            <a:srgbClr val="3962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795776" y="1583816"/>
            <a:ext cx="561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solidFill>
                  <a:srgbClr val="FFFFFF"/>
                </a:solidFill>
                <a:latin typeface="Arial"/>
                <a:cs typeface="Arial"/>
              </a:rPr>
              <a:t>Ej</a:t>
            </a:r>
            <a:r>
              <a:rPr sz="1200" spc="-110" dirty="0">
                <a:solidFill>
                  <a:srgbClr val="FFFFFF"/>
                </a:solidFill>
                <a:latin typeface="Arial"/>
                <a:cs typeface="Arial"/>
              </a:rPr>
              <a:t>ec</a:t>
            </a:r>
            <a:r>
              <a:rPr sz="1200" spc="-100" dirty="0">
                <a:solidFill>
                  <a:srgbClr val="FFFFFF"/>
                </a:solidFill>
                <a:latin typeface="Arial"/>
                <a:cs typeface="Arial"/>
              </a:rPr>
              <a:t>ucion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59605" y="1978660"/>
            <a:ext cx="1156970" cy="1616075"/>
          </a:xfrm>
          <a:custGeom>
            <a:avLst/>
            <a:gdLst/>
            <a:ahLst/>
            <a:cxnLst/>
            <a:rect l="l" t="t" r="r" b="b"/>
            <a:pathLst>
              <a:path w="1156970" h="1616075">
                <a:moveTo>
                  <a:pt x="1041273" y="0"/>
                </a:moveTo>
                <a:lnTo>
                  <a:pt x="115697" y="0"/>
                </a:lnTo>
                <a:lnTo>
                  <a:pt x="70669" y="9094"/>
                </a:lnTo>
                <a:lnTo>
                  <a:pt x="33893" y="33893"/>
                </a:lnTo>
                <a:lnTo>
                  <a:pt x="9094" y="70669"/>
                </a:lnTo>
                <a:lnTo>
                  <a:pt x="0" y="115696"/>
                </a:lnTo>
                <a:lnTo>
                  <a:pt x="0" y="1500251"/>
                </a:lnTo>
                <a:lnTo>
                  <a:pt x="9094" y="1545278"/>
                </a:lnTo>
                <a:lnTo>
                  <a:pt x="33893" y="1582054"/>
                </a:lnTo>
                <a:lnTo>
                  <a:pt x="70669" y="1606853"/>
                </a:lnTo>
                <a:lnTo>
                  <a:pt x="115697" y="1615948"/>
                </a:lnTo>
                <a:lnTo>
                  <a:pt x="1041273" y="1615948"/>
                </a:lnTo>
                <a:lnTo>
                  <a:pt x="1086354" y="1606853"/>
                </a:lnTo>
                <a:lnTo>
                  <a:pt x="1123124" y="1582054"/>
                </a:lnTo>
                <a:lnTo>
                  <a:pt x="1147893" y="1545278"/>
                </a:lnTo>
                <a:lnTo>
                  <a:pt x="1156970" y="1500251"/>
                </a:lnTo>
                <a:lnTo>
                  <a:pt x="1156970" y="115696"/>
                </a:lnTo>
                <a:lnTo>
                  <a:pt x="1147893" y="70669"/>
                </a:lnTo>
                <a:lnTo>
                  <a:pt x="1123124" y="33893"/>
                </a:lnTo>
                <a:lnTo>
                  <a:pt x="1086354" y="9094"/>
                </a:lnTo>
                <a:lnTo>
                  <a:pt x="1041273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59605" y="1978660"/>
            <a:ext cx="1156970" cy="1616075"/>
          </a:xfrm>
          <a:custGeom>
            <a:avLst/>
            <a:gdLst/>
            <a:ahLst/>
            <a:cxnLst/>
            <a:rect l="l" t="t" r="r" b="b"/>
            <a:pathLst>
              <a:path w="1156970" h="1616075">
                <a:moveTo>
                  <a:pt x="0" y="115696"/>
                </a:moveTo>
                <a:lnTo>
                  <a:pt x="9094" y="70669"/>
                </a:lnTo>
                <a:lnTo>
                  <a:pt x="33893" y="33893"/>
                </a:lnTo>
                <a:lnTo>
                  <a:pt x="70669" y="9094"/>
                </a:lnTo>
                <a:lnTo>
                  <a:pt x="115697" y="0"/>
                </a:lnTo>
                <a:lnTo>
                  <a:pt x="1041273" y="0"/>
                </a:lnTo>
                <a:lnTo>
                  <a:pt x="1086354" y="9094"/>
                </a:lnTo>
                <a:lnTo>
                  <a:pt x="1123124" y="33893"/>
                </a:lnTo>
                <a:lnTo>
                  <a:pt x="1147893" y="70669"/>
                </a:lnTo>
                <a:lnTo>
                  <a:pt x="1156970" y="115696"/>
                </a:lnTo>
                <a:lnTo>
                  <a:pt x="1156970" y="1500251"/>
                </a:lnTo>
                <a:lnTo>
                  <a:pt x="1147893" y="1545278"/>
                </a:lnTo>
                <a:lnTo>
                  <a:pt x="1123124" y="1582054"/>
                </a:lnTo>
                <a:lnTo>
                  <a:pt x="1086354" y="1606853"/>
                </a:lnTo>
                <a:lnTo>
                  <a:pt x="1041273" y="1615948"/>
                </a:lnTo>
                <a:lnTo>
                  <a:pt x="115697" y="1615948"/>
                </a:lnTo>
                <a:lnTo>
                  <a:pt x="70669" y="1606853"/>
                </a:lnTo>
                <a:lnTo>
                  <a:pt x="33893" y="1582054"/>
                </a:lnTo>
                <a:lnTo>
                  <a:pt x="9094" y="1545278"/>
                </a:lnTo>
                <a:lnTo>
                  <a:pt x="0" y="1500251"/>
                </a:lnTo>
                <a:lnTo>
                  <a:pt x="0" y="115696"/>
                </a:lnTo>
                <a:close/>
              </a:path>
            </a:pathLst>
          </a:custGeom>
          <a:ln w="19050">
            <a:solidFill>
              <a:srgbClr val="3962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066794" y="2047748"/>
            <a:ext cx="905510" cy="80645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0" marR="5080" indent="-114300">
              <a:lnSpc>
                <a:spcPct val="81700"/>
              </a:lnSpc>
              <a:spcBef>
                <a:spcPts val="360"/>
              </a:spcBef>
              <a:buChar char="•"/>
              <a:tabLst>
                <a:tab pos="127000" algn="l"/>
              </a:tabLst>
            </a:pPr>
            <a:r>
              <a:rPr sz="1200" spc="-135" dirty="0">
                <a:latin typeface="Arial"/>
                <a:cs typeface="Arial"/>
              </a:rPr>
              <a:t>Se </a:t>
            </a:r>
            <a:r>
              <a:rPr sz="1200" spc="-40" dirty="0">
                <a:latin typeface="Arial"/>
                <a:cs typeface="Arial"/>
              </a:rPr>
              <a:t>lleva </a:t>
            </a:r>
            <a:r>
              <a:rPr sz="1200" spc="-10" dirty="0">
                <a:latin typeface="Arial"/>
                <a:cs typeface="Arial"/>
              </a:rPr>
              <a:t>a  </a:t>
            </a:r>
            <a:r>
              <a:rPr sz="1200" spc="-60" dirty="0">
                <a:latin typeface="Arial"/>
                <a:cs typeface="Arial"/>
              </a:rPr>
              <a:t>cabo </a:t>
            </a:r>
            <a:r>
              <a:rPr sz="1200" spc="-40" dirty="0">
                <a:latin typeface="Arial"/>
                <a:cs typeface="Arial"/>
              </a:rPr>
              <a:t>el plan  de </a:t>
            </a:r>
            <a:r>
              <a:rPr sz="1200" spc="-80" dirty="0">
                <a:latin typeface="Arial"/>
                <a:cs typeface="Arial"/>
              </a:rPr>
              <a:t>gestion  </a:t>
            </a:r>
            <a:r>
              <a:rPr sz="1200" spc="-15" dirty="0">
                <a:latin typeface="Arial"/>
                <a:cs typeface="Arial"/>
              </a:rPr>
              <a:t>para </a:t>
            </a:r>
            <a:r>
              <a:rPr sz="1200" spc="-25" dirty="0">
                <a:latin typeface="Arial"/>
                <a:cs typeface="Arial"/>
              </a:rPr>
              <a:t>lograr  </a:t>
            </a:r>
            <a:r>
              <a:rPr sz="1200" spc="-95" dirty="0">
                <a:latin typeface="Arial"/>
                <a:cs typeface="Arial"/>
              </a:rPr>
              <a:t>los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objetivos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55108" y="1619758"/>
            <a:ext cx="372110" cy="288290"/>
          </a:xfrm>
          <a:custGeom>
            <a:avLst/>
            <a:gdLst/>
            <a:ahLst/>
            <a:cxnLst/>
            <a:rect l="l" t="t" r="r" b="b"/>
            <a:pathLst>
              <a:path w="372110" h="288289">
                <a:moveTo>
                  <a:pt x="227711" y="0"/>
                </a:moveTo>
                <a:lnTo>
                  <a:pt x="227711" y="57530"/>
                </a:lnTo>
                <a:lnTo>
                  <a:pt x="0" y="57530"/>
                </a:lnTo>
                <a:lnTo>
                  <a:pt x="0" y="230377"/>
                </a:lnTo>
                <a:lnTo>
                  <a:pt x="227711" y="230377"/>
                </a:lnTo>
                <a:lnTo>
                  <a:pt x="227711" y="288035"/>
                </a:lnTo>
                <a:lnTo>
                  <a:pt x="371855" y="144017"/>
                </a:lnTo>
                <a:lnTo>
                  <a:pt x="227711" y="0"/>
                </a:lnTo>
                <a:close/>
              </a:path>
            </a:pathLst>
          </a:custGeom>
          <a:solidFill>
            <a:srgbClr val="3962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81269" y="1548891"/>
            <a:ext cx="1157605" cy="645160"/>
          </a:xfrm>
          <a:custGeom>
            <a:avLst/>
            <a:gdLst/>
            <a:ahLst/>
            <a:cxnLst/>
            <a:rect l="l" t="t" r="r" b="b"/>
            <a:pathLst>
              <a:path w="1157604" h="645160">
                <a:moveTo>
                  <a:pt x="1092580" y="0"/>
                </a:moveTo>
                <a:lnTo>
                  <a:pt x="64515" y="0"/>
                </a:lnTo>
                <a:lnTo>
                  <a:pt x="39379" y="5060"/>
                </a:lnTo>
                <a:lnTo>
                  <a:pt x="18875" y="18859"/>
                </a:lnTo>
                <a:lnTo>
                  <a:pt x="5062" y="39326"/>
                </a:lnTo>
                <a:lnTo>
                  <a:pt x="0" y="64388"/>
                </a:lnTo>
                <a:lnTo>
                  <a:pt x="0" y="580263"/>
                </a:lnTo>
                <a:lnTo>
                  <a:pt x="5062" y="605345"/>
                </a:lnTo>
                <a:lnTo>
                  <a:pt x="18875" y="625856"/>
                </a:lnTo>
                <a:lnTo>
                  <a:pt x="39379" y="639699"/>
                </a:lnTo>
                <a:lnTo>
                  <a:pt x="64515" y="644779"/>
                </a:lnTo>
                <a:lnTo>
                  <a:pt x="1092580" y="644779"/>
                </a:lnTo>
                <a:lnTo>
                  <a:pt x="1117717" y="639699"/>
                </a:lnTo>
                <a:lnTo>
                  <a:pt x="1138221" y="625856"/>
                </a:lnTo>
                <a:lnTo>
                  <a:pt x="1152034" y="605345"/>
                </a:lnTo>
                <a:lnTo>
                  <a:pt x="1157097" y="580263"/>
                </a:lnTo>
                <a:lnTo>
                  <a:pt x="1157097" y="64388"/>
                </a:lnTo>
                <a:lnTo>
                  <a:pt x="1152034" y="39326"/>
                </a:lnTo>
                <a:lnTo>
                  <a:pt x="1138221" y="18859"/>
                </a:lnTo>
                <a:lnTo>
                  <a:pt x="1117717" y="5060"/>
                </a:lnTo>
                <a:lnTo>
                  <a:pt x="1092580" y="0"/>
                </a:lnTo>
                <a:close/>
              </a:path>
            </a:pathLst>
          </a:custGeom>
          <a:solidFill>
            <a:srgbClr val="464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654802" y="1583816"/>
            <a:ext cx="758825" cy="35814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180"/>
              </a:lnSpc>
              <a:spcBef>
                <a:spcPts val="355"/>
              </a:spcBef>
            </a:pP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Monitoreo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y 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818251" y="1978660"/>
            <a:ext cx="1157605" cy="1616075"/>
          </a:xfrm>
          <a:custGeom>
            <a:avLst/>
            <a:gdLst/>
            <a:ahLst/>
            <a:cxnLst/>
            <a:rect l="l" t="t" r="r" b="b"/>
            <a:pathLst>
              <a:path w="1157604" h="1616075">
                <a:moveTo>
                  <a:pt x="1041400" y="0"/>
                </a:moveTo>
                <a:lnTo>
                  <a:pt x="115697" y="0"/>
                </a:lnTo>
                <a:lnTo>
                  <a:pt x="70669" y="9094"/>
                </a:lnTo>
                <a:lnTo>
                  <a:pt x="33893" y="33893"/>
                </a:lnTo>
                <a:lnTo>
                  <a:pt x="9094" y="70669"/>
                </a:lnTo>
                <a:lnTo>
                  <a:pt x="0" y="115696"/>
                </a:lnTo>
                <a:lnTo>
                  <a:pt x="0" y="1500251"/>
                </a:lnTo>
                <a:lnTo>
                  <a:pt x="9094" y="1545278"/>
                </a:lnTo>
                <a:lnTo>
                  <a:pt x="33893" y="1582054"/>
                </a:lnTo>
                <a:lnTo>
                  <a:pt x="70669" y="1606853"/>
                </a:lnTo>
                <a:lnTo>
                  <a:pt x="115697" y="1615948"/>
                </a:lnTo>
                <a:lnTo>
                  <a:pt x="1041400" y="1615948"/>
                </a:lnTo>
                <a:lnTo>
                  <a:pt x="1086427" y="1606853"/>
                </a:lnTo>
                <a:lnTo>
                  <a:pt x="1123203" y="1582054"/>
                </a:lnTo>
                <a:lnTo>
                  <a:pt x="1148002" y="1545278"/>
                </a:lnTo>
                <a:lnTo>
                  <a:pt x="1157097" y="1500251"/>
                </a:lnTo>
                <a:lnTo>
                  <a:pt x="1157097" y="115696"/>
                </a:lnTo>
                <a:lnTo>
                  <a:pt x="1148002" y="70669"/>
                </a:lnTo>
                <a:lnTo>
                  <a:pt x="1123203" y="33893"/>
                </a:lnTo>
                <a:lnTo>
                  <a:pt x="1086427" y="9094"/>
                </a:lnTo>
                <a:lnTo>
                  <a:pt x="1041400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18251" y="1978660"/>
            <a:ext cx="1157605" cy="1616075"/>
          </a:xfrm>
          <a:custGeom>
            <a:avLst/>
            <a:gdLst/>
            <a:ahLst/>
            <a:cxnLst/>
            <a:rect l="l" t="t" r="r" b="b"/>
            <a:pathLst>
              <a:path w="1157604" h="1616075">
                <a:moveTo>
                  <a:pt x="0" y="115696"/>
                </a:moveTo>
                <a:lnTo>
                  <a:pt x="9094" y="70669"/>
                </a:lnTo>
                <a:lnTo>
                  <a:pt x="33893" y="33893"/>
                </a:lnTo>
                <a:lnTo>
                  <a:pt x="70669" y="9094"/>
                </a:lnTo>
                <a:lnTo>
                  <a:pt x="115697" y="0"/>
                </a:lnTo>
                <a:lnTo>
                  <a:pt x="1041400" y="0"/>
                </a:lnTo>
                <a:lnTo>
                  <a:pt x="1086427" y="9094"/>
                </a:lnTo>
                <a:lnTo>
                  <a:pt x="1123203" y="33893"/>
                </a:lnTo>
                <a:lnTo>
                  <a:pt x="1148002" y="70669"/>
                </a:lnTo>
                <a:lnTo>
                  <a:pt x="1157097" y="115696"/>
                </a:lnTo>
                <a:lnTo>
                  <a:pt x="1157097" y="1500251"/>
                </a:lnTo>
                <a:lnTo>
                  <a:pt x="1148002" y="1545278"/>
                </a:lnTo>
                <a:lnTo>
                  <a:pt x="1123203" y="1582054"/>
                </a:lnTo>
                <a:lnTo>
                  <a:pt x="1086427" y="1606853"/>
                </a:lnTo>
                <a:lnTo>
                  <a:pt x="1041400" y="1615948"/>
                </a:lnTo>
                <a:lnTo>
                  <a:pt x="115697" y="1615948"/>
                </a:lnTo>
                <a:lnTo>
                  <a:pt x="70669" y="1606853"/>
                </a:lnTo>
                <a:lnTo>
                  <a:pt x="33893" y="1582054"/>
                </a:lnTo>
                <a:lnTo>
                  <a:pt x="9094" y="1545278"/>
                </a:lnTo>
                <a:lnTo>
                  <a:pt x="0" y="1500251"/>
                </a:lnTo>
                <a:lnTo>
                  <a:pt x="0" y="115696"/>
                </a:lnTo>
                <a:close/>
              </a:path>
            </a:pathLst>
          </a:custGeom>
          <a:ln w="19050">
            <a:solidFill>
              <a:srgbClr val="464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925692" y="2047748"/>
            <a:ext cx="886460" cy="50736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0" marR="5080" indent="-114300">
              <a:lnSpc>
                <a:spcPts val="1180"/>
              </a:lnSpc>
              <a:spcBef>
                <a:spcPts val="355"/>
              </a:spcBef>
              <a:buChar char="•"/>
              <a:tabLst>
                <a:tab pos="127000" algn="l"/>
              </a:tabLst>
            </a:pPr>
            <a:r>
              <a:rPr sz="1200" spc="-40" dirty="0">
                <a:latin typeface="Arial"/>
                <a:cs typeface="Arial"/>
              </a:rPr>
              <a:t>Mide </a:t>
            </a:r>
            <a:r>
              <a:rPr sz="1200" dirty="0">
                <a:latin typeface="Arial"/>
                <a:cs typeface="Arial"/>
              </a:rPr>
              <a:t>y  </a:t>
            </a:r>
            <a:r>
              <a:rPr sz="1200" spc="-75" dirty="0">
                <a:latin typeface="Arial"/>
                <a:cs typeface="Arial"/>
              </a:rPr>
              <a:t>Supervisa </a:t>
            </a:r>
            <a:r>
              <a:rPr sz="1200" spc="-40" dirty="0">
                <a:latin typeface="Arial"/>
                <a:cs typeface="Arial"/>
              </a:rPr>
              <a:t>el  </a:t>
            </a:r>
            <a:r>
              <a:rPr sz="1200" spc="-80" dirty="0">
                <a:latin typeface="Arial"/>
                <a:cs typeface="Arial"/>
              </a:rPr>
              <a:t>avance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913753" y="1619758"/>
            <a:ext cx="372110" cy="288290"/>
          </a:xfrm>
          <a:custGeom>
            <a:avLst/>
            <a:gdLst/>
            <a:ahLst/>
            <a:cxnLst/>
            <a:rect l="l" t="t" r="r" b="b"/>
            <a:pathLst>
              <a:path w="372109" h="288289">
                <a:moveTo>
                  <a:pt x="227838" y="0"/>
                </a:moveTo>
                <a:lnTo>
                  <a:pt x="227838" y="57530"/>
                </a:lnTo>
                <a:lnTo>
                  <a:pt x="0" y="57530"/>
                </a:lnTo>
                <a:lnTo>
                  <a:pt x="0" y="230377"/>
                </a:lnTo>
                <a:lnTo>
                  <a:pt x="227838" y="230377"/>
                </a:lnTo>
                <a:lnTo>
                  <a:pt x="227838" y="288035"/>
                </a:lnTo>
                <a:lnTo>
                  <a:pt x="371855" y="144017"/>
                </a:lnTo>
                <a:lnTo>
                  <a:pt x="227838" y="0"/>
                </a:lnTo>
                <a:close/>
              </a:path>
            </a:pathLst>
          </a:custGeom>
          <a:solidFill>
            <a:srgbClr val="464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440041" y="1548891"/>
            <a:ext cx="1157605" cy="645160"/>
          </a:xfrm>
          <a:custGeom>
            <a:avLst/>
            <a:gdLst/>
            <a:ahLst/>
            <a:cxnLst/>
            <a:rect l="l" t="t" r="r" b="b"/>
            <a:pathLst>
              <a:path w="1157604" h="645160">
                <a:moveTo>
                  <a:pt x="1092580" y="0"/>
                </a:moveTo>
                <a:lnTo>
                  <a:pt x="64388" y="0"/>
                </a:lnTo>
                <a:lnTo>
                  <a:pt x="39326" y="5060"/>
                </a:lnTo>
                <a:lnTo>
                  <a:pt x="18859" y="18859"/>
                </a:lnTo>
                <a:lnTo>
                  <a:pt x="5060" y="39326"/>
                </a:lnTo>
                <a:lnTo>
                  <a:pt x="0" y="64388"/>
                </a:lnTo>
                <a:lnTo>
                  <a:pt x="0" y="580263"/>
                </a:lnTo>
                <a:lnTo>
                  <a:pt x="5060" y="605345"/>
                </a:lnTo>
                <a:lnTo>
                  <a:pt x="18859" y="625856"/>
                </a:lnTo>
                <a:lnTo>
                  <a:pt x="39326" y="639699"/>
                </a:lnTo>
                <a:lnTo>
                  <a:pt x="64388" y="644779"/>
                </a:lnTo>
                <a:lnTo>
                  <a:pt x="1092580" y="644779"/>
                </a:lnTo>
                <a:lnTo>
                  <a:pt x="1117663" y="639699"/>
                </a:lnTo>
                <a:lnTo>
                  <a:pt x="1138174" y="625856"/>
                </a:lnTo>
                <a:lnTo>
                  <a:pt x="1152017" y="605345"/>
                </a:lnTo>
                <a:lnTo>
                  <a:pt x="1157097" y="580263"/>
                </a:lnTo>
                <a:lnTo>
                  <a:pt x="1157097" y="64388"/>
                </a:lnTo>
                <a:lnTo>
                  <a:pt x="1152017" y="39326"/>
                </a:lnTo>
                <a:lnTo>
                  <a:pt x="1138174" y="18859"/>
                </a:lnTo>
                <a:lnTo>
                  <a:pt x="1117663" y="5060"/>
                </a:lnTo>
                <a:lnTo>
                  <a:pt x="1092580" y="0"/>
                </a:lnTo>
                <a:close/>
              </a:path>
            </a:pathLst>
          </a:custGeom>
          <a:solidFill>
            <a:srgbClr val="7C3B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513701" y="1583816"/>
            <a:ext cx="403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Cierre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677022" y="1978660"/>
            <a:ext cx="1157605" cy="1616075"/>
          </a:xfrm>
          <a:custGeom>
            <a:avLst/>
            <a:gdLst/>
            <a:ahLst/>
            <a:cxnLst/>
            <a:rect l="l" t="t" r="r" b="b"/>
            <a:pathLst>
              <a:path w="1157604" h="1616075">
                <a:moveTo>
                  <a:pt x="1041400" y="0"/>
                </a:moveTo>
                <a:lnTo>
                  <a:pt x="115697" y="0"/>
                </a:lnTo>
                <a:lnTo>
                  <a:pt x="70669" y="9094"/>
                </a:lnTo>
                <a:lnTo>
                  <a:pt x="33893" y="33893"/>
                </a:lnTo>
                <a:lnTo>
                  <a:pt x="9094" y="70669"/>
                </a:lnTo>
                <a:lnTo>
                  <a:pt x="0" y="115696"/>
                </a:lnTo>
                <a:lnTo>
                  <a:pt x="0" y="1500251"/>
                </a:lnTo>
                <a:lnTo>
                  <a:pt x="9094" y="1545278"/>
                </a:lnTo>
                <a:lnTo>
                  <a:pt x="33893" y="1582054"/>
                </a:lnTo>
                <a:lnTo>
                  <a:pt x="70669" y="1606853"/>
                </a:lnTo>
                <a:lnTo>
                  <a:pt x="115697" y="1615948"/>
                </a:lnTo>
                <a:lnTo>
                  <a:pt x="1041400" y="1615948"/>
                </a:lnTo>
                <a:lnTo>
                  <a:pt x="1086427" y="1606853"/>
                </a:lnTo>
                <a:lnTo>
                  <a:pt x="1123203" y="1582054"/>
                </a:lnTo>
                <a:lnTo>
                  <a:pt x="1148002" y="1545278"/>
                </a:lnTo>
                <a:lnTo>
                  <a:pt x="1157097" y="1500251"/>
                </a:lnTo>
                <a:lnTo>
                  <a:pt x="1157097" y="115696"/>
                </a:lnTo>
                <a:lnTo>
                  <a:pt x="1148002" y="70669"/>
                </a:lnTo>
                <a:lnTo>
                  <a:pt x="1123203" y="33893"/>
                </a:lnTo>
                <a:lnTo>
                  <a:pt x="1086427" y="9094"/>
                </a:lnTo>
                <a:lnTo>
                  <a:pt x="1041400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77022" y="1978660"/>
            <a:ext cx="1157605" cy="1616075"/>
          </a:xfrm>
          <a:custGeom>
            <a:avLst/>
            <a:gdLst/>
            <a:ahLst/>
            <a:cxnLst/>
            <a:rect l="l" t="t" r="r" b="b"/>
            <a:pathLst>
              <a:path w="1157604" h="1616075">
                <a:moveTo>
                  <a:pt x="0" y="115696"/>
                </a:moveTo>
                <a:lnTo>
                  <a:pt x="9094" y="70669"/>
                </a:lnTo>
                <a:lnTo>
                  <a:pt x="33893" y="33893"/>
                </a:lnTo>
                <a:lnTo>
                  <a:pt x="70669" y="9094"/>
                </a:lnTo>
                <a:lnTo>
                  <a:pt x="115697" y="0"/>
                </a:lnTo>
                <a:lnTo>
                  <a:pt x="1041400" y="0"/>
                </a:lnTo>
                <a:lnTo>
                  <a:pt x="1086427" y="9094"/>
                </a:lnTo>
                <a:lnTo>
                  <a:pt x="1123203" y="33893"/>
                </a:lnTo>
                <a:lnTo>
                  <a:pt x="1148002" y="70669"/>
                </a:lnTo>
                <a:lnTo>
                  <a:pt x="1157097" y="115696"/>
                </a:lnTo>
                <a:lnTo>
                  <a:pt x="1157097" y="1500251"/>
                </a:lnTo>
                <a:lnTo>
                  <a:pt x="1148002" y="1545278"/>
                </a:lnTo>
                <a:lnTo>
                  <a:pt x="1123203" y="1582054"/>
                </a:lnTo>
                <a:lnTo>
                  <a:pt x="1086427" y="1606853"/>
                </a:lnTo>
                <a:lnTo>
                  <a:pt x="1041400" y="1615948"/>
                </a:lnTo>
                <a:lnTo>
                  <a:pt x="115697" y="1615948"/>
                </a:lnTo>
                <a:lnTo>
                  <a:pt x="70669" y="1606853"/>
                </a:lnTo>
                <a:lnTo>
                  <a:pt x="33893" y="1582054"/>
                </a:lnTo>
                <a:lnTo>
                  <a:pt x="9094" y="1545278"/>
                </a:lnTo>
                <a:lnTo>
                  <a:pt x="0" y="1500251"/>
                </a:lnTo>
                <a:lnTo>
                  <a:pt x="0" y="115696"/>
                </a:lnTo>
                <a:close/>
              </a:path>
            </a:pathLst>
          </a:custGeom>
          <a:ln w="19050">
            <a:solidFill>
              <a:srgbClr val="7C3B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784718" y="2047748"/>
            <a:ext cx="909955" cy="9556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0" marR="5080" indent="-114300">
              <a:lnSpc>
                <a:spcPct val="81700"/>
              </a:lnSpc>
              <a:spcBef>
                <a:spcPts val="360"/>
              </a:spcBef>
              <a:buChar char="•"/>
              <a:tabLst>
                <a:tab pos="127000" algn="l"/>
              </a:tabLst>
            </a:pPr>
            <a:r>
              <a:rPr sz="1200" spc="-60" dirty="0">
                <a:latin typeface="Arial"/>
                <a:cs typeface="Arial"/>
              </a:rPr>
              <a:t>Finaliza </a:t>
            </a:r>
            <a:r>
              <a:rPr sz="1200" spc="-10" dirty="0">
                <a:latin typeface="Arial"/>
                <a:cs typeface="Arial"/>
              </a:rPr>
              <a:t>la  </a:t>
            </a:r>
            <a:r>
              <a:rPr sz="1200" spc="-65" dirty="0">
                <a:latin typeface="Arial"/>
                <a:cs typeface="Arial"/>
              </a:rPr>
              <a:t>aceptacion  </a:t>
            </a:r>
            <a:r>
              <a:rPr sz="1200" spc="-30" dirty="0">
                <a:latin typeface="Arial"/>
                <a:cs typeface="Arial"/>
              </a:rPr>
              <a:t>del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producto  </a:t>
            </a:r>
            <a:r>
              <a:rPr sz="1200" dirty="0">
                <a:latin typeface="Arial"/>
                <a:cs typeface="Arial"/>
              </a:rPr>
              <a:t>y </a:t>
            </a:r>
            <a:r>
              <a:rPr sz="1200" spc="-60" dirty="0">
                <a:latin typeface="Arial"/>
                <a:cs typeface="Arial"/>
              </a:rPr>
              <a:t>termina </a:t>
            </a:r>
            <a:r>
              <a:rPr sz="1200" spc="-35" dirty="0">
                <a:latin typeface="Arial"/>
                <a:cs typeface="Arial"/>
              </a:rPr>
              <a:t>el  </a:t>
            </a:r>
            <a:r>
              <a:rPr sz="1200" spc="-60" dirty="0">
                <a:latin typeface="Arial"/>
                <a:cs typeface="Arial"/>
              </a:rPr>
              <a:t>proyecto </a:t>
            </a:r>
            <a:r>
              <a:rPr sz="1200" spc="-70" dirty="0">
                <a:latin typeface="Arial"/>
                <a:cs typeface="Arial"/>
              </a:rPr>
              <a:t>o  </a:t>
            </a:r>
            <a:r>
              <a:rPr sz="1200" spc="-55" dirty="0">
                <a:latin typeface="Arial"/>
                <a:cs typeface="Arial"/>
              </a:rPr>
              <a:t>fase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3867150"/>
            <a:ext cx="564083" cy="1104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3400" y="4095750"/>
            <a:ext cx="997521" cy="6286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05000" y="3867150"/>
            <a:ext cx="1371600" cy="990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81400" y="3814555"/>
            <a:ext cx="1524000" cy="9731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86400" y="3790950"/>
            <a:ext cx="1752600" cy="952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467600" y="3814598"/>
            <a:ext cx="1278001" cy="11003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5462" y="314325"/>
            <a:ext cx="257175" cy="514350"/>
          </a:xfrm>
          <a:custGeom>
            <a:avLst/>
            <a:gdLst/>
            <a:ahLst/>
            <a:cxnLst/>
            <a:rect l="l" t="t" r="r" b="b"/>
            <a:pathLst>
              <a:path w="257175" h="514350">
                <a:moveTo>
                  <a:pt x="257175" y="0"/>
                </a:moveTo>
                <a:lnTo>
                  <a:pt x="210946" y="4145"/>
                </a:lnTo>
                <a:lnTo>
                  <a:pt x="167437" y="16095"/>
                </a:lnTo>
                <a:lnTo>
                  <a:pt x="127372" y="35122"/>
                </a:lnTo>
                <a:lnTo>
                  <a:pt x="91479" y="60500"/>
                </a:lnTo>
                <a:lnTo>
                  <a:pt x="60483" y="91500"/>
                </a:lnTo>
                <a:lnTo>
                  <a:pt x="35111" y="127395"/>
                </a:lnTo>
                <a:lnTo>
                  <a:pt x="16089" y="167457"/>
                </a:lnTo>
                <a:lnTo>
                  <a:pt x="4143" y="210960"/>
                </a:lnTo>
                <a:lnTo>
                  <a:pt x="0" y="257175"/>
                </a:lnTo>
                <a:lnTo>
                  <a:pt x="4143" y="303389"/>
                </a:lnTo>
                <a:lnTo>
                  <a:pt x="16089" y="346892"/>
                </a:lnTo>
                <a:lnTo>
                  <a:pt x="35111" y="386954"/>
                </a:lnTo>
                <a:lnTo>
                  <a:pt x="60483" y="422849"/>
                </a:lnTo>
                <a:lnTo>
                  <a:pt x="91479" y="453849"/>
                </a:lnTo>
                <a:lnTo>
                  <a:pt x="127372" y="479227"/>
                </a:lnTo>
                <a:lnTo>
                  <a:pt x="167437" y="498254"/>
                </a:lnTo>
                <a:lnTo>
                  <a:pt x="210946" y="510204"/>
                </a:lnTo>
                <a:lnTo>
                  <a:pt x="257175" y="514350"/>
                </a:lnTo>
                <a:lnTo>
                  <a:pt x="257175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2637" y="314325"/>
            <a:ext cx="7513955" cy="514350"/>
          </a:xfrm>
          <a:prstGeom prst="rect">
            <a:avLst/>
          </a:prstGeom>
          <a:ln w="19050">
            <a:solidFill>
              <a:srgbClr val="2CA1BE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2221230">
              <a:lnSpc>
                <a:spcPct val="100000"/>
              </a:lnSpc>
              <a:spcBef>
                <a:spcPts val="170"/>
              </a:spcBef>
            </a:pPr>
            <a:r>
              <a:rPr sz="2500" i="0" spc="-170" dirty="0">
                <a:solidFill>
                  <a:srgbClr val="000000"/>
                </a:solidFill>
                <a:latin typeface="Arial"/>
                <a:cs typeface="Arial"/>
              </a:rPr>
              <a:t>Areas </a:t>
            </a:r>
            <a:r>
              <a:rPr sz="2500" i="0" spc="-200" dirty="0">
                <a:solidFill>
                  <a:srgbClr val="000000"/>
                </a:solidFill>
                <a:latin typeface="Arial"/>
                <a:cs typeface="Arial"/>
              </a:rPr>
              <a:t>de</a:t>
            </a:r>
            <a:r>
              <a:rPr sz="2500" i="0" spc="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500" i="0" spc="-210" dirty="0">
                <a:solidFill>
                  <a:srgbClr val="000000"/>
                </a:solidFill>
                <a:latin typeface="Arial"/>
                <a:cs typeface="Arial"/>
              </a:rPr>
              <a:t>Conocimiento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7804" y="940308"/>
            <a:ext cx="7860792" cy="38602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857250"/>
            <a:ext cx="7848600" cy="3848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857250"/>
            <a:ext cx="7848600" cy="3848100"/>
          </a:xfrm>
          <a:custGeom>
            <a:avLst/>
            <a:gdLst/>
            <a:ahLst/>
            <a:cxnLst/>
            <a:rect l="l" t="t" r="r" b="b"/>
            <a:pathLst>
              <a:path w="7848600" h="3848100">
                <a:moveTo>
                  <a:pt x="0" y="1924050"/>
                </a:moveTo>
                <a:lnTo>
                  <a:pt x="2016" y="1861780"/>
                </a:lnTo>
                <a:lnTo>
                  <a:pt x="8024" y="1800005"/>
                </a:lnTo>
                <a:lnTo>
                  <a:pt x="17963" y="1738753"/>
                </a:lnTo>
                <a:lnTo>
                  <a:pt x="31773" y="1678055"/>
                </a:lnTo>
                <a:lnTo>
                  <a:pt x="49392" y="1617940"/>
                </a:lnTo>
                <a:lnTo>
                  <a:pt x="70759" y="1558439"/>
                </a:lnTo>
                <a:lnTo>
                  <a:pt x="95813" y="1499581"/>
                </a:lnTo>
                <a:lnTo>
                  <a:pt x="124494" y="1441396"/>
                </a:lnTo>
                <a:lnTo>
                  <a:pt x="156741" y="1383915"/>
                </a:lnTo>
                <a:lnTo>
                  <a:pt x="192493" y="1327166"/>
                </a:lnTo>
                <a:lnTo>
                  <a:pt x="231688" y="1271179"/>
                </a:lnTo>
                <a:lnTo>
                  <a:pt x="274266" y="1215986"/>
                </a:lnTo>
                <a:lnTo>
                  <a:pt x="320166" y="1161614"/>
                </a:lnTo>
                <a:lnTo>
                  <a:pt x="369328" y="1108095"/>
                </a:lnTo>
                <a:lnTo>
                  <a:pt x="421690" y="1055459"/>
                </a:lnTo>
                <a:lnTo>
                  <a:pt x="477191" y="1003734"/>
                </a:lnTo>
                <a:lnTo>
                  <a:pt x="506099" y="978223"/>
                </a:lnTo>
                <a:lnTo>
                  <a:pt x="535770" y="952951"/>
                </a:lnTo>
                <a:lnTo>
                  <a:pt x="566195" y="927922"/>
                </a:lnTo>
                <a:lnTo>
                  <a:pt x="597367" y="903140"/>
                </a:lnTo>
                <a:lnTo>
                  <a:pt x="629278" y="878608"/>
                </a:lnTo>
                <a:lnTo>
                  <a:pt x="661921" y="854330"/>
                </a:lnTo>
                <a:lnTo>
                  <a:pt x="695287" y="830311"/>
                </a:lnTo>
                <a:lnTo>
                  <a:pt x="729370" y="806552"/>
                </a:lnTo>
                <a:lnTo>
                  <a:pt x="764162" y="783060"/>
                </a:lnTo>
                <a:lnTo>
                  <a:pt x="799654" y="759836"/>
                </a:lnTo>
                <a:lnTo>
                  <a:pt x="835840" y="736885"/>
                </a:lnTo>
                <a:lnTo>
                  <a:pt x="872712" y="714210"/>
                </a:lnTo>
                <a:lnTo>
                  <a:pt x="910263" y="691816"/>
                </a:lnTo>
                <a:lnTo>
                  <a:pt x="948484" y="669706"/>
                </a:lnTo>
                <a:lnTo>
                  <a:pt x="987368" y="647884"/>
                </a:lnTo>
                <a:lnTo>
                  <a:pt x="1026907" y="626353"/>
                </a:lnTo>
                <a:lnTo>
                  <a:pt x="1067094" y="605117"/>
                </a:lnTo>
                <a:lnTo>
                  <a:pt x="1107921" y="584180"/>
                </a:lnTo>
                <a:lnTo>
                  <a:pt x="1149381" y="563546"/>
                </a:lnTo>
                <a:lnTo>
                  <a:pt x="1191466" y="543218"/>
                </a:lnTo>
                <a:lnTo>
                  <a:pt x="1234168" y="523201"/>
                </a:lnTo>
                <a:lnTo>
                  <a:pt x="1277480" y="503497"/>
                </a:lnTo>
                <a:lnTo>
                  <a:pt x="1321394" y="484111"/>
                </a:lnTo>
                <a:lnTo>
                  <a:pt x="1365903" y="465046"/>
                </a:lnTo>
                <a:lnTo>
                  <a:pt x="1410999" y="446306"/>
                </a:lnTo>
                <a:lnTo>
                  <a:pt x="1456673" y="427896"/>
                </a:lnTo>
                <a:lnTo>
                  <a:pt x="1502920" y="409817"/>
                </a:lnTo>
                <a:lnTo>
                  <a:pt x="1549730" y="392075"/>
                </a:lnTo>
                <a:lnTo>
                  <a:pt x="1597097" y="374673"/>
                </a:lnTo>
                <a:lnTo>
                  <a:pt x="1645013" y="357615"/>
                </a:lnTo>
                <a:lnTo>
                  <a:pt x="1693470" y="340904"/>
                </a:lnTo>
                <a:lnTo>
                  <a:pt x="1742461" y="324544"/>
                </a:lnTo>
                <a:lnTo>
                  <a:pt x="1791978" y="308539"/>
                </a:lnTo>
                <a:lnTo>
                  <a:pt x="1842013" y="292893"/>
                </a:lnTo>
                <a:lnTo>
                  <a:pt x="1892559" y="277610"/>
                </a:lnTo>
                <a:lnTo>
                  <a:pt x="1943608" y="262692"/>
                </a:lnTo>
                <a:lnTo>
                  <a:pt x="1995152" y="248144"/>
                </a:lnTo>
                <a:lnTo>
                  <a:pt x="2047185" y="233970"/>
                </a:lnTo>
                <a:lnTo>
                  <a:pt x="2099697" y="220173"/>
                </a:lnTo>
                <a:lnTo>
                  <a:pt x="2152683" y="206758"/>
                </a:lnTo>
                <a:lnTo>
                  <a:pt x="2206133" y="193727"/>
                </a:lnTo>
                <a:lnTo>
                  <a:pt x="2260042" y="181084"/>
                </a:lnTo>
                <a:lnTo>
                  <a:pt x="2314400" y="168834"/>
                </a:lnTo>
                <a:lnTo>
                  <a:pt x="2369200" y="156980"/>
                </a:lnTo>
                <a:lnTo>
                  <a:pt x="2424435" y="145526"/>
                </a:lnTo>
                <a:lnTo>
                  <a:pt x="2480097" y="134475"/>
                </a:lnTo>
                <a:lnTo>
                  <a:pt x="2536178" y="123831"/>
                </a:lnTo>
                <a:lnTo>
                  <a:pt x="2592671" y="113599"/>
                </a:lnTo>
                <a:lnTo>
                  <a:pt x="2649568" y="103781"/>
                </a:lnTo>
                <a:lnTo>
                  <a:pt x="2706862" y="94381"/>
                </a:lnTo>
                <a:lnTo>
                  <a:pt x="2764545" y="85403"/>
                </a:lnTo>
                <a:lnTo>
                  <a:pt x="2822609" y="76852"/>
                </a:lnTo>
                <a:lnTo>
                  <a:pt x="2881047" y="68729"/>
                </a:lnTo>
                <a:lnTo>
                  <a:pt x="2939852" y="61041"/>
                </a:lnTo>
                <a:lnTo>
                  <a:pt x="2999014" y="53789"/>
                </a:lnTo>
                <a:lnTo>
                  <a:pt x="3058528" y="46978"/>
                </a:lnTo>
                <a:lnTo>
                  <a:pt x="3118385" y="40612"/>
                </a:lnTo>
                <a:lnTo>
                  <a:pt x="3178577" y="34694"/>
                </a:lnTo>
                <a:lnTo>
                  <a:pt x="3239098" y="29227"/>
                </a:lnTo>
                <a:lnTo>
                  <a:pt x="3299939" y="24217"/>
                </a:lnTo>
                <a:lnTo>
                  <a:pt x="3361093" y="19666"/>
                </a:lnTo>
                <a:lnTo>
                  <a:pt x="3422552" y="15578"/>
                </a:lnTo>
                <a:lnTo>
                  <a:pt x="3484309" y="11958"/>
                </a:lnTo>
                <a:lnTo>
                  <a:pt x="3546355" y="8807"/>
                </a:lnTo>
                <a:lnTo>
                  <a:pt x="3608684" y="6132"/>
                </a:lnTo>
                <a:lnTo>
                  <a:pt x="3671288" y="3934"/>
                </a:lnTo>
                <a:lnTo>
                  <a:pt x="3734159" y="2218"/>
                </a:lnTo>
                <a:lnTo>
                  <a:pt x="3797290" y="988"/>
                </a:lnTo>
                <a:lnTo>
                  <a:pt x="3860673" y="247"/>
                </a:lnTo>
                <a:lnTo>
                  <a:pt x="3924300" y="0"/>
                </a:lnTo>
                <a:lnTo>
                  <a:pt x="3987926" y="247"/>
                </a:lnTo>
                <a:lnTo>
                  <a:pt x="4051309" y="988"/>
                </a:lnTo>
                <a:lnTo>
                  <a:pt x="4114440" y="2218"/>
                </a:lnTo>
                <a:lnTo>
                  <a:pt x="4177311" y="3934"/>
                </a:lnTo>
                <a:lnTo>
                  <a:pt x="4239915" y="6132"/>
                </a:lnTo>
                <a:lnTo>
                  <a:pt x="4302244" y="8807"/>
                </a:lnTo>
                <a:lnTo>
                  <a:pt x="4364290" y="11958"/>
                </a:lnTo>
                <a:lnTo>
                  <a:pt x="4426047" y="15578"/>
                </a:lnTo>
                <a:lnTo>
                  <a:pt x="4487506" y="19666"/>
                </a:lnTo>
                <a:lnTo>
                  <a:pt x="4548660" y="24217"/>
                </a:lnTo>
                <a:lnTo>
                  <a:pt x="4609501" y="29227"/>
                </a:lnTo>
                <a:lnTo>
                  <a:pt x="4670022" y="34694"/>
                </a:lnTo>
                <a:lnTo>
                  <a:pt x="4730214" y="40612"/>
                </a:lnTo>
                <a:lnTo>
                  <a:pt x="4790071" y="46978"/>
                </a:lnTo>
                <a:lnTo>
                  <a:pt x="4849585" y="53789"/>
                </a:lnTo>
                <a:lnTo>
                  <a:pt x="4908747" y="61041"/>
                </a:lnTo>
                <a:lnTo>
                  <a:pt x="4967552" y="68729"/>
                </a:lnTo>
                <a:lnTo>
                  <a:pt x="5025990" y="76852"/>
                </a:lnTo>
                <a:lnTo>
                  <a:pt x="5084054" y="85403"/>
                </a:lnTo>
                <a:lnTo>
                  <a:pt x="5141737" y="94381"/>
                </a:lnTo>
                <a:lnTo>
                  <a:pt x="5199031" y="103781"/>
                </a:lnTo>
                <a:lnTo>
                  <a:pt x="5255928" y="113599"/>
                </a:lnTo>
                <a:lnTo>
                  <a:pt x="5312421" y="123831"/>
                </a:lnTo>
                <a:lnTo>
                  <a:pt x="5368502" y="134475"/>
                </a:lnTo>
                <a:lnTo>
                  <a:pt x="5424164" y="145526"/>
                </a:lnTo>
                <a:lnTo>
                  <a:pt x="5479399" y="156980"/>
                </a:lnTo>
                <a:lnTo>
                  <a:pt x="5534199" y="168834"/>
                </a:lnTo>
                <a:lnTo>
                  <a:pt x="5588557" y="181084"/>
                </a:lnTo>
                <a:lnTo>
                  <a:pt x="5642466" y="193727"/>
                </a:lnTo>
                <a:lnTo>
                  <a:pt x="5695916" y="206758"/>
                </a:lnTo>
                <a:lnTo>
                  <a:pt x="5748902" y="220173"/>
                </a:lnTo>
                <a:lnTo>
                  <a:pt x="5801414" y="233970"/>
                </a:lnTo>
                <a:lnTo>
                  <a:pt x="5853447" y="248144"/>
                </a:lnTo>
                <a:lnTo>
                  <a:pt x="5904992" y="262692"/>
                </a:lnTo>
                <a:lnTo>
                  <a:pt x="5956040" y="277610"/>
                </a:lnTo>
                <a:lnTo>
                  <a:pt x="6006586" y="292893"/>
                </a:lnTo>
                <a:lnTo>
                  <a:pt x="6056621" y="308539"/>
                </a:lnTo>
                <a:lnTo>
                  <a:pt x="6106138" y="324544"/>
                </a:lnTo>
                <a:lnTo>
                  <a:pt x="6155129" y="340904"/>
                </a:lnTo>
                <a:lnTo>
                  <a:pt x="6203586" y="357615"/>
                </a:lnTo>
                <a:lnTo>
                  <a:pt x="6251502" y="374673"/>
                </a:lnTo>
                <a:lnTo>
                  <a:pt x="6298869" y="392075"/>
                </a:lnTo>
                <a:lnTo>
                  <a:pt x="6345679" y="409817"/>
                </a:lnTo>
                <a:lnTo>
                  <a:pt x="6391926" y="427896"/>
                </a:lnTo>
                <a:lnTo>
                  <a:pt x="6437600" y="446306"/>
                </a:lnTo>
                <a:lnTo>
                  <a:pt x="6482696" y="465046"/>
                </a:lnTo>
                <a:lnTo>
                  <a:pt x="6527205" y="484111"/>
                </a:lnTo>
                <a:lnTo>
                  <a:pt x="6571119" y="503497"/>
                </a:lnTo>
                <a:lnTo>
                  <a:pt x="6614431" y="523201"/>
                </a:lnTo>
                <a:lnTo>
                  <a:pt x="6657133" y="543218"/>
                </a:lnTo>
                <a:lnTo>
                  <a:pt x="6699218" y="563546"/>
                </a:lnTo>
                <a:lnTo>
                  <a:pt x="6740678" y="584180"/>
                </a:lnTo>
                <a:lnTo>
                  <a:pt x="6781505" y="605117"/>
                </a:lnTo>
                <a:lnTo>
                  <a:pt x="6821692" y="626353"/>
                </a:lnTo>
                <a:lnTo>
                  <a:pt x="6861231" y="647884"/>
                </a:lnTo>
                <a:lnTo>
                  <a:pt x="6900115" y="669706"/>
                </a:lnTo>
                <a:lnTo>
                  <a:pt x="6938336" y="691816"/>
                </a:lnTo>
                <a:lnTo>
                  <a:pt x="6975887" y="714210"/>
                </a:lnTo>
                <a:lnTo>
                  <a:pt x="7012759" y="736885"/>
                </a:lnTo>
                <a:lnTo>
                  <a:pt x="7048945" y="759836"/>
                </a:lnTo>
                <a:lnTo>
                  <a:pt x="7084437" y="783060"/>
                </a:lnTo>
                <a:lnTo>
                  <a:pt x="7119229" y="806552"/>
                </a:lnTo>
                <a:lnTo>
                  <a:pt x="7153312" y="830311"/>
                </a:lnTo>
                <a:lnTo>
                  <a:pt x="7186678" y="854330"/>
                </a:lnTo>
                <a:lnTo>
                  <a:pt x="7219321" y="878608"/>
                </a:lnTo>
                <a:lnTo>
                  <a:pt x="7251232" y="903140"/>
                </a:lnTo>
                <a:lnTo>
                  <a:pt x="7282404" y="927922"/>
                </a:lnTo>
                <a:lnTo>
                  <a:pt x="7312829" y="952951"/>
                </a:lnTo>
                <a:lnTo>
                  <a:pt x="7342500" y="978223"/>
                </a:lnTo>
                <a:lnTo>
                  <a:pt x="7371408" y="1003734"/>
                </a:lnTo>
                <a:lnTo>
                  <a:pt x="7399547" y="1029480"/>
                </a:lnTo>
                <a:lnTo>
                  <a:pt x="7453486" y="1081665"/>
                </a:lnTo>
                <a:lnTo>
                  <a:pt x="7504256" y="1134747"/>
                </a:lnTo>
                <a:lnTo>
                  <a:pt x="7551794" y="1188695"/>
                </a:lnTo>
                <a:lnTo>
                  <a:pt x="7596041" y="1243482"/>
                </a:lnTo>
                <a:lnTo>
                  <a:pt x="7636935" y="1299075"/>
                </a:lnTo>
                <a:lnTo>
                  <a:pt x="7674417" y="1355447"/>
                </a:lnTo>
                <a:lnTo>
                  <a:pt x="7708423" y="1412566"/>
                </a:lnTo>
                <a:lnTo>
                  <a:pt x="7738895" y="1470403"/>
                </a:lnTo>
                <a:lnTo>
                  <a:pt x="7765770" y="1528928"/>
                </a:lnTo>
                <a:lnTo>
                  <a:pt x="7788989" y="1588111"/>
                </a:lnTo>
                <a:lnTo>
                  <a:pt x="7808489" y="1647923"/>
                </a:lnTo>
                <a:lnTo>
                  <a:pt x="7824211" y="1708333"/>
                </a:lnTo>
                <a:lnTo>
                  <a:pt x="7836093" y="1769311"/>
                </a:lnTo>
                <a:lnTo>
                  <a:pt x="7844074" y="1830829"/>
                </a:lnTo>
                <a:lnTo>
                  <a:pt x="7848094" y="1892855"/>
                </a:lnTo>
                <a:lnTo>
                  <a:pt x="7848600" y="1924050"/>
                </a:lnTo>
                <a:lnTo>
                  <a:pt x="7848094" y="1955244"/>
                </a:lnTo>
                <a:lnTo>
                  <a:pt x="7844074" y="2017270"/>
                </a:lnTo>
                <a:lnTo>
                  <a:pt x="7836093" y="2078788"/>
                </a:lnTo>
                <a:lnTo>
                  <a:pt x="7824211" y="2139766"/>
                </a:lnTo>
                <a:lnTo>
                  <a:pt x="7808489" y="2200176"/>
                </a:lnTo>
                <a:lnTo>
                  <a:pt x="7788989" y="2259988"/>
                </a:lnTo>
                <a:lnTo>
                  <a:pt x="7765770" y="2319171"/>
                </a:lnTo>
                <a:lnTo>
                  <a:pt x="7738895" y="2377696"/>
                </a:lnTo>
                <a:lnTo>
                  <a:pt x="7708423" y="2435533"/>
                </a:lnTo>
                <a:lnTo>
                  <a:pt x="7674417" y="2492652"/>
                </a:lnTo>
                <a:lnTo>
                  <a:pt x="7636935" y="2549024"/>
                </a:lnTo>
                <a:lnTo>
                  <a:pt x="7596041" y="2604617"/>
                </a:lnTo>
                <a:lnTo>
                  <a:pt x="7551794" y="2659404"/>
                </a:lnTo>
                <a:lnTo>
                  <a:pt x="7504256" y="2713352"/>
                </a:lnTo>
                <a:lnTo>
                  <a:pt x="7453486" y="2766434"/>
                </a:lnTo>
                <a:lnTo>
                  <a:pt x="7399547" y="2818619"/>
                </a:lnTo>
                <a:lnTo>
                  <a:pt x="7371408" y="2844365"/>
                </a:lnTo>
                <a:lnTo>
                  <a:pt x="7342500" y="2869876"/>
                </a:lnTo>
                <a:lnTo>
                  <a:pt x="7312829" y="2895148"/>
                </a:lnTo>
                <a:lnTo>
                  <a:pt x="7282404" y="2920177"/>
                </a:lnTo>
                <a:lnTo>
                  <a:pt x="7251232" y="2944959"/>
                </a:lnTo>
                <a:lnTo>
                  <a:pt x="7219321" y="2969491"/>
                </a:lnTo>
                <a:lnTo>
                  <a:pt x="7186678" y="2993769"/>
                </a:lnTo>
                <a:lnTo>
                  <a:pt x="7153312" y="3017788"/>
                </a:lnTo>
                <a:lnTo>
                  <a:pt x="7119229" y="3041547"/>
                </a:lnTo>
                <a:lnTo>
                  <a:pt x="7084437" y="3065039"/>
                </a:lnTo>
                <a:lnTo>
                  <a:pt x="7048945" y="3088263"/>
                </a:lnTo>
                <a:lnTo>
                  <a:pt x="7012759" y="3111214"/>
                </a:lnTo>
                <a:lnTo>
                  <a:pt x="6975887" y="3133889"/>
                </a:lnTo>
                <a:lnTo>
                  <a:pt x="6938336" y="3156283"/>
                </a:lnTo>
                <a:lnTo>
                  <a:pt x="6900115" y="3178393"/>
                </a:lnTo>
                <a:lnTo>
                  <a:pt x="6861231" y="3200215"/>
                </a:lnTo>
                <a:lnTo>
                  <a:pt x="6821692" y="3221746"/>
                </a:lnTo>
                <a:lnTo>
                  <a:pt x="6781505" y="3242982"/>
                </a:lnTo>
                <a:lnTo>
                  <a:pt x="6740678" y="3263919"/>
                </a:lnTo>
                <a:lnTo>
                  <a:pt x="6699218" y="3284553"/>
                </a:lnTo>
                <a:lnTo>
                  <a:pt x="6657133" y="3304881"/>
                </a:lnTo>
                <a:lnTo>
                  <a:pt x="6614431" y="3324898"/>
                </a:lnTo>
                <a:lnTo>
                  <a:pt x="6571119" y="3344602"/>
                </a:lnTo>
                <a:lnTo>
                  <a:pt x="6527205" y="3363988"/>
                </a:lnTo>
                <a:lnTo>
                  <a:pt x="6482696" y="3383053"/>
                </a:lnTo>
                <a:lnTo>
                  <a:pt x="6437600" y="3401793"/>
                </a:lnTo>
                <a:lnTo>
                  <a:pt x="6391926" y="3420203"/>
                </a:lnTo>
                <a:lnTo>
                  <a:pt x="6345679" y="3438282"/>
                </a:lnTo>
                <a:lnTo>
                  <a:pt x="6298869" y="3456024"/>
                </a:lnTo>
                <a:lnTo>
                  <a:pt x="6251502" y="3473426"/>
                </a:lnTo>
                <a:lnTo>
                  <a:pt x="6203586" y="3490484"/>
                </a:lnTo>
                <a:lnTo>
                  <a:pt x="6155129" y="3507195"/>
                </a:lnTo>
                <a:lnTo>
                  <a:pt x="6106138" y="3523555"/>
                </a:lnTo>
                <a:lnTo>
                  <a:pt x="6056621" y="3539560"/>
                </a:lnTo>
                <a:lnTo>
                  <a:pt x="6006586" y="3555206"/>
                </a:lnTo>
                <a:lnTo>
                  <a:pt x="5956040" y="3570489"/>
                </a:lnTo>
                <a:lnTo>
                  <a:pt x="5904992" y="3585407"/>
                </a:lnTo>
                <a:lnTo>
                  <a:pt x="5853447" y="3599955"/>
                </a:lnTo>
                <a:lnTo>
                  <a:pt x="5801414" y="3614129"/>
                </a:lnTo>
                <a:lnTo>
                  <a:pt x="5748902" y="3627926"/>
                </a:lnTo>
                <a:lnTo>
                  <a:pt x="5695916" y="3641341"/>
                </a:lnTo>
                <a:lnTo>
                  <a:pt x="5642466" y="3654372"/>
                </a:lnTo>
                <a:lnTo>
                  <a:pt x="5588557" y="3667015"/>
                </a:lnTo>
                <a:lnTo>
                  <a:pt x="5534199" y="3679265"/>
                </a:lnTo>
                <a:lnTo>
                  <a:pt x="5479399" y="3691119"/>
                </a:lnTo>
                <a:lnTo>
                  <a:pt x="5424164" y="3702573"/>
                </a:lnTo>
                <a:lnTo>
                  <a:pt x="5368502" y="3713624"/>
                </a:lnTo>
                <a:lnTo>
                  <a:pt x="5312421" y="3724268"/>
                </a:lnTo>
                <a:lnTo>
                  <a:pt x="5255928" y="3734500"/>
                </a:lnTo>
                <a:lnTo>
                  <a:pt x="5199031" y="3744318"/>
                </a:lnTo>
                <a:lnTo>
                  <a:pt x="5141737" y="3753718"/>
                </a:lnTo>
                <a:lnTo>
                  <a:pt x="5084054" y="3762696"/>
                </a:lnTo>
                <a:lnTo>
                  <a:pt x="5025990" y="3771247"/>
                </a:lnTo>
                <a:lnTo>
                  <a:pt x="4967552" y="3779370"/>
                </a:lnTo>
                <a:lnTo>
                  <a:pt x="4908747" y="3787058"/>
                </a:lnTo>
                <a:lnTo>
                  <a:pt x="4849585" y="3794310"/>
                </a:lnTo>
                <a:lnTo>
                  <a:pt x="4790071" y="3801121"/>
                </a:lnTo>
                <a:lnTo>
                  <a:pt x="4730214" y="3807487"/>
                </a:lnTo>
                <a:lnTo>
                  <a:pt x="4670022" y="3813405"/>
                </a:lnTo>
                <a:lnTo>
                  <a:pt x="4609501" y="3818872"/>
                </a:lnTo>
                <a:lnTo>
                  <a:pt x="4548660" y="3823882"/>
                </a:lnTo>
                <a:lnTo>
                  <a:pt x="4487506" y="3828433"/>
                </a:lnTo>
                <a:lnTo>
                  <a:pt x="4426047" y="3832521"/>
                </a:lnTo>
                <a:lnTo>
                  <a:pt x="4364290" y="3836141"/>
                </a:lnTo>
                <a:lnTo>
                  <a:pt x="4302244" y="3839292"/>
                </a:lnTo>
                <a:lnTo>
                  <a:pt x="4239915" y="3841967"/>
                </a:lnTo>
                <a:lnTo>
                  <a:pt x="4177311" y="3844165"/>
                </a:lnTo>
                <a:lnTo>
                  <a:pt x="4114440" y="3845881"/>
                </a:lnTo>
                <a:lnTo>
                  <a:pt x="4051309" y="3847111"/>
                </a:lnTo>
                <a:lnTo>
                  <a:pt x="3987926" y="3847852"/>
                </a:lnTo>
                <a:lnTo>
                  <a:pt x="3924300" y="3848100"/>
                </a:lnTo>
                <a:lnTo>
                  <a:pt x="3860673" y="3847852"/>
                </a:lnTo>
                <a:lnTo>
                  <a:pt x="3797290" y="3847111"/>
                </a:lnTo>
                <a:lnTo>
                  <a:pt x="3734159" y="3845881"/>
                </a:lnTo>
                <a:lnTo>
                  <a:pt x="3671288" y="3844165"/>
                </a:lnTo>
                <a:lnTo>
                  <a:pt x="3608684" y="3841967"/>
                </a:lnTo>
                <a:lnTo>
                  <a:pt x="3546355" y="3839292"/>
                </a:lnTo>
                <a:lnTo>
                  <a:pt x="3484309" y="3836141"/>
                </a:lnTo>
                <a:lnTo>
                  <a:pt x="3422552" y="3832521"/>
                </a:lnTo>
                <a:lnTo>
                  <a:pt x="3361093" y="3828433"/>
                </a:lnTo>
                <a:lnTo>
                  <a:pt x="3299939" y="3823882"/>
                </a:lnTo>
                <a:lnTo>
                  <a:pt x="3239098" y="3818872"/>
                </a:lnTo>
                <a:lnTo>
                  <a:pt x="3178577" y="3813405"/>
                </a:lnTo>
                <a:lnTo>
                  <a:pt x="3118385" y="3807487"/>
                </a:lnTo>
                <a:lnTo>
                  <a:pt x="3058528" y="3801121"/>
                </a:lnTo>
                <a:lnTo>
                  <a:pt x="2999014" y="3794310"/>
                </a:lnTo>
                <a:lnTo>
                  <a:pt x="2939852" y="3787058"/>
                </a:lnTo>
                <a:lnTo>
                  <a:pt x="2881047" y="3779370"/>
                </a:lnTo>
                <a:lnTo>
                  <a:pt x="2822609" y="3771247"/>
                </a:lnTo>
                <a:lnTo>
                  <a:pt x="2764545" y="3762696"/>
                </a:lnTo>
                <a:lnTo>
                  <a:pt x="2706862" y="3753718"/>
                </a:lnTo>
                <a:lnTo>
                  <a:pt x="2649568" y="3744318"/>
                </a:lnTo>
                <a:lnTo>
                  <a:pt x="2592671" y="3734500"/>
                </a:lnTo>
                <a:lnTo>
                  <a:pt x="2536178" y="3724268"/>
                </a:lnTo>
                <a:lnTo>
                  <a:pt x="2480097" y="3713624"/>
                </a:lnTo>
                <a:lnTo>
                  <a:pt x="2424435" y="3702573"/>
                </a:lnTo>
                <a:lnTo>
                  <a:pt x="2369200" y="3691119"/>
                </a:lnTo>
                <a:lnTo>
                  <a:pt x="2314400" y="3679265"/>
                </a:lnTo>
                <a:lnTo>
                  <a:pt x="2260042" y="3667015"/>
                </a:lnTo>
                <a:lnTo>
                  <a:pt x="2206133" y="3654372"/>
                </a:lnTo>
                <a:lnTo>
                  <a:pt x="2152683" y="3641341"/>
                </a:lnTo>
                <a:lnTo>
                  <a:pt x="2099697" y="3627926"/>
                </a:lnTo>
                <a:lnTo>
                  <a:pt x="2047185" y="3614129"/>
                </a:lnTo>
                <a:lnTo>
                  <a:pt x="1995152" y="3599955"/>
                </a:lnTo>
                <a:lnTo>
                  <a:pt x="1943607" y="3585407"/>
                </a:lnTo>
                <a:lnTo>
                  <a:pt x="1892559" y="3570489"/>
                </a:lnTo>
                <a:lnTo>
                  <a:pt x="1842013" y="3555206"/>
                </a:lnTo>
                <a:lnTo>
                  <a:pt x="1791978" y="3539560"/>
                </a:lnTo>
                <a:lnTo>
                  <a:pt x="1742461" y="3523555"/>
                </a:lnTo>
                <a:lnTo>
                  <a:pt x="1693470" y="3507195"/>
                </a:lnTo>
                <a:lnTo>
                  <a:pt x="1645013" y="3490484"/>
                </a:lnTo>
                <a:lnTo>
                  <a:pt x="1597097" y="3473426"/>
                </a:lnTo>
                <a:lnTo>
                  <a:pt x="1549730" y="3456024"/>
                </a:lnTo>
                <a:lnTo>
                  <a:pt x="1502920" y="3438282"/>
                </a:lnTo>
                <a:lnTo>
                  <a:pt x="1456673" y="3420203"/>
                </a:lnTo>
                <a:lnTo>
                  <a:pt x="1410999" y="3401793"/>
                </a:lnTo>
                <a:lnTo>
                  <a:pt x="1365903" y="3383053"/>
                </a:lnTo>
                <a:lnTo>
                  <a:pt x="1321394" y="3363988"/>
                </a:lnTo>
                <a:lnTo>
                  <a:pt x="1277480" y="3344602"/>
                </a:lnTo>
                <a:lnTo>
                  <a:pt x="1234168" y="3324898"/>
                </a:lnTo>
                <a:lnTo>
                  <a:pt x="1191466" y="3304881"/>
                </a:lnTo>
                <a:lnTo>
                  <a:pt x="1149381" y="3284553"/>
                </a:lnTo>
                <a:lnTo>
                  <a:pt x="1107921" y="3263919"/>
                </a:lnTo>
                <a:lnTo>
                  <a:pt x="1067094" y="3242982"/>
                </a:lnTo>
                <a:lnTo>
                  <a:pt x="1026907" y="3221746"/>
                </a:lnTo>
                <a:lnTo>
                  <a:pt x="987368" y="3200215"/>
                </a:lnTo>
                <a:lnTo>
                  <a:pt x="948484" y="3178393"/>
                </a:lnTo>
                <a:lnTo>
                  <a:pt x="910263" y="3156283"/>
                </a:lnTo>
                <a:lnTo>
                  <a:pt x="872712" y="3133889"/>
                </a:lnTo>
                <a:lnTo>
                  <a:pt x="835840" y="3111214"/>
                </a:lnTo>
                <a:lnTo>
                  <a:pt x="799654" y="3088263"/>
                </a:lnTo>
                <a:lnTo>
                  <a:pt x="764162" y="3065039"/>
                </a:lnTo>
                <a:lnTo>
                  <a:pt x="729370" y="3041547"/>
                </a:lnTo>
                <a:lnTo>
                  <a:pt x="695287" y="3017788"/>
                </a:lnTo>
                <a:lnTo>
                  <a:pt x="661921" y="2993769"/>
                </a:lnTo>
                <a:lnTo>
                  <a:pt x="629278" y="2969491"/>
                </a:lnTo>
                <a:lnTo>
                  <a:pt x="597367" y="2944959"/>
                </a:lnTo>
                <a:lnTo>
                  <a:pt x="566195" y="2920177"/>
                </a:lnTo>
                <a:lnTo>
                  <a:pt x="535770" y="2895148"/>
                </a:lnTo>
                <a:lnTo>
                  <a:pt x="506099" y="2869876"/>
                </a:lnTo>
                <a:lnTo>
                  <a:pt x="477191" y="2844365"/>
                </a:lnTo>
                <a:lnTo>
                  <a:pt x="449052" y="2818619"/>
                </a:lnTo>
                <a:lnTo>
                  <a:pt x="395113" y="2766434"/>
                </a:lnTo>
                <a:lnTo>
                  <a:pt x="344343" y="2713352"/>
                </a:lnTo>
                <a:lnTo>
                  <a:pt x="296805" y="2659404"/>
                </a:lnTo>
                <a:lnTo>
                  <a:pt x="252558" y="2604617"/>
                </a:lnTo>
                <a:lnTo>
                  <a:pt x="211664" y="2549024"/>
                </a:lnTo>
                <a:lnTo>
                  <a:pt x="174182" y="2492652"/>
                </a:lnTo>
                <a:lnTo>
                  <a:pt x="140176" y="2435533"/>
                </a:lnTo>
                <a:lnTo>
                  <a:pt x="109704" y="2377696"/>
                </a:lnTo>
                <a:lnTo>
                  <a:pt x="82829" y="2319171"/>
                </a:lnTo>
                <a:lnTo>
                  <a:pt x="59610" y="2259988"/>
                </a:lnTo>
                <a:lnTo>
                  <a:pt x="40110" y="2200176"/>
                </a:lnTo>
                <a:lnTo>
                  <a:pt x="24388" y="2139766"/>
                </a:lnTo>
                <a:lnTo>
                  <a:pt x="12506" y="2078788"/>
                </a:lnTo>
                <a:lnTo>
                  <a:pt x="4525" y="2017270"/>
                </a:lnTo>
                <a:lnTo>
                  <a:pt x="505" y="1955244"/>
                </a:lnTo>
                <a:lnTo>
                  <a:pt x="0" y="1924050"/>
                </a:lnTo>
                <a:close/>
              </a:path>
            </a:pathLst>
          </a:custGeom>
          <a:ln w="9525">
            <a:solidFill>
              <a:srgbClr val="DA1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04288" y="1347216"/>
            <a:ext cx="1371600" cy="879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78023" y="1601724"/>
            <a:ext cx="926591" cy="4297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33473" y="1150366"/>
            <a:ext cx="1358900" cy="866775"/>
          </a:xfrm>
          <a:custGeom>
            <a:avLst/>
            <a:gdLst/>
            <a:ahLst/>
            <a:cxnLst/>
            <a:rect l="l" t="t" r="r" b="b"/>
            <a:pathLst>
              <a:path w="1358900" h="866775">
                <a:moveTo>
                  <a:pt x="679195" y="0"/>
                </a:moveTo>
                <a:lnTo>
                  <a:pt x="620585" y="1589"/>
                </a:lnTo>
                <a:lnTo>
                  <a:pt x="563360" y="6273"/>
                </a:lnTo>
                <a:lnTo>
                  <a:pt x="507725" y="13919"/>
                </a:lnTo>
                <a:lnTo>
                  <a:pt x="453883" y="24400"/>
                </a:lnTo>
                <a:lnTo>
                  <a:pt x="402039" y="37584"/>
                </a:lnTo>
                <a:lnTo>
                  <a:pt x="352394" y="53342"/>
                </a:lnTo>
                <a:lnTo>
                  <a:pt x="305155" y="71544"/>
                </a:lnTo>
                <a:lnTo>
                  <a:pt x="260524" y="92060"/>
                </a:lnTo>
                <a:lnTo>
                  <a:pt x="218705" y="114760"/>
                </a:lnTo>
                <a:lnTo>
                  <a:pt x="179901" y="139514"/>
                </a:lnTo>
                <a:lnTo>
                  <a:pt x="144317" y="166193"/>
                </a:lnTo>
                <a:lnTo>
                  <a:pt x="112157" y="194667"/>
                </a:lnTo>
                <a:lnTo>
                  <a:pt x="83623" y="224806"/>
                </a:lnTo>
                <a:lnTo>
                  <a:pt x="58921" y="256479"/>
                </a:lnTo>
                <a:lnTo>
                  <a:pt x="38252" y="289557"/>
                </a:lnTo>
                <a:lnTo>
                  <a:pt x="9834" y="359410"/>
                </a:lnTo>
                <a:lnTo>
                  <a:pt x="0" y="433324"/>
                </a:lnTo>
                <a:lnTo>
                  <a:pt x="2492" y="470705"/>
                </a:lnTo>
                <a:lnTo>
                  <a:pt x="21822" y="542694"/>
                </a:lnTo>
                <a:lnTo>
                  <a:pt x="58921" y="610114"/>
                </a:lnTo>
                <a:lnTo>
                  <a:pt x="83623" y="641785"/>
                </a:lnTo>
                <a:lnTo>
                  <a:pt x="112157" y="671924"/>
                </a:lnTo>
                <a:lnTo>
                  <a:pt x="144317" y="700400"/>
                </a:lnTo>
                <a:lnTo>
                  <a:pt x="179901" y="727083"/>
                </a:lnTo>
                <a:lnTo>
                  <a:pt x="218705" y="751842"/>
                </a:lnTo>
                <a:lnTo>
                  <a:pt x="260524" y="774548"/>
                </a:lnTo>
                <a:lnTo>
                  <a:pt x="305155" y="795071"/>
                </a:lnTo>
                <a:lnTo>
                  <a:pt x="352394" y="813279"/>
                </a:lnTo>
                <a:lnTo>
                  <a:pt x="402039" y="829044"/>
                </a:lnTo>
                <a:lnTo>
                  <a:pt x="453883" y="842234"/>
                </a:lnTo>
                <a:lnTo>
                  <a:pt x="507725" y="852720"/>
                </a:lnTo>
                <a:lnTo>
                  <a:pt x="563360" y="860370"/>
                </a:lnTo>
                <a:lnTo>
                  <a:pt x="620585" y="865057"/>
                </a:lnTo>
                <a:lnTo>
                  <a:pt x="679195" y="866648"/>
                </a:lnTo>
                <a:lnTo>
                  <a:pt x="737807" y="865057"/>
                </a:lnTo>
                <a:lnTo>
                  <a:pt x="795035" y="860370"/>
                </a:lnTo>
                <a:lnTo>
                  <a:pt x="850674" y="852720"/>
                </a:lnTo>
                <a:lnTo>
                  <a:pt x="904522" y="842234"/>
                </a:lnTo>
                <a:lnTo>
                  <a:pt x="956374" y="829044"/>
                </a:lnTo>
                <a:lnTo>
                  <a:pt x="1006027" y="813279"/>
                </a:lnTo>
                <a:lnTo>
                  <a:pt x="1053275" y="795071"/>
                </a:lnTo>
                <a:lnTo>
                  <a:pt x="1097916" y="774548"/>
                </a:lnTo>
                <a:lnTo>
                  <a:pt x="1139745" y="751842"/>
                </a:lnTo>
                <a:lnTo>
                  <a:pt x="1178558" y="727083"/>
                </a:lnTo>
                <a:lnTo>
                  <a:pt x="1214152" y="700400"/>
                </a:lnTo>
                <a:lnTo>
                  <a:pt x="1246322" y="671924"/>
                </a:lnTo>
                <a:lnTo>
                  <a:pt x="1274865" y="641785"/>
                </a:lnTo>
                <a:lnTo>
                  <a:pt x="1299576" y="610114"/>
                </a:lnTo>
                <a:lnTo>
                  <a:pt x="1320251" y="577040"/>
                </a:lnTo>
                <a:lnTo>
                  <a:pt x="1348680" y="507205"/>
                </a:lnTo>
                <a:lnTo>
                  <a:pt x="1358518" y="433324"/>
                </a:lnTo>
                <a:lnTo>
                  <a:pt x="1356025" y="395924"/>
                </a:lnTo>
                <a:lnTo>
                  <a:pt x="1336687" y="323911"/>
                </a:lnTo>
                <a:lnTo>
                  <a:pt x="1299576" y="256479"/>
                </a:lnTo>
                <a:lnTo>
                  <a:pt x="1274865" y="224806"/>
                </a:lnTo>
                <a:lnTo>
                  <a:pt x="1246322" y="194667"/>
                </a:lnTo>
                <a:lnTo>
                  <a:pt x="1214152" y="166193"/>
                </a:lnTo>
                <a:lnTo>
                  <a:pt x="1178558" y="139514"/>
                </a:lnTo>
                <a:lnTo>
                  <a:pt x="1139745" y="114760"/>
                </a:lnTo>
                <a:lnTo>
                  <a:pt x="1097916" y="92060"/>
                </a:lnTo>
                <a:lnTo>
                  <a:pt x="1053275" y="71544"/>
                </a:lnTo>
                <a:lnTo>
                  <a:pt x="1006027" y="53342"/>
                </a:lnTo>
                <a:lnTo>
                  <a:pt x="956374" y="37584"/>
                </a:lnTo>
                <a:lnTo>
                  <a:pt x="904522" y="24400"/>
                </a:lnTo>
                <a:lnTo>
                  <a:pt x="850674" y="13919"/>
                </a:lnTo>
                <a:lnTo>
                  <a:pt x="795035" y="6273"/>
                </a:lnTo>
                <a:lnTo>
                  <a:pt x="737807" y="1589"/>
                </a:lnTo>
                <a:lnTo>
                  <a:pt x="679195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33473" y="1150366"/>
            <a:ext cx="1358900" cy="866775"/>
          </a:xfrm>
          <a:custGeom>
            <a:avLst/>
            <a:gdLst/>
            <a:ahLst/>
            <a:cxnLst/>
            <a:rect l="l" t="t" r="r" b="b"/>
            <a:pathLst>
              <a:path w="1358900" h="866775">
                <a:moveTo>
                  <a:pt x="0" y="433324"/>
                </a:moveTo>
                <a:lnTo>
                  <a:pt x="9834" y="359410"/>
                </a:lnTo>
                <a:lnTo>
                  <a:pt x="38252" y="289557"/>
                </a:lnTo>
                <a:lnTo>
                  <a:pt x="58921" y="256479"/>
                </a:lnTo>
                <a:lnTo>
                  <a:pt x="83623" y="224806"/>
                </a:lnTo>
                <a:lnTo>
                  <a:pt x="112157" y="194667"/>
                </a:lnTo>
                <a:lnTo>
                  <a:pt x="144317" y="166193"/>
                </a:lnTo>
                <a:lnTo>
                  <a:pt x="179901" y="139514"/>
                </a:lnTo>
                <a:lnTo>
                  <a:pt x="218705" y="114760"/>
                </a:lnTo>
                <a:lnTo>
                  <a:pt x="260524" y="92060"/>
                </a:lnTo>
                <a:lnTo>
                  <a:pt x="305155" y="71544"/>
                </a:lnTo>
                <a:lnTo>
                  <a:pt x="352394" y="53342"/>
                </a:lnTo>
                <a:lnTo>
                  <a:pt x="402039" y="37584"/>
                </a:lnTo>
                <a:lnTo>
                  <a:pt x="453883" y="24400"/>
                </a:lnTo>
                <a:lnTo>
                  <a:pt x="507725" y="13919"/>
                </a:lnTo>
                <a:lnTo>
                  <a:pt x="563360" y="6273"/>
                </a:lnTo>
                <a:lnTo>
                  <a:pt x="620585" y="1589"/>
                </a:lnTo>
                <a:lnTo>
                  <a:pt x="679195" y="0"/>
                </a:lnTo>
                <a:lnTo>
                  <a:pt x="737807" y="1589"/>
                </a:lnTo>
                <a:lnTo>
                  <a:pt x="795035" y="6273"/>
                </a:lnTo>
                <a:lnTo>
                  <a:pt x="850674" y="13919"/>
                </a:lnTo>
                <a:lnTo>
                  <a:pt x="904522" y="24400"/>
                </a:lnTo>
                <a:lnTo>
                  <a:pt x="956374" y="37584"/>
                </a:lnTo>
                <a:lnTo>
                  <a:pt x="1006027" y="53342"/>
                </a:lnTo>
                <a:lnTo>
                  <a:pt x="1053275" y="71544"/>
                </a:lnTo>
                <a:lnTo>
                  <a:pt x="1097916" y="92060"/>
                </a:lnTo>
                <a:lnTo>
                  <a:pt x="1139745" y="114760"/>
                </a:lnTo>
                <a:lnTo>
                  <a:pt x="1178558" y="139514"/>
                </a:lnTo>
                <a:lnTo>
                  <a:pt x="1214152" y="166193"/>
                </a:lnTo>
                <a:lnTo>
                  <a:pt x="1246322" y="194667"/>
                </a:lnTo>
                <a:lnTo>
                  <a:pt x="1274865" y="224806"/>
                </a:lnTo>
                <a:lnTo>
                  <a:pt x="1299576" y="256479"/>
                </a:lnTo>
                <a:lnTo>
                  <a:pt x="1320251" y="289557"/>
                </a:lnTo>
                <a:lnTo>
                  <a:pt x="1348680" y="359410"/>
                </a:lnTo>
                <a:lnTo>
                  <a:pt x="1358518" y="433324"/>
                </a:lnTo>
                <a:lnTo>
                  <a:pt x="1356025" y="470705"/>
                </a:lnTo>
                <a:lnTo>
                  <a:pt x="1336687" y="542694"/>
                </a:lnTo>
                <a:lnTo>
                  <a:pt x="1299576" y="610114"/>
                </a:lnTo>
                <a:lnTo>
                  <a:pt x="1274865" y="641785"/>
                </a:lnTo>
                <a:lnTo>
                  <a:pt x="1246322" y="671924"/>
                </a:lnTo>
                <a:lnTo>
                  <a:pt x="1214152" y="700400"/>
                </a:lnTo>
                <a:lnTo>
                  <a:pt x="1178558" y="727083"/>
                </a:lnTo>
                <a:lnTo>
                  <a:pt x="1139745" y="751842"/>
                </a:lnTo>
                <a:lnTo>
                  <a:pt x="1097916" y="774548"/>
                </a:lnTo>
                <a:lnTo>
                  <a:pt x="1053275" y="795071"/>
                </a:lnTo>
                <a:lnTo>
                  <a:pt x="1006027" y="813279"/>
                </a:lnTo>
                <a:lnTo>
                  <a:pt x="956374" y="829044"/>
                </a:lnTo>
                <a:lnTo>
                  <a:pt x="904522" y="842234"/>
                </a:lnTo>
                <a:lnTo>
                  <a:pt x="850674" y="852720"/>
                </a:lnTo>
                <a:lnTo>
                  <a:pt x="795035" y="860370"/>
                </a:lnTo>
                <a:lnTo>
                  <a:pt x="737807" y="865057"/>
                </a:lnTo>
                <a:lnTo>
                  <a:pt x="679195" y="866648"/>
                </a:lnTo>
                <a:lnTo>
                  <a:pt x="620585" y="865057"/>
                </a:lnTo>
                <a:lnTo>
                  <a:pt x="563360" y="860370"/>
                </a:lnTo>
                <a:lnTo>
                  <a:pt x="507725" y="852720"/>
                </a:lnTo>
                <a:lnTo>
                  <a:pt x="453883" y="842234"/>
                </a:lnTo>
                <a:lnTo>
                  <a:pt x="402039" y="829044"/>
                </a:lnTo>
                <a:lnTo>
                  <a:pt x="352394" y="813279"/>
                </a:lnTo>
                <a:lnTo>
                  <a:pt x="305155" y="795071"/>
                </a:lnTo>
                <a:lnTo>
                  <a:pt x="260524" y="774548"/>
                </a:lnTo>
                <a:lnTo>
                  <a:pt x="218705" y="751842"/>
                </a:lnTo>
                <a:lnTo>
                  <a:pt x="179901" y="727083"/>
                </a:lnTo>
                <a:lnTo>
                  <a:pt x="144317" y="700400"/>
                </a:lnTo>
                <a:lnTo>
                  <a:pt x="112157" y="671924"/>
                </a:lnTo>
                <a:lnTo>
                  <a:pt x="83623" y="641785"/>
                </a:lnTo>
                <a:lnTo>
                  <a:pt x="58921" y="610114"/>
                </a:lnTo>
                <a:lnTo>
                  <a:pt x="38252" y="577040"/>
                </a:lnTo>
                <a:lnTo>
                  <a:pt x="9834" y="507205"/>
                </a:lnTo>
                <a:lnTo>
                  <a:pt x="0" y="433324"/>
                </a:lnTo>
                <a:close/>
              </a:path>
            </a:pathLst>
          </a:custGeom>
          <a:ln w="9525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11348" y="1438783"/>
            <a:ext cx="6489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95" dirty="0">
                <a:latin typeface="Arial"/>
                <a:cs typeface="Arial"/>
              </a:rPr>
              <a:t>Al</a:t>
            </a:r>
            <a:r>
              <a:rPr sz="1600" spc="-114" dirty="0">
                <a:latin typeface="Arial"/>
                <a:cs typeface="Arial"/>
              </a:rPr>
              <a:t>c</a:t>
            </a:r>
            <a:r>
              <a:rPr sz="1600" spc="-15" dirty="0">
                <a:latin typeface="Arial"/>
                <a:cs typeface="Arial"/>
              </a:rPr>
              <a:t>a</a:t>
            </a:r>
            <a:r>
              <a:rPr sz="1600" spc="-200" dirty="0">
                <a:latin typeface="Arial"/>
                <a:cs typeface="Arial"/>
              </a:rPr>
              <a:t>n</a:t>
            </a:r>
            <a:r>
              <a:rPr sz="1600" spc="-185" dirty="0">
                <a:latin typeface="Arial"/>
                <a:cs typeface="Arial"/>
              </a:rPr>
              <a:t>c</a:t>
            </a:r>
            <a:r>
              <a:rPr sz="1600" spc="-95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70903" y="2851404"/>
            <a:ext cx="1591055" cy="10408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75119" y="3188207"/>
            <a:ext cx="1559052" cy="4297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24091" y="2654935"/>
            <a:ext cx="1579499" cy="102831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24091" y="2654935"/>
            <a:ext cx="1579880" cy="1028700"/>
          </a:xfrm>
          <a:custGeom>
            <a:avLst/>
            <a:gdLst/>
            <a:ahLst/>
            <a:cxnLst/>
            <a:rect l="l" t="t" r="r" b="b"/>
            <a:pathLst>
              <a:path w="1579879" h="1028700">
                <a:moveTo>
                  <a:pt x="0" y="514222"/>
                </a:moveTo>
                <a:lnTo>
                  <a:pt x="2166" y="475849"/>
                </a:lnTo>
                <a:lnTo>
                  <a:pt x="8562" y="438240"/>
                </a:lnTo>
                <a:lnTo>
                  <a:pt x="19036" y="401497"/>
                </a:lnTo>
                <a:lnTo>
                  <a:pt x="33436" y="365717"/>
                </a:lnTo>
                <a:lnTo>
                  <a:pt x="51608" y="331002"/>
                </a:lnTo>
                <a:lnTo>
                  <a:pt x="73400" y="297450"/>
                </a:lnTo>
                <a:lnTo>
                  <a:pt x="98659" y="265161"/>
                </a:lnTo>
                <a:lnTo>
                  <a:pt x="127232" y="234234"/>
                </a:lnTo>
                <a:lnTo>
                  <a:pt x="158968" y="204769"/>
                </a:lnTo>
                <a:lnTo>
                  <a:pt x="193713" y="176865"/>
                </a:lnTo>
                <a:lnTo>
                  <a:pt x="231314" y="150621"/>
                </a:lnTo>
                <a:lnTo>
                  <a:pt x="271620" y="126138"/>
                </a:lnTo>
                <a:lnTo>
                  <a:pt x="314476" y="103515"/>
                </a:lnTo>
                <a:lnTo>
                  <a:pt x="359732" y="82850"/>
                </a:lnTo>
                <a:lnTo>
                  <a:pt x="407234" y="64245"/>
                </a:lnTo>
                <a:lnTo>
                  <a:pt x="456829" y="47797"/>
                </a:lnTo>
                <a:lnTo>
                  <a:pt x="508364" y="33607"/>
                </a:lnTo>
                <a:lnTo>
                  <a:pt x="561688" y="21773"/>
                </a:lnTo>
                <a:lnTo>
                  <a:pt x="616648" y="12396"/>
                </a:lnTo>
                <a:lnTo>
                  <a:pt x="673090" y="5576"/>
                </a:lnTo>
                <a:lnTo>
                  <a:pt x="730862" y="1410"/>
                </a:lnTo>
                <a:lnTo>
                  <a:pt x="789813" y="0"/>
                </a:lnTo>
                <a:lnTo>
                  <a:pt x="848746" y="1410"/>
                </a:lnTo>
                <a:lnTo>
                  <a:pt x="906503" y="5576"/>
                </a:lnTo>
                <a:lnTo>
                  <a:pt x="962932" y="12396"/>
                </a:lnTo>
                <a:lnTo>
                  <a:pt x="1017879" y="21773"/>
                </a:lnTo>
                <a:lnTo>
                  <a:pt x="1071192" y="33607"/>
                </a:lnTo>
                <a:lnTo>
                  <a:pt x="1122718" y="47797"/>
                </a:lnTo>
                <a:lnTo>
                  <a:pt x="1172305" y="64245"/>
                </a:lnTo>
                <a:lnTo>
                  <a:pt x="1219799" y="82850"/>
                </a:lnTo>
                <a:lnTo>
                  <a:pt x="1265048" y="103515"/>
                </a:lnTo>
                <a:lnTo>
                  <a:pt x="1307899" y="126138"/>
                </a:lnTo>
                <a:lnTo>
                  <a:pt x="1348200" y="150621"/>
                </a:lnTo>
                <a:lnTo>
                  <a:pt x="1385797" y="176865"/>
                </a:lnTo>
                <a:lnTo>
                  <a:pt x="1420539" y="204769"/>
                </a:lnTo>
                <a:lnTo>
                  <a:pt x="1452272" y="234234"/>
                </a:lnTo>
                <a:lnTo>
                  <a:pt x="1480843" y="265161"/>
                </a:lnTo>
                <a:lnTo>
                  <a:pt x="1506101" y="297450"/>
                </a:lnTo>
                <a:lnTo>
                  <a:pt x="1527892" y="331002"/>
                </a:lnTo>
                <a:lnTo>
                  <a:pt x="1546063" y="365717"/>
                </a:lnTo>
                <a:lnTo>
                  <a:pt x="1560462" y="401497"/>
                </a:lnTo>
                <a:lnTo>
                  <a:pt x="1570936" y="438240"/>
                </a:lnTo>
                <a:lnTo>
                  <a:pt x="1577332" y="475849"/>
                </a:lnTo>
                <a:lnTo>
                  <a:pt x="1579499" y="514222"/>
                </a:lnTo>
                <a:lnTo>
                  <a:pt x="1577332" y="552596"/>
                </a:lnTo>
                <a:lnTo>
                  <a:pt x="1570936" y="590202"/>
                </a:lnTo>
                <a:lnTo>
                  <a:pt x="1560462" y="626942"/>
                </a:lnTo>
                <a:lnTo>
                  <a:pt x="1546063" y="662717"/>
                </a:lnTo>
                <a:lnTo>
                  <a:pt x="1527892" y="697426"/>
                </a:lnTo>
                <a:lnTo>
                  <a:pt x="1506101" y="730972"/>
                </a:lnTo>
                <a:lnTo>
                  <a:pt x="1480843" y="763254"/>
                </a:lnTo>
                <a:lnTo>
                  <a:pt x="1452272" y="794173"/>
                </a:lnTo>
                <a:lnTo>
                  <a:pt x="1420539" y="823630"/>
                </a:lnTo>
                <a:lnTo>
                  <a:pt x="1385797" y="851525"/>
                </a:lnTo>
                <a:lnTo>
                  <a:pt x="1348200" y="877760"/>
                </a:lnTo>
                <a:lnTo>
                  <a:pt x="1307899" y="902235"/>
                </a:lnTo>
                <a:lnTo>
                  <a:pt x="1265048" y="924850"/>
                </a:lnTo>
                <a:lnTo>
                  <a:pt x="1219799" y="945506"/>
                </a:lnTo>
                <a:lnTo>
                  <a:pt x="1172305" y="964104"/>
                </a:lnTo>
                <a:lnTo>
                  <a:pt x="1122718" y="980544"/>
                </a:lnTo>
                <a:lnTo>
                  <a:pt x="1071192" y="994728"/>
                </a:lnTo>
                <a:lnTo>
                  <a:pt x="1017879" y="1006556"/>
                </a:lnTo>
                <a:lnTo>
                  <a:pt x="962932" y="1015928"/>
                </a:lnTo>
                <a:lnTo>
                  <a:pt x="906503" y="1022745"/>
                </a:lnTo>
                <a:lnTo>
                  <a:pt x="848746" y="1026909"/>
                </a:lnTo>
                <a:lnTo>
                  <a:pt x="789813" y="1028318"/>
                </a:lnTo>
                <a:lnTo>
                  <a:pt x="730862" y="1026909"/>
                </a:lnTo>
                <a:lnTo>
                  <a:pt x="673090" y="1022745"/>
                </a:lnTo>
                <a:lnTo>
                  <a:pt x="616648" y="1015928"/>
                </a:lnTo>
                <a:lnTo>
                  <a:pt x="561688" y="1006556"/>
                </a:lnTo>
                <a:lnTo>
                  <a:pt x="508364" y="994728"/>
                </a:lnTo>
                <a:lnTo>
                  <a:pt x="456829" y="980544"/>
                </a:lnTo>
                <a:lnTo>
                  <a:pt x="407234" y="964104"/>
                </a:lnTo>
                <a:lnTo>
                  <a:pt x="359732" y="945506"/>
                </a:lnTo>
                <a:lnTo>
                  <a:pt x="314476" y="924850"/>
                </a:lnTo>
                <a:lnTo>
                  <a:pt x="271620" y="902235"/>
                </a:lnTo>
                <a:lnTo>
                  <a:pt x="231314" y="877760"/>
                </a:lnTo>
                <a:lnTo>
                  <a:pt x="193713" y="851525"/>
                </a:lnTo>
                <a:lnTo>
                  <a:pt x="158968" y="823630"/>
                </a:lnTo>
                <a:lnTo>
                  <a:pt x="127232" y="794173"/>
                </a:lnTo>
                <a:lnTo>
                  <a:pt x="98659" y="763254"/>
                </a:lnTo>
                <a:lnTo>
                  <a:pt x="73400" y="730972"/>
                </a:lnTo>
                <a:lnTo>
                  <a:pt x="51608" y="697426"/>
                </a:lnTo>
                <a:lnTo>
                  <a:pt x="33436" y="662717"/>
                </a:lnTo>
                <a:lnTo>
                  <a:pt x="19036" y="626942"/>
                </a:lnTo>
                <a:lnTo>
                  <a:pt x="8562" y="590202"/>
                </a:lnTo>
                <a:lnTo>
                  <a:pt x="2166" y="552596"/>
                </a:lnTo>
                <a:lnTo>
                  <a:pt x="0" y="514222"/>
                </a:lnTo>
                <a:close/>
              </a:path>
            </a:pathLst>
          </a:custGeom>
          <a:ln w="9525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635242" y="3024631"/>
            <a:ext cx="1281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45" dirty="0">
                <a:latin typeface="Arial"/>
                <a:cs typeface="Arial"/>
              </a:rPr>
              <a:t>Comunicaciones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56303" y="1848611"/>
            <a:ext cx="1373124" cy="6995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30040" y="2014727"/>
            <a:ext cx="899160" cy="42976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09746" y="1651889"/>
            <a:ext cx="1361566" cy="68719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09746" y="1651889"/>
            <a:ext cx="1362075" cy="687705"/>
          </a:xfrm>
          <a:custGeom>
            <a:avLst/>
            <a:gdLst/>
            <a:ahLst/>
            <a:cxnLst/>
            <a:rect l="l" t="t" r="r" b="b"/>
            <a:pathLst>
              <a:path w="1362075" h="687705">
                <a:moveTo>
                  <a:pt x="0" y="343662"/>
                </a:moveTo>
                <a:lnTo>
                  <a:pt x="10968" y="281871"/>
                </a:lnTo>
                <a:lnTo>
                  <a:pt x="42591" y="223720"/>
                </a:lnTo>
                <a:lnTo>
                  <a:pt x="92945" y="170180"/>
                </a:lnTo>
                <a:lnTo>
                  <a:pt x="124545" y="145441"/>
                </a:lnTo>
                <a:lnTo>
                  <a:pt x="160107" y="122217"/>
                </a:lnTo>
                <a:lnTo>
                  <a:pt x="199389" y="100631"/>
                </a:lnTo>
                <a:lnTo>
                  <a:pt x="242153" y="80803"/>
                </a:lnTo>
                <a:lnTo>
                  <a:pt x="288157" y="62854"/>
                </a:lnTo>
                <a:lnTo>
                  <a:pt x="337161" y="46905"/>
                </a:lnTo>
                <a:lnTo>
                  <a:pt x="388924" y="33077"/>
                </a:lnTo>
                <a:lnTo>
                  <a:pt x="443207" y="21492"/>
                </a:lnTo>
                <a:lnTo>
                  <a:pt x="499768" y="12271"/>
                </a:lnTo>
                <a:lnTo>
                  <a:pt x="558367" y="5534"/>
                </a:lnTo>
                <a:lnTo>
                  <a:pt x="618765" y="1403"/>
                </a:lnTo>
                <a:lnTo>
                  <a:pt x="680719" y="0"/>
                </a:lnTo>
                <a:lnTo>
                  <a:pt x="742694" y="1403"/>
                </a:lnTo>
                <a:lnTo>
                  <a:pt x="803109" y="5534"/>
                </a:lnTo>
                <a:lnTo>
                  <a:pt x="861724" y="12271"/>
                </a:lnTo>
                <a:lnTo>
                  <a:pt x="918299" y="21492"/>
                </a:lnTo>
                <a:lnTo>
                  <a:pt x="972594" y="33077"/>
                </a:lnTo>
                <a:lnTo>
                  <a:pt x="1024367" y="46905"/>
                </a:lnTo>
                <a:lnTo>
                  <a:pt x="1073380" y="62854"/>
                </a:lnTo>
                <a:lnTo>
                  <a:pt x="1119391" y="80803"/>
                </a:lnTo>
                <a:lnTo>
                  <a:pt x="1162161" y="100631"/>
                </a:lnTo>
                <a:lnTo>
                  <a:pt x="1201448" y="122217"/>
                </a:lnTo>
                <a:lnTo>
                  <a:pt x="1237014" y="145441"/>
                </a:lnTo>
                <a:lnTo>
                  <a:pt x="1268617" y="170180"/>
                </a:lnTo>
                <a:lnTo>
                  <a:pt x="1318974" y="223720"/>
                </a:lnTo>
                <a:lnTo>
                  <a:pt x="1350598" y="281871"/>
                </a:lnTo>
                <a:lnTo>
                  <a:pt x="1361566" y="343662"/>
                </a:lnTo>
                <a:lnTo>
                  <a:pt x="1358784" y="374932"/>
                </a:lnTo>
                <a:lnTo>
                  <a:pt x="1337248" y="434990"/>
                </a:lnTo>
                <a:lnTo>
                  <a:pt x="1296017" y="490931"/>
                </a:lnTo>
                <a:lnTo>
                  <a:pt x="1237014" y="541784"/>
                </a:lnTo>
                <a:lnTo>
                  <a:pt x="1201448" y="565000"/>
                </a:lnTo>
                <a:lnTo>
                  <a:pt x="1162161" y="586581"/>
                </a:lnTo>
                <a:lnTo>
                  <a:pt x="1119391" y="606404"/>
                </a:lnTo>
                <a:lnTo>
                  <a:pt x="1073380" y="624350"/>
                </a:lnTo>
                <a:lnTo>
                  <a:pt x="1024367" y="640296"/>
                </a:lnTo>
                <a:lnTo>
                  <a:pt x="972594" y="654121"/>
                </a:lnTo>
                <a:lnTo>
                  <a:pt x="918299" y="665705"/>
                </a:lnTo>
                <a:lnTo>
                  <a:pt x="861724" y="674926"/>
                </a:lnTo>
                <a:lnTo>
                  <a:pt x="803109" y="681662"/>
                </a:lnTo>
                <a:lnTo>
                  <a:pt x="742694" y="685793"/>
                </a:lnTo>
                <a:lnTo>
                  <a:pt x="680719" y="687197"/>
                </a:lnTo>
                <a:lnTo>
                  <a:pt x="618765" y="685793"/>
                </a:lnTo>
                <a:lnTo>
                  <a:pt x="558367" y="681662"/>
                </a:lnTo>
                <a:lnTo>
                  <a:pt x="499768" y="674926"/>
                </a:lnTo>
                <a:lnTo>
                  <a:pt x="443207" y="665705"/>
                </a:lnTo>
                <a:lnTo>
                  <a:pt x="388924" y="654121"/>
                </a:lnTo>
                <a:lnTo>
                  <a:pt x="337161" y="640296"/>
                </a:lnTo>
                <a:lnTo>
                  <a:pt x="288157" y="624350"/>
                </a:lnTo>
                <a:lnTo>
                  <a:pt x="242153" y="606404"/>
                </a:lnTo>
                <a:lnTo>
                  <a:pt x="199389" y="586581"/>
                </a:lnTo>
                <a:lnTo>
                  <a:pt x="160107" y="565000"/>
                </a:lnTo>
                <a:lnTo>
                  <a:pt x="124545" y="541784"/>
                </a:lnTo>
                <a:lnTo>
                  <a:pt x="92945" y="517054"/>
                </a:lnTo>
                <a:lnTo>
                  <a:pt x="42591" y="463536"/>
                </a:lnTo>
                <a:lnTo>
                  <a:pt x="10968" y="405415"/>
                </a:lnTo>
                <a:lnTo>
                  <a:pt x="0" y="343662"/>
                </a:lnTo>
                <a:close/>
              </a:path>
            </a:pathLst>
          </a:custGeom>
          <a:ln w="9525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088384" y="1850897"/>
            <a:ext cx="621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65" dirty="0">
                <a:latin typeface="Arial"/>
                <a:cs typeface="Arial"/>
              </a:rPr>
              <a:t>Riesgos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90288" y="2947416"/>
            <a:ext cx="1588008" cy="87782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96028" y="3201923"/>
            <a:ext cx="1193291" cy="42976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19091" y="2738373"/>
            <a:ext cx="1575435" cy="865505"/>
          </a:xfrm>
          <a:custGeom>
            <a:avLst/>
            <a:gdLst/>
            <a:ahLst/>
            <a:cxnLst/>
            <a:rect l="l" t="t" r="r" b="b"/>
            <a:pathLst>
              <a:path w="1575435" h="865504">
                <a:moveTo>
                  <a:pt x="787527" y="0"/>
                </a:moveTo>
                <a:lnTo>
                  <a:pt x="725977" y="1301"/>
                </a:lnTo>
                <a:lnTo>
                  <a:pt x="665724" y="5141"/>
                </a:lnTo>
                <a:lnTo>
                  <a:pt x="606942" y="11425"/>
                </a:lnTo>
                <a:lnTo>
                  <a:pt x="549807" y="20055"/>
                </a:lnTo>
                <a:lnTo>
                  <a:pt x="494494" y="30935"/>
                </a:lnTo>
                <a:lnTo>
                  <a:pt x="441176" y="43970"/>
                </a:lnTo>
                <a:lnTo>
                  <a:pt x="390031" y="59064"/>
                </a:lnTo>
                <a:lnTo>
                  <a:pt x="341231" y="76120"/>
                </a:lnTo>
                <a:lnTo>
                  <a:pt x="294953" y="95042"/>
                </a:lnTo>
                <a:lnTo>
                  <a:pt x="251372" y="115734"/>
                </a:lnTo>
                <a:lnTo>
                  <a:pt x="210662" y="138100"/>
                </a:lnTo>
                <a:lnTo>
                  <a:pt x="172999" y="162044"/>
                </a:lnTo>
                <a:lnTo>
                  <a:pt x="138557" y="187470"/>
                </a:lnTo>
                <a:lnTo>
                  <a:pt x="107512" y="214281"/>
                </a:lnTo>
                <a:lnTo>
                  <a:pt x="80038" y="242383"/>
                </a:lnTo>
                <a:lnTo>
                  <a:pt x="36506" y="302069"/>
                </a:lnTo>
                <a:lnTo>
                  <a:pt x="9359" y="365761"/>
                </a:lnTo>
                <a:lnTo>
                  <a:pt x="0" y="432688"/>
                </a:lnTo>
                <a:lnTo>
                  <a:pt x="2369" y="466492"/>
                </a:lnTo>
                <a:lnTo>
                  <a:pt x="20797" y="531875"/>
                </a:lnTo>
                <a:lnTo>
                  <a:pt x="56311" y="593647"/>
                </a:lnTo>
                <a:lnTo>
                  <a:pt x="107512" y="651039"/>
                </a:lnTo>
                <a:lnTo>
                  <a:pt x="138557" y="677851"/>
                </a:lnTo>
                <a:lnTo>
                  <a:pt x="172999" y="703280"/>
                </a:lnTo>
                <a:lnTo>
                  <a:pt x="210662" y="727227"/>
                </a:lnTo>
                <a:lnTo>
                  <a:pt x="251372" y="749598"/>
                </a:lnTo>
                <a:lnTo>
                  <a:pt x="294953" y="770295"/>
                </a:lnTo>
                <a:lnTo>
                  <a:pt x="341231" y="789223"/>
                </a:lnTo>
                <a:lnTo>
                  <a:pt x="390031" y="806285"/>
                </a:lnTo>
                <a:lnTo>
                  <a:pt x="441176" y="821384"/>
                </a:lnTo>
                <a:lnTo>
                  <a:pt x="494494" y="834425"/>
                </a:lnTo>
                <a:lnTo>
                  <a:pt x="549807" y="845311"/>
                </a:lnTo>
                <a:lnTo>
                  <a:pt x="606942" y="853946"/>
                </a:lnTo>
                <a:lnTo>
                  <a:pt x="665724" y="860232"/>
                </a:lnTo>
                <a:lnTo>
                  <a:pt x="725977" y="864075"/>
                </a:lnTo>
                <a:lnTo>
                  <a:pt x="787527" y="865378"/>
                </a:lnTo>
                <a:lnTo>
                  <a:pt x="849059" y="864075"/>
                </a:lnTo>
                <a:lnTo>
                  <a:pt x="909296" y="860232"/>
                </a:lnTo>
                <a:lnTo>
                  <a:pt x="968063" y="853946"/>
                </a:lnTo>
                <a:lnTo>
                  <a:pt x="1025186" y="845311"/>
                </a:lnTo>
                <a:lnTo>
                  <a:pt x="1080489" y="834425"/>
                </a:lnTo>
                <a:lnTo>
                  <a:pt x="1133796" y="821384"/>
                </a:lnTo>
                <a:lnTo>
                  <a:pt x="1184933" y="806285"/>
                </a:lnTo>
                <a:lnTo>
                  <a:pt x="1233725" y="789223"/>
                </a:lnTo>
                <a:lnTo>
                  <a:pt x="1279996" y="770295"/>
                </a:lnTo>
                <a:lnTo>
                  <a:pt x="1323572" y="749598"/>
                </a:lnTo>
                <a:lnTo>
                  <a:pt x="1364277" y="727227"/>
                </a:lnTo>
                <a:lnTo>
                  <a:pt x="1401937" y="703280"/>
                </a:lnTo>
                <a:lnTo>
                  <a:pt x="1436376" y="677851"/>
                </a:lnTo>
                <a:lnTo>
                  <a:pt x="1467419" y="651039"/>
                </a:lnTo>
                <a:lnTo>
                  <a:pt x="1494891" y="622939"/>
                </a:lnTo>
                <a:lnTo>
                  <a:pt x="1538421" y="563260"/>
                </a:lnTo>
                <a:lnTo>
                  <a:pt x="1565567" y="499587"/>
                </a:lnTo>
                <a:lnTo>
                  <a:pt x="1574927" y="432688"/>
                </a:lnTo>
                <a:lnTo>
                  <a:pt x="1572557" y="398868"/>
                </a:lnTo>
                <a:lnTo>
                  <a:pt x="1554130" y="333462"/>
                </a:lnTo>
                <a:lnTo>
                  <a:pt x="1518616" y="271677"/>
                </a:lnTo>
                <a:lnTo>
                  <a:pt x="1467419" y="214281"/>
                </a:lnTo>
                <a:lnTo>
                  <a:pt x="1436376" y="187470"/>
                </a:lnTo>
                <a:lnTo>
                  <a:pt x="1401937" y="162044"/>
                </a:lnTo>
                <a:lnTo>
                  <a:pt x="1364277" y="138100"/>
                </a:lnTo>
                <a:lnTo>
                  <a:pt x="1323572" y="115734"/>
                </a:lnTo>
                <a:lnTo>
                  <a:pt x="1279996" y="95042"/>
                </a:lnTo>
                <a:lnTo>
                  <a:pt x="1233725" y="76120"/>
                </a:lnTo>
                <a:lnTo>
                  <a:pt x="1184933" y="59064"/>
                </a:lnTo>
                <a:lnTo>
                  <a:pt x="1133796" y="43970"/>
                </a:lnTo>
                <a:lnTo>
                  <a:pt x="1080489" y="30935"/>
                </a:lnTo>
                <a:lnTo>
                  <a:pt x="1025186" y="20055"/>
                </a:lnTo>
                <a:lnTo>
                  <a:pt x="968063" y="11425"/>
                </a:lnTo>
                <a:lnTo>
                  <a:pt x="909296" y="5141"/>
                </a:lnTo>
                <a:lnTo>
                  <a:pt x="849059" y="1301"/>
                </a:lnTo>
                <a:lnTo>
                  <a:pt x="78752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19091" y="2738373"/>
            <a:ext cx="1575435" cy="865505"/>
          </a:xfrm>
          <a:custGeom>
            <a:avLst/>
            <a:gdLst/>
            <a:ahLst/>
            <a:cxnLst/>
            <a:rect l="l" t="t" r="r" b="b"/>
            <a:pathLst>
              <a:path w="1575435" h="865504">
                <a:moveTo>
                  <a:pt x="0" y="432688"/>
                </a:moveTo>
                <a:lnTo>
                  <a:pt x="9359" y="365761"/>
                </a:lnTo>
                <a:lnTo>
                  <a:pt x="36506" y="302069"/>
                </a:lnTo>
                <a:lnTo>
                  <a:pt x="80038" y="242383"/>
                </a:lnTo>
                <a:lnTo>
                  <a:pt x="107512" y="214281"/>
                </a:lnTo>
                <a:lnTo>
                  <a:pt x="138557" y="187470"/>
                </a:lnTo>
                <a:lnTo>
                  <a:pt x="172999" y="162044"/>
                </a:lnTo>
                <a:lnTo>
                  <a:pt x="210662" y="138100"/>
                </a:lnTo>
                <a:lnTo>
                  <a:pt x="251372" y="115734"/>
                </a:lnTo>
                <a:lnTo>
                  <a:pt x="294953" y="95042"/>
                </a:lnTo>
                <a:lnTo>
                  <a:pt x="341231" y="76120"/>
                </a:lnTo>
                <a:lnTo>
                  <a:pt x="390031" y="59064"/>
                </a:lnTo>
                <a:lnTo>
                  <a:pt x="441176" y="43970"/>
                </a:lnTo>
                <a:lnTo>
                  <a:pt x="494494" y="30935"/>
                </a:lnTo>
                <a:lnTo>
                  <a:pt x="549807" y="20055"/>
                </a:lnTo>
                <a:lnTo>
                  <a:pt x="606942" y="11425"/>
                </a:lnTo>
                <a:lnTo>
                  <a:pt x="665724" y="5141"/>
                </a:lnTo>
                <a:lnTo>
                  <a:pt x="725977" y="1301"/>
                </a:lnTo>
                <a:lnTo>
                  <a:pt x="787527" y="0"/>
                </a:lnTo>
                <a:lnTo>
                  <a:pt x="849059" y="1301"/>
                </a:lnTo>
                <a:lnTo>
                  <a:pt x="909296" y="5141"/>
                </a:lnTo>
                <a:lnTo>
                  <a:pt x="968063" y="11425"/>
                </a:lnTo>
                <a:lnTo>
                  <a:pt x="1025186" y="20055"/>
                </a:lnTo>
                <a:lnTo>
                  <a:pt x="1080489" y="30935"/>
                </a:lnTo>
                <a:lnTo>
                  <a:pt x="1133796" y="43970"/>
                </a:lnTo>
                <a:lnTo>
                  <a:pt x="1184933" y="59064"/>
                </a:lnTo>
                <a:lnTo>
                  <a:pt x="1233725" y="76120"/>
                </a:lnTo>
                <a:lnTo>
                  <a:pt x="1279996" y="95042"/>
                </a:lnTo>
                <a:lnTo>
                  <a:pt x="1323572" y="115734"/>
                </a:lnTo>
                <a:lnTo>
                  <a:pt x="1364277" y="138100"/>
                </a:lnTo>
                <a:lnTo>
                  <a:pt x="1401937" y="162044"/>
                </a:lnTo>
                <a:lnTo>
                  <a:pt x="1436376" y="187470"/>
                </a:lnTo>
                <a:lnTo>
                  <a:pt x="1467419" y="214281"/>
                </a:lnTo>
                <a:lnTo>
                  <a:pt x="1494891" y="242383"/>
                </a:lnTo>
                <a:lnTo>
                  <a:pt x="1538421" y="302069"/>
                </a:lnTo>
                <a:lnTo>
                  <a:pt x="1565567" y="365761"/>
                </a:lnTo>
                <a:lnTo>
                  <a:pt x="1574927" y="432688"/>
                </a:lnTo>
                <a:lnTo>
                  <a:pt x="1572557" y="466492"/>
                </a:lnTo>
                <a:lnTo>
                  <a:pt x="1554130" y="531875"/>
                </a:lnTo>
                <a:lnTo>
                  <a:pt x="1518616" y="593647"/>
                </a:lnTo>
                <a:lnTo>
                  <a:pt x="1467419" y="651039"/>
                </a:lnTo>
                <a:lnTo>
                  <a:pt x="1436376" y="677851"/>
                </a:lnTo>
                <a:lnTo>
                  <a:pt x="1401937" y="703280"/>
                </a:lnTo>
                <a:lnTo>
                  <a:pt x="1364277" y="727227"/>
                </a:lnTo>
                <a:lnTo>
                  <a:pt x="1323572" y="749598"/>
                </a:lnTo>
                <a:lnTo>
                  <a:pt x="1279996" y="770295"/>
                </a:lnTo>
                <a:lnTo>
                  <a:pt x="1233725" y="789223"/>
                </a:lnTo>
                <a:lnTo>
                  <a:pt x="1184933" y="806285"/>
                </a:lnTo>
                <a:lnTo>
                  <a:pt x="1133796" y="821384"/>
                </a:lnTo>
                <a:lnTo>
                  <a:pt x="1080489" y="834425"/>
                </a:lnTo>
                <a:lnTo>
                  <a:pt x="1025186" y="845311"/>
                </a:lnTo>
                <a:lnTo>
                  <a:pt x="968063" y="853946"/>
                </a:lnTo>
                <a:lnTo>
                  <a:pt x="909296" y="860232"/>
                </a:lnTo>
                <a:lnTo>
                  <a:pt x="849059" y="864075"/>
                </a:lnTo>
                <a:lnTo>
                  <a:pt x="787527" y="865378"/>
                </a:lnTo>
                <a:lnTo>
                  <a:pt x="725977" y="864075"/>
                </a:lnTo>
                <a:lnTo>
                  <a:pt x="665724" y="860232"/>
                </a:lnTo>
                <a:lnTo>
                  <a:pt x="606942" y="853946"/>
                </a:lnTo>
                <a:lnTo>
                  <a:pt x="549807" y="845311"/>
                </a:lnTo>
                <a:lnTo>
                  <a:pt x="494494" y="834425"/>
                </a:lnTo>
                <a:lnTo>
                  <a:pt x="441176" y="821384"/>
                </a:lnTo>
                <a:lnTo>
                  <a:pt x="390031" y="806285"/>
                </a:lnTo>
                <a:lnTo>
                  <a:pt x="341231" y="789223"/>
                </a:lnTo>
                <a:lnTo>
                  <a:pt x="294953" y="770295"/>
                </a:lnTo>
                <a:lnTo>
                  <a:pt x="251372" y="749598"/>
                </a:lnTo>
                <a:lnTo>
                  <a:pt x="210662" y="727227"/>
                </a:lnTo>
                <a:lnTo>
                  <a:pt x="172999" y="703280"/>
                </a:lnTo>
                <a:lnTo>
                  <a:pt x="138557" y="677851"/>
                </a:lnTo>
                <a:lnTo>
                  <a:pt x="107512" y="651039"/>
                </a:lnTo>
                <a:lnTo>
                  <a:pt x="80038" y="622939"/>
                </a:lnTo>
                <a:lnTo>
                  <a:pt x="36506" y="563260"/>
                </a:lnTo>
                <a:lnTo>
                  <a:pt x="9359" y="499587"/>
                </a:lnTo>
                <a:lnTo>
                  <a:pt x="0" y="432688"/>
                </a:lnTo>
                <a:close/>
              </a:path>
            </a:pathLst>
          </a:custGeom>
          <a:ln w="9525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729353" y="3026790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20" dirty="0">
                <a:latin typeface="Arial"/>
                <a:cs typeface="Arial"/>
              </a:rPr>
              <a:t>In</a:t>
            </a:r>
            <a:r>
              <a:rPr sz="1600" spc="-85" dirty="0">
                <a:latin typeface="Arial"/>
                <a:cs typeface="Arial"/>
              </a:rPr>
              <a:t>t</a:t>
            </a:r>
            <a:r>
              <a:rPr sz="1600" spc="-95" dirty="0">
                <a:latin typeface="Arial"/>
                <a:cs typeface="Arial"/>
              </a:rPr>
              <a:t>e</a:t>
            </a:r>
            <a:r>
              <a:rPr sz="1600" spc="-15" dirty="0">
                <a:latin typeface="Arial"/>
                <a:cs typeface="Arial"/>
              </a:rPr>
              <a:t>g</a:t>
            </a:r>
            <a:r>
              <a:rPr sz="1600" spc="-25" dirty="0">
                <a:latin typeface="Arial"/>
                <a:cs typeface="Arial"/>
              </a:rPr>
              <a:t>r</a:t>
            </a:r>
            <a:r>
              <a:rPr sz="1600" spc="-15" dirty="0">
                <a:latin typeface="Arial"/>
                <a:cs typeface="Arial"/>
              </a:rPr>
              <a:t>a</a:t>
            </a:r>
            <a:r>
              <a:rPr sz="1600" spc="-120" dirty="0">
                <a:latin typeface="Arial"/>
                <a:cs typeface="Arial"/>
              </a:rPr>
              <a:t>cion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85872" y="2593848"/>
            <a:ext cx="1331976" cy="85496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53511" y="2715767"/>
            <a:ext cx="950976" cy="67360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27757" y="2384551"/>
            <a:ext cx="1318514" cy="84264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627757" y="2384551"/>
            <a:ext cx="1318895" cy="842644"/>
          </a:xfrm>
          <a:custGeom>
            <a:avLst/>
            <a:gdLst/>
            <a:ahLst/>
            <a:cxnLst/>
            <a:rect l="l" t="t" r="r" b="b"/>
            <a:pathLst>
              <a:path w="1318895" h="842644">
                <a:moveTo>
                  <a:pt x="0" y="421386"/>
                </a:moveTo>
                <a:lnTo>
                  <a:pt x="9547" y="349542"/>
                </a:lnTo>
                <a:lnTo>
                  <a:pt x="37133" y="281633"/>
                </a:lnTo>
                <a:lnTo>
                  <a:pt x="81176" y="218672"/>
                </a:lnTo>
                <a:lnTo>
                  <a:pt x="108873" y="189364"/>
                </a:lnTo>
                <a:lnTo>
                  <a:pt x="140092" y="161672"/>
                </a:lnTo>
                <a:lnTo>
                  <a:pt x="174633" y="135724"/>
                </a:lnTo>
                <a:lnTo>
                  <a:pt x="212298" y="111646"/>
                </a:lnTo>
                <a:lnTo>
                  <a:pt x="252891" y="89565"/>
                </a:lnTo>
                <a:lnTo>
                  <a:pt x="296212" y="69607"/>
                </a:lnTo>
                <a:lnTo>
                  <a:pt x="342065" y="51900"/>
                </a:lnTo>
                <a:lnTo>
                  <a:pt x="390251" y="36569"/>
                </a:lnTo>
                <a:lnTo>
                  <a:pt x="440573" y="23742"/>
                </a:lnTo>
                <a:lnTo>
                  <a:pt x="492832" y="13545"/>
                </a:lnTo>
                <a:lnTo>
                  <a:pt x="546831" y="6104"/>
                </a:lnTo>
                <a:lnTo>
                  <a:pt x="602372" y="1547"/>
                </a:lnTo>
                <a:lnTo>
                  <a:pt x="659257" y="0"/>
                </a:lnTo>
                <a:lnTo>
                  <a:pt x="716141" y="1547"/>
                </a:lnTo>
                <a:lnTo>
                  <a:pt x="771682" y="6104"/>
                </a:lnTo>
                <a:lnTo>
                  <a:pt x="825681" y="13545"/>
                </a:lnTo>
                <a:lnTo>
                  <a:pt x="877940" y="23742"/>
                </a:lnTo>
                <a:lnTo>
                  <a:pt x="928262" y="36569"/>
                </a:lnTo>
                <a:lnTo>
                  <a:pt x="976448" y="51900"/>
                </a:lnTo>
                <a:lnTo>
                  <a:pt x="1022301" y="69607"/>
                </a:lnTo>
                <a:lnTo>
                  <a:pt x="1065622" y="89565"/>
                </a:lnTo>
                <a:lnTo>
                  <a:pt x="1106215" y="111646"/>
                </a:lnTo>
                <a:lnTo>
                  <a:pt x="1143880" y="135724"/>
                </a:lnTo>
                <a:lnTo>
                  <a:pt x="1178421" y="161672"/>
                </a:lnTo>
                <a:lnTo>
                  <a:pt x="1209640" y="189364"/>
                </a:lnTo>
                <a:lnTo>
                  <a:pt x="1237337" y="218672"/>
                </a:lnTo>
                <a:lnTo>
                  <a:pt x="1261317" y="249471"/>
                </a:lnTo>
                <a:lnTo>
                  <a:pt x="1297329" y="315033"/>
                </a:lnTo>
                <a:lnTo>
                  <a:pt x="1316094" y="385035"/>
                </a:lnTo>
                <a:lnTo>
                  <a:pt x="1318514" y="421386"/>
                </a:lnTo>
                <a:lnTo>
                  <a:pt x="1316094" y="457735"/>
                </a:lnTo>
                <a:lnTo>
                  <a:pt x="1297329" y="527730"/>
                </a:lnTo>
                <a:lnTo>
                  <a:pt x="1261317" y="593278"/>
                </a:lnTo>
                <a:lnTo>
                  <a:pt x="1237337" y="624069"/>
                </a:lnTo>
                <a:lnTo>
                  <a:pt x="1209640" y="653368"/>
                </a:lnTo>
                <a:lnTo>
                  <a:pt x="1178421" y="681050"/>
                </a:lnTo>
                <a:lnTo>
                  <a:pt x="1143880" y="706988"/>
                </a:lnTo>
                <a:lnTo>
                  <a:pt x="1106215" y="731056"/>
                </a:lnTo>
                <a:lnTo>
                  <a:pt x="1065622" y="753127"/>
                </a:lnTo>
                <a:lnTo>
                  <a:pt x="1022301" y="773076"/>
                </a:lnTo>
                <a:lnTo>
                  <a:pt x="976448" y="790774"/>
                </a:lnTo>
                <a:lnTo>
                  <a:pt x="928262" y="806097"/>
                </a:lnTo>
                <a:lnTo>
                  <a:pt x="877940" y="818917"/>
                </a:lnTo>
                <a:lnTo>
                  <a:pt x="825681" y="829108"/>
                </a:lnTo>
                <a:lnTo>
                  <a:pt x="771682" y="836544"/>
                </a:lnTo>
                <a:lnTo>
                  <a:pt x="716141" y="841098"/>
                </a:lnTo>
                <a:lnTo>
                  <a:pt x="659257" y="842645"/>
                </a:lnTo>
                <a:lnTo>
                  <a:pt x="602372" y="841098"/>
                </a:lnTo>
                <a:lnTo>
                  <a:pt x="546831" y="836544"/>
                </a:lnTo>
                <a:lnTo>
                  <a:pt x="492832" y="829108"/>
                </a:lnTo>
                <a:lnTo>
                  <a:pt x="440573" y="818917"/>
                </a:lnTo>
                <a:lnTo>
                  <a:pt x="390251" y="806097"/>
                </a:lnTo>
                <a:lnTo>
                  <a:pt x="342065" y="790774"/>
                </a:lnTo>
                <a:lnTo>
                  <a:pt x="296212" y="773076"/>
                </a:lnTo>
                <a:lnTo>
                  <a:pt x="252891" y="753127"/>
                </a:lnTo>
                <a:lnTo>
                  <a:pt x="212298" y="731056"/>
                </a:lnTo>
                <a:lnTo>
                  <a:pt x="174633" y="706988"/>
                </a:lnTo>
                <a:lnTo>
                  <a:pt x="140092" y="681050"/>
                </a:lnTo>
                <a:lnTo>
                  <a:pt x="108873" y="653368"/>
                </a:lnTo>
                <a:lnTo>
                  <a:pt x="81176" y="624069"/>
                </a:lnTo>
                <a:lnTo>
                  <a:pt x="57196" y="593278"/>
                </a:lnTo>
                <a:lnTo>
                  <a:pt x="21184" y="527730"/>
                </a:lnTo>
                <a:lnTo>
                  <a:pt x="2419" y="457735"/>
                </a:lnTo>
                <a:lnTo>
                  <a:pt x="0" y="421386"/>
                </a:lnTo>
                <a:close/>
              </a:path>
            </a:pathLst>
          </a:custGeom>
          <a:ln w="9525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899917" y="2539364"/>
            <a:ext cx="6737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25" dirty="0">
                <a:latin typeface="Arial"/>
                <a:cs typeface="Arial"/>
              </a:rPr>
              <a:t>Talento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95" dirty="0">
                <a:latin typeface="Arial"/>
                <a:cs typeface="Arial"/>
              </a:rPr>
              <a:t>H</a:t>
            </a:r>
            <a:r>
              <a:rPr sz="1600" spc="-170" dirty="0">
                <a:latin typeface="Arial"/>
                <a:cs typeface="Arial"/>
              </a:rPr>
              <a:t>um</a:t>
            </a:r>
            <a:r>
              <a:rPr sz="1600" spc="-145" dirty="0">
                <a:latin typeface="Arial"/>
                <a:cs typeface="Arial"/>
              </a:rPr>
              <a:t>ano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67911" y="4123944"/>
            <a:ext cx="1648967" cy="70713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081271" y="4293108"/>
            <a:ext cx="1373124" cy="42976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696080" y="3914508"/>
            <a:ext cx="1636395" cy="69482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96080" y="3914508"/>
            <a:ext cx="1636395" cy="695325"/>
          </a:xfrm>
          <a:custGeom>
            <a:avLst/>
            <a:gdLst/>
            <a:ahLst/>
            <a:cxnLst/>
            <a:rect l="l" t="t" r="r" b="b"/>
            <a:pathLst>
              <a:path w="1636395" h="695325">
                <a:moveTo>
                  <a:pt x="0" y="347408"/>
                </a:moveTo>
                <a:lnTo>
                  <a:pt x="9727" y="293679"/>
                </a:lnTo>
                <a:lnTo>
                  <a:pt x="37938" y="242546"/>
                </a:lnTo>
                <a:lnTo>
                  <a:pt x="83177" y="194625"/>
                </a:lnTo>
                <a:lnTo>
                  <a:pt x="143987" y="150536"/>
                </a:lnTo>
                <a:lnTo>
                  <a:pt x="179777" y="130120"/>
                </a:lnTo>
                <a:lnTo>
                  <a:pt x="218914" y="110895"/>
                </a:lnTo>
                <a:lnTo>
                  <a:pt x="261215" y="92935"/>
                </a:lnTo>
                <a:lnTo>
                  <a:pt x="306500" y="76320"/>
                </a:lnTo>
                <a:lnTo>
                  <a:pt x="354585" y="61126"/>
                </a:lnTo>
                <a:lnTo>
                  <a:pt x="405289" y="47430"/>
                </a:lnTo>
                <a:lnTo>
                  <a:pt x="458431" y="35310"/>
                </a:lnTo>
                <a:lnTo>
                  <a:pt x="513827" y="24842"/>
                </a:lnTo>
                <a:lnTo>
                  <a:pt x="571296" y="16105"/>
                </a:lnTo>
                <a:lnTo>
                  <a:pt x="630656" y="9175"/>
                </a:lnTo>
                <a:lnTo>
                  <a:pt x="691724" y="4129"/>
                </a:lnTo>
                <a:lnTo>
                  <a:pt x="754320" y="1045"/>
                </a:lnTo>
                <a:lnTo>
                  <a:pt x="818261" y="0"/>
                </a:lnTo>
                <a:lnTo>
                  <a:pt x="882184" y="1045"/>
                </a:lnTo>
                <a:lnTo>
                  <a:pt x="944764" y="4129"/>
                </a:lnTo>
                <a:lnTo>
                  <a:pt x="1005818" y="9175"/>
                </a:lnTo>
                <a:lnTo>
                  <a:pt x="1065166" y="16105"/>
                </a:lnTo>
                <a:lnTo>
                  <a:pt x="1122623" y="24842"/>
                </a:lnTo>
                <a:lnTo>
                  <a:pt x="1178010" y="35310"/>
                </a:lnTo>
                <a:lnTo>
                  <a:pt x="1231142" y="47430"/>
                </a:lnTo>
                <a:lnTo>
                  <a:pt x="1281839" y="61126"/>
                </a:lnTo>
                <a:lnTo>
                  <a:pt x="1329918" y="76320"/>
                </a:lnTo>
                <a:lnTo>
                  <a:pt x="1375197" y="92935"/>
                </a:lnTo>
                <a:lnTo>
                  <a:pt x="1417494" y="110895"/>
                </a:lnTo>
                <a:lnTo>
                  <a:pt x="1456627" y="130120"/>
                </a:lnTo>
                <a:lnTo>
                  <a:pt x="1492414" y="150536"/>
                </a:lnTo>
                <a:lnTo>
                  <a:pt x="1524672" y="172063"/>
                </a:lnTo>
                <a:lnTo>
                  <a:pt x="1577876" y="218145"/>
                </a:lnTo>
                <a:lnTo>
                  <a:pt x="1614782" y="267749"/>
                </a:lnTo>
                <a:lnTo>
                  <a:pt x="1633932" y="320258"/>
                </a:lnTo>
                <a:lnTo>
                  <a:pt x="1636395" y="347408"/>
                </a:lnTo>
                <a:lnTo>
                  <a:pt x="1633932" y="374558"/>
                </a:lnTo>
                <a:lnTo>
                  <a:pt x="1614782" y="427067"/>
                </a:lnTo>
                <a:lnTo>
                  <a:pt x="1577876" y="476673"/>
                </a:lnTo>
                <a:lnTo>
                  <a:pt x="1524672" y="522756"/>
                </a:lnTo>
                <a:lnTo>
                  <a:pt x="1492414" y="544285"/>
                </a:lnTo>
                <a:lnTo>
                  <a:pt x="1456627" y="564701"/>
                </a:lnTo>
                <a:lnTo>
                  <a:pt x="1417494" y="583927"/>
                </a:lnTo>
                <a:lnTo>
                  <a:pt x="1375197" y="601887"/>
                </a:lnTo>
                <a:lnTo>
                  <a:pt x="1329918" y="618503"/>
                </a:lnTo>
                <a:lnTo>
                  <a:pt x="1281839" y="633698"/>
                </a:lnTo>
                <a:lnTo>
                  <a:pt x="1231142" y="647395"/>
                </a:lnTo>
                <a:lnTo>
                  <a:pt x="1178010" y="659516"/>
                </a:lnTo>
                <a:lnTo>
                  <a:pt x="1122623" y="669984"/>
                </a:lnTo>
                <a:lnTo>
                  <a:pt x="1065166" y="678723"/>
                </a:lnTo>
                <a:lnTo>
                  <a:pt x="1005818" y="685653"/>
                </a:lnTo>
                <a:lnTo>
                  <a:pt x="944764" y="690700"/>
                </a:lnTo>
                <a:lnTo>
                  <a:pt x="882184" y="693784"/>
                </a:lnTo>
                <a:lnTo>
                  <a:pt x="818261" y="694829"/>
                </a:lnTo>
                <a:lnTo>
                  <a:pt x="754320" y="693784"/>
                </a:lnTo>
                <a:lnTo>
                  <a:pt x="691724" y="690700"/>
                </a:lnTo>
                <a:lnTo>
                  <a:pt x="630656" y="685653"/>
                </a:lnTo>
                <a:lnTo>
                  <a:pt x="571296" y="678723"/>
                </a:lnTo>
                <a:lnTo>
                  <a:pt x="513827" y="669984"/>
                </a:lnTo>
                <a:lnTo>
                  <a:pt x="458431" y="659516"/>
                </a:lnTo>
                <a:lnTo>
                  <a:pt x="405289" y="647395"/>
                </a:lnTo>
                <a:lnTo>
                  <a:pt x="354585" y="633698"/>
                </a:lnTo>
                <a:lnTo>
                  <a:pt x="306500" y="618503"/>
                </a:lnTo>
                <a:lnTo>
                  <a:pt x="261215" y="601887"/>
                </a:lnTo>
                <a:lnTo>
                  <a:pt x="218914" y="583927"/>
                </a:lnTo>
                <a:lnTo>
                  <a:pt x="179777" y="564701"/>
                </a:lnTo>
                <a:lnTo>
                  <a:pt x="143987" y="544285"/>
                </a:lnTo>
                <a:lnTo>
                  <a:pt x="111727" y="522756"/>
                </a:lnTo>
                <a:lnTo>
                  <a:pt x="58520" y="476673"/>
                </a:lnTo>
                <a:lnTo>
                  <a:pt x="21613" y="427067"/>
                </a:lnTo>
                <a:lnTo>
                  <a:pt x="2462" y="374558"/>
                </a:lnTo>
                <a:lnTo>
                  <a:pt x="0" y="347408"/>
                </a:lnTo>
                <a:close/>
              </a:path>
            </a:pathLst>
          </a:custGeom>
          <a:ln w="9525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015232" y="4117949"/>
            <a:ext cx="1095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14" dirty="0">
                <a:latin typeface="Arial"/>
                <a:cs typeface="Arial"/>
              </a:rPr>
              <a:t>Adquisiciones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658111" y="3674364"/>
            <a:ext cx="1513332" cy="67665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53183" y="3706367"/>
            <a:ext cx="1220724" cy="67360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87169" y="3477386"/>
            <a:ext cx="1499743" cy="66451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487169" y="3477386"/>
            <a:ext cx="1499870" cy="664845"/>
          </a:xfrm>
          <a:custGeom>
            <a:avLst/>
            <a:gdLst/>
            <a:ahLst/>
            <a:cxnLst/>
            <a:rect l="l" t="t" r="r" b="b"/>
            <a:pathLst>
              <a:path w="1499870" h="664845">
                <a:moveTo>
                  <a:pt x="0" y="332231"/>
                </a:moveTo>
                <a:lnTo>
                  <a:pt x="10861" y="275569"/>
                </a:lnTo>
                <a:lnTo>
                  <a:pt x="42245" y="222017"/>
                </a:lnTo>
                <a:lnTo>
                  <a:pt x="92350" y="172373"/>
                </a:lnTo>
                <a:lnTo>
                  <a:pt x="123860" y="149266"/>
                </a:lnTo>
                <a:lnTo>
                  <a:pt x="159374" y="127434"/>
                </a:lnTo>
                <a:lnTo>
                  <a:pt x="198668" y="106978"/>
                </a:lnTo>
                <a:lnTo>
                  <a:pt x="241516" y="87998"/>
                </a:lnTo>
                <a:lnTo>
                  <a:pt x="287693" y="70592"/>
                </a:lnTo>
                <a:lnTo>
                  <a:pt x="336974" y="54861"/>
                </a:lnTo>
                <a:lnTo>
                  <a:pt x="389134" y="40904"/>
                </a:lnTo>
                <a:lnTo>
                  <a:pt x="443947" y="28820"/>
                </a:lnTo>
                <a:lnTo>
                  <a:pt x="501189" y="18711"/>
                </a:lnTo>
                <a:lnTo>
                  <a:pt x="560634" y="10674"/>
                </a:lnTo>
                <a:lnTo>
                  <a:pt x="622056" y="4810"/>
                </a:lnTo>
                <a:lnTo>
                  <a:pt x="685232" y="1219"/>
                </a:lnTo>
                <a:lnTo>
                  <a:pt x="749935" y="0"/>
                </a:lnTo>
                <a:lnTo>
                  <a:pt x="814636" y="1219"/>
                </a:lnTo>
                <a:lnTo>
                  <a:pt x="877809" y="4810"/>
                </a:lnTo>
                <a:lnTo>
                  <a:pt x="939227" y="10674"/>
                </a:lnTo>
                <a:lnTo>
                  <a:pt x="998666" y="18711"/>
                </a:lnTo>
                <a:lnTo>
                  <a:pt x="1055900" y="28820"/>
                </a:lnTo>
                <a:lnTo>
                  <a:pt x="1110705" y="40904"/>
                </a:lnTo>
                <a:lnTo>
                  <a:pt x="1162856" y="54861"/>
                </a:lnTo>
                <a:lnTo>
                  <a:pt x="1212127" y="70592"/>
                </a:lnTo>
                <a:lnTo>
                  <a:pt x="1258294" y="87998"/>
                </a:lnTo>
                <a:lnTo>
                  <a:pt x="1301132" y="106978"/>
                </a:lnTo>
                <a:lnTo>
                  <a:pt x="1340416" y="127434"/>
                </a:lnTo>
                <a:lnTo>
                  <a:pt x="1375921" y="149266"/>
                </a:lnTo>
                <a:lnTo>
                  <a:pt x="1407422" y="172373"/>
                </a:lnTo>
                <a:lnTo>
                  <a:pt x="1457511" y="222017"/>
                </a:lnTo>
                <a:lnTo>
                  <a:pt x="1488885" y="275569"/>
                </a:lnTo>
                <a:lnTo>
                  <a:pt x="1499743" y="332231"/>
                </a:lnTo>
                <a:lnTo>
                  <a:pt x="1496991" y="360904"/>
                </a:lnTo>
                <a:lnTo>
                  <a:pt x="1475650" y="416116"/>
                </a:lnTo>
                <a:lnTo>
                  <a:pt x="1434694" y="467820"/>
                </a:lnTo>
                <a:lnTo>
                  <a:pt x="1375921" y="515218"/>
                </a:lnTo>
                <a:lnTo>
                  <a:pt x="1340416" y="537054"/>
                </a:lnTo>
                <a:lnTo>
                  <a:pt x="1301132" y="557513"/>
                </a:lnTo>
                <a:lnTo>
                  <a:pt x="1258294" y="576497"/>
                </a:lnTo>
                <a:lnTo>
                  <a:pt x="1212127" y="593906"/>
                </a:lnTo>
                <a:lnTo>
                  <a:pt x="1162856" y="609641"/>
                </a:lnTo>
                <a:lnTo>
                  <a:pt x="1110705" y="623601"/>
                </a:lnTo>
                <a:lnTo>
                  <a:pt x="1055900" y="635687"/>
                </a:lnTo>
                <a:lnTo>
                  <a:pt x="998666" y="645799"/>
                </a:lnTo>
                <a:lnTo>
                  <a:pt x="939227" y="653837"/>
                </a:lnTo>
                <a:lnTo>
                  <a:pt x="877809" y="659702"/>
                </a:lnTo>
                <a:lnTo>
                  <a:pt x="814636" y="663295"/>
                </a:lnTo>
                <a:lnTo>
                  <a:pt x="749935" y="664514"/>
                </a:lnTo>
                <a:lnTo>
                  <a:pt x="685232" y="663295"/>
                </a:lnTo>
                <a:lnTo>
                  <a:pt x="622056" y="659702"/>
                </a:lnTo>
                <a:lnTo>
                  <a:pt x="560634" y="653837"/>
                </a:lnTo>
                <a:lnTo>
                  <a:pt x="501189" y="645799"/>
                </a:lnTo>
                <a:lnTo>
                  <a:pt x="443947" y="635687"/>
                </a:lnTo>
                <a:lnTo>
                  <a:pt x="389134" y="623601"/>
                </a:lnTo>
                <a:lnTo>
                  <a:pt x="336974" y="609641"/>
                </a:lnTo>
                <a:lnTo>
                  <a:pt x="287693" y="593906"/>
                </a:lnTo>
                <a:lnTo>
                  <a:pt x="241516" y="576497"/>
                </a:lnTo>
                <a:lnTo>
                  <a:pt x="198668" y="557513"/>
                </a:lnTo>
                <a:lnTo>
                  <a:pt x="159374" y="537054"/>
                </a:lnTo>
                <a:lnTo>
                  <a:pt x="123860" y="515218"/>
                </a:lnTo>
                <a:lnTo>
                  <a:pt x="92350" y="492107"/>
                </a:lnTo>
                <a:lnTo>
                  <a:pt x="42245" y="442457"/>
                </a:lnTo>
                <a:lnTo>
                  <a:pt x="10861" y="388899"/>
                </a:lnTo>
                <a:lnTo>
                  <a:pt x="0" y="332231"/>
                </a:lnTo>
                <a:close/>
              </a:path>
            </a:pathLst>
          </a:custGeom>
          <a:ln w="9525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785873" y="3543427"/>
            <a:ext cx="9436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0" dirty="0">
                <a:latin typeface="Arial"/>
                <a:cs typeface="Arial"/>
              </a:rPr>
              <a:t>Gestion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0" dirty="0">
                <a:latin typeface="Arial"/>
                <a:cs typeface="Arial"/>
              </a:rPr>
              <a:t>I</a:t>
            </a:r>
            <a:r>
              <a:rPr sz="1600" spc="-200" dirty="0">
                <a:latin typeface="Arial"/>
                <a:cs typeface="Arial"/>
              </a:rPr>
              <a:t>n</a:t>
            </a:r>
            <a:r>
              <a:rPr sz="1600" spc="-75" dirty="0">
                <a:latin typeface="Arial"/>
                <a:cs typeface="Arial"/>
              </a:rPr>
              <a:t>teres</a:t>
            </a:r>
            <a:r>
              <a:rPr sz="1600" spc="-105" dirty="0">
                <a:latin typeface="Arial"/>
                <a:cs typeface="Arial"/>
              </a:rPr>
              <a:t>a</a:t>
            </a:r>
            <a:r>
              <a:rPr sz="1600" spc="-20" dirty="0">
                <a:latin typeface="Arial"/>
                <a:cs typeface="Arial"/>
              </a:rPr>
              <a:t>d</a:t>
            </a:r>
            <a:r>
              <a:rPr sz="1600" spc="-95" dirty="0">
                <a:latin typeface="Arial"/>
                <a:cs typeface="Arial"/>
              </a:rPr>
              <a:t>o</a:t>
            </a:r>
            <a:r>
              <a:rPr sz="1600" spc="-270" dirty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63523" y="2488692"/>
            <a:ext cx="1370076" cy="89306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35736" y="2750820"/>
            <a:ext cx="886968" cy="42976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04558" y="2292350"/>
            <a:ext cx="1356995" cy="879475"/>
          </a:xfrm>
          <a:custGeom>
            <a:avLst/>
            <a:gdLst/>
            <a:ahLst/>
            <a:cxnLst/>
            <a:rect l="l" t="t" r="r" b="b"/>
            <a:pathLst>
              <a:path w="1356995" h="879475">
                <a:moveTo>
                  <a:pt x="678522" y="0"/>
                </a:moveTo>
                <a:lnTo>
                  <a:pt x="619975" y="1613"/>
                </a:lnTo>
                <a:lnTo>
                  <a:pt x="562811" y="6367"/>
                </a:lnTo>
                <a:lnTo>
                  <a:pt x="507234" y="14128"/>
                </a:lnTo>
                <a:lnTo>
                  <a:pt x="453447" y="24766"/>
                </a:lnTo>
                <a:lnTo>
                  <a:pt x="401655" y="38147"/>
                </a:lnTo>
                <a:lnTo>
                  <a:pt x="352061" y="54140"/>
                </a:lnTo>
                <a:lnTo>
                  <a:pt x="304868" y="72612"/>
                </a:lnTo>
                <a:lnTo>
                  <a:pt x="260280" y="93433"/>
                </a:lnTo>
                <a:lnTo>
                  <a:pt x="218502" y="116470"/>
                </a:lnTo>
                <a:lnTo>
                  <a:pt x="179735" y="141590"/>
                </a:lnTo>
                <a:lnTo>
                  <a:pt x="144185" y="168662"/>
                </a:lnTo>
                <a:lnTo>
                  <a:pt x="112055" y="197555"/>
                </a:lnTo>
                <a:lnTo>
                  <a:pt x="83548" y="228135"/>
                </a:lnTo>
                <a:lnTo>
                  <a:pt x="58867" y="260271"/>
                </a:lnTo>
                <a:lnTo>
                  <a:pt x="38218" y="293832"/>
                </a:lnTo>
                <a:lnTo>
                  <a:pt x="21803" y="328684"/>
                </a:lnTo>
                <a:lnTo>
                  <a:pt x="2490" y="401737"/>
                </a:lnTo>
                <a:lnTo>
                  <a:pt x="0" y="439674"/>
                </a:lnTo>
                <a:lnTo>
                  <a:pt x="2490" y="477610"/>
                </a:lnTo>
                <a:lnTo>
                  <a:pt x="21803" y="550663"/>
                </a:lnTo>
                <a:lnTo>
                  <a:pt x="38218" y="585515"/>
                </a:lnTo>
                <a:lnTo>
                  <a:pt x="58867" y="619076"/>
                </a:lnTo>
                <a:lnTo>
                  <a:pt x="83548" y="651212"/>
                </a:lnTo>
                <a:lnTo>
                  <a:pt x="112055" y="681792"/>
                </a:lnTo>
                <a:lnTo>
                  <a:pt x="144185" y="710685"/>
                </a:lnTo>
                <a:lnTo>
                  <a:pt x="179735" y="737757"/>
                </a:lnTo>
                <a:lnTo>
                  <a:pt x="218502" y="762877"/>
                </a:lnTo>
                <a:lnTo>
                  <a:pt x="260280" y="785914"/>
                </a:lnTo>
                <a:lnTo>
                  <a:pt x="304868" y="806735"/>
                </a:lnTo>
                <a:lnTo>
                  <a:pt x="352061" y="825207"/>
                </a:lnTo>
                <a:lnTo>
                  <a:pt x="401655" y="841200"/>
                </a:lnTo>
                <a:lnTo>
                  <a:pt x="453447" y="854581"/>
                </a:lnTo>
                <a:lnTo>
                  <a:pt x="507234" y="865219"/>
                </a:lnTo>
                <a:lnTo>
                  <a:pt x="562811" y="872980"/>
                </a:lnTo>
                <a:lnTo>
                  <a:pt x="619975" y="877734"/>
                </a:lnTo>
                <a:lnTo>
                  <a:pt x="678522" y="879348"/>
                </a:lnTo>
                <a:lnTo>
                  <a:pt x="737055" y="877734"/>
                </a:lnTo>
                <a:lnTo>
                  <a:pt x="794206" y="872980"/>
                </a:lnTo>
                <a:lnTo>
                  <a:pt x="849771" y="865219"/>
                </a:lnTo>
                <a:lnTo>
                  <a:pt x="903548" y="854581"/>
                </a:lnTo>
                <a:lnTo>
                  <a:pt x="955331" y="841200"/>
                </a:lnTo>
                <a:lnTo>
                  <a:pt x="1004918" y="825207"/>
                </a:lnTo>
                <a:lnTo>
                  <a:pt x="1052105" y="806735"/>
                </a:lnTo>
                <a:lnTo>
                  <a:pt x="1096687" y="785914"/>
                </a:lnTo>
                <a:lnTo>
                  <a:pt x="1138462" y="762877"/>
                </a:lnTo>
                <a:lnTo>
                  <a:pt x="1177226" y="737757"/>
                </a:lnTo>
                <a:lnTo>
                  <a:pt x="1212774" y="710685"/>
                </a:lnTo>
                <a:lnTo>
                  <a:pt x="1244902" y="681792"/>
                </a:lnTo>
                <a:lnTo>
                  <a:pt x="1273409" y="651212"/>
                </a:lnTo>
                <a:lnTo>
                  <a:pt x="1298088" y="619076"/>
                </a:lnTo>
                <a:lnTo>
                  <a:pt x="1318737" y="585515"/>
                </a:lnTo>
                <a:lnTo>
                  <a:pt x="1335153" y="550663"/>
                </a:lnTo>
                <a:lnTo>
                  <a:pt x="1354466" y="477610"/>
                </a:lnTo>
                <a:lnTo>
                  <a:pt x="1356956" y="439674"/>
                </a:lnTo>
                <a:lnTo>
                  <a:pt x="1354466" y="401737"/>
                </a:lnTo>
                <a:lnTo>
                  <a:pt x="1335153" y="328684"/>
                </a:lnTo>
                <a:lnTo>
                  <a:pt x="1318737" y="293832"/>
                </a:lnTo>
                <a:lnTo>
                  <a:pt x="1298088" y="260271"/>
                </a:lnTo>
                <a:lnTo>
                  <a:pt x="1273409" y="228135"/>
                </a:lnTo>
                <a:lnTo>
                  <a:pt x="1244902" y="197555"/>
                </a:lnTo>
                <a:lnTo>
                  <a:pt x="1212774" y="168662"/>
                </a:lnTo>
                <a:lnTo>
                  <a:pt x="1177226" y="141590"/>
                </a:lnTo>
                <a:lnTo>
                  <a:pt x="1138462" y="116470"/>
                </a:lnTo>
                <a:lnTo>
                  <a:pt x="1096687" y="93433"/>
                </a:lnTo>
                <a:lnTo>
                  <a:pt x="1052105" y="72612"/>
                </a:lnTo>
                <a:lnTo>
                  <a:pt x="1004918" y="54140"/>
                </a:lnTo>
                <a:lnTo>
                  <a:pt x="955331" y="38147"/>
                </a:lnTo>
                <a:lnTo>
                  <a:pt x="903548" y="24766"/>
                </a:lnTo>
                <a:lnTo>
                  <a:pt x="849771" y="14128"/>
                </a:lnTo>
                <a:lnTo>
                  <a:pt x="794206" y="6367"/>
                </a:lnTo>
                <a:lnTo>
                  <a:pt x="737055" y="1613"/>
                </a:lnTo>
                <a:lnTo>
                  <a:pt x="678522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04558" y="2292350"/>
            <a:ext cx="1356995" cy="879475"/>
          </a:xfrm>
          <a:custGeom>
            <a:avLst/>
            <a:gdLst/>
            <a:ahLst/>
            <a:cxnLst/>
            <a:rect l="l" t="t" r="r" b="b"/>
            <a:pathLst>
              <a:path w="1356995" h="879475">
                <a:moveTo>
                  <a:pt x="0" y="439674"/>
                </a:moveTo>
                <a:lnTo>
                  <a:pt x="9826" y="364696"/>
                </a:lnTo>
                <a:lnTo>
                  <a:pt x="38218" y="293832"/>
                </a:lnTo>
                <a:lnTo>
                  <a:pt x="58867" y="260271"/>
                </a:lnTo>
                <a:lnTo>
                  <a:pt x="83548" y="228135"/>
                </a:lnTo>
                <a:lnTo>
                  <a:pt x="112055" y="197555"/>
                </a:lnTo>
                <a:lnTo>
                  <a:pt x="144185" y="168662"/>
                </a:lnTo>
                <a:lnTo>
                  <a:pt x="179735" y="141590"/>
                </a:lnTo>
                <a:lnTo>
                  <a:pt x="218502" y="116470"/>
                </a:lnTo>
                <a:lnTo>
                  <a:pt x="260280" y="93433"/>
                </a:lnTo>
                <a:lnTo>
                  <a:pt x="304868" y="72612"/>
                </a:lnTo>
                <a:lnTo>
                  <a:pt x="352061" y="54140"/>
                </a:lnTo>
                <a:lnTo>
                  <a:pt x="401655" y="38147"/>
                </a:lnTo>
                <a:lnTo>
                  <a:pt x="453447" y="24766"/>
                </a:lnTo>
                <a:lnTo>
                  <a:pt x="507234" y="14128"/>
                </a:lnTo>
                <a:lnTo>
                  <a:pt x="562811" y="6367"/>
                </a:lnTo>
                <a:lnTo>
                  <a:pt x="619975" y="1613"/>
                </a:lnTo>
                <a:lnTo>
                  <a:pt x="678522" y="0"/>
                </a:lnTo>
                <a:lnTo>
                  <a:pt x="737055" y="1613"/>
                </a:lnTo>
                <a:lnTo>
                  <a:pt x="794206" y="6367"/>
                </a:lnTo>
                <a:lnTo>
                  <a:pt x="849771" y="14128"/>
                </a:lnTo>
                <a:lnTo>
                  <a:pt x="903548" y="24766"/>
                </a:lnTo>
                <a:lnTo>
                  <a:pt x="955331" y="38147"/>
                </a:lnTo>
                <a:lnTo>
                  <a:pt x="1004918" y="54140"/>
                </a:lnTo>
                <a:lnTo>
                  <a:pt x="1052105" y="72612"/>
                </a:lnTo>
                <a:lnTo>
                  <a:pt x="1096687" y="93433"/>
                </a:lnTo>
                <a:lnTo>
                  <a:pt x="1138462" y="116470"/>
                </a:lnTo>
                <a:lnTo>
                  <a:pt x="1177226" y="141590"/>
                </a:lnTo>
                <a:lnTo>
                  <a:pt x="1212774" y="168662"/>
                </a:lnTo>
                <a:lnTo>
                  <a:pt x="1244902" y="197555"/>
                </a:lnTo>
                <a:lnTo>
                  <a:pt x="1273409" y="228135"/>
                </a:lnTo>
                <a:lnTo>
                  <a:pt x="1298088" y="260271"/>
                </a:lnTo>
                <a:lnTo>
                  <a:pt x="1318737" y="293832"/>
                </a:lnTo>
                <a:lnTo>
                  <a:pt x="1335153" y="328684"/>
                </a:lnTo>
                <a:lnTo>
                  <a:pt x="1354466" y="401737"/>
                </a:lnTo>
                <a:lnTo>
                  <a:pt x="1356956" y="439674"/>
                </a:lnTo>
                <a:lnTo>
                  <a:pt x="1354466" y="477610"/>
                </a:lnTo>
                <a:lnTo>
                  <a:pt x="1335153" y="550663"/>
                </a:lnTo>
                <a:lnTo>
                  <a:pt x="1318737" y="585515"/>
                </a:lnTo>
                <a:lnTo>
                  <a:pt x="1298088" y="619076"/>
                </a:lnTo>
                <a:lnTo>
                  <a:pt x="1273409" y="651212"/>
                </a:lnTo>
                <a:lnTo>
                  <a:pt x="1244902" y="681792"/>
                </a:lnTo>
                <a:lnTo>
                  <a:pt x="1212774" y="710685"/>
                </a:lnTo>
                <a:lnTo>
                  <a:pt x="1177226" y="737757"/>
                </a:lnTo>
                <a:lnTo>
                  <a:pt x="1138462" y="762877"/>
                </a:lnTo>
                <a:lnTo>
                  <a:pt x="1096687" y="785914"/>
                </a:lnTo>
                <a:lnTo>
                  <a:pt x="1052105" y="806735"/>
                </a:lnTo>
                <a:lnTo>
                  <a:pt x="1004918" y="825207"/>
                </a:lnTo>
                <a:lnTo>
                  <a:pt x="955331" y="841200"/>
                </a:lnTo>
                <a:lnTo>
                  <a:pt x="903548" y="854581"/>
                </a:lnTo>
                <a:lnTo>
                  <a:pt x="849771" y="865219"/>
                </a:lnTo>
                <a:lnTo>
                  <a:pt x="794206" y="872980"/>
                </a:lnTo>
                <a:lnTo>
                  <a:pt x="737055" y="877734"/>
                </a:lnTo>
                <a:lnTo>
                  <a:pt x="678522" y="879348"/>
                </a:lnTo>
                <a:lnTo>
                  <a:pt x="619975" y="877734"/>
                </a:lnTo>
                <a:lnTo>
                  <a:pt x="562811" y="872980"/>
                </a:lnTo>
                <a:lnTo>
                  <a:pt x="507234" y="865219"/>
                </a:lnTo>
                <a:lnTo>
                  <a:pt x="453447" y="854581"/>
                </a:lnTo>
                <a:lnTo>
                  <a:pt x="401655" y="841200"/>
                </a:lnTo>
                <a:lnTo>
                  <a:pt x="352061" y="825207"/>
                </a:lnTo>
                <a:lnTo>
                  <a:pt x="304868" y="806735"/>
                </a:lnTo>
                <a:lnTo>
                  <a:pt x="260280" y="785914"/>
                </a:lnTo>
                <a:lnTo>
                  <a:pt x="218502" y="762877"/>
                </a:lnTo>
                <a:lnTo>
                  <a:pt x="179735" y="737757"/>
                </a:lnTo>
                <a:lnTo>
                  <a:pt x="144185" y="710685"/>
                </a:lnTo>
                <a:lnTo>
                  <a:pt x="112055" y="681792"/>
                </a:lnTo>
                <a:lnTo>
                  <a:pt x="83548" y="651212"/>
                </a:lnTo>
                <a:lnTo>
                  <a:pt x="58867" y="619076"/>
                </a:lnTo>
                <a:lnTo>
                  <a:pt x="38218" y="585515"/>
                </a:lnTo>
                <a:lnTo>
                  <a:pt x="21803" y="550663"/>
                </a:lnTo>
                <a:lnTo>
                  <a:pt x="2490" y="477610"/>
                </a:lnTo>
                <a:lnTo>
                  <a:pt x="0" y="439674"/>
                </a:lnTo>
                <a:close/>
              </a:path>
            </a:pathLst>
          </a:custGeom>
          <a:ln w="9525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82192" y="2587497"/>
            <a:ext cx="608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65" dirty="0">
                <a:latin typeface="Arial"/>
                <a:cs typeface="Arial"/>
              </a:rPr>
              <a:t>Tiem</a:t>
            </a:r>
            <a:r>
              <a:rPr sz="1600" spc="-15" dirty="0">
                <a:latin typeface="Arial"/>
                <a:cs typeface="Arial"/>
              </a:rPr>
              <a:t>p</a:t>
            </a:r>
            <a:r>
              <a:rPr sz="1600" spc="-95" dirty="0">
                <a:latin typeface="Arial"/>
                <a:cs typeface="Arial"/>
              </a:rPr>
              <a:t>o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470903" y="1764792"/>
            <a:ext cx="1315211" cy="77724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635495" y="1969007"/>
            <a:ext cx="958596" cy="42976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24091" y="1568450"/>
            <a:ext cx="1303655" cy="764540"/>
          </a:xfrm>
          <a:custGeom>
            <a:avLst/>
            <a:gdLst/>
            <a:ahLst/>
            <a:cxnLst/>
            <a:rect l="l" t="t" r="r" b="b"/>
            <a:pathLst>
              <a:path w="1303654" h="764539">
                <a:moveTo>
                  <a:pt x="651637" y="0"/>
                </a:moveTo>
                <a:lnTo>
                  <a:pt x="592320" y="1562"/>
                </a:lnTo>
                <a:lnTo>
                  <a:pt x="534496" y="6160"/>
                </a:lnTo>
                <a:lnTo>
                  <a:pt x="478396" y="13658"/>
                </a:lnTo>
                <a:lnTo>
                  <a:pt x="424248" y="23921"/>
                </a:lnTo>
                <a:lnTo>
                  <a:pt x="372282" y="36814"/>
                </a:lnTo>
                <a:lnTo>
                  <a:pt x="322730" y="52201"/>
                </a:lnTo>
                <a:lnTo>
                  <a:pt x="275820" y="69948"/>
                </a:lnTo>
                <a:lnTo>
                  <a:pt x="231783" y="89920"/>
                </a:lnTo>
                <a:lnTo>
                  <a:pt x="190849" y="111982"/>
                </a:lnTo>
                <a:lnTo>
                  <a:pt x="153247" y="135998"/>
                </a:lnTo>
                <a:lnTo>
                  <a:pt x="119208" y="161833"/>
                </a:lnTo>
                <a:lnTo>
                  <a:pt x="88961" y="189352"/>
                </a:lnTo>
                <a:lnTo>
                  <a:pt x="62736" y="218420"/>
                </a:lnTo>
                <a:lnTo>
                  <a:pt x="23275" y="280664"/>
                </a:lnTo>
                <a:lnTo>
                  <a:pt x="2662" y="347482"/>
                </a:lnTo>
                <a:lnTo>
                  <a:pt x="0" y="382269"/>
                </a:lnTo>
                <a:lnTo>
                  <a:pt x="2662" y="417037"/>
                </a:lnTo>
                <a:lnTo>
                  <a:pt x="23275" y="483822"/>
                </a:lnTo>
                <a:lnTo>
                  <a:pt x="62736" y="546040"/>
                </a:lnTo>
                <a:lnTo>
                  <a:pt x="88961" y="575098"/>
                </a:lnTo>
                <a:lnTo>
                  <a:pt x="119208" y="602608"/>
                </a:lnTo>
                <a:lnTo>
                  <a:pt x="153247" y="628436"/>
                </a:lnTo>
                <a:lnTo>
                  <a:pt x="190849" y="652446"/>
                </a:lnTo>
                <a:lnTo>
                  <a:pt x="231783" y="674503"/>
                </a:lnTo>
                <a:lnTo>
                  <a:pt x="275820" y="694471"/>
                </a:lnTo>
                <a:lnTo>
                  <a:pt x="322730" y="712215"/>
                </a:lnTo>
                <a:lnTo>
                  <a:pt x="372282" y="727601"/>
                </a:lnTo>
                <a:lnTo>
                  <a:pt x="424248" y="740493"/>
                </a:lnTo>
                <a:lnTo>
                  <a:pt x="478396" y="750755"/>
                </a:lnTo>
                <a:lnTo>
                  <a:pt x="534496" y="758252"/>
                </a:lnTo>
                <a:lnTo>
                  <a:pt x="592320" y="762850"/>
                </a:lnTo>
                <a:lnTo>
                  <a:pt x="651637" y="764413"/>
                </a:lnTo>
                <a:lnTo>
                  <a:pt x="710934" y="762850"/>
                </a:lnTo>
                <a:lnTo>
                  <a:pt x="768743" y="758252"/>
                </a:lnTo>
                <a:lnTo>
                  <a:pt x="824833" y="750755"/>
                </a:lnTo>
                <a:lnTo>
                  <a:pt x="878974" y="740493"/>
                </a:lnTo>
                <a:lnTo>
                  <a:pt x="930935" y="727601"/>
                </a:lnTo>
                <a:lnTo>
                  <a:pt x="980487" y="712215"/>
                </a:lnTo>
                <a:lnTo>
                  <a:pt x="1027397" y="694471"/>
                </a:lnTo>
                <a:lnTo>
                  <a:pt x="1071438" y="674503"/>
                </a:lnTo>
                <a:lnTo>
                  <a:pt x="1112377" y="652446"/>
                </a:lnTo>
                <a:lnTo>
                  <a:pt x="1149984" y="628436"/>
                </a:lnTo>
                <a:lnTo>
                  <a:pt x="1184030" y="602608"/>
                </a:lnTo>
                <a:lnTo>
                  <a:pt x="1214284" y="575098"/>
                </a:lnTo>
                <a:lnTo>
                  <a:pt x="1240516" y="546040"/>
                </a:lnTo>
                <a:lnTo>
                  <a:pt x="1279990" y="483822"/>
                </a:lnTo>
                <a:lnTo>
                  <a:pt x="1300610" y="417037"/>
                </a:lnTo>
                <a:lnTo>
                  <a:pt x="1303274" y="382269"/>
                </a:lnTo>
                <a:lnTo>
                  <a:pt x="1300610" y="347482"/>
                </a:lnTo>
                <a:lnTo>
                  <a:pt x="1279990" y="280664"/>
                </a:lnTo>
                <a:lnTo>
                  <a:pt x="1240516" y="218420"/>
                </a:lnTo>
                <a:lnTo>
                  <a:pt x="1214284" y="189352"/>
                </a:lnTo>
                <a:lnTo>
                  <a:pt x="1184030" y="161833"/>
                </a:lnTo>
                <a:lnTo>
                  <a:pt x="1149984" y="135998"/>
                </a:lnTo>
                <a:lnTo>
                  <a:pt x="1112377" y="111982"/>
                </a:lnTo>
                <a:lnTo>
                  <a:pt x="1071438" y="89920"/>
                </a:lnTo>
                <a:lnTo>
                  <a:pt x="1027397" y="69948"/>
                </a:lnTo>
                <a:lnTo>
                  <a:pt x="980487" y="52201"/>
                </a:lnTo>
                <a:lnTo>
                  <a:pt x="930935" y="36814"/>
                </a:lnTo>
                <a:lnTo>
                  <a:pt x="878974" y="23921"/>
                </a:lnTo>
                <a:lnTo>
                  <a:pt x="824833" y="13658"/>
                </a:lnTo>
                <a:lnTo>
                  <a:pt x="768743" y="6160"/>
                </a:lnTo>
                <a:lnTo>
                  <a:pt x="710934" y="1562"/>
                </a:lnTo>
                <a:lnTo>
                  <a:pt x="65163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324091" y="1568450"/>
            <a:ext cx="1303655" cy="764540"/>
          </a:xfrm>
          <a:custGeom>
            <a:avLst/>
            <a:gdLst/>
            <a:ahLst/>
            <a:cxnLst/>
            <a:rect l="l" t="t" r="r" b="b"/>
            <a:pathLst>
              <a:path w="1303654" h="764539">
                <a:moveTo>
                  <a:pt x="0" y="382269"/>
                </a:moveTo>
                <a:lnTo>
                  <a:pt x="10497" y="313569"/>
                </a:lnTo>
                <a:lnTo>
                  <a:pt x="40764" y="248902"/>
                </a:lnTo>
                <a:lnTo>
                  <a:pt x="88961" y="189352"/>
                </a:lnTo>
                <a:lnTo>
                  <a:pt x="119208" y="161833"/>
                </a:lnTo>
                <a:lnTo>
                  <a:pt x="153247" y="135998"/>
                </a:lnTo>
                <a:lnTo>
                  <a:pt x="190849" y="111982"/>
                </a:lnTo>
                <a:lnTo>
                  <a:pt x="231783" y="89920"/>
                </a:lnTo>
                <a:lnTo>
                  <a:pt x="275820" y="69948"/>
                </a:lnTo>
                <a:lnTo>
                  <a:pt x="322730" y="52201"/>
                </a:lnTo>
                <a:lnTo>
                  <a:pt x="372282" y="36814"/>
                </a:lnTo>
                <a:lnTo>
                  <a:pt x="424248" y="23921"/>
                </a:lnTo>
                <a:lnTo>
                  <a:pt x="478396" y="13658"/>
                </a:lnTo>
                <a:lnTo>
                  <a:pt x="534496" y="6160"/>
                </a:lnTo>
                <a:lnTo>
                  <a:pt x="592320" y="1562"/>
                </a:lnTo>
                <a:lnTo>
                  <a:pt x="651637" y="0"/>
                </a:lnTo>
                <a:lnTo>
                  <a:pt x="710934" y="1562"/>
                </a:lnTo>
                <a:lnTo>
                  <a:pt x="768743" y="6160"/>
                </a:lnTo>
                <a:lnTo>
                  <a:pt x="824833" y="13658"/>
                </a:lnTo>
                <a:lnTo>
                  <a:pt x="878974" y="23921"/>
                </a:lnTo>
                <a:lnTo>
                  <a:pt x="930935" y="36814"/>
                </a:lnTo>
                <a:lnTo>
                  <a:pt x="980487" y="52201"/>
                </a:lnTo>
                <a:lnTo>
                  <a:pt x="1027397" y="69948"/>
                </a:lnTo>
                <a:lnTo>
                  <a:pt x="1071438" y="89920"/>
                </a:lnTo>
                <a:lnTo>
                  <a:pt x="1112377" y="111982"/>
                </a:lnTo>
                <a:lnTo>
                  <a:pt x="1149984" y="135998"/>
                </a:lnTo>
                <a:lnTo>
                  <a:pt x="1184030" y="161833"/>
                </a:lnTo>
                <a:lnTo>
                  <a:pt x="1214284" y="189352"/>
                </a:lnTo>
                <a:lnTo>
                  <a:pt x="1240516" y="218420"/>
                </a:lnTo>
                <a:lnTo>
                  <a:pt x="1279990" y="280664"/>
                </a:lnTo>
                <a:lnTo>
                  <a:pt x="1300610" y="347482"/>
                </a:lnTo>
                <a:lnTo>
                  <a:pt x="1303274" y="382269"/>
                </a:lnTo>
                <a:lnTo>
                  <a:pt x="1300610" y="417037"/>
                </a:lnTo>
                <a:lnTo>
                  <a:pt x="1279990" y="483822"/>
                </a:lnTo>
                <a:lnTo>
                  <a:pt x="1240516" y="546040"/>
                </a:lnTo>
                <a:lnTo>
                  <a:pt x="1214284" y="575098"/>
                </a:lnTo>
                <a:lnTo>
                  <a:pt x="1184030" y="602608"/>
                </a:lnTo>
                <a:lnTo>
                  <a:pt x="1149984" y="628436"/>
                </a:lnTo>
                <a:lnTo>
                  <a:pt x="1112377" y="652446"/>
                </a:lnTo>
                <a:lnTo>
                  <a:pt x="1071438" y="674503"/>
                </a:lnTo>
                <a:lnTo>
                  <a:pt x="1027397" y="694471"/>
                </a:lnTo>
                <a:lnTo>
                  <a:pt x="980487" y="712215"/>
                </a:lnTo>
                <a:lnTo>
                  <a:pt x="930935" y="727601"/>
                </a:lnTo>
                <a:lnTo>
                  <a:pt x="878974" y="740493"/>
                </a:lnTo>
                <a:lnTo>
                  <a:pt x="824833" y="750755"/>
                </a:lnTo>
                <a:lnTo>
                  <a:pt x="768743" y="758252"/>
                </a:lnTo>
                <a:lnTo>
                  <a:pt x="710934" y="762850"/>
                </a:lnTo>
                <a:lnTo>
                  <a:pt x="651637" y="764413"/>
                </a:lnTo>
                <a:lnTo>
                  <a:pt x="592320" y="762850"/>
                </a:lnTo>
                <a:lnTo>
                  <a:pt x="534496" y="758252"/>
                </a:lnTo>
                <a:lnTo>
                  <a:pt x="478396" y="750755"/>
                </a:lnTo>
                <a:lnTo>
                  <a:pt x="424248" y="740493"/>
                </a:lnTo>
                <a:lnTo>
                  <a:pt x="372282" y="727601"/>
                </a:lnTo>
                <a:lnTo>
                  <a:pt x="322730" y="712215"/>
                </a:lnTo>
                <a:lnTo>
                  <a:pt x="275820" y="694471"/>
                </a:lnTo>
                <a:lnTo>
                  <a:pt x="231783" y="674503"/>
                </a:lnTo>
                <a:lnTo>
                  <a:pt x="190849" y="652446"/>
                </a:lnTo>
                <a:lnTo>
                  <a:pt x="153247" y="628436"/>
                </a:lnTo>
                <a:lnTo>
                  <a:pt x="119208" y="602608"/>
                </a:lnTo>
                <a:lnTo>
                  <a:pt x="88961" y="575098"/>
                </a:lnTo>
                <a:lnTo>
                  <a:pt x="62736" y="546040"/>
                </a:lnTo>
                <a:lnTo>
                  <a:pt x="23275" y="483822"/>
                </a:lnTo>
                <a:lnTo>
                  <a:pt x="2662" y="417037"/>
                </a:lnTo>
                <a:lnTo>
                  <a:pt x="0" y="382269"/>
                </a:lnTo>
                <a:close/>
              </a:path>
            </a:pathLst>
          </a:custGeom>
          <a:ln w="9525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594729" y="1806066"/>
            <a:ext cx="6813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14" dirty="0">
                <a:latin typeface="Arial"/>
                <a:cs typeface="Arial"/>
              </a:rPr>
              <a:t>C</a:t>
            </a:r>
            <a:r>
              <a:rPr sz="1600" spc="-100" dirty="0">
                <a:latin typeface="Arial"/>
                <a:cs typeface="Arial"/>
              </a:rPr>
              <a:t>a</a:t>
            </a:r>
            <a:r>
              <a:rPr sz="1600" spc="-10" dirty="0">
                <a:latin typeface="Arial"/>
                <a:cs typeface="Arial"/>
              </a:rPr>
              <a:t>li</a:t>
            </a:r>
            <a:r>
              <a:rPr sz="1600" spc="-25" dirty="0">
                <a:latin typeface="Arial"/>
                <a:cs typeface="Arial"/>
              </a:rPr>
              <a:t>d</a:t>
            </a:r>
            <a:r>
              <a:rPr sz="1600" spc="-15" dirty="0">
                <a:latin typeface="Arial"/>
                <a:cs typeface="Arial"/>
              </a:rPr>
              <a:t>a</a:t>
            </a:r>
            <a:r>
              <a:rPr sz="1600" spc="-10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946903" y="1179575"/>
            <a:ext cx="1499615" cy="74828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138928" y="1370075"/>
            <a:ext cx="818388" cy="42976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801361" y="982344"/>
            <a:ext cx="1485900" cy="736600"/>
          </a:xfrm>
          <a:custGeom>
            <a:avLst/>
            <a:gdLst/>
            <a:ahLst/>
            <a:cxnLst/>
            <a:rect l="l" t="t" r="r" b="b"/>
            <a:pathLst>
              <a:path w="1485900" h="736600">
                <a:moveTo>
                  <a:pt x="742950" y="0"/>
                </a:moveTo>
                <a:lnTo>
                  <a:pt x="678843" y="1351"/>
                </a:lnTo>
                <a:lnTo>
                  <a:pt x="616250" y="5332"/>
                </a:lnTo>
                <a:lnTo>
                  <a:pt x="555396" y="11831"/>
                </a:lnTo>
                <a:lnTo>
                  <a:pt x="496502" y="20739"/>
                </a:lnTo>
                <a:lnTo>
                  <a:pt x="439792" y="31944"/>
                </a:lnTo>
                <a:lnTo>
                  <a:pt x="385489" y="45337"/>
                </a:lnTo>
                <a:lnTo>
                  <a:pt x="333815" y="60806"/>
                </a:lnTo>
                <a:lnTo>
                  <a:pt x="284994" y="78241"/>
                </a:lnTo>
                <a:lnTo>
                  <a:pt x="239248" y="97532"/>
                </a:lnTo>
                <a:lnTo>
                  <a:pt x="196801" y="118567"/>
                </a:lnTo>
                <a:lnTo>
                  <a:pt x="157875" y="141237"/>
                </a:lnTo>
                <a:lnTo>
                  <a:pt x="122694" y="165431"/>
                </a:lnTo>
                <a:lnTo>
                  <a:pt x="91480" y="191039"/>
                </a:lnTo>
                <a:lnTo>
                  <a:pt x="64457" y="217949"/>
                </a:lnTo>
                <a:lnTo>
                  <a:pt x="23873" y="275235"/>
                </a:lnTo>
                <a:lnTo>
                  <a:pt x="2726" y="336406"/>
                </a:lnTo>
                <a:lnTo>
                  <a:pt x="0" y="368172"/>
                </a:lnTo>
                <a:lnTo>
                  <a:pt x="2726" y="399958"/>
                </a:lnTo>
                <a:lnTo>
                  <a:pt x="23873" y="461161"/>
                </a:lnTo>
                <a:lnTo>
                  <a:pt x="64457" y="518472"/>
                </a:lnTo>
                <a:lnTo>
                  <a:pt x="91480" y="545393"/>
                </a:lnTo>
                <a:lnTo>
                  <a:pt x="122694" y="571009"/>
                </a:lnTo>
                <a:lnTo>
                  <a:pt x="157875" y="595210"/>
                </a:lnTo>
                <a:lnTo>
                  <a:pt x="196801" y="617886"/>
                </a:lnTo>
                <a:lnTo>
                  <a:pt x="239248" y="638927"/>
                </a:lnTo>
                <a:lnTo>
                  <a:pt x="284994" y="658221"/>
                </a:lnTo>
                <a:lnTo>
                  <a:pt x="333815" y="675660"/>
                </a:lnTo>
                <a:lnTo>
                  <a:pt x="385489" y="691131"/>
                </a:lnTo>
                <a:lnTo>
                  <a:pt x="439792" y="704525"/>
                </a:lnTo>
                <a:lnTo>
                  <a:pt x="496502" y="715732"/>
                </a:lnTo>
                <a:lnTo>
                  <a:pt x="555396" y="724640"/>
                </a:lnTo>
                <a:lnTo>
                  <a:pt x="616250" y="731140"/>
                </a:lnTo>
                <a:lnTo>
                  <a:pt x="678843" y="735121"/>
                </a:lnTo>
                <a:lnTo>
                  <a:pt x="742950" y="736472"/>
                </a:lnTo>
                <a:lnTo>
                  <a:pt x="807056" y="735121"/>
                </a:lnTo>
                <a:lnTo>
                  <a:pt x="869649" y="731140"/>
                </a:lnTo>
                <a:lnTo>
                  <a:pt x="930503" y="724640"/>
                </a:lnTo>
                <a:lnTo>
                  <a:pt x="989397" y="715732"/>
                </a:lnTo>
                <a:lnTo>
                  <a:pt x="1046107" y="704525"/>
                </a:lnTo>
                <a:lnTo>
                  <a:pt x="1100410" y="691131"/>
                </a:lnTo>
                <a:lnTo>
                  <a:pt x="1152084" y="675660"/>
                </a:lnTo>
                <a:lnTo>
                  <a:pt x="1200905" y="658221"/>
                </a:lnTo>
                <a:lnTo>
                  <a:pt x="1246651" y="638927"/>
                </a:lnTo>
                <a:lnTo>
                  <a:pt x="1289098" y="617886"/>
                </a:lnTo>
                <a:lnTo>
                  <a:pt x="1328024" y="595210"/>
                </a:lnTo>
                <a:lnTo>
                  <a:pt x="1363205" y="571009"/>
                </a:lnTo>
                <a:lnTo>
                  <a:pt x="1394419" y="545393"/>
                </a:lnTo>
                <a:lnTo>
                  <a:pt x="1421442" y="518472"/>
                </a:lnTo>
                <a:lnTo>
                  <a:pt x="1462026" y="461161"/>
                </a:lnTo>
                <a:lnTo>
                  <a:pt x="1483173" y="399958"/>
                </a:lnTo>
                <a:lnTo>
                  <a:pt x="1485900" y="368172"/>
                </a:lnTo>
                <a:lnTo>
                  <a:pt x="1483173" y="336406"/>
                </a:lnTo>
                <a:lnTo>
                  <a:pt x="1462026" y="275235"/>
                </a:lnTo>
                <a:lnTo>
                  <a:pt x="1421442" y="217949"/>
                </a:lnTo>
                <a:lnTo>
                  <a:pt x="1394419" y="191039"/>
                </a:lnTo>
                <a:lnTo>
                  <a:pt x="1363205" y="165431"/>
                </a:lnTo>
                <a:lnTo>
                  <a:pt x="1328024" y="141237"/>
                </a:lnTo>
                <a:lnTo>
                  <a:pt x="1289098" y="118567"/>
                </a:lnTo>
                <a:lnTo>
                  <a:pt x="1246651" y="97532"/>
                </a:lnTo>
                <a:lnTo>
                  <a:pt x="1200905" y="78241"/>
                </a:lnTo>
                <a:lnTo>
                  <a:pt x="1152084" y="60806"/>
                </a:lnTo>
                <a:lnTo>
                  <a:pt x="1100410" y="45337"/>
                </a:lnTo>
                <a:lnTo>
                  <a:pt x="1046107" y="31944"/>
                </a:lnTo>
                <a:lnTo>
                  <a:pt x="989397" y="20739"/>
                </a:lnTo>
                <a:lnTo>
                  <a:pt x="930503" y="11831"/>
                </a:lnTo>
                <a:lnTo>
                  <a:pt x="869649" y="5332"/>
                </a:lnTo>
                <a:lnTo>
                  <a:pt x="807056" y="1351"/>
                </a:lnTo>
                <a:lnTo>
                  <a:pt x="74295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801361" y="982344"/>
            <a:ext cx="1485900" cy="736600"/>
          </a:xfrm>
          <a:custGeom>
            <a:avLst/>
            <a:gdLst/>
            <a:ahLst/>
            <a:cxnLst/>
            <a:rect l="l" t="t" r="r" b="b"/>
            <a:pathLst>
              <a:path w="1485900" h="736600">
                <a:moveTo>
                  <a:pt x="0" y="368172"/>
                </a:moveTo>
                <a:lnTo>
                  <a:pt x="10759" y="305391"/>
                </a:lnTo>
                <a:lnTo>
                  <a:pt x="41847" y="246051"/>
                </a:lnTo>
                <a:lnTo>
                  <a:pt x="91480" y="191039"/>
                </a:lnTo>
                <a:lnTo>
                  <a:pt x="122694" y="165431"/>
                </a:lnTo>
                <a:lnTo>
                  <a:pt x="157875" y="141237"/>
                </a:lnTo>
                <a:lnTo>
                  <a:pt x="196801" y="118567"/>
                </a:lnTo>
                <a:lnTo>
                  <a:pt x="239248" y="97532"/>
                </a:lnTo>
                <a:lnTo>
                  <a:pt x="284994" y="78241"/>
                </a:lnTo>
                <a:lnTo>
                  <a:pt x="333815" y="60806"/>
                </a:lnTo>
                <a:lnTo>
                  <a:pt x="385489" y="45337"/>
                </a:lnTo>
                <a:lnTo>
                  <a:pt x="439792" y="31944"/>
                </a:lnTo>
                <a:lnTo>
                  <a:pt x="496502" y="20739"/>
                </a:lnTo>
                <a:lnTo>
                  <a:pt x="555396" y="11831"/>
                </a:lnTo>
                <a:lnTo>
                  <a:pt x="616250" y="5332"/>
                </a:lnTo>
                <a:lnTo>
                  <a:pt x="678843" y="1351"/>
                </a:lnTo>
                <a:lnTo>
                  <a:pt x="742950" y="0"/>
                </a:lnTo>
                <a:lnTo>
                  <a:pt x="807056" y="1351"/>
                </a:lnTo>
                <a:lnTo>
                  <a:pt x="869649" y="5332"/>
                </a:lnTo>
                <a:lnTo>
                  <a:pt x="930503" y="11831"/>
                </a:lnTo>
                <a:lnTo>
                  <a:pt x="989397" y="20739"/>
                </a:lnTo>
                <a:lnTo>
                  <a:pt x="1046107" y="31944"/>
                </a:lnTo>
                <a:lnTo>
                  <a:pt x="1100410" y="45337"/>
                </a:lnTo>
                <a:lnTo>
                  <a:pt x="1152084" y="60806"/>
                </a:lnTo>
                <a:lnTo>
                  <a:pt x="1200905" y="78241"/>
                </a:lnTo>
                <a:lnTo>
                  <a:pt x="1246651" y="97532"/>
                </a:lnTo>
                <a:lnTo>
                  <a:pt x="1289098" y="118567"/>
                </a:lnTo>
                <a:lnTo>
                  <a:pt x="1328024" y="141237"/>
                </a:lnTo>
                <a:lnTo>
                  <a:pt x="1363205" y="165431"/>
                </a:lnTo>
                <a:lnTo>
                  <a:pt x="1394419" y="191039"/>
                </a:lnTo>
                <a:lnTo>
                  <a:pt x="1421442" y="217949"/>
                </a:lnTo>
                <a:lnTo>
                  <a:pt x="1462026" y="275235"/>
                </a:lnTo>
                <a:lnTo>
                  <a:pt x="1483173" y="336406"/>
                </a:lnTo>
                <a:lnTo>
                  <a:pt x="1485900" y="368172"/>
                </a:lnTo>
                <a:lnTo>
                  <a:pt x="1483173" y="399958"/>
                </a:lnTo>
                <a:lnTo>
                  <a:pt x="1462026" y="461161"/>
                </a:lnTo>
                <a:lnTo>
                  <a:pt x="1421442" y="518472"/>
                </a:lnTo>
                <a:lnTo>
                  <a:pt x="1394419" y="545393"/>
                </a:lnTo>
                <a:lnTo>
                  <a:pt x="1363205" y="571009"/>
                </a:lnTo>
                <a:lnTo>
                  <a:pt x="1328024" y="595210"/>
                </a:lnTo>
                <a:lnTo>
                  <a:pt x="1289098" y="617886"/>
                </a:lnTo>
                <a:lnTo>
                  <a:pt x="1246651" y="638927"/>
                </a:lnTo>
                <a:lnTo>
                  <a:pt x="1200905" y="658221"/>
                </a:lnTo>
                <a:lnTo>
                  <a:pt x="1152084" y="675660"/>
                </a:lnTo>
                <a:lnTo>
                  <a:pt x="1100410" y="691131"/>
                </a:lnTo>
                <a:lnTo>
                  <a:pt x="1046107" y="704525"/>
                </a:lnTo>
                <a:lnTo>
                  <a:pt x="989397" y="715732"/>
                </a:lnTo>
                <a:lnTo>
                  <a:pt x="930503" y="724640"/>
                </a:lnTo>
                <a:lnTo>
                  <a:pt x="869649" y="731140"/>
                </a:lnTo>
                <a:lnTo>
                  <a:pt x="807056" y="735121"/>
                </a:lnTo>
                <a:lnTo>
                  <a:pt x="742950" y="736472"/>
                </a:lnTo>
                <a:lnTo>
                  <a:pt x="678843" y="735121"/>
                </a:lnTo>
                <a:lnTo>
                  <a:pt x="616250" y="731140"/>
                </a:lnTo>
                <a:lnTo>
                  <a:pt x="555396" y="724640"/>
                </a:lnTo>
                <a:lnTo>
                  <a:pt x="496502" y="715732"/>
                </a:lnTo>
                <a:lnTo>
                  <a:pt x="439792" y="704525"/>
                </a:lnTo>
                <a:lnTo>
                  <a:pt x="385489" y="691131"/>
                </a:lnTo>
                <a:lnTo>
                  <a:pt x="333815" y="675660"/>
                </a:lnTo>
                <a:lnTo>
                  <a:pt x="284994" y="658221"/>
                </a:lnTo>
                <a:lnTo>
                  <a:pt x="239248" y="638927"/>
                </a:lnTo>
                <a:lnTo>
                  <a:pt x="196801" y="617886"/>
                </a:lnTo>
                <a:lnTo>
                  <a:pt x="157875" y="595210"/>
                </a:lnTo>
                <a:lnTo>
                  <a:pt x="122694" y="571009"/>
                </a:lnTo>
                <a:lnTo>
                  <a:pt x="91480" y="545393"/>
                </a:lnTo>
                <a:lnTo>
                  <a:pt x="64457" y="518472"/>
                </a:lnTo>
                <a:lnTo>
                  <a:pt x="23873" y="461161"/>
                </a:lnTo>
                <a:lnTo>
                  <a:pt x="2726" y="399958"/>
                </a:lnTo>
                <a:lnTo>
                  <a:pt x="0" y="368172"/>
                </a:lnTo>
                <a:close/>
              </a:path>
            </a:pathLst>
          </a:custGeom>
          <a:ln w="9525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5098541" y="1205611"/>
            <a:ext cx="5410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5" dirty="0">
                <a:latin typeface="Arial"/>
                <a:cs typeface="Arial"/>
              </a:rPr>
              <a:t>Costos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287773" y="4942433"/>
            <a:ext cx="1873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464646"/>
                </a:solidFill>
                <a:latin typeface="Arial"/>
                <a:cs typeface="Arial"/>
              </a:rPr>
              <a:t>44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35940" y="4796434"/>
            <a:ext cx="2209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Gerencia </a:t>
            </a:r>
            <a:r>
              <a:rPr sz="1800" spc="-55" dirty="0">
                <a:latin typeface="Arial"/>
                <a:cs typeface="Arial"/>
              </a:rPr>
              <a:t>de </a:t>
            </a:r>
            <a:r>
              <a:rPr sz="1800" spc="-140" dirty="0">
                <a:latin typeface="Arial"/>
                <a:cs typeface="Arial"/>
              </a:rPr>
              <a:t>Proyectos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04775" y="4758029"/>
            <a:ext cx="304800" cy="254000"/>
          </a:xfrm>
          <a:custGeom>
            <a:avLst/>
            <a:gdLst/>
            <a:ahLst/>
            <a:cxnLst/>
            <a:rect l="l" t="t" r="r" b="b"/>
            <a:pathLst>
              <a:path w="304800" h="254000">
                <a:moveTo>
                  <a:pt x="152400" y="0"/>
                </a:moveTo>
                <a:lnTo>
                  <a:pt x="104231" y="6461"/>
                </a:lnTo>
                <a:lnTo>
                  <a:pt x="62396" y="24453"/>
                </a:lnTo>
                <a:lnTo>
                  <a:pt x="29405" y="51890"/>
                </a:lnTo>
                <a:lnTo>
                  <a:pt x="7769" y="86683"/>
                </a:lnTo>
                <a:lnTo>
                  <a:pt x="0" y="126745"/>
                </a:lnTo>
                <a:lnTo>
                  <a:pt x="7769" y="166808"/>
                </a:lnTo>
                <a:lnTo>
                  <a:pt x="29405" y="201601"/>
                </a:lnTo>
                <a:lnTo>
                  <a:pt x="62396" y="229038"/>
                </a:lnTo>
                <a:lnTo>
                  <a:pt x="104231" y="247030"/>
                </a:lnTo>
                <a:lnTo>
                  <a:pt x="152400" y="253491"/>
                </a:lnTo>
                <a:lnTo>
                  <a:pt x="200568" y="247030"/>
                </a:lnTo>
                <a:lnTo>
                  <a:pt x="242403" y="229038"/>
                </a:lnTo>
                <a:lnTo>
                  <a:pt x="275394" y="201601"/>
                </a:lnTo>
                <a:lnTo>
                  <a:pt x="297030" y="166808"/>
                </a:lnTo>
                <a:lnTo>
                  <a:pt x="304800" y="126745"/>
                </a:lnTo>
                <a:lnTo>
                  <a:pt x="297030" y="86683"/>
                </a:lnTo>
                <a:lnTo>
                  <a:pt x="275394" y="51890"/>
                </a:lnTo>
                <a:lnTo>
                  <a:pt x="242403" y="24453"/>
                </a:lnTo>
                <a:lnTo>
                  <a:pt x="200568" y="6461"/>
                </a:lnTo>
                <a:lnTo>
                  <a:pt x="1524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04775" y="4758029"/>
            <a:ext cx="304800" cy="254000"/>
          </a:xfrm>
          <a:custGeom>
            <a:avLst/>
            <a:gdLst/>
            <a:ahLst/>
            <a:cxnLst/>
            <a:rect l="l" t="t" r="r" b="b"/>
            <a:pathLst>
              <a:path w="304800" h="254000">
                <a:moveTo>
                  <a:pt x="0" y="126745"/>
                </a:moveTo>
                <a:lnTo>
                  <a:pt x="7769" y="86683"/>
                </a:lnTo>
                <a:lnTo>
                  <a:pt x="29405" y="51890"/>
                </a:lnTo>
                <a:lnTo>
                  <a:pt x="62396" y="24453"/>
                </a:lnTo>
                <a:lnTo>
                  <a:pt x="104231" y="6461"/>
                </a:lnTo>
                <a:lnTo>
                  <a:pt x="152400" y="0"/>
                </a:lnTo>
                <a:lnTo>
                  <a:pt x="200568" y="6461"/>
                </a:lnTo>
                <a:lnTo>
                  <a:pt x="242403" y="24453"/>
                </a:lnTo>
                <a:lnTo>
                  <a:pt x="275394" y="51890"/>
                </a:lnTo>
                <a:lnTo>
                  <a:pt x="297030" y="86683"/>
                </a:lnTo>
                <a:lnTo>
                  <a:pt x="304800" y="126745"/>
                </a:lnTo>
                <a:lnTo>
                  <a:pt x="297030" y="166808"/>
                </a:lnTo>
                <a:lnTo>
                  <a:pt x="275394" y="201601"/>
                </a:lnTo>
                <a:lnTo>
                  <a:pt x="242403" y="229038"/>
                </a:lnTo>
                <a:lnTo>
                  <a:pt x="200568" y="247030"/>
                </a:lnTo>
                <a:lnTo>
                  <a:pt x="152400" y="253491"/>
                </a:lnTo>
                <a:lnTo>
                  <a:pt x="104231" y="247030"/>
                </a:lnTo>
                <a:lnTo>
                  <a:pt x="62396" y="229038"/>
                </a:lnTo>
                <a:lnTo>
                  <a:pt x="29405" y="201601"/>
                </a:lnTo>
                <a:lnTo>
                  <a:pt x="7769" y="166808"/>
                </a:lnTo>
                <a:lnTo>
                  <a:pt x="0" y="126745"/>
                </a:lnTo>
                <a:close/>
              </a:path>
            </a:pathLst>
          </a:custGeom>
          <a:ln w="19050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12078" y="4669921"/>
            <a:ext cx="55245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80"/>
              </a:lnSpc>
            </a:pPr>
            <a:r>
              <a:rPr sz="1400" spc="-235" dirty="0">
                <a:solidFill>
                  <a:srgbClr val="464646"/>
                </a:solidFill>
                <a:latin typeface="Arial"/>
                <a:cs typeface="Arial"/>
              </a:rPr>
              <a:t>P</a:t>
            </a:r>
            <a:r>
              <a:rPr sz="1400" spc="-125" dirty="0">
                <a:solidFill>
                  <a:srgbClr val="464646"/>
                </a:solidFill>
                <a:latin typeface="Arial"/>
                <a:cs typeface="Arial"/>
              </a:rPr>
              <a:t>MBOK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589" y="1154049"/>
            <a:ext cx="34417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2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500" b="1" spc="-20" dirty="0">
                <a:solidFill>
                  <a:srgbClr val="FFFFFF"/>
                </a:solidFill>
                <a:latin typeface="Arial"/>
                <a:cs typeface="Arial"/>
              </a:rPr>
              <a:t>05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500" b="1" spc="-20" dirty="0">
                <a:solidFill>
                  <a:srgbClr val="FFFFFF"/>
                </a:solidFill>
                <a:latin typeface="Arial"/>
                <a:cs typeface="Arial"/>
              </a:rPr>
              <a:t>2009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73501" y="488391"/>
            <a:ext cx="30899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30" dirty="0"/>
              <a:t>Grupos </a:t>
            </a:r>
            <a:r>
              <a:rPr spc="-335" dirty="0"/>
              <a:t>de</a:t>
            </a:r>
            <a:r>
              <a:rPr spc="-180" dirty="0"/>
              <a:t> </a:t>
            </a:r>
            <a:r>
              <a:rPr spc="-484" dirty="0"/>
              <a:t>Procesos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8502" y="1325651"/>
            <a:ext cx="7150100" cy="18700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2CA1BE"/>
              </a:buClr>
              <a:buSzPct val="68750"/>
              <a:buFont typeface="Arial"/>
              <a:buChar char=""/>
              <a:tabLst>
                <a:tab pos="286385" algn="l"/>
                <a:tab pos="287020" algn="l"/>
              </a:tabLst>
            </a:pPr>
            <a:r>
              <a:rPr sz="1600" b="1" i="1" spc="-180" dirty="0">
                <a:latin typeface="Arial"/>
                <a:cs typeface="Arial"/>
              </a:rPr>
              <a:t>Iniciacion </a:t>
            </a:r>
            <a:r>
              <a:rPr sz="1600" spc="-95" dirty="0">
                <a:latin typeface="Arial"/>
                <a:cs typeface="Arial"/>
              </a:rPr>
              <a:t>– </a:t>
            </a:r>
            <a:r>
              <a:rPr sz="1600" spc="-165" dirty="0">
                <a:latin typeface="Arial"/>
                <a:cs typeface="Arial"/>
              </a:rPr>
              <a:t>Procesos </a:t>
            </a:r>
            <a:r>
              <a:rPr sz="1600" spc="-15" dirty="0">
                <a:latin typeface="Arial"/>
                <a:cs typeface="Arial"/>
              </a:rPr>
              <a:t>para </a:t>
            </a:r>
            <a:r>
              <a:rPr sz="1600" spc="-65" dirty="0">
                <a:latin typeface="Arial"/>
                <a:cs typeface="Arial"/>
              </a:rPr>
              <a:t>iniciar </a:t>
            </a:r>
            <a:r>
              <a:rPr sz="1600" spc="-195" dirty="0">
                <a:latin typeface="Arial"/>
                <a:cs typeface="Arial"/>
              </a:rPr>
              <a:t>un </a:t>
            </a:r>
            <a:r>
              <a:rPr sz="1600" spc="-80" dirty="0">
                <a:latin typeface="Arial"/>
                <a:cs typeface="Arial"/>
              </a:rPr>
              <a:t>proyecto </a:t>
            </a:r>
            <a:r>
              <a:rPr sz="1600" spc="-95" dirty="0">
                <a:latin typeface="Arial"/>
                <a:cs typeface="Arial"/>
              </a:rPr>
              <a:t>o</a:t>
            </a:r>
            <a:r>
              <a:rPr sz="1600" spc="60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fase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68750"/>
              <a:buFont typeface="Arial"/>
              <a:buChar char=""/>
              <a:tabLst>
                <a:tab pos="286385" algn="l"/>
                <a:tab pos="287020" algn="l"/>
              </a:tabLst>
            </a:pPr>
            <a:r>
              <a:rPr sz="1600" b="1" i="1" spc="-195" dirty="0">
                <a:latin typeface="Arial"/>
                <a:cs typeface="Arial"/>
              </a:rPr>
              <a:t>Planeaciòn </a:t>
            </a:r>
            <a:r>
              <a:rPr sz="1600" spc="-95" dirty="0">
                <a:latin typeface="Arial"/>
                <a:cs typeface="Arial"/>
              </a:rPr>
              <a:t>– </a:t>
            </a:r>
            <a:r>
              <a:rPr sz="1600" spc="-110" dirty="0">
                <a:latin typeface="Arial"/>
                <a:cs typeface="Arial"/>
              </a:rPr>
              <a:t>Diseñar </a:t>
            </a:r>
            <a:r>
              <a:rPr sz="1600" spc="-5" dirty="0">
                <a:latin typeface="Arial"/>
                <a:cs typeface="Arial"/>
              </a:rPr>
              <a:t>y </a:t>
            </a:r>
            <a:r>
              <a:rPr sz="1600" spc="-110" dirty="0">
                <a:latin typeface="Arial"/>
                <a:cs typeface="Arial"/>
              </a:rPr>
              <a:t>mantener </a:t>
            </a:r>
            <a:r>
              <a:rPr sz="1600" spc="-195" dirty="0">
                <a:latin typeface="Arial"/>
                <a:cs typeface="Arial"/>
              </a:rPr>
              <a:t>un </a:t>
            </a:r>
            <a:r>
              <a:rPr sz="1600" spc="-135" dirty="0">
                <a:latin typeface="Arial"/>
                <a:cs typeface="Arial"/>
              </a:rPr>
              <a:t>esquema </a:t>
            </a:r>
            <a:r>
              <a:rPr sz="1600" spc="-100" dirty="0">
                <a:latin typeface="Arial"/>
                <a:cs typeface="Arial"/>
              </a:rPr>
              <a:t>que </a:t>
            </a:r>
            <a:r>
              <a:rPr sz="1600" spc="-55" dirty="0">
                <a:latin typeface="Arial"/>
                <a:cs typeface="Arial"/>
              </a:rPr>
              <a:t>permita </a:t>
            </a:r>
            <a:r>
              <a:rPr sz="1600" spc="-25" dirty="0">
                <a:latin typeface="Arial"/>
                <a:cs typeface="Arial"/>
              </a:rPr>
              <a:t>liderar </a:t>
            </a:r>
            <a:r>
              <a:rPr sz="1600" spc="-95" dirty="0">
                <a:latin typeface="Arial"/>
                <a:cs typeface="Arial"/>
              </a:rPr>
              <a:t>adecuadamente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el</a:t>
            </a:r>
            <a:endParaRPr sz="16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600" spc="-75" dirty="0">
                <a:latin typeface="Arial"/>
                <a:cs typeface="Arial"/>
              </a:rPr>
              <a:t>proyecto </a:t>
            </a:r>
            <a:r>
              <a:rPr sz="1600" spc="-20" dirty="0">
                <a:latin typeface="Arial"/>
                <a:cs typeface="Arial"/>
              </a:rPr>
              <a:t>para </a:t>
            </a:r>
            <a:r>
              <a:rPr sz="1600" spc="-45" dirty="0">
                <a:latin typeface="Arial"/>
                <a:cs typeface="Arial"/>
              </a:rPr>
              <a:t>llevarlo </a:t>
            </a:r>
            <a:r>
              <a:rPr sz="1600" spc="-10" dirty="0">
                <a:latin typeface="Arial"/>
                <a:cs typeface="Arial"/>
              </a:rPr>
              <a:t>a</a:t>
            </a:r>
            <a:r>
              <a:rPr sz="1600" spc="190" dirty="0">
                <a:latin typeface="Arial"/>
                <a:cs typeface="Arial"/>
              </a:rPr>
              <a:t> </a:t>
            </a:r>
            <a:r>
              <a:rPr sz="1600" spc="-150" dirty="0">
                <a:latin typeface="Arial"/>
                <a:cs typeface="Arial"/>
              </a:rPr>
              <a:t>Termino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68750"/>
              <a:buFont typeface="Arial"/>
              <a:buChar char=""/>
              <a:tabLst>
                <a:tab pos="286385" algn="l"/>
                <a:tab pos="287020" algn="l"/>
              </a:tabLst>
            </a:pPr>
            <a:r>
              <a:rPr sz="1600" b="1" i="1" spc="-210" dirty="0">
                <a:latin typeface="Arial"/>
                <a:cs typeface="Arial"/>
              </a:rPr>
              <a:t>Ejecucion </a:t>
            </a:r>
            <a:r>
              <a:rPr sz="1600" b="1" i="1" spc="-95" dirty="0">
                <a:latin typeface="Arial"/>
                <a:cs typeface="Arial"/>
              </a:rPr>
              <a:t>– </a:t>
            </a:r>
            <a:r>
              <a:rPr sz="1600" spc="-70" dirty="0">
                <a:latin typeface="Arial"/>
                <a:cs typeface="Arial"/>
              </a:rPr>
              <a:t>Coordinar </a:t>
            </a:r>
            <a:r>
              <a:rPr sz="1600" spc="-100" dirty="0">
                <a:latin typeface="Arial"/>
                <a:cs typeface="Arial"/>
              </a:rPr>
              <a:t>las </a:t>
            </a:r>
            <a:r>
              <a:rPr sz="1600" spc="-120" dirty="0">
                <a:latin typeface="Arial"/>
                <a:cs typeface="Arial"/>
              </a:rPr>
              <a:t>personas </a:t>
            </a:r>
            <a:r>
              <a:rPr sz="1600" spc="-5" dirty="0">
                <a:latin typeface="Arial"/>
                <a:cs typeface="Arial"/>
              </a:rPr>
              <a:t>y </a:t>
            </a:r>
            <a:r>
              <a:rPr sz="1600" spc="-140" dirty="0">
                <a:latin typeface="Arial"/>
                <a:cs typeface="Arial"/>
              </a:rPr>
              <a:t>recursos </a:t>
            </a:r>
            <a:r>
              <a:rPr sz="1600" spc="-15" dirty="0">
                <a:latin typeface="Arial"/>
                <a:cs typeface="Arial"/>
              </a:rPr>
              <a:t>para </a:t>
            </a:r>
            <a:r>
              <a:rPr sz="1600" spc="-50" dirty="0">
                <a:latin typeface="Arial"/>
                <a:cs typeface="Arial"/>
              </a:rPr>
              <a:t>llevar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80" dirty="0">
                <a:latin typeface="Arial"/>
                <a:cs typeface="Arial"/>
              </a:rPr>
              <a:t>cabo </a:t>
            </a:r>
            <a:r>
              <a:rPr sz="1600" spc="-50" dirty="0">
                <a:latin typeface="Arial"/>
                <a:cs typeface="Arial"/>
              </a:rPr>
              <a:t>el </a:t>
            </a:r>
            <a:r>
              <a:rPr sz="1600" spc="-60" dirty="0">
                <a:latin typeface="Arial"/>
                <a:cs typeface="Arial"/>
              </a:rPr>
              <a:t>plan</a:t>
            </a:r>
            <a:r>
              <a:rPr sz="1600" spc="21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definido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68750"/>
              <a:buFont typeface="Arial"/>
              <a:buChar char=""/>
              <a:tabLst>
                <a:tab pos="286385" algn="l"/>
                <a:tab pos="287020" algn="l"/>
              </a:tabLst>
            </a:pPr>
            <a:r>
              <a:rPr sz="1600" b="1" i="1" spc="-170" dirty="0">
                <a:latin typeface="Arial"/>
                <a:cs typeface="Arial"/>
              </a:rPr>
              <a:t>Control</a:t>
            </a:r>
            <a:r>
              <a:rPr sz="1600" spc="-170" dirty="0">
                <a:latin typeface="Arial"/>
                <a:cs typeface="Arial"/>
              </a:rPr>
              <a:t>– </a:t>
            </a:r>
            <a:r>
              <a:rPr sz="1600" spc="-65" dirty="0">
                <a:latin typeface="Arial"/>
                <a:cs typeface="Arial"/>
              </a:rPr>
              <a:t>Monitorear </a:t>
            </a:r>
            <a:r>
              <a:rPr sz="1600" spc="-5" dirty="0">
                <a:latin typeface="Arial"/>
                <a:cs typeface="Arial"/>
              </a:rPr>
              <a:t>y </a:t>
            </a:r>
            <a:r>
              <a:rPr sz="1600" spc="-80" dirty="0">
                <a:latin typeface="Arial"/>
                <a:cs typeface="Arial"/>
              </a:rPr>
              <a:t>medir </a:t>
            </a:r>
            <a:r>
              <a:rPr sz="1600" spc="-50" dirty="0">
                <a:latin typeface="Arial"/>
                <a:cs typeface="Arial"/>
              </a:rPr>
              <a:t>el </a:t>
            </a:r>
            <a:r>
              <a:rPr sz="1600" spc="-110" dirty="0">
                <a:latin typeface="Arial"/>
                <a:cs typeface="Arial"/>
              </a:rPr>
              <a:t>avance </a:t>
            </a:r>
            <a:r>
              <a:rPr sz="1600" spc="-5" dirty="0">
                <a:latin typeface="Arial"/>
                <a:cs typeface="Arial"/>
              </a:rPr>
              <a:t>y </a:t>
            </a:r>
            <a:r>
              <a:rPr sz="1600" spc="-80" dirty="0">
                <a:latin typeface="Arial"/>
                <a:cs typeface="Arial"/>
              </a:rPr>
              <a:t>tomar </a:t>
            </a:r>
            <a:r>
              <a:rPr sz="1600" spc="-100" dirty="0">
                <a:latin typeface="Arial"/>
                <a:cs typeface="Arial"/>
              </a:rPr>
              <a:t>las </a:t>
            </a:r>
            <a:r>
              <a:rPr sz="1600" spc="-135" dirty="0">
                <a:latin typeface="Arial"/>
                <a:cs typeface="Arial"/>
              </a:rPr>
              <a:t>acciones</a:t>
            </a:r>
            <a:r>
              <a:rPr sz="1600" spc="-215" dirty="0">
                <a:latin typeface="Arial"/>
                <a:cs typeface="Arial"/>
              </a:rPr>
              <a:t> </a:t>
            </a:r>
            <a:r>
              <a:rPr sz="1600" spc="-95" dirty="0">
                <a:latin typeface="Arial"/>
                <a:cs typeface="Arial"/>
              </a:rPr>
              <a:t>correctivas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68750"/>
              <a:buFont typeface="Arial"/>
              <a:buChar char=""/>
              <a:tabLst>
                <a:tab pos="286385" algn="l"/>
                <a:tab pos="287020" algn="l"/>
              </a:tabLst>
            </a:pPr>
            <a:r>
              <a:rPr sz="1600" b="1" i="1" spc="-135" dirty="0">
                <a:latin typeface="Arial"/>
                <a:cs typeface="Arial"/>
              </a:rPr>
              <a:t>Cierre</a:t>
            </a:r>
            <a:r>
              <a:rPr sz="1600" spc="-135" dirty="0">
                <a:latin typeface="Arial"/>
                <a:cs typeface="Arial"/>
              </a:rPr>
              <a:t>– </a:t>
            </a:r>
            <a:r>
              <a:rPr sz="1600" spc="-60" dirty="0">
                <a:latin typeface="Arial"/>
                <a:cs typeface="Arial"/>
              </a:rPr>
              <a:t>Analizar </a:t>
            </a:r>
            <a:r>
              <a:rPr sz="1600" spc="-10" dirty="0">
                <a:latin typeface="Arial"/>
                <a:cs typeface="Arial"/>
              </a:rPr>
              <a:t>la </a:t>
            </a:r>
            <a:r>
              <a:rPr sz="1600" spc="-85" dirty="0">
                <a:latin typeface="Arial"/>
                <a:cs typeface="Arial"/>
              </a:rPr>
              <a:t>aceptacion </a:t>
            </a:r>
            <a:r>
              <a:rPr sz="1600" spc="-40" dirty="0">
                <a:latin typeface="Arial"/>
                <a:cs typeface="Arial"/>
              </a:rPr>
              <a:t>del </a:t>
            </a:r>
            <a:r>
              <a:rPr sz="1600" spc="-80" dirty="0">
                <a:latin typeface="Arial"/>
                <a:cs typeface="Arial"/>
              </a:rPr>
              <a:t>proyecto </a:t>
            </a:r>
            <a:r>
              <a:rPr sz="1600" spc="-95" dirty="0">
                <a:latin typeface="Arial"/>
                <a:cs typeface="Arial"/>
              </a:rPr>
              <a:t>o </a:t>
            </a:r>
            <a:r>
              <a:rPr sz="1600" spc="-75" dirty="0">
                <a:latin typeface="Arial"/>
                <a:cs typeface="Arial"/>
              </a:rPr>
              <a:t>fase </a:t>
            </a:r>
            <a:r>
              <a:rPr sz="1600" spc="-15" dirty="0">
                <a:latin typeface="Arial"/>
                <a:cs typeface="Arial"/>
              </a:rPr>
              <a:t>para </a:t>
            </a:r>
            <a:r>
              <a:rPr sz="1600" spc="-45" dirty="0">
                <a:latin typeface="Arial"/>
                <a:cs typeface="Arial"/>
              </a:rPr>
              <a:t>llevarlo</a:t>
            </a:r>
            <a:r>
              <a:rPr sz="1600" spc="7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235" dirty="0">
                <a:latin typeface="Arial"/>
                <a:cs typeface="Arial"/>
              </a:rPr>
              <a:t>su </a:t>
            </a:r>
            <a:r>
              <a:rPr sz="1600" spc="-30" dirty="0">
                <a:latin typeface="Arial"/>
                <a:cs typeface="Arial"/>
              </a:rPr>
              <a:t>final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48200" y="3257548"/>
            <a:ext cx="4495799" cy="1809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98194" y="3847287"/>
            <a:ext cx="24276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65" dirty="0">
                <a:latin typeface="Arial"/>
                <a:cs typeface="Arial"/>
              </a:rPr>
              <a:t>Enlaces </a:t>
            </a:r>
            <a:r>
              <a:rPr sz="1600" spc="-80" dirty="0">
                <a:latin typeface="Arial"/>
                <a:cs typeface="Arial"/>
              </a:rPr>
              <a:t>entre </a:t>
            </a:r>
            <a:r>
              <a:rPr sz="1600" spc="-125" dirty="0">
                <a:latin typeface="Arial"/>
                <a:cs typeface="Arial"/>
              </a:rPr>
              <a:t>los </a:t>
            </a:r>
            <a:r>
              <a:rPr sz="1600" spc="-135" dirty="0">
                <a:latin typeface="Arial"/>
                <a:cs typeface="Arial"/>
              </a:rPr>
              <a:t>procesos</a:t>
            </a:r>
            <a:r>
              <a:rPr sz="1600" spc="-235" dirty="0">
                <a:latin typeface="Arial"/>
                <a:cs typeface="Arial"/>
              </a:rPr>
              <a:t> </a:t>
            </a:r>
            <a:r>
              <a:rPr sz="1600" spc="130" dirty="0">
                <a:latin typeface="Arial"/>
                <a:cs typeface="Arial"/>
              </a:rPr>
              <a:t>=&gt;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589" y="1154049"/>
            <a:ext cx="34417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2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500" b="1" spc="-20" dirty="0">
                <a:solidFill>
                  <a:srgbClr val="FFFFFF"/>
                </a:solidFill>
                <a:latin typeface="Arial"/>
                <a:cs typeface="Arial"/>
              </a:rPr>
              <a:t>05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500" b="1" spc="-20" dirty="0">
                <a:solidFill>
                  <a:srgbClr val="FFFFFF"/>
                </a:solidFill>
                <a:latin typeface="Arial"/>
                <a:cs typeface="Arial"/>
              </a:rPr>
              <a:t>2009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05"/>
              </a:spcBef>
            </a:pPr>
            <a:r>
              <a:rPr spc="-360" dirty="0"/>
              <a:t>Areas </a:t>
            </a:r>
            <a:r>
              <a:rPr spc="-335" dirty="0"/>
              <a:t>de</a:t>
            </a:r>
            <a:r>
              <a:rPr spc="-310" dirty="0"/>
              <a:t> </a:t>
            </a:r>
            <a:r>
              <a:rPr spc="-400" dirty="0"/>
              <a:t>Conocimiento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84996" y="1716003"/>
            <a:ext cx="392430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9"/>
              </a:lnSpc>
            </a:pPr>
            <a:r>
              <a:rPr sz="1600" spc="-20" dirty="0">
                <a:latin typeface="Arial"/>
                <a:cs typeface="Arial"/>
              </a:rPr>
              <a:t>ad</a:t>
            </a:r>
            <a:r>
              <a:rPr sz="1600" spc="-95" dirty="0">
                <a:latin typeface="Arial"/>
                <a:cs typeface="Arial"/>
              </a:rPr>
              <a:t>o</a:t>
            </a:r>
            <a:r>
              <a:rPr sz="1600" spc="-270" dirty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indent="-320040">
              <a:lnSpc>
                <a:spcPts val="1835"/>
              </a:lnSpc>
              <a:spcBef>
                <a:spcPts val="95"/>
              </a:spcBef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pc="-175" dirty="0"/>
              <a:t>Integraciòn</a:t>
            </a:r>
          </a:p>
          <a:p>
            <a:pPr marL="652145" lvl="1" indent="-273685">
              <a:lnSpc>
                <a:spcPts val="1805"/>
              </a:lnSpc>
              <a:buClr>
                <a:srgbClr val="2CA1BE"/>
              </a:buClr>
              <a:buSzPct val="68750"/>
              <a:buChar char=""/>
              <a:tabLst>
                <a:tab pos="652145" algn="l"/>
                <a:tab pos="652780" algn="l"/>
              </a:tabLst>
            </a:pPr>
            <a:r>
              <a:rPr sz="1600" spc="-90" dirty="0">
                <a:latin typeface="Arial"/>
                <a:cs typeface="Arial"/>
              </a:rPr>
              <a:t>Asegurar </a:t>
            </a:r>
            <a:r>
              <a:rPr sz="1600" spc="-100" dirty="0">
                <a:latin typeface="Arial"/>
                <a:cs typeface="Arial"/>
              </a:rPr>
              <a:t>que </a:t>
            </a:r>
            <a:r>
              <a:rPr sz="1600" spc="-125" dirty="0">
                <a:latin typeface="Arial"/>
                <a:cs typeface="Arial"/>
              </a:rPr>
              <a:t>los  elementos  </a:t>
            </a:r>
            <a:r>
              <a:rPr sz="1600" spc="-40" dirty="0">
                <a:latin typeface="Arial"/>
                <a:cs typeface="Arial"/>
              </a:rPr>
              <a:t>del </a:t>
            </a:r>
            <a:r>
              <a:rPr sz="1600" spc="-75" dirty="0">
                <a:latin typeface="Arial"/>
                <a:cs typeface="Arial"/>
              </a:rPr>
              <a:t>proyecto </a:t>
            </a:r>
            <a:r>
              <a:rPr sz="1600" spc="-185" dirty="0">
                <a:latin typeface="Arial"/>
                <a:cs typeface="Arial"/>
              </a:rPr>
              <a:t>son  </a:t>
            </a:r>
            <a:r>
              <a:rPr sz="1600" spc="-90" dirty="0">
                <a:latin typeface="Arial"/>
                <a:cs typeface="Arial"/>
              </a:rPr>
              <a:t>coordinados </a:t>
            </a:r>
            <a:r>
              <a:rPr sz="1600" spc="-5" dirty="0">
                <a:latin typeface="Arial"/>
                <a:cs typeface="Arial"/>
              </a:rPr>
              <a:t>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integr</a:t>
            </a:r>
            <a:endParaRPr sz="1600">
              <a:latin typeface="Arial"/>
              <a:cs typeface="Arial"/>
            </a:endParaRPr>
          </a:p>
          <a:p>
            <a:pPr marL="332740" indent="-320040">
              <a:lnSpc>
                <a:spcPts val="1805"/>
              </a:lnSpc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pc="-180" dirty="0"/>
              <a:t>Alcance</a:t>
            </a:r>
          </a:p>
          <a:p>
            <a:pPr marL="652145" lvl="1" indent="-273685">
              <a:lnSpc>
                <a:spcPts val="1750"/>
              </a:lnSpc>
              <a:buClr>
                <a:srgbClr val="2CA1BE"/>
              </a:buClr>
              <a:buSzPct val="68750"/>
              <a:buFont typeface="Arial"/>
              <a:buChar char=""/>
              <a:tabLst>
                <a:tab pos="652145" algn="l"/>
                <a:tab pos="652780" algn="l"/>
              </a:tabLst>
            </a:pPr>
            <a:r>
              <a:rPr sz="1600" b="1" i="1" spc="-185" dirty="0">
                <a:latin typeface="Arial"/>
                <a:cs typeface="Arial"/>
              </a:rPr>
              <a:t>Asegurar que </a:t>
            </a:r>
            <a:r>
              <a:rPr sz="1600" b="1" i="1" spc="-120" dirty="0">
                <a:latin typeface="Arial"/>
                <a:cs typeface="Arial"/>
              </a:rPr>
              <a:t>el </a:t>
            </a:r>
            <a:r>
              <a:rPr sz="1600" b="1" i="1" spc="-180" dirty="0">
                <a:latin typeface="Arial"/>
                <a:cs typeface="Arial"/>
              </a:rPr>
              <a:t>proyecto </a:t>
            </a:r>
            <a:r>
              <a:rPr sz="1600" b="1" i="1" spc="-185" dirty="0">
                <a:latin typeface="Arial"/>
                <a:cs typeface="Arial"/>
              </a:rPr>
              <a:t>incluye todo </a:t>
            </a:r>
            <a:r>
              <a:rPr sz="1600" b="1" i="1" spc="-120" dirty="0">
                <a:latin typeface="Arial"/>
                <a:cs typeface="Arial"/>
              </a:rPr>
              <a:t>el </a:t>
            </a:r>
            <a:r>
              <a:rPr sz="1600" b="1" i="1" spc="-140" dirty="0">
                <a:latin typeface="Arial"/>
                <a:cs typeface="Arial"/>
              </a:rPr>
              <a:t>trabajo</a:t>
            </a:r>
            <a:r>
              <a:rPr sz="1600" b="1" i="1" spc="-65" dirty="0">
                <a:latin typeface="Arial"/>
                <a:cs typeface="Arial"/>
              </a:rPr>
              <a:t> </a:t>
            </a:r>
            <a:r>
              <a:rPr sz="1600" b="1" i="1" spc="-165" dirty="0">
                <a:latin typeface="Arial"/>
                <a:cs typeface="Arial"/>
              </a:rPr>
              <a:t>requerido</a:t>
            </a:r>
            <a:endParaRPr sz="1600">
              <a:latin typeface="Arial"/>
              <a:cs typeface="Arial"/>
            </a:endParaRPr>
          </a:p>
          <a:p>
            <a:pPr marL="652145" lvl="1" indent="-273685">
              <a:lnSpc>
                <a:spcPts val="1800"/>
              </a:lnSpc>
              <a:buClr>
                <a:srgbClr val="2CA1BE"/>
              </a:buClr>
              <a:buSzPct val="68750"/>
              <a:buChar char=""/>
              <a:tabLst>
                <a:tab pos="652145" algn="l"/>
                <a:tab pos="652780" algn="l"/>
              </a:tabLst>
            </a:pPr>
            <a:r>
              <a:rPr sz="1600" spc="-190" dirty="0">
                <a:latin typeface="Arial"/>
                <a:cs typeface="Arial"/>
              </a:rPr>
              <a:t>Y UNICAMENTE </a:t>
            </a:r>
            <a:r>
              <a:rPr sz="1600" spc="-50" dirty="0">
                <a:latin typeface="Arial"/>
                <a:cs typeface="Arial"/>
              </a:rPr>
              <a:t>el </a:t>
            </a:r>
            <a:r>
              <a:rPr sz="1600" spc="-30" dirty="0">
                <a:latin typeface="Arial"/>
                <a:cs typeface="Arial"/>
              </a:rPr>
              <a:t>trabajo </a:t>
            </a:r>
            <a:r>
              <a:rPr sz="1600" spc="-60" dirty="0">
                <a:latin typeface="Arial"/>
                <a:cs typeface="Arial"/>
              </a:rPr>
              <a:t>requerido </a:t>
            </a:r>
            <a:r>
              <a:rPr sz="1600" spc="-15" dirty="0">
                <a:latin typeface="Arial"/>
                <a:cs typeface="Arial"/>
              </a:rPr>
              <a:t>para </a:t>
            </a:r>
            <a:r>
              <a:rPr sz="1600" spc="-125" dirty="0">
                <a:latin typeface="Arial"/>
                <a:cs typeface="Arial"/>
              </a:rPr>
              <a:t>ser</a:t>
            </a:r>
            <a:r>
              <a:rPr sz="1600" spc="120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completado</a:t>
            </a:r>
            <a:endParaRPr sz="1600">
              <a:latin typeface="Arial"/>
              <a:cs typeface="Arial"/>
            </a:endParaRPr>
          </a:p>
          <a:p>
            <a:pPr marL="332740" indent="-320040">
              <a:lnSpc>
                <a:spcPts val="1800"/>
              </a:lnSpc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pc="-215" dirty="0"/>
              <a:t>Tiempo</a:t>
            </a:r>
          </a:p>
          <a:p>
            <a:pPr marL="652145" lvl="1" indent="-273685">
              <a:lnSpc>
                <a:spcPts val="1800"/>
              </a:lnSpc>
              <a:buClr>
                <a:srgbClr val="2CA1BE"/>
              </a:buClr>
              <a:buSzPct val="68750"/>
              <a:buFont typeface="Arial"/>
              <a:buChar char=""/>
              <a:tabLst>
                <a:tab pos="652145" algn="l"/>
                <a:tab pos="652780" algn="l"/>
              </a:tabLst>
            </a:pPr>
            <a:r>
              <a:rPr sz="1600" b="1" i="1" spc="-185" dirty="0">
                <a:latin typeface="Arial"/>
                <a:cs typeface="Arial"/>
              </a:rPr>
              <a:t>Asegurar que </a:t>
            </a:r>
            <a:r>
              <a:rPr sz="1600" b="1" i="1" spc="-120" dirty="0">
                <a:latin typeface="Arial"/>
                <a:cs typeface="Arial"/>
              </a:rPr>
              <a:t>el </a:t>
            </a:r>
            <a:r>
              <a:rPr sz="1600" b="1" i="1" spc="-175" dirty="0">
                <a:latin typeface="Arial"/>
                <a:cs typeface="Arial"/>
              </a:rPr>
              <a:t>proyecto </a:t>
            </a:r>
            <a:r>
              <a:rPr sz="1600" b="1" i="1" spc="-260" dirty="0">
                <a:latin typeface="Arial"/>
                <a:cs typeface="Arial"/>
              </a:rPr>
              <a:t>se </a:t>
            </a:r>
            <a:r>
              <a:rPr sz="1600" b="1" i="1" spc="-145" dirty="0">
                <a:latin typeface="Arial"/>
                <a:cs typeface="Arial"/>
              </a:rPr>
              <a:t>ejecute </a:t>
            </a:r>
            <a:r>
              <a:rPr sz="1600" b="1" i="1" spc="-215" dirty="0">
                <a:latin typeface="Arial"/>
                <a:cs typeface="Arial"/>
              </a:rPr>
              <a:t>en </a:t>
            </a:r>
            <a:r>
              <a:rPr sz="1600" b="1" i="1" spc="-120" dirty="0">
                <a:latin typeface="Arial"/>
                <a:cs typeface="Arial"/>
              </a:rPr>
              <a:t>el </a:t>
            </a:r>
            <a:r>
              <a:rPr sz="1600" b="1" i="1" spc="-180" dirty="0">
                <a:latin typeface="Arial"/>
                <a:cs typeface="Arial"/>
              </a:rPr>
              <a:t>tiempo</a:t>
            </a:r>
            <a:r>
              <a:rPr sz="1600" b="1" i="1" spc="-20" dirty="0">
                <a:latin typeface="Arial"/>
                <a:cs typeface="Arial"/>
              </a:rPr>
              <a:t> </a:t>
            </a:r>
            <a:r>
              <a:rPr sz="1600" b="1" i="1" spc="-175" dirty="0">
                <a:latin typeface="Arial"/>
                <a:cs typeface="Arial"/>
              </a:rPr>
              <a:t>establecido</a:t>
            </a:r>
            <a:endParaRPr sz="1600">
              <a:latin typeface="Arial"/>
              <a:cs typeface="Arial"/>
            </a:endParaRPr>
          </a:p>
          <a:p>
            <a:pPr marL="332740" indent="-320040">
              <a:lnSpc>
                <a:spcPts val="1800"/>
              </a:lnSpc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pc="-254" dirty="0"/>
              <a:t>Costos</a:t>
            </a:r>
          </a:p>
          <a:p>
            <a:pPr marL="652145" lvl="1" indent="-273685">
              <a:lnSpc>
                <a:spcPts val="1805"/>
              </a:lnSpc>
              <a:buClr>
                <a:srgbClr val="2CA1BE"/>
              </a:buClr>
              <a:buSzPct val="68750"/>
              <a:buChar char=""/>
              <a:tabLst>
                <a:tab pos="652145" algn="l"/>
                <a:tab pos="652780" algn="l"/>
              </a:tabLst>
            </a:pPr>
            <a:r>
              <a:rPr sz="1600" spc="-90" dirty="0">
                <a:latin typeface="Arial"/>
                <a:cs typeface="Arial"/>
              </a:rPr>
              <a:t>Asegurar </a:t>
            </a:r>
            <a:r>
              <a:rPr sz="1600" spc="-100" dirty="0">
                <a:latin typeface="Arial"/>
                <a:cs typeface="Arial"/>
              </a:rPr>
              <a:t>que </a:t>
            </a:r>
            <a:r>
              <a:rPr sz="1600" spc="-50" dirty="0">
                <a:latin typeface="Arial"/>
                <a:cs typeface="Arial"/>
              </a:rPr>
              <a:t>el </a:t>
            </a:r>
            <a:r>
              <a:rPr sz="1600" spc="-80" dirty="0">
                <a:latin typeface="Arial"/>
                <a:cs typeface="Arial"/>
              </a:rPr>
              <a:t>proyecto </a:t>
            </a:r>
            <a:r>
              <a:rPr sz="1600" spc="-185" dirty="0">
                <a:latin typeface="Arial"/>
                <a:cs typeface="Arial"/>
              </a:rPr>
              <a:t>se </a:t>
            </a:r>
            <a:r>
              <a:rPr sz="1600" spc="-100" dirty="0">
                <a:latin typeface="Arial"/>
                <a:cs typeface="Arial"/>
              </a:rPr>
              <a:t>ejecute </a:t>
            </a:r>
            <a:r>
              <a:rPr sz="1600" spc="-140" dirty="0">
                <a:latin typeface="Arial"/>
                <a:cs typeface="Arial"/>
              </a:rPr>
              <a:t>en </a:t>
            </a:r>
            <a:r>
              <a:rPr sz="1600" spc="-50" dirty="0">
                <a:latin typeface="Arial"/>
                <a:cs typeface="Arial"/>
              </a:rPr>
              <a:t>el </a:t>
            </a:r>
            <a:r>
              <a:rPr sz="1600" spc="-114" dirty="0">
                <a:latin typeface="Arial"/>
                <a:cs typeface="Arial"/>
              </a:rPr>
              <a:t>presupuesto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aprobado</a:t>
            </a:r>
            <a:endParaRPr sz="1600">
              <a:latin typeface="Arial"/>
              <a:cs typeface="Arial"/>
            </a:endParaRPr>
          </a:p>
          <a:p>
            <a:pPr marL="332740" indent="-320040">
              <a:lnSpc>
                <a:spcPts val="1805"/>
              </a:lnSpc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pc="-160" dirty="0"/>
              <a:t>Calidad</a:t>
            </a:r>
          </a:p>
          <a:p>
            <a:pPr marL="652145" lvl="1" indent="-273685">
              <a:lnSpc>
                <a:spcPts val="1835"/>
              </a:lnSpc>
              <a:buClr>
                <a:srgbClr val="2CA1BE"/>
              </a:buClr>
              <a:buSzPct val="68750"/>
              <a:buChar char=""/>
              <a:tabLst>
                <a:tab pos="652145" algn="l"/>
                <a:tab pos="652780" algn="l"/>
              </a:tabLst>
            </a:pPr>
            <a:r>
              <a:rPr sz="1600" spc="-90" dirty="0">
                <a:latin typeface="Arial"/>
                <a:cs typeface="Arial"/>
              </a:rPr>
              <a:t>Asegurar </a:t>
            </a:r>
            <a:r>
              <a:rPr sz="1600" spc="-100" dirty="0">
                <a:latin typeface="Arial"/>
                <a:cs typeface="Arial"/>
              </a:rPr>
              <a:t>que </a:t>
            </a:r>
            <a:r>
              <a:rPr sz="1600" spc="-50" dirty="0">
                <a:latin typeface="Arial"/>
                <a:cs typeface="Arial"/>
              </a:rPr>
              <a:t>el </a:t>
            </a:r>
            <a:r>
              <a:rPr sz="1600" spc="-80" dirty="0">
                <a:latin typeface="Arial"/>
                <a:cs typeface="Arial"/>
              </a:rPr>
              <a:t>proyecto </a:t>
            </a:r>
            <a:r>
              <a:rPr sz="1600" spc="-90" dirty="0">
                <a:latin typeface="Arial"/>
                <a:cs typeface="Arial"/>
              </a:rPr>
              <a:t>satisface </a:t>
            </a:r>
            <a:r>
              <a:rPr sz="1600" spc="-130" dirty="0">
                <a:latin typeface="Arial"/>
                <a:cs typeface="Arial"/>
              </a:rPr>
              <a:t>los</a:t>
            </a:r>
            <a:r>
              <a:rPr sz="1600" spc="-204" dirty="0">
                <a:latin typeface="Arial"/>
                <a:cs typeface="Arial"/>
              </a:rPr>
              <a:t> </a:t>
            </a:r>
            <a:r>
              <a:rPr sz="1600" spc="-95" dirty="0">
                <a:latin typeface="Arial"/>
                <a:cs typeface="Arial"/>
              </a:rPr>
              <a:t>requerimientos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05600" y="1581099"/>
            <a:ext cx="2160524" cy="1210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13550" y="3257537"/>
            <a:ext cx="1944624" cy="1329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589" y="1154049"/>
            <a:ext cx="34417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2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500" b="1" spc="-20" dirty="0">
                <a:solidFill>
                  <a:srgbClr val="FFFFFF"/>
                </a:solidFill>
                <a:latin typeface="Arial"/>
                <a:cs typeface="Arial"/>
              </a:rPr>
              <a:t>05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500" b="1" spc="-20" dirty="0">
                <a:solidFill>
                  <a:srgbClr val="FFFFFF"/>
                </a:solidFill>
                <a:latin typeface="Arial"/>
                <a:cs typeface="Arial"/>
              </a:rPr>
              <a:t>2009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10052" y="459689"/>
            <a:ext cx="36379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60" dirty="0"/>
              <a:t>Areas </a:t>
            </a:r>
            <a:r>
              <a:rPr spc="-335" dirty="0"/>
              <a:t>de</a:t>
            </a:r>
            <a:r>
              <a:rPr spc="-310" dirty="0"/>
              <a:t> </a:t>
            </a:r>
            <a:r>
              <a:rPr spc="-400" dirty="0"/>
              <a:t>Conocimiento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742" y="1370456"/>
            <a:ext cx="8265159" cy="3563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indent="-320040">
              <a:lnSpc>
                <a:spcPts val="1839"/>
              </a:lnSpc>
              <a:spcBef>
                <a:spcPts val="95"/>
              </a:spcBef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600" b="1" i="1" spc="-215" dirty="0">
                <a:latin typeface="Arial"/>
                <a:cs typeface="Arial"/>
              </a:rPr>
              <a:t>Comunicaciòn</a:t>
            </a:r>
            <a:endParaRPr sz="1600">
              <a:latin typeface="Arial"/>
              <a:cs typeface="Arial"/>
            </a:endParaRPr>
          </a:p>
          <a:p>
            <a:pPr marL="652780" lvl="1" indent="-274320">
              <a:lnSpc>
                <a:spcPts val="1755"/>
              </a:lnSpc>
              <a:buClr>
                <a:srgbClr val="2CA1BE"/>
              </a:buClr>
              <a:buSzPct val="68750"/>
              <a:buChar char=""/>
              <a:tabLst>
                <a:tab pos="652145" algn="l"/>
                <a:tab pos="652780" algn="l"/>
              </a:tabLst>
            </a:pPr>
            <a:r>
              <a:rPr sz="1600" spc="-90" dirty="0">
                <a:latin typeface="Arial"/>
                <a:cs typeface="Arial"/>
              </a:rPr>
              <a:t>Asegurar </a:t>
            </a:r>
            <a:r>
              <a:rPr sz="1600" spc="-10" dirty="0">
                <a:latin typeface="Arial"/>
                <a:cs typeface="Arial"/>
              </a:rPr>
              <a:t>la </a:t>
            </a:r>
            <a:r>
              <a:rPr sz="1600" spc="-95" dirty="0">
                <a:latin typeface="Arial"/>
                <a:cs typeface="Arial"/>
              </a:rPr>
              <a:t>generacion , </a:t>
            </a:r>
            <a:r>
              <a:rPr sz="1600" spc="-110" dirty="0">
                <a:latin typeface="Arial"/>
                <a:cs typeface="Arial"/>
              </a:rPr>
              <a:t>recoleccion </a:t>
            </a:r>
            <a:r>
              <a:rPr sz="1600" spc="-5" dirty="0">
                <a:latin typeface="Arial"/>
                <a:cs typeface="Arial"/>
              </a:rPr>
              <a:t>y </a:t>
            </a:r>
            <a:r>
              <a:rPr sz="1600" spc="-105" dirty="0">
                <a:latin typeface="Arial"/>
                <a:cs typeface="Arial"/>
              </a:rPr>
              <a:t>almacenamiento </a:t>
            </a:r>
            <a:r>
              <a:rPr sz="1600" spc="-55" dirty="0">
                <a:latin typeface="Arial"/>
                <a:cs typeface="Arial"/>
              </a:rPr>
              <a:t>de </a:t>
            </a:r>
            <a:r>
              <a:rPr sz="1600" spc="-90" dirty="0">
                <a:latin typeface="Arial"/>
                <a:cs typeface="Arial"/>
              </a:rPr>
              <a:t>informacion </a:t>
            </a:r>
            <a:r>
              <a:rPr sz="1600" spc="-25" dirty="0">
                <a:latin typeface="Arial"/>
                <a:cs typeface="Arial"/>
              </a:rPr>
              <a:t>apropiada </a:t>
            </a:r>
            <a:r>
              <a:rPr sz="1600" spc="-5" dirty="0">
                <a:latin typeface="Arial"/>
                <a:cs typeface="Arial"/>
              </a:rPr>
              <a:t>y </a:t>
            </a:r>
            <a:r>
              <a:rPr sz="1600" spc="-10" dirty="0">
                <a:latin typeface="Arial"/>
                <a:cs typeface="Arial"/>
              </a:rPr>
              <a:t>a</a:t>
            </a:r>
            <a:r>
              <a:rPr sz="1600" spc="130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tiempo</a:t>
            </a:r>
            <a:endParaRPr sz="1600">
              <a:latin typeface="Arial"/>
              <a:cs typeface="Arial"/>
            </a:endParaRPr>
          </a:p>
          <a:p>
            <a:pPr marL="652780" lvl="1" indent="-274320">
              <a:lnSpc>
                <a:spcPts val="1805"/>
              </a:lnSpc>
              <a:buClr>
                <a:srgbClr val="2CA1BE"/>
              </a:buClr>
              <a:buSzPct val="68750"/>
              <a:buChar char=""/>
              <a:tabLst>
                <a:tab pos="652145" algn="l"/>
                <a:tab pos="652780" algn="l"/>
              </a:tabLst>
            </a:pPr>
            <a:r>
              <a:rPr sz="1600" spc="-110" dirty="0">
                <a:latin typeface="Arial"/>
                <a:cs typeface="Arial"/>
              </a:rPr>
              <a:t>Disponer </a:t>
            </a:r>
            <a:r>
              <a:rPr sz="1600" spc="-55" dirty="0">
                <a:latin typeface="Arial"/>
                <a:cs typeface="Arial"/>
              </a:rPr>
              <a:t>de </a:t>
            </a:r>
            <a:r>
              <a:rPr sz="1600" spc="-90" dirty="0">
                <a:latin typeface="Arial"/>
                <a:cs typeface="Arial"/>
              </a:rPr>
              <a:t>informacion </a:t>
            </a:r>
            <a:r>
              <a:rPr sz="1600" spc="-100" dirty="0">
                <a:latin typeface="Arial"/>
                <a:cs typeface="Arial"/>
              </a:rPr>
              <a:t>alos interesados </a:t>
            </a:r>
            <a:r>
              <a:rPr sz="1600" spc="-55" dirty="0">
                <a:latin typeface="Arial"/>
                <a:cs typeface="Arial"/>
              </a:rPr>
              <a:t>de </a:t>
            </a:r>
            <a:r>
              <a:rPr sz="1600" spc="-90" dirty="0">
                <a:latin typeface="Arial"/>
                <a:cs typeface="Arial"/>
              </a:rPr>
              <a:t>acuerdo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250" dirty="0">
                <a:latin typeface="Arial"/>
                <a:cs typeface="Arial"/>
              </a:rPr>
              <a:t>sus</a:t>
            </a:r>
            <a:r>
              <a:rPr sz="1600" spc="-114" dirty="0">
                <a:latin typeface="Arial"/>
                <a:cs typeface="Arial"/>
              </a:rPr>
              <a:t> necesidades</a:t>
            </a:r>
            <a:endParaRPr sz="1600">
              <a:latin typeface="Arial"/>
              <a:cs typeface="Arial"/>
            </a:endParaRPr>
          </a:p>
          <a:p>
            <a:pPr marL="332740" indent="-320040">
              <a:lnSpc>
                <a:spcPts val="1805"/>
              </a:lnSpc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600" b="1" i="1" spc="-250" dirty="0">
                <a:latin typeface="Arial"/>
                <a:cs typeface="Arial"/>
              </a:rPr>
              <a:t>Riesgos</a:t>
            </a:r>
            <a:endParaRPr sz="1600">
              <a:latin typeface="Arial"/>
              <a:cs typeface="Arial"/>
            </a:endParaRPr>
          </a:p>
          <a:p>
            <a:pPr marL="652780" lvl="1" indent="-274320">
              <a:lnSpc>
                <a:spcPts val="1755"/>
              </a:lnSpc>
              <a:buClr>
                <a:srgbClr val="2CA1BE"/>
              </a:buClr>
              <a:buSzPct val="68750"/>
              <a:buChar char=""/>
              <a:tabLst>
                <a:tab pos="652145" algn="l"/>
                <a:tab pos="652780" algn="l"/>
              </a:tabLst>
            </a:pPr>
            <a:r>
              <a:rPr sz="1600" spc="-65" dirty="0">
                <a:latin typeface="Arial"/>
                <a:cs typeface="Arial"/>
              </a:rPr>
              <a:t>Identificar, </a:t>
            </a:r>
            <a:r>
              <a:rPr sz="1600" spc="-50" dirty="0">
                <a:latin typeface="Arial"/>
                <a:cs typeface="Arial"/>
              </a:rPr>
              <a:t>analizar </a:t>
            </a:r>
            <a:r>
              <a:rPr sz="1600" spc="-5" dirty="0">
                <a:latin typeface="Arial"/>
                <a:cs typeface="Arial"/>
              </a:rPr>
              <a:t>y </a:t>
            </a:r>
            <a:r>
              <a:rPr sz="1600" spc="-90" dirty="0">
                <a:latin typeface="Arial"/>
                <a:cs typeface="Arial"/>
              </a:rPr>
              <a:t>responder </a:t>
            </a:r>
            <a:r>
              <a:rPr sz="1600" spc="-10" dirty="0">
                <a:latin typeface="Arial"/>
                <a:cs typeface="Arial"/>
              </a:rPr>
              <a:t>a </a:t>
            </a:r>
            <a:r>
              <a:rPr sz="1600" spc="-130" dirty="0">
                <a:latin typeface="Arial"/>
                <a:cs typeface="Arial"/>
              </a:rPr>
              <a:t>los </a:t>
            </a:r>
            <a:r>
              <a:rPr sz="1600" spc="-110" dirty="0">
                <a:latin typeface="Arial"/>
                <a:cs typeface="Arial"/>
              </a:rPr>
              <a:t>riesgos </a:t>
            </a:r>
            <a:r>
              <a:rPr sz="1600" spc="-40" dirty="0">
                <a:latin typeface="Arial"/>
                <a:cs typeface="Arial"/>
              </a:rPr>
              <a:t>del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proyecto</a:t>
            </a:r>
            <a:endParaRPr sz="1600">
              <a:latin typeface="Arial"/>
              <a:cs typeface="Arial"/>
            </a:endParaRPr>
          </a:p>
          <a:p>
            <a:pPr marL="652780" lvl="1" indent="-274320">
              <a:lnSpc>
                <a:spcPts val="1755"/>
              </a:lnSpc>
              <a:buClr>
                <a:srgbClr val="2CA1BE"/>
              </a:buClr>
              <a:buSzPct val="68750"/>
              <a:buChar char=""/>
              <a:tabLst>
                <a:tab pos="652145" algn="l"/>
                <a:tab pos="652780" algn="l"/>
              </a:tabLst>
            </a:pPr>
            <a:r>
              <a:rPr sz="1600" spc="-60" dirty="0">
                <a:latin typeface="Arial"/>
                <a:cs typeface="Arial"/>
              </a:rPr>
              <a:t>Maximizar </a:t>
            </a:r>
            <a:r>
              <a:rPr sz="1600" spc="-125" dirty="0">
                <a:latin typeface="Arial"/>
                <a:cs typeface="Arial"/>
              </a:rPr>
              <a:t>los </a:t>
            </a:r>
            <a:r>
              <a:rPr sz="1600" spc="-100" dirty="0">
                <a:latin typeface="Arial"/>
                <a:cs typeface="Arial"/>
              </a:rPr>
              <a:t>resultados </a:t>
            </a:r>
            <a:r>
              <a:rPr sz="1600" spc="-55" dirty="0">
                <a:latin typeface="Arial"/>
                <a:cs typeface="Arial"/>
              </a:rPr>
              <a:t>de </a:t>
            </a:r>
            <a:r>
              <a:rPr sz="1600" spc="-130" dirty="0">
                <a:latin typeface="Arial"/>
                <a:cs typeface="Arial"/>
              </a:rPr>
              <a:t>eventos</a:t>
            </a:r>
            <a:r>
              <a:rPr sz="1600" spc="-254" dirty="0">
                <a:latin typeface="Arial"/>
                <a:cs typeface="Arial"/>
              </a:rPr>
              <a:t> </a:t>
            </a:r>
            <a:r>
              <a:rPr sz="1600" spc="-105" dirty="0">
                <a:latin typeface="Arial"/>
                <a:cs typeface="Arial"/>
              </a:rPr>
              <a:t>positivos</a:t>
            </a:r>
            <a:endParaRPr sz="1600">
              <a:latin typeface="Arial"/>
              <a:cs typeface="Arial"/>
            </a:endParaRPr>
          </a:p>
          <a:p>
            <a:pPr marL="652780" lvl="1" indent="-274320">
              <a:lnSpc>
                <a:spcPts val="1835"/>
              </a:lnSpc>
              <a:buClr>
                <a:srgbClr val="2CA1BE"/>
              </a:buClr>
              <a:buSzPct val="68750"/>
              <a:buChar char=""/>
              <a:tabLst>
                <a:tab pos="652145" algn="l"/>
                <a:tab pos="652780" algn="l"/>
              </a:tabLst>
            </a:pPr>
            <a:r>
              <a:rPr sz="1600" spc="-80" dirty="0">
                <a:latin typeface="Arial"/>
                <a:cs typeface="Arial"/>
              </a:rPr>
              <a:t>Minimizar </a:t>
            </a:r>
            <a:r>
              <a:rPr sz="1600" spc="-100" dirty="0">
                <a:latin typeface="Arial"/>
                <a:cs typeface="Arial"/>
              </a:rPr>
              <a:t>las </a:t>
            </a:r>
            <a:r>
              <a:rPr sz="1600" spc="-155" dirty="0">
                <a:latin typeface="Arial"/>
                <a:cs typeface="Arial"/>
              </a:rPr>
              <a:t>consecuencias </a:t>
            </a:r>
            <a:r>
              <a:rPr sz="1600" spc="-55" dirty="0">
                <a:latin typeface="Arial"/>
                <a:cs typeface="Arial"/>
              </a:rPr>
              <a:t>de </a:t>
            </a:r>
            <a:r>
              <a:rPr sz="1600" spc="-125" dirty="0">
                <a:latin typeface="Arial"/>
                <a:cs typeface="Arial"/>
              </a:rPr>
              <a:t>los </a:t>
            </a:r>
            <a:r>
              <a:rPr sz="1600" spc="-130" dirty="0">
                <a:latin typeface="Arial"/>
                <a:cs typeface="Arial"/>
              </a:rPr>
              <a:t>eventos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0" dirty="0">
                <a:latin typeface="Arial"/>
                <a:cs typeface="Arial"/>
              </a:rPr>
              <a:t>negativos</a:t>
            </a:r>
            <a:endParaRPr sz="16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215"/>
              </a:spcBef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600" b="1" i="1" spc="-215" dirty="0">
                <a:latin typeface="Arial"/>
                <a:cs typeface="Arial"/>
              </a:rPr>
              <a:t>Adquisiciones</a:t>
            </a:r>
            <a:endParaRPr sz="160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215"/>
              </a:spcBef>
              <a:buClr>
                <a:srgbClr val="2CA1BE"/>
              </a:buClr>
              <a:buSzPct val="68750"/>
              <a:buChar char=""/>
              <a:tabLst>
                <a:tab pos="652145" algn="l"/>
                <a:tab pos="652780" algn="l"/>
              </a:tabLst>
            </a:pPr>
            <a:r>
              <a:rPr sz="1600" spc="-45" dirty="0">
                <a:latin typeface="Arial"/>
                <a:cs typeface="Arial"/>
              </a:rPr>
              <a:t>Adquirir </a:t>
            </a:r>
            <a:r>
              <a:rPr sz="1600" spc="-130" dirty="0">
                <a:latin typeface="Arial"/>
                <a:cs typeface="Arial"/>
              </a:rPr>
              <a:t>los </a:t>
            </a:r>
            <a:r>
              <a:rPr sz="1600" spc="-114" dirty="0">
                <a:latin typeface="Arial"/>
                <a:cs typeface="Arial"/>
              </a:rPr>
              <a:t>bienes </a:t>
            </a:r>
            <a:r>
              <a:rPr sz="1600" spc="-5" dirty="0">
                <a:latin typeface="Arial"/>
                <a:cs typeface="Arial"/>
              </a:rPr>
              <a:t>y </a:t>
            </a:r>
            <a:r>
              <a:rPr sz="1600" spc="-110" dirty="0">
                <a:latin typeface="Arial"/>
                <a:cs typeface="Arial"/>
              </a:rPr>
              <a:t>servicios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para </a:t>
            </a:r>
            <a:r>
              <a:rPr sz="1600" spc="-55" dirty="0">
                <a:latin typeface="Arial"/>
                <a:cs typeface="Arial"/>
              </a:rPr>
              <a:t>desarrollar </a:t>
            </a:r>
            <a:r>
              <a:rPr sz="1600" spc="-50" dirty="0">
                <a:latin typeface="Arial"/>
                <a:cs typeface="Arial"/>
              </a:rPr>
              <a:t>el </a:t>
            </a:r>
            <a:r>
              <a:rPr sz="1600" spc="-80" dirty="0">
                <a:latin typeface="Arial"/>
                <a:cs typeface="Arial"/>
              </a:rPr>
              <a:t>proyecto</a:t>
            </a:r>
            <a:endParaRPr sz="16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315"/>
              </a:spcBef>
              <a:buClr>
                <a:srgbClr val="DA1F28"/>
              </a:buClr>
              <a:buSzPct val="59375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600" b="1" i="1" spc="-190" dirty="0">
                <a:latin typeface="Arial"/>
                <a:cs typeface="Arial"/>
              </a:rPr>
              <a:t>Talento</a:t>
            </a:r>
            <a:r>
              <a:rPr sz="1600" b="1" i="1" spc="-25" dirty="0">
                <a:latin typeface="Arial"/>
                <a:cs typeface="Arial"/>
              </a:rPr>
              <a:t> </a:t>
            </a:r>
            <a:r>
              <a:rPr sz="1600" b="1" i="1" spc="-220" dirty="0">
                <a:latin typeface="Arial"/>
                <a:cs typeface="Arial"/>
              </a:rPr>
              <a:t>Humana</a:t>
            </a:r>
            <a:endParaRPr sz="1600">
              <a:latin typeface="Arial"/>
              <a:cs typeface="Arial"/>
            </a:endParaRPr>
          </a:p>
          <a:p>
            <a:pPr marL="652780" lvl="1" indent="-274320">
              <a:lnSpc>
                <a:spcPct val="100000"/>
              </a:lnSpc>
              <a:spcBef>
                <a:spcPts val="215"/>
              </a:spcBef>
              <a:buClr>
                <a:srgbClr val="2CA1BE"/>
              </a:buClr>
              <a:buSzPct val="68750"/>
              <a:buChar char=""/>
              <a:tabLst>
                <a:tab pos="652145" algn="l"/>
                <a:tab pos="652780" algn="l"/>
              </a:tabLst>
            </a:pPr>
            <a:r>
              <a:rPr sz="1600" spc="-100" dirty="0">
                <a:latin typeface="Arial"/>
                <a:cs typeface="Arial"/>
              </a:rPr>
              <a:t>Hacer </a:t>
            </a:r>
            <a:r>
              <a:rPr sz="1600" spc="-190" dirty="0">
                <a:latin typeface="Arial"/>
                <a:cs typeface="Arial"/>
              </a:rPr>
              <a:t>uso </a:t>
            </a:r>
            <a:r>
              <a:rPr sz="1600" spc="-70" dirty="0">
                <a:latin typeface="Arial"/>
                <a:cs typeface="Arial"/>
              </a:rPr>
              <a:t>efectivo </a:t>
            </a:r>
            <a:r>
              <a:rPr sz="1600" spc="-55" dirty="0">
                <a:latin typeface="Arial"/>
                <a:cs typeface="Arial"/>
              </a:rPr>
              <a:t>de </a:t>
            </a:r>
            <a:r>
              <a:rPr sz="1600" spc="-100" dirty="0">
                <a:latin typeface="Arial"/>
                <a:cs typeface="Arial"/>
              </a:rPr>
              <a:t>las </a:t>
            </a:r>
            <a:r>
              <a:rPr sz="1600" spc="-120" dirty="0">
                <a:latin typeface="Arial"/>
                <a:cs typeface="Arial"/>
              </a:rPr>
              <a:t>personas </a:t>
            </a:r>
            <a:r>
              <a:rPr sz="1600" spc="-95" dirty="0">
                <a:latin typeface="Arial"/>
                <a:cs typeface="Arial"/>
              </a:rPr>
              <a:t>asigandas </a:t>
            </a:r>
            <a:r>
              <a:rPr sz="1600" spc="-10" dirty="0">
                <a:latin typeface="Arial"/>
                <a:cs typeface="Arial"/>
              </a:rPr>
              <a:t>al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proyecto</a:t>
            </a:r>
            <a:endParaRPr sz="1600">
              <a:latin typeface="Arial"/>
              <a:cs typeface="Arial"/>
            </a:endParaRPr>
          </a:p>
          <a:p>
            <a:pPr marL="401320" indent="-342900">
              <a:lnSpc>
                <a:spcPct val="100000"/>
              </a:lnSpc>
              <a:spcBef>
                <a:spcPts val="325"/>
              </a:spcBef>
              <a:buClr>
                <a:srgbClr val="DA1F28"/>
              </a:buClr>
              <a:buSzPct val="59375"/>
              <a:buFont typeface="Wingdings"/>
              <a:buChar char=""/>
              <a:tabLst>
                <a:tab pos="400685" algn="l"/>
                <a:tab pos="401320" algn="l"/>
              </a:tabLst>
            </a:pPr>
            <a:r>
              <a:rPr sz="1600" b="1" i="1" spc="-200" dirty="0">
                <a:latin typeface="Arial"/>
                <a:cs typeface="Arial"/>
              </a:rPr>
              <a:t>Gestiòn </a:t>
            </a:r>
            <a:r>
              <a:rPr sz="1600" b="1" i="1" spc="-170" dirty="0">
                <a:latin typeface="Arial"/>
                <a:cs typeface="Arial"/>
              </a:rPr>
              <a:t>de</a:t>
            </a:r>
            <a:r>
              <a:rPr sz="1600" b="1" i="1" spc="-110" dirty="0">
                <a:latin typeface="Arial"/>
                <a:cs typeface="Arial"/>
              </a:rPr>
              <a:t> </a:t>
            </a:r>
            <a:r>
              <a:rPr sz="1600" b="1" i="1" spc="-200" dirty="0">
                <a:latin typeface="Arial"/>
                <a:cs typeface="Arial"/>
              </a:rPr>
              <a:t>Interesados</a:t>
            </a:r>
            <a:endParaRPr sz="1600">
              <a:latin typeface="Arial"/>
              <a:cs typeface="Arial"/>
            </a:endParaRPr>
          </a:p>
          <a:p>
            <a:pPr marL="721360" lvl="1" indent="-342900">
              <a:lnSpc>
                <a:spcPct val="100000"/>
              </a:lnSpc>
              <a:spcBef>
                <a:spcPts val="215"/>
              </a:spcBef>
              <a:buClr>
                <a:srgbClr val="2CA1BE"/>
              </a:buClr>
              <a:buSzPct val="68750"/>
              <a:buChar char=""/>
              <a:tabLst>
                <a:tab pos="720725" algn="l"/>
                <a:tab pos="721360" algn="l"/>
              </a:tabLst>
            </a:pPr>
            <a:r>
              <a:rPr sz="1600" spc="-85" dirty="0">
                <a:latin typeface="Arial"/>
                <a:cs typeface="Arial"/>
              </a:rPr>
              <a:t>Administrar </a:t>
            </a:r>
            <a:r>
              <a:rPr sz="1600" spc="-130" dirty="0">
                <a:latin typeface="Arial"/>
                <a:cs typeface="Arial"/>
              </a:rPr>
              <a:t>los </a:t>
            </a:r>
            <a:r>
              <a:rPr sz="1600" spc="-100" dirty="0">
                <a:latin typeface="Arial"/>
                <a:cs typeface="Arial"/>
              </a:rPr>
              <a:t>interesados </a:t>
            </a:r>
            <a:r>
              <a:rPr sz="1600" spc="-140" dirty="0">
                <a:latin typeface="Arial"/>
                <a:cs typeface="Arial"/>
              </a:rPr>
              <a:t>en </a:t>
            </a:r>
            <a:r>
              <a:rPr sz="1600" spc="-50" dirty="0">
                <a:latin typeface="Arial"/>
                <a:cs typeface="Arial"/>
              </a:rPr>
              <a:t>pro </a:t>
            </a:r>
            <a:r>
              <a:rPr sz="1600" spc="-40" dirty="0">
                <a:latin typeface="Arial"/>
                <a:cs typeface="Arial"/>
              </a:rPr>
              <a:t>del </a:t>
            </a:r>
            <a:r>
              <a:rPr sz="1600" spc="-70" dirty="0">
                <a:latin typeface="Arial"/>
                <a:cs typeface="Arial"/>
              </a:rPr>
              <a:t>beneficio </a:t>
            </a:r>
            <a:r>
              <a:rPr sz="1600" spc="-40" dirty="0">
                <a:latin typeface="Arial"/>
                <a:cs typeface="Arial"/>
              </a:rPr>
              <a:t>del</a:t>
            </a:r>
            <a:r>
              <a:rPr sz="1600" spc="-235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proyecto</a:t>
            </a:r>
            <a:endParaRPr sz="1600">
              <a:latin typeface="Arial"/>
              <a:cs typeface="Arial"/>
            </a:endParaRPr>
          </a:p>
          <a:p>
            <a:pPr marL="5050790">
              <a:lnSpc>
                <a:spcPct val="100000"/>
              </a:lnSpc>
              <a:spcBef>
                <a:spcPts val="615"/>
              </a:spcBef>
              <a:tabLst>
                <a:tab pos="5785485" algn="l"/>
              </a:tabLst>
            </a:pPr>
            <a:r>
              <a:rPr sz="1400" spc="60" dirty="0">
                <a:solidFill>
                  <a:srgbClr val="464646"/>
                </a:solidFill>
                <a:latin typeface="Arial"/>
                <a:cs typeface="Arial"/>
              </a:rPr>
              <a:t>48/15	</a:t>
            </a:r>
            <a:r>
              <a:rPr sz="1400" spc="-145" dirty="0">
                <a:solidFill>
                  <a:srgbClr val="464646"/>
                </a:solidFill>
                <a:latin typeface="Arial"/>
                <a:cs typeface="Arial"/>
              </a:rPr>
              <a:t>PMBOK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10400" y="2178253"/>
            <a:ext cx="1917700" cy="10489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10400" y="3455263"/>
            <a:ext cx="2076450" cy="1385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589" y="1154049"/>
            <a:ext cx="34417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2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500" b="1" spc="-20" dirty="0">
                <a:solidFill>
                  <a:srgbClr val="FFFFFF"/>
                </a:solidFill>
                <a:latin typeface="Arial"/>
                <a:cs typeface="Arial"/>
              </a:rPr>
              <a:t>05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500" b="1" spc="-20" dirty="0">
                <a:solidFill>
                  <a:srgbClr val="FFFFFF"/>
                </a:solidFill>
                <a:latin typeface="Arial"/>
                <a:cs typeface="Arial"/>
              </a:rPr>
              <a:t>2009</a:t>
            </a:r>
            <a:r>
              <a:rPr sz="5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6674" y="1733550"/>
            <a:ext cx="2730500" cy="2339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9600" y="1733550"/>
            <a:ext cx="7929245" cy="3029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7975" marR="113664" indent="-320040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58333"/>
              <a:buFont typeface="Wingdings"/>
              <a:buChar char=""/>
              <a:tabLst>
                <a:tab pos="2847340" algn="l"/>
                <a:tab pos="2847975" algn="l"/>
                <a:tab pos="4058920" algn="l"/>
              </a:tabLst>
            </a:pPr>
            <a:r>
              <a:rPr sz="1800" spc="-130" dirty="0">
                <a:latin typeface="Arial"/>
                <a:cs typeface="Arial"/>
              </a:rPr>
              <a:t>Finalmente:	</a:t>
            </a:r>
            <a:r>
              <a:rPr sz="1800" spc="-145" dirty="0">
                <a:latin typeface="Arial"/>
                <a:cs typeface="Arial"/>
              </a:rPr>
              <a:t>Una </a:t>
            </a:r>
            <a:r>
              <a:rPr sz="1800" spc="-120" dirty="0">
                <a:latin typeface="Arial"/>
                <a:cs typeface="Arial"/>
              </a:rPr>
              <a:t>vez </a:t>
            </a:r>
            <a:r>
              <a:rPr sz="1800" spc="-204" dirty="0">
                <a:latin typeface="Arial"/>
                <a:cs typeface="Arial"/>
              </a:rPr>
              <a:t>se es </a:t>
            </a:r>
            <a:r>
              <a:rPr sz="1800" spc="-30" dirty="0">
                <a:latin typeface="Arial"/>
                <a:cs typeface="Arial"/>
              </a:rPr>
              <a:t>familiar </a:t>
            </a:r>
            <a:r>
              <a:rPr sz="1800" spc="-175" dirty="0">
                <a:latin typeface="Arial"/>
                <a:cs typeface="Arial"/>
              </a:rPr>
              <a:t>con </a:t>
            </a:r>
            <a:r>
              <a:rPr sz="1800" spc="-140" dirty="0">
                <a:latin typeface="Arial"/>
                <a:cs typeface="Arial"/>
              </a:rPr>
              <a:t>los </a:t>
            </a:r>
            <a:r>
              <a:rPr sz="1800" spc="-145" dirty="0">
                <a:latin typeface="Arial"/>
                <a:cs typeface="Arial"/>
              </a:rPr>
              <a:t>procesos  </a:t>
            </a:r>
            <a:r>
              <a:rPr sz="1800" spc="-55" dirty="0">
                <a:latin typeface="Arial"/>
                <a:cs typeface="Arial"/>
              </a:rPr>
              <a:t>de </a:t>
            </a:r>
            <a:r>
              <a:rPr sz="1800" spc="-10" dirty="0">
                <a:latin typeface="Arial"/>
                <a:cs typeface="Arial"/>
              </a:rPr>
              <a:t>la </a:t>
            </a:r>
            <a:r>
              <a:rPr sz="1800" spc="-85" dirty="0">
                <a:latin typeface="Arial"/>
                <a:cs typeface="Arial"/>
              </a:rPr>
              <a:t>Guía </a:t>
            </a:r>
            <a:r>
              <a:rPr sz="1800" spc="-40" dirty="0">
                <a:latin typeface="Arial"/>
                <a:cs typeface="Arial"/>
              </a:rPr>
              <a:t>del </a:t>
            </a:r>
            <a:r>
              <a:rPr sz="1800" spc="-160" dirty="0">
                <a:latin typeface="Arial"/>
                <a:cs typeface="Arial"/>
              </a:rPr>
              <a:t>PMBOOK </a:t>
            </a:r>
            <a:r>
              <a:rPr sz="1800" spc="-100" dirty="0">
                <a:latin typeface="Arial"/>
                <a:cs typeface="Arial"/>
              </a:rPr>
              <a:t>o </a:t>
            </a:r>
            <a:r>
              <a:rPr sz="1800" spc="-85" dirty="0">
                <a:latin typeface="Arial"/>
                <a:cs typeface="Arial"/>
              </a:rPr>
              <a:t>cualquier estándar </a:t>
            </a:r>
            <a:r>
              <a:rPr sz="1800" spc="-110" dirty="0">
                <a:latin typeface="Arial"/>
                <a:cs typeface="Arial"/>
              </a:rPr>
              <a:t>que </a:t>
            </a:r>
            <a:r>
              <a:rPr sz="1800" spc="-200" dirty="0">
                <a:latin typeface="Arial"/>
                <a:cs typeface="Arial"/>
              </a:rPr>
              <a:t>se  </a:t>
            </a:r>
            <a:r>
              <a:rPr sz="1800" spc="-185" dirty="0">
                <a:latin typeface="Arial"/>
                <a:cs typeface="Arial"/>
              </a:rPr>
              <a:t>use. </a:t>
            </a:r>
            <a:r>
              <a:rPr sz="1800" spc="-210" dirty="0">
                <a:latin typeface="Arial"/>
                <a:cs typeface="Arial"/>
              </a:rPr>
              <a:t>El </a:t>
            </a:r>
            <a:r>
              <a:rPr sz="1800" spc="-80" dirty="0">
                <a:latin typeface="Arial"/>
                <a:cs typeface="Arial"/>
              </a:rPr>
              <a:t>Gerente </a:t>
            </a:r>
            <a:r>
              <a:rPr sz="1800" spc="-55" dirty="0">
                <a:latin typeface="Arial"/>
                <a:cs typeface="Arial"/>
              </a:rPr>
              <a:t>de </a:t>
            </a:r>
            <a:r>
              <a:rPr sz="1800" spc="-85" dirty="0">
                <a:latin typeface="Arial"/>
                <a:cs typeface="Arial"/>
              </a:rPr>
              <a:t>proyecto </a:t>
            </a:r>
            <a:r>
              <a:rPr sz="1800" spc="-90" dirty="0">
                <a:latin typeface="Arial"/>
                <a:cs typeface="Arial"/>
              </a:rPr>
              <a:t>puede </a:t>
            </a:r>
            <a:r>
              <a:rPr sz="1800" spc="-75" dirty="0">
                <a:latin typeface="Arial"/>
                <a:cs typeface="Arial"/>
              </a:rPr>
              <a:t>personalizar </a:t>
            </a:r>
            <a:r>
              <a:rPr sz="1800" spc="-55" dirty="0">
                <a:latin typeface="Arial"/>
                <a:cs typeface="Arial"/>
              </a:rPr>
              <a:t>el </a:t>
            </a:r>
            <a:r>
              <a:rPr sz="1800" spc="-204" dirty="0">
                <a:latin typeface="Arial"/>
                <a:cs typeface="Arial"/>
              </a:rPr>
              <a:t>uso  </a:t>
            </a:r>
            <a:r>
              <a:rPr sz="1800" spc="-55" dirty="0">
                <a:latin typeface="Arial"/>
                <a:cs typeface="Arial"/>
              </a:rPr>
              <a:t>de </a:t>
            </a:r>
            <a:r>
              <a:rPr sz="1800" spc="-165" dirty="0">
                <a:latin typeface="Arial"/>
                <a:cs typeface="Arial"/>
              </a:rPr>
              <a:t>estos </a:t>
            </a:r>
            <a:r>
              <a:rPr sz="1800" spc="-145" dirty="0">
                <a:latin typeface="Arial"/>
                <a:cs typeface="Arial"/>
              </a:rPr>
              <a:t>procesos </a:t>
            </a:r>
            <a:r>
              <a:rPr sz="1800" spc="-55" dirty="0">
                <a:latin typeface="Arial"/>
                <a:cs typeface="Arial"/>
              </a:rPr>
              <a:t>de </a:t>
            </a:r>
            <a:r>
              <a:rPr sz="1800" spc="-95" dirty="0">
                <a:latin typeface="Arial"/>
                <a:cs typeface="Arial"/>
              </a:rPr>
              <a:t>acuerdo </a:t>
            </a:r>
            <a:r>
              <a:rPr sz="1800" spc="-10" dirty="0">
                <a:latin typeface="Arial"/>
                <a:cs typeface="Arial"/>
              </a:rPr>
              <a:t>al </a:t>
            </a:r>
            <a:r>
              <a:rPr sz="1800" spc="-85" dirty="0">
                <a:latin typeface="Arial"/>
                <a:cs typeface="Arial"/>
              </a:rPr>
              <a:t>proyecto </a:t>
            </a:r>
            <a:r>
              <a:rPr sz="1800" dirty="0">
                <a:latin typeface="Arial"/>
                <a:cs typeface="Arial"/>
              </a:rPr>
              <a:t>y </a:t>
            </a:r>
            <a:r>
              <a:rPr sz="1800" spc="-10" dirty="0">
                <a:latin typeface="Arial"/>
                <a:cs typeface="Arial"/>
              </a:rPr>
              <a:t>ala  </a:t>
            </a:r>
            <a:r>
              <a:rPr sz="1800" spc="-90" dirty="0">
                <a:latin typeface="Arial"/>
                <a:cs typeface="Arial"/>
              </a:rPr>
              <a:t>organización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 dirty="0">
              <a:latin typeface="Times New Roman"/>
              <a:cs typeface="Times New Roman"/>
            </a:endParaRPr>
          </a:p>
          <a:p>
            <a:pPr marL="5194935">
              <a:lnSpc>
                <a:spcPct val="100000"/>
              </a:lnSpc>
              <a:spcBef>
                <a:spcPts val="1370"/>
              </a:spcBef>
            </a:pPr>
            <a:r>
              <a:rPr sz="1800" spc="-180" dirty="0">
                <a:latin typeface="Arial"/>
                <a:cs typeface="Arial"/>
              </a:rPr>
              <a:t>Como  </a:t>
            </a:r>
            <a:r>
              <a:rPr sz="1800" spc="-110" dirty="0">
                <a:latin typeface="Arial"/>
                <a:cs typeface="Arial"/>
              </a:rPr>
              <a:t>quièn</a:t>
            </a:r>
            <a:r>
              <a:rPr sz="1800" spc="-24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dice:</a:t>
            </a:r>
            <a:endParaRPr sz="1800" dirty="0">
              <a:latin typeface="Arial"/>
              <a:cs typeface="Arial"/>
            </a:endParaRPr>
          </a:p>
          <a:p>
            <a:pPr marR="6350" algn="r">
              <a:lnSpc>
                <a:spcPct val="100000"/>
              </a:lnSpc>
              <a:spcBef>
                <a:spcPts val="710"/>
              </a:spcBef>
            </a:pPr>
            <a:r>
              <a:rPr sz="1800" b="1" i="1" spc="-254" dirty="0">
                <a:latin typeface="Arial"/>
                <a:cs typeface="Arial"/>
              </a:rPr>
              <a:t>“To  </a:t>
            </a:r>
            <a:r>
              <a:rPr sz="1800" b="1" i="1" spc="-180" dirty="0">
                <a:latin typeface="Arial"/>
                <a:cs typeface="Arial"/>
              </a:rPr>
              <a:t>break </a:t>
            </a:r>
            <a:r>
              <a:rPr sz="1800" b="1" i="1" spc="-190" dirty="0">
                <a:latin typeface="Arial"/>
                <a:cs typeface="Arial"/>
              </a:rPr>
              <a:t>the  </a:t>
            </a:r>
            <a:r>
              <a:rPr sz="1800" b="1" i="1" spc="-210" dirty="0">
                <a:latin typeface="Arial"/>
                <a:cs typeface="Arial"/>
              </a:rPr>
              <a:t>rules,  </a:t>
            </a:r>
            <a:r>
              <a:rPr sz="1800" b="1" i="1" spc="-180" dirty="0">
                <a:latin typeface="Arial"/>
                <a:cs typeface="Arial"/>
              </a:rPr>
              <a:t>first </a:t>
            </a:r>
            <a:r>
              <a:rPr sz="1800" b="1" i="1" spc="-220" dirty="0">
                <a:latin typeface="Arial"/>
                <a:cs typeface="Arial"/>
              </a:rPr>
              <a:t>you  </a:t>
            </a:r>
            <a:r>
              <a:rPr sz="1800" b="1" i="1" spc="-215" dirty="0">
                <a:latin typeface="Arial"/>
                <a:cs typeface="Arial"/>
              </a:rPr>
              <a:t>have</a:t>
            </a:r>
            <a:r>
              <a:rPr sz="1800" b="1" i="1" spc="-165" dirty="0">
                <a:latin typeface="Arial"/>
                <a:cs typeface="Arial"/>
              </a:rPr>
              <a:t> </a:t>
            </a:r>
            <a:r>
              <a:rPr sz="1800" b="1" i="1" spc="-170" dirty="0">
                <a:latin typeface="Arial"/>
                <a:cs typeface="Arial"/>
              </a:rPr>
              <a:t>to</a:t>
            </a:r>
            <a:endParaRPr sz="1800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800" b="1" i="1" spc="-229" dirty="0">
                <a:latin typeface="Arial"/>
                <a:cs typeface="Arial"/>
              </a:rPr>
              <a:t>know  </a:t>
            </a:r>
            <a:r>
              <a:rPr sz="1800" b="1" i="1" spc="-190" dirty="0">
                <a:latin typeface="Arial"/>
                <a:cs typeface="Arial"/>
              </a:rPr>
              <a:t>the  </a:t>
            </a:r>
            <a:r>
              <a:rPr sz="1800" b="1" i="1" spc="-204" dirty="0">
                <a:latin typeface="Arial"/>
                <a:cs typeface="Arial"/>
              </a:rPr>
              <a:t>rules.</a:t>
            </a:r>
            <a:r>
              <a:rPr sz="1800" b="1" i="1" spc="-360" dirty="0">
                <a:latin typeface="Arial"/>
                <a:cs typeface="Arial"/>
              </a:rPr>
              <a:t> </a:t>
            </a:r>
            <a:r>
              <a:rPr sz="1800" b="1" i="1" spc="-135" dirty="0">
                <a:latin typeface="Arial"/>
                <a:cs typeface="Arial"/>
              </a:rPr>
              <a:t>”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0BE99E6FD9E1A46BA88A7920F6AD11C" ma:contentTypeVersion="3" ma:contentTypeDescription="Crear nuevo documento." ma:contentTypeScope="" ma:versionID="1cd865fdc3e5ee9e101d1a0a23d9539f">
  <xsd:schema xmlns:xsd="http://www.w3.org/2001/XMLSchema" xmlns:xs="http://www.w3.org/2001/XMLSchema" xmlns:p="http://schemas.microsoft.com/office/2006/metadata/properties" xmlns:ns2="d4bcf895-01d5-4637-9f93-cfcc952c2b7e" targetNamespace="http://schemas.microsoft.com/office/2006/metadata/properties" ma:root="true" ma:fieldsID="f78ab45fcf82c08f9e3163935ea0d046" ns2:_="">
    <xsd:import namespace="d4bcf895-01d5-4637-9f93-cfcc952c2b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bcf895-01d5-4637-9f93-cfcc952c2b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7700F67-0711-40BE-B2DC-E23A7AA4D661}"/>
</file>

<file path=customXml/itemProps2.xml><?xml version="1.0" encoding="utf-8"?>
<ds:datastoreItem xmlns:ds="http://schemas.openxmlformats.org/officeDocument/2006/customXml" ds:itemID="{6709659E-840D-47C1-B889-8721746CB5F6}"/>
</file>

<file path=customXml/itemProps3.xml><?xml version="1.0" encoding="utf-8"?>
<ds:datastoreItem xmlns:ds="http://schemas.openxmlformats.org/officeDocument/2006/customXml" ds:itemID="{217F4BC5-577D-4FA9-8250-85531AAF3EC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3682</TotalTime>
  <Words>2436</Words>
  <Application>Microsoft Office PowerPoint</Application>
  <PresentationFormat>Presentación en pantalla (16:9)</PresentationFormat>
  <Paragraphs>510</Paragraphs>
  <Slides>36</Slides>
  <Notes>1</Notes>
  <HiddenSlides>1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3" baseType="lpstr">
      <vt:lpstr>Arial</vt:lpstr>
      <vt:lpstr>Calibri</vt:lpstr>
      <vt:lpstr>Tahoma</vt:lpstr>
      <vt:lpstr>Times New Roman</vt:lpstr>
      <vt:lpstr>Trebuchet MS</vt:lpstr>
      <vt:lpstr>Wingdings</vt:lpstr>
      <vt:lpstr>Office Theme</vt:lpstr>
      <vt:lpstr>GERENCIA DE PROYECTOS</vt:lpstr>
      <vt:lpstr>Conceptos</vt:lpstr>
      <vt:lpstr>Proyecto</vt:lpstr>
      <vt:lpstr>Retos Gestion de Proyectos</vt:lpstr>
      <vt:lpstr>Reflexiòn</vt:lpstr>
      <vt:lpstr>La Estrategia y Los Proyectos</vt:lpstr>
      <vt:lpstr>Proyectos vs la Operaciòn</vt:lpstr>
      <vt:lpstr>Proyectos  &amp; Operaciòn</vt:lpstr>
      <vt:lpstr>Responsabilidades del gerente del proyecto</vt:lpstr>
      <vt:lpstr>El Gerente del Proyecto</vt:lpstr>
      <vt:lpstr>Proyecto – Programa - Portafolio</vt:lpstr>
      <vt:lpstr>Habilidades del gerente del proyecto</vt:lpstr>
      <vt:lpstr>Habilidades del Gerente Proyectos y Gerente de  Programas</vt:lpstr>
      <vt:lpstr>Oficina de Proyectos PMO</vt:lpstr>
      <vt:lpstr>Conceptos Claves:Factores Organizacionales de la empresa</vt:lpstr>
      <vt:lpstr>Concepto Clave: Patrocinador-Sponsor</vt:lpstr>
      <vt:lpstr>Concepto Clave: Interesados-Stakeholders</vt:lpstr>
      <vt:lpstr>Estructura Organizacional -Influencia en la Gestión  de proyectos</vt:lpstr>
      <vt:lpstr>Estructura Funcional Típica</vt:lpstr>
      <vt:lpstr>Estructura Proyectizada</vt:lpstr>
      <vt:lpstr>Estuctura Matricial</vt:lpstr>
      <vt:lpstr>Estructura Matricial Debil = Funcional</vt:lpstr>
      <vt:lpstr>Matricial Fuerte = proyectizada</vt:lpstr>
      <vt:lpstr>Matricial Balanceada, Parecida a la funcional pero da mas poder al GP</vt:lpstr>
      <vt:lpstr>Estructura Organizacional y Su Influencia en los proyectos</vt:lpstr>
      <vt:lpstr>Cual de las estructuras es Mejor?</vt:lpstr>
      <vt:lpstr>Evaluación del Proyecto</vt:lpstr>
      <vt:lpstr>Material Complementario</vt:lpstr>
      <vt:lpstr>PMI y PMBOOK</vt:lpstr>
      <vt:lpstr>Gestion de Proyectos - Procesos</vt:lpstr>
      <vt:lpstr>Grupos de Procesos</vt:lpstr>
      <vt:lpstr>Areas de Conocimiento</vt:lpstr>
      <vt:lpstr>Grupos de Procesos</vt:lpstr>
      <vt:lpstr>Areas de Conocimiento</vt:lpstr>
      <vt:lpstr>Areas de Conocimiento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GERENCIA DE PROYECTOS</dc:title>
  <dc:creator>Dora Luz Mejia Arango</dc:creator>
  <cp:lastModifiedBy>Tatiana Sanchez Viana</cp:lastModifiedBy>
  <cp:revision>16</cp:revision>
  <dcterms:created xsi:type="dcterms:W3CDTF">2019-07-24T00:06:55Z</dcterms:created>
  <dcterms:modified xsi:type="dcterms:W3CDTF">2023-02-03T00:22:53Z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2014-11-10T00:00:00Z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2019-07-24T00:00:00Z</vt:filetime>
  </property>
  <property fmtid="{D5CDD505-2E9C-101B-9397-08002B2CF9AE}" pid="5" name="ContentTypeId">
    <vt:lpwstr>0x010100C0BE99E6FD9E1A46BA88A7920F6AD11C</vt:lpwstr>
  </property>
</Properties>
</file>
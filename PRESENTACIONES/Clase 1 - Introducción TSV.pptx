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Inter" panose="020B0604020202020204" charset="0"/>
      <p:regular r:id="rId12"/>
    </p:embeddedFont>
    <p:embeddedFont>
      <p:font typeface="Inter Bold" panose="020B0604020202020204" charset="0"/>
      <p:regular r:id="rId13"/>
    </p:embeddedFont>
    <p:embeddedFont>
      <p:font typeface="Inter Light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C6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866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agrama de flujo: retraso 9">
            <a:extLst>
              <a:ext uri="{FF2B5EF4-FFF2-40B4-BE49-F238E27FC236}">
                <a16:creationId xmlns:a16="http://schemas.microsoft.com/office/drawing/2014/main" id="{D70F5FF4-88DC-D544-0DE4-D91DCB46DB01}"/>
              </a:ext>
            </a:extLst>
          </p:cNvPr>
          <p:cNvSpPr/>
          <p:nvPr/>
        </p:nvSpPr>
        <p:spPr>
          <a:xfrm flipH="1">
            <a:off x="7798278" y="9094"/>
            <a:ext cx="4393719" cy="6848906"/>
          </a:xfrm>
          <a:prstGeom prst="flowChartDelay">
            <a:avLst/>
          </a:prstGeom>
          <a:solidFill>
            <a:srgbClr val="F9C6D0"/>
          </a:solidFill>
          <a:ln>
            <a:solidFill>
              <a:srgbClr val="F9C6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058" y="1642981"/>
            <a:ext cx="3525253" cy="35253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646164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B9276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Gestión de Proyectos</a:t>
            </a:r>
            <a:endParaRPr lang="en-US" sz="3250" dirty="0"/>
          </a:p>
        </p:txBody>
      </p:sp>
      <p:sp>
        <p:nvSpPr>
          <p:cNvPr id="7" name="Text 4"/>
          <p:cNvSpPr/>
          <p:nvPr/>
        </p:nvSpPr>
        <p:spPr>
          <a:xfrm>
            <a:off x="661475" y="3228975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B9276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Introducción y Presentación del Curso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1475" y="3735487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Bienvenidos a una de las materias más aplicadas y transformadoras de tu formación profesional. Aquí aprenderás a convertir ideas en proyectos reales, gestionando recursos, equipos y decisiones con criterio técnico y liderazgo.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5667"/>
            <a:ext cx="1879652" cy="251420"/>
          </a:xfrm>
          <a:prstGeom prst="roundRect">
            <a:avLst>
              <a:gd name="adj" fmla="val 22103"/>
            </a:avLst>
          </a:prstGeom>
          <a:solidFill>
            <a:srgbClr val="FDCEDF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625277"/>
            <a:ext cx="2290804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PRESENTACIÓN DOCENTE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9316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B9276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Tatiana Sánchez Viana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542415" y="1657945"/>
            <a:ext cx="5470785" cy="4624388"/>
          </a:xfrm>
          <a:prstGeom prst="roundRect">
            <a:avLst>
              <a:gd name="adj" fmla="val 2575"/>
            </a:avLst>
          </a:prstGeom>
          <a:solidFill>
            <a:srgbClr val="F9C6D0"/>
          </a:solidFill>
          <a:ln/>
        </p:spPr>
      </p:sp>
      <p:sp>
        <p:nvSpPr>
          <p:cNvPr id="6" name="Text 4"/>
          <p:cNvSpPr/>
          <p:nvPr/>
        </p:nvSpPr>
        <p:spPr>
          <a:xfrm>
            <a:off x="707710" y="1823244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Formación Académica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2247007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Administradora de empresas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UPB.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Especialización en Finanza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 - UPB.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Maestría en 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Administración (MBA) 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 EAFIT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7710" y="3321844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Experiencia Laboral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7710" y="3745607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Jefe Apoyo Financiero – UPB.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Docente – Escuela de Ingenierías, UPB.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Consultorías empresariales.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7710" y="4820444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Medios de Comunicación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7710" y="5244207"/>
            <a:ext cx="5140196" cy="922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📧 tatiana.sanchez@upb.edu.co.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💬 Microsoft Teams – respuesta rápida.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Asesorías adicionales se programarán según necesidad.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3904" y="1806773"/>
            <a:ext cx="523266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educación debe preparar a los estudiantes para tomar decisiones informadas, éticas y estratégicas en escenarios reales, para ello, mi propósito es transformar el aula en un espacio donde el conocimiento se construya a partir del análisis, la reflexión y la aplicación práctica, fortaleciendo la capacidad de resolver problemas y generar valor para las organizaciones y la sociedad.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3904" y="355977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B9276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Enfoque de aprendizaje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3904" y="3983534"/>
            <a:ext cx="5232666" cy="1471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Promuevo un aprendizaje activo basado en proyectos, estudios de caso y retos reales que permitan desarrollar competencias en planeación, análisis financiero, liderazgo, trabajo colaborativo y gestión del cambio.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3904" y="5604272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"La educación es el arma más poderosa que puedes usar para cambiar el mundo." 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Nelson Mandela.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477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B9276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Puntos clave para una clase productiva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92201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Estos acuerdos nos permiten construir un ambiente de aprendizaje auténtico, respetuoso y de alto impacto. Cada uno de nosotros aporta algo valioso a este espacio.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07469"/>
            <a:ext cx="3512653" cy="15202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2017" y="2791817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Escucharnos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22017" y="3149501"/>
            <a:ext cx="306776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estamos aprendiendo y todos tenemos algo por enseñar. La escucha activa es el primer paso.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9422" y="2607469"/>
            <a:ext cx="3512752" cy="15202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99964" y="2791817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Aprendizaje Activo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99964" y="3149501"/>
            <a:ext cx="30678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Toma nota, pregunta, pregúntate y ven a clase. Esto te ayuda a retener el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90% de lo aprendido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17468" y="2607469"/>
            <a:ext cx="3512653" cy="15202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78010" y="2791817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Evitar Distracciones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278010" y="3149501"/>
            <a:ext cx="306776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Garantizamos un aprendizaje de calidad cuando estamos presentes, mental y físicamente, en el aula.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292997"/>
            <a:ext cx="3512653" cy="15202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2017" y="4477345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Usar la Tecnología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922017" y="4835029"/>
            <a:ext cx="306776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 las herramientas digitales disponibles, pero siempre con un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pensamiento crítico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activo.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39422" y="4292997"/>
            <a:ext cx="3512752" cy="152023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99964" y="4477345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 Se Vale Equivocarse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4599964" y="4835029"/>
            <a:ext cx="30678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Siempre y cuando asumamos el error y aprendamos de él. El error es parte del proceso de mejora continua.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iagrama de flujo: retraso 21">
            <a:extLst>
              <a:ext uri="{FF2B5EF4-FFF2-40B4-BE49-F238E27FC236}">
                <a16:creationId xmlns:a16="http://schemas.microsoft.com/office/drawing/2014/main" id="{045D00ED-9255-E27E-D1E2-1741198E736F}"/>
              </a:ext>
            </a:extLst>
          </p:cNvPr>
          <p:cNvSpPr/>
          <p:nvPr/>
        </p:nvSpPr>
        <p:spPr>
          <a:xfrm flipH="1">
            <a:off x="8057071" y="9094"/>
            <a:ext cx="4134926" cy="6848906"/>
          </a:xfrm>
          <a:prstGeom prst="flowChartDelay">
            <a:avLst/>
          </a:prstGeom>
          <a:solidFill>
            <a:srgbClr val="F9C6D0"/>
          </a:solidFill>
          <a:ln>
            <a:solidFill>
              <a:srgbClr val="F9C6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1215" y="779959"/>
            <a:ext cx="3531901" cy="52979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613866"/>
            <a:ext cx="1459769" cy="238820"/>
          </a:xfrm>
          <a:prstGeom prst="roundRect">
            <a:avLst>
              <a:gd name="adj" fmla="val 22106"/>
            </a:avLst>
          </a:prstGeom>
          <a:solidFill>
            <a:srgbClr val="FDCEDF"/>
          </a:solidFill>
          <a:ln/>
        </p:spPr>
      </p:sp>
      <p:sp>
        <p:nvSpPr>
          <p:cNvPr id="5" name="Text 2"/>
          <p:cNvSpPr/>
          <p:nvPr/>
        </p:nvSpPr>
        <p:spPr>
          <a:xfrm>
            <a:off x="755730" y="660995"/>
            <a:ext cx="1880843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DINÁMICA DE CLASE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61475" y="912316"/>
            <a:ext cx="6296860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B9276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¡Nos Presentamos!</a:t>
            </a:r>
            <a:endParaRPr lang="en-US" sz="3050" dirty="0"/>
          </a:p>
        </p:txBody>
      </p:sp>
      <p:sp>
        <p:nvSpPr>
          <p:cNvPr id="7" name="Shape 4"/>
          <p:cNvSpPr/>
          <p:nvPr/>
        </p:nvSpPr>
        <p:spPr>
          <a:xfrm>
            <a:off x="897113" y="1784152"/>
            <a:ext cx="6061122" cy="157063"/>
          </a:xfrm>
          <a:prstGeom prst="roundRect">
            <a:avLst>
              <a:gd name="adj" fmla="val 42016"/>
            </a:avLst>
          </a:prstGeom>
          <a:solidFill>
            <a:srgbClr val="F0095F"/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1627088"/>
            <a:ext cx="471277" cy="471289"/>
          </a:xfrm>
          <a:prstGeom prst="ellipse">
            <a:avLst/>
          </a:prstGeom>
          <a:solidFill>
            <a:srgbClr val="F0095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245" y="1744960"/>
            <a:ext cx="235639" cy="2356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8534" y="2247602"/>
            <a:ext cx="598274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Presentación Personal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18534" y="2582664"/>
            <a:ext cx="5982741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Dinos tu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nombre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programa, semestre y un proyecto en el que hayas participado.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132752" y="3536355"/>
            <a:ext cx="5825483" cy="157063"/>
          </a:xfrm>
          <a:prstGeom prst="roundRect">
            <a:avLst>
              <a:gd name="adj" fmla="val 42016"/>
            </a:avLst>
          </a:prstGeom>
          <a:solidFill>
            <a:srgbClr val="BB32DF"/>
          </a:solidFill>
          <a:ln/>
        </p:spPr>
      </p:sp>
      <p:sp>
        <p:nvSpPr>
          <p:cNvPr id="13" name="Shape 9"/>
          <p:cNvSpPr/>
          <p:nvPr/>
        </p:nvSpPr>
        <p:spPr>
          <a:xfrm>
            <a:off x="897113" y="3379291"/>
            <a:ext cx="471277" cy="471289"/>
          </a:xfrm>
          <a:prstGeom prst="ellipse">
            <a:avLst/>
          </a:prstGeom>
          <a:solidFill>
            <a:srgbClr val="BB32D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4883" y="3497163"/>
            <a:ext cx="235639" cy="23564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4173" y="3999805"/>
            <a:ext cx="5747102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Experiencia laboral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054173" y="4334867"/>
            <a:ext cx="574710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Cuéntanos si has trabajado y en qué área.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1368391" y="5043388"/>
            <a:ext cx="5589845" cy="157063"/>
          </a:xfrm>
          <a:prstGeom prst="roundRect">
            <a:avLst>
              <a:gd name="adj" fmla="val 42016"/>
            </a:avLst>
          </a:prstGeom>
          <a:solidFill>
            <a:srgbClr val="B42A6F"/>
          </a:solidFill>
          <a:ln/>
        </p:spPr>
      </p:sp>
      <p:sp>
        <p:nvSpPr>
          <p:cNvPr id="18" name="Shape 13"/>
          <p:cNvSpPr/>
          <p:nvPr/>
        </p:nvSpPr>
        <p:spPr>
          <a:xfrm>
            <a:off x="1132752" y="4886325"/>
            <a:ext cx="471277" cy="471289"/>
          </a:xfrm>
          <a:prstGeom prst="ellipse">
            <a:avLst/>
          </a:prstGeom>
          <a:solidFill>
            <a:srgbClr val="B42A6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50522" y="5004197"/>
            <a:ext cx="235639" cy="23564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9811" y="5506839"/>
            <a:ext cx="551146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Expectativas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289811" y="5841901"/>
            <a:ext cx="551146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Comparte qué quieres aprender y por qué esta materia importa para ti.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0409"/>
            <a:ext cx="1638358" cy="238820"/>
          </a:xfrm>
          <a:prstGeom prst="roundRect">
            <a:avLst>
              <a:gd name="adj" fmla="val 22106"/>
            </a:avLst>
          </a:prstGeom>
          <a:solidFill>
            <a:srgbClr val="FDCEDF"/>
          </a:solidFill>
          <a:ln/>
        </p:spPr>
      </p:sp>
      <p:sp>
        <p:nvSpPr>
          <p:cNvPr id="3" name="Text 1"/>
          <p:cNvSpPr/>
          <p:nvPr/>
        </p:nvSpPr>
        <p:spPr>
          <a:xfrm>
            <a:off x="755730" y="617538"/>
            <a:ext cx="2059432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 DEL CURSO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269" y="977106"/>
            <a:ext cx="3218675" cy="5310386"/>
          </a:xfrm>
          <a:prstGeom prst="roundRect">
            <a:avLst>
              <a:gd name="adj" fmla="val 3515"/>
            </a:avLst>
          </a:prstGeom>
          <a:solidFill>
            <a:srgbClr val="F9C6D0"/>
          </a:solidFill>
          <a:ln/>
        </p:spPr>
      </p:sp>
      <p:sp>
        <p:nvSpPr>
          <p:cNvPr id="5" name="Text 3"/>
          <p:cNvSpPr/>
          <p:nvPr/>
        </p:nvSpPr>
        <p:spPr>
          <a:xfrm>
            <a:off x="705328" y="1111448"/>
            <a:ext cx="2904556" cy="624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2950"/>
              </a:spcAft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05328" y="1885355"/>
            <a:ext cx="2904556" cy="39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 General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705328" y="2427288"/>
            <a:ext cx="2904556" cy="269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Desarrollar en los estudiantes las competencias necesarias para formular, planificar, evaluar y gestionar proyectos de manera integral, aplicando metodologías, herramientas de gestión, análisis financiero, tecnologías emergentes y criterios de sostenibilidad, con el fin de diseñar soluciones viables que respondan a necesidades reales de las organizaciones y la sociedad.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43460" y="1126331"/>
            <a:ext cx="7493110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B9276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 del Curso</a:t>
            </a:r>
            <a:endParaRPr lang="en-US" sz="3050" dirty="0"/>
          </a:p>
        </p:txBody>
      </p:sp>
      <p:sp>
        <p:nvSpPr>
          <p:cNvPr id="9" name="Text 7"/>
          <p:cNvSpPr/>
          <p:nvPr/>
        </p:nvSpPr>
        <p:spPr>
          <a:xfrm>
            <a:off x="4043460" y="1676896"/>
            <a:ext cx="749311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B9276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Objetivos Específicos</a:t>
            </a:r>
            <a:endParaRPr lang="en-US" sz="15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2394" y="2098129"/>
            <a:ext cx="235639" cy="23564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54027" y="2090341"/>
            <a:ext cx="3142675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Comprender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los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fundamentos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metodologías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herramientas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la gestión de proyectos y su aplicación en diferentes contextos organizacionales.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42163" y="2098129"/>
            <a:ext cx="235639" cy="23564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93795" y="2090341"/>
            <a:ext cx="3142775" cy="12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Formular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proyectos mediante la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identificación de necesidades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definición de objetivos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elaboración de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estudios de mercado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técnicos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legales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ambientales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02394" y="3622427"/>
            <a:ext cx="235639" cy="23564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54027" y="3614638"/>
            <a:ext cx="3142675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Planificar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proyectos utilizando herramientas como la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EDT (WBS)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cronogramas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diagramas de Gantt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ruta crítica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gestión de riesgos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42163" y="3622427"/>
            <a:ext cx="235639" cy="23564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93795" y="3614638"/>
            <a:ext cx="3142775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Evaluar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viabilidad financiera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un proyecto con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presupuestos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flujos de caja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indicadores como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VPN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TIR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punto de equilibrio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periodo de recuperación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02394" y="4901555"/>
            <a:ext cx="235639" cy="23564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54027" y="4893766"/>
            <a:ext cx="3142675" cy="12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Aplicar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herramientas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tecnológicas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metodologías ágiles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inteligencia artificial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apoyar la planificación, el seguimiento y la toma de decisiones en proyectos.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42163" y="4901555"/>
            <a:ext cx="235639" cy="23564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393795" y="4893766"/>
            <a:ext cx="3142775" cy="12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Desarrollar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habilidades de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análisis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liderazgo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comunicación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trabajo colaborativo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gestionar proyectos de manera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ética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sostenible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orientada a resultados.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7759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B9276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Ruta de Aprendizaje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16930"/>
            <a:ext cx="5434373" cy="6511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4190" y="2128341"/>
            <a:ext cx="5108943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Conceptos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4190" y="2478782"/>
            <a:ext cx="5108943" cy="1202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Liderazgo y roles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es un proyecto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Fases de administración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Metodologías y ciclo de vida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1316930"/>
            <a:ext cx="5434373" cy="6511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58562" y="2128341"/>
            <a:ext cx="5108943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Iniciación - Prefactibilidad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258562" y="2478782"/>
            <a:ext cx="5108943" cy="1202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Definición de objetivos y alcance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Estudio de mercado y técnico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Equipo, recursos y actividades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Estudio del entorno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843536"/>
            <a:ext cx="5434373" cy="6511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4190" y="4654947"/>
            <a:ext cx="5108943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Planificación - Ejecución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24190" y="5005388"/>
            <a:ext cx="5108943" cy="1202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Cronograma, Gantt , PERT y Ruta crítica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Proceso de presupuestación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riesgos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Definición de indicadores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843536"/>
            <a:ext cx="5434373" cy="6511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58562" y="4654947"/>
            <a:ext cx="5108943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Evaluación Financiera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258562" y="5005388"/>
            <a:ext cx="5108943" cy="1202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de interés, amortización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Presupuesto y costos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 de caja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VPN, TIR y Payback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625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B9276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Evaluación del Curso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45009"/>
            <a:ext cx="1086874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sistema de evaluación combina seguimiento continuo, entregas parciales y un trabajo de semestre integrador. La distribución busca reflejar el esfuerzo sostenido a lo largo del curso.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8984" y="2081709"/>
            <a:ext cx="3323547" cy="518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10%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661475" y="2790627"/>
            <a:ext cx="349856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Seguimiento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1475" y="3125688"/>
            <a:ext cx="349856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Participación activa, tareas y compromisos del semestre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34074" y="2081709"/>
            <a:ext cx="3323547" cy="518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20%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4346565" y="2790627"/>
            <a:ext cx="349856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Parcial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46565" y="3125688"/>
            <a:ext cx="349856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de septiembre — evaluación de conceptos e iniciación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19165" y="2081709"/>
            <a:ext cx="3323547" cy="518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20%</a:t>
            </a:r>
            <a:endParaRPr lang="en-US" sz="4050" dirty="0"/>
          </a:p>
        </p:txBody>
      </p:sp>
      <p:sp>
        <p:nvSpPr>
          <p:cNvPr id="11" name="Text 9"/>
          <p:cNvSpPr/>
          <p:nvPr/>
        </p:nvSpPr>
        <p:spPr>
          <a:xfrm>
            <a:off x="8031656" y="2790627"/>
            <a:ext cx="349856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Parcial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31656" y="3125688"/>
            <a:ext cx="349856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de noviembre — evaluación de planificación y finanzas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91529" y="3992959"/>
            <a:ext cx="3323547" cy="518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10%</a:t>
            </a:r>
            <a:endParaRPr lang="en-US" sz="4050" dirty="0"/>
          </a:p>
        </p:txBody>
      </p:sp>
      <p:sp>
        <p:nvSpPr>
          <p:cNvPr id="14" name="Text 12"/>
          <p:cNvSpPr/>
          <p:nvPr/>
        </p:nvSpPr>
        <p:spPr>
          <a:xfrm>
            <a:off x="2504020" y="4701877"/>
            <a:ext cx="349856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Exposición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04020" y="5036939"/>
            <a:ext cx="349856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21, 26, 28 de Nov — Temas complementarios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76620" y="3992959"/>
            <a:ext cx="3323547" cy="518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40%</a:t>
            </a:r>
            <a:endParaRPr lang="en-US" sz="4050" dirty="0"/>
          </a:p>
        </p:txBody>
      </p:sp>
      <p:sp>
        <p:nvSpPr>
          <p:cNvPr id="17" name="Text 15"/>
          <p:cNvSpPr/>
          <p:nvPr/>
        </p:nvSpPr>
        <p:spPr>
          <a:xfrm>
            <a:off x="6189111" y="4701877"/>
            <a:ext cx="349856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Proyecto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89111" y="5036939"/>
            <a:ext cx="349856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 1 (20%) – 11 Sep · Entrega 2 (20%) – 13 Nov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1475" y="5695156"/>
            <a:ext cx="10868745" cy="607120"/>
          </a:xfrm>
          <a:prstGeom prst="roundRect">
            <a:avLst>
              <a:gd name="adj" fmla="val 10870"/>
            </a:avLst>
          </a:prstGeom>
          <a:solidFill>
            <a:srgbClr val="FDCEDF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4" y="5918994"/>
            <a:ext cx="196349" cy="15706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71943" y="5883573"/>
            <a:ext cx="10810803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proyecto representa el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40% de la nota total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se desarrolla en equipo a lo largo de todo el semestre. ¡La constancia es clave!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4257"/>
            <a:ext cx="1323446" cy="238820"/>
          </a:xfrm>
          <a:prstGeom prst="roundRect">
            <a:avLst>
              <a:gd name="adj" fmla="val 22106"/>
            </a:avLst>
          </a:prstGeom>
          <a:solidFill>
            <a:srgbClr val="FDCEDF"/>
          </a:solidFill>
          <a:ln/>
        </p:spPr>
      </p:sp>
      <p:sp>
        <p:nvSpPr>
          <p:cNvPr id="3" name="Text 1"/>
          <p:cNvSpPr/>
          <p:nvPr/>
        </p:nvSpPr>
        <p:spPr>
          <a:xfrm>
            <a:off x="755730" y="611386"/>
            <a:ext cx="1744520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SEMESTRE 2025-2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62707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B9276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Calendario Académico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1577479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Fechas clave del semestre que debes tener siempre presentes.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1475" y="1990527"/>
            <a:ext cx="10868745" cy="4303117"/>
          </a:xfrm>
          <a:prstGeom prst="roundRect">
            <a:avLst>
              <a:gd name="adj" fmla="val 1534"/>
            </a:avLst>
          </a:prstGeom>
          <a:solidFill>
            <a:srgbClr val="FDCED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4" y="2214364"/>
            <a:ext cx="196349" cy="157063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980" y="2197596"/>
            <a:ext cx="9527143" cy="38889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8614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B9276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Primera Tarea de Seguimiento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447998"/>
            <a:ext cx="1086874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 primera actividad es el punto de partida del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trabajo del semestre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Se trata de identificar problemas reales del entorno y proponer ideas de proyecto con impacto genuino. Usa estas fuentes para inspirarte: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106216"/>
            <a:ext cx="392797" cy="3928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685554"/>
            <a:ext cx="5341109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Tendencias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1475" y="3020616"/>
            <a:ext cx="5341109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necesidades emergentes en tu industria o entorno.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9111" y="2106216"/>
            <a:ext cx="392797" cy="3928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89111" y="2685554"/>
            <a:ext cx="5341109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Noticias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189111" y="3020616"/>
            <a:ext cx="5341109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problemas actuales son oportunidades de solución.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564235"/>
            <a:ext cx="392797" cy="3928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4143573"/>
            <a:ext cx="5341109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Proyectos Personales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61475" y="4478635"/>
            <a:ext cx="5341109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experiencia de vida es fuente de ideas.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89111" y="3564235"/>
            <a:ext cx="392797" cy="39280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89111" y="4143573"/>
            <a:ext cx="5341109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 de Amigos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189111" y="4478635"/>
            <a:ext cx="5341109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conversaciones cotidianas revelan necesidades reales.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61475" y="4891683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61475" y="5139531"/>
            <a:ext cx="3523368" cy="19050"/>
          </a:xfrm>
          <a:prstGeom prst="rect">
            <a:avLst/>
          </a:prstGeom>
          <a:solidFill>
            <a:srgbClr val="F0095F"/>
          </a:solidFill>
          <a:ln/>
        </p:spPr>
      </p:sp>
      <p:sp>
        <p:nvSpPr>
          <p:cNvPr id="18" name="Text 12"/>
          <p:cNvSpPr/>
          <p:nvPr/>
        </p:nvSpPr>
        <p:spPr>
          <a:xfrm>
            <a:off x="661475" y="5256113"/>
            <a:ext cx="352336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Conforma un equipo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61475" y="5591175"/>
            <a:ext cx="3523368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 el equipo de trabajo para el desarrollo y presentación del proyecto del semestre.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334064" y="4891683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334064" y="5139531"/>
            <a:ext cx="3523467" cy="19050"/>
          </a:xfrm>
          <a:prstGeom prst="rect">
            <a:avLst/>
          </a:prstGeom>
          <a:solidFill>
            <a:srgbClr val="BB32DF"/>
          </a:solidFill>
          <a:ln/>
        </p:spPr>
      </p:sp>
      <p:sp>
        <p:nvSpPr>
          <p:cNvPr id="22" name="Text 16"/>
          <p:cNvSpPr/>
          <p:nvPr/>
        </p:nvSpPr>
        <p:spPr>
          <a:xfrm>
            <a:off x="4334064" y="5256113"/>
            <a:ext cx="352346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Define 2 ideas de proyecto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334064" y="5591175"/>
            <a:ext cx="3523467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idea debe resolver un problema identificable y concreto en tu entorno.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006753" y="4891683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8006753" y="5139531"/>
            <a:ext cx="3523368" cy="19050"/>
          </a:xfrm>
          <a:prstGeom prst="rect">
            <a:avLst/>
          </a:prstGeom>
          <a:solidFill>
            <a:srgbClr val="B42A6F"/>
          </a:solidFill>
          <a:ln/>
        </p:spPr>
      </p:sp>
      <p:sp>
        <p:nvSpPr>
          <p:cNvPr id="26" name="Text 20"/>
          <p:cNvSpPr/>
          <p:nvPr/>
        </p:nvSpPr>
        <p:spPr>
          <a:xfrm>
            <a:off x="8006753" y="5256113"/>
            <a:ext cx="352336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Argumenta su importancia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006753" y="5591175"/>
            <a:ext cx="3523368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¿Por qué es relevante el problema? ¿A quiénes afecta y qué impacto tendría resolverlo?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0BE99E6FD9E1A46BA88A7920F6AD11C" ma:contentTypeVersion="0" ma:contentTypeDescription="Crear nuevo documento." ma:contentTypeScope="" ma:versionID="fd32fd02b535dedea6d6f6125cf44e0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26ff3a126252e742cc2543983a566b0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10FA39F-D87A-4164-8F50-2726231FB9EF}"/>
</file>

<file path=customXml/itemProps2.xml><?xml version="1.0" encoding="utf-8"?>
<ds:datastoreItem xmlns:ds="http://schemas.openxmlformats.org/officeDocument/2006/customXml" ds:itemID="{20961BE1-A093-41DC-B857-94D3DCDFF5DB}"/>
</file>

<file path=customXml/itemProps3.xml><?xml version="1.0" encoding="utf-8"?>
<ds:datastoreItem xmlns:ds="http://schemas.openxmlformats.org/officeDocument/2006/customXml" ds:itemID="{3D8A7C7F-B5EF-443D-B76D-82846BA3BD0C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1019</Words>
  <Application>Microsoft Office PowerPoint</Application>
  <PresentationFormat>Panorámica</PresentationFormat>
  <Paragraphs>122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Inter Bold</vt:lpstr>
      <vt:lpstr>Arial</vt:lpstr>
      <vt:lpstr>Inter Light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Tatiana Sanchez Viana</dc:creator>
  <cp:lastModifiedBy>Tatiana Sanchez Viana</cp:lastModifiedBy>
  <cp:revision>2</cp:revision>
  <dcterms:created xsi:type="dcterms:W3CDTF">2026-07-15T03:50:56Z</dcterms:created>
  <dcterms:modified xsi:type="dcterms:W3CDTF">2026-07-15T03:56:04Z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0x010100C0BE99E6FD9E1A46BA88A7920F6AD11C</vt:lpwstr>
  </property>
</Properties>
</file>
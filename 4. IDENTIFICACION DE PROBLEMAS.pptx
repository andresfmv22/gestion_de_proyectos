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4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8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6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808" r:id="rId2"/>
  </p:sldMasterIdLst>
  <p:notesMasterIdLst>
    <p:notesMasterId r:id="rId51"/>
  </p:notesMasterIdLst>
  <p:sldIdLst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267" r:id="rId13"/>
    <p:sldId id="321" r:id="rId14"/>
    <p:sldId id="323" r:id="rId15"/>
    <p:sldId id="322" r:id="rId16"/>
    <p:sldId id="324" r:id="rId17"/>
    <p:sldId id="325" r:id="rId18"/>
    <p:sldId id="272" r:id="rId19"/>
    <p:sldId id="330" r:id="rId20"/>
    <p:sldId id="275" r:id="rId21"/>
    <p:sldId id="276" r:id="rId22"/>
    <p:sldId id="277" r:id="rId23"/>
    <p:sldId id="278" r:id="rId24"/>
    <p:sldId id="279" r:id="rId25"/>
    <p:sldId id="280" r:id="rId26"/>
    <p:sldId id="331" r:id="rId27"/>
    <p:sldId id="282" r:id="rId28"/>
    <p:sldId id="283" r:id="rId29"/>
    <p:sldId id="287" r:id="rId30"/>
    <p:sldId id="288" r:id="rId31"/>
    <p:sldId id="326" r:id="rId32"/>
    <p:sldId id="290" r:id="rId33"/>
    <p:sldId id="327" r:id="rId34"/>
    <p:sldId id="292" r:id="rId35"/>
    <p:sldId id="293" r:id="rId36"/>
    <p:sldId id="328" r:id="rId37"/>
    <p:sldId id="295" r:id="rId38"/>
    <p:sldId id="296" r:id="rId39"/>
    <p:sldId id="297" r:id="rId40"/>
    <p:sldId id="298" r:id="rId41"/>
    <p:sldId id="329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10" r:id="rId5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20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customXml" Target="../customXml/item1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customXml" Target="../customXml/item2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C2053-19E5-4291-9987-BF807E4CEC55}" type="datetimeFigureOut">
              <a:rPr lang="es-419" smtClean="0"/>
              <a:t>29/7/2024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F4F50-0EB7-42E9-86AC-218A6A8AF2E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79436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AF4F50-0EB7-42E9-86AC-218A6A8AF2E0}" type="slidenum">
              <a:rPr lang="es-419" smtClean="0"/>
              <a:t>6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26731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AF4F50-0EB7-42E9-86AC-218A6A8AF2E0}" type="slidenum">
              <a:rPr lang="es-419" smtClean="0"/>
              <a:t>7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97234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AF4F50-0EB7-42E9-86AC-218A6A8AF2E0}" type="slidenum">
              <a:rPr lang="es-419" smtClean="0"/>
              <a:t>8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97895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AF4F50-0EB7-42E9-86AC-218A6A8AF2E0}" type="slidenum">
              <a:rPr lang="es-419" smtClean="0"/>
              <a:t>9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55903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04081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7275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55221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2788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227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51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9585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7196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02004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4485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8700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3346" y="1809369"/>
            <a:ext cx="7817307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55394" y="3662298"/>
            <a:ext cx="5633211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4529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3918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781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80933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30420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5969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444770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59036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306744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043003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56907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840584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86306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42088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05196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049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542933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635472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393001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68618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081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1854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43805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6" r:id="rId17"/>
    <p:sldLayoutId id="214748382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4441" y="1905000"/>
            <a:ext cx="6728714" cy="1646302"/>
          </a:xfrm>
        </p:spPr>
        <p:txBody>
          <a:bodyPr/>
          <a:lstStyle/>
          <a:p>
            <a:r>
              <a:rPr lang="es-419" sz="3200" dirty="0"/>
              <a:t>ANÁLISIS DE PROBLEMAS Y BUSQUEDA DE SOLUCIONES</a:t>
            </a:r>
            <a:br>
              <a:rPr lang="es-419" sz="3200" dirty="0"/>
            </a:br>
            <a:br>
              <a:rPr lang="es-419" dirty="0"/>
            </a:br>
            <a:r>
              <a:rPr lang="es-419" sz="4800" dirty="0"/>
              <a:t>MÉTODO DE ARBOLES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14400" y="4157517"/>
            <a:ext cx="5868796" cy="2743199"/>
          </a:xfrm>
        </p:spPr>
        <p:txBody>
          <a:bodyPr>
            <a:normAutofit/>
          </a:bodyPr>
          <a:lstStyle/>
          <a:p>
            <a:r>
              <a:rPr lang="es-419" dirty="0"/>
              <a:t>Docente: Tatiana Sánchez Viana</a:t>
            </a:r>
          </a:p>
          <a:p>
            <a:r>
              <a:rPr lang="es-419" dirty="0"/>
              <a:t>Administradora de Empresas</a:t>
            </a:r>
          </a:p>
          <a:p>
            <a:r>
              <a:rPr lang="es-419" dirty="0"/>
              <a:t>Especialista en Finanzas</a:t>
            </a:r>
          </a:p>
          <a:p>
            <a:r>
              <a:rPr lang="es-419" dirty="0"/>
              <a:t>Magíster en Administración </a:t>
            </a:r>
          </a:p>
          <a:p>
            <a:endParaRPr lang="es-419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914400" y="6330115"/>
            <a:ext cx="4181389" cy="463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1800" b="1" i="1" dirty="0">
                <a:solidFill>
                  <a:schemeClr val="bg1">
                    <a:lumMod val="50000"/>
                  </a:schemeClr>
                </a:solidFill>
              </a:rPr>
              <a:t>tatiana.sanchez@upb.edu.co</a:t>
            </a:r>
          </a:p>
        </p:txBody>
      </p:sp>
    </p:spTree>
    <p:extLst>
      <p:ext uri="{BB962C8B-B14F-4D97-AF65-F5344CB8AC3E}">
        <p14:creationId xmlns:p14="http://schemas.microsoft.com/office/powerpoint/2010/main" val="141894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dirty="0"/>
              <a:t>TÉCNCA DE ÁRBOLES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4454" y="1930400"/>
            <a:ext cx="5893945" cy="3880773"/>
          </a:xfrm>
        </p:spPr>
        <p:txBody>
          <a:bodyPr>
            <a:normAutofit/>
          </a:bodyPr>
          <a:lstStyle/>
          <a:p>
            <a:pPr marL="12065" marR="508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lang="es-419" sz="2400" dirty="0">
                <a:latin typeface="Comic Sans MS"/>
                <a:cs typeface="Comic Sans MS"/>
              </a:rPr>
              <a:t>La </a:t>
            </a:r>
            <a:r>
              <a:rPr lang="es-419" sz="2400" spc="-5" dirty="0">
                <a:latin typeface="Comic Sans MS"/>
                <a:cs typeface="Comic Sans MS"/>
              </a:rPr>
              <a:t>Técnica de árboles tiene variantes  de uso, </a:t>
            </a:r>
            <a:r>
              <a:rPr lang="es-419" sz="2400" dirty="0">
                <a:latin typeface="Comic Sans MS"/>
                <a:cs typeface="Comic Sans MS"/>
              </a:rPr>
              <a:t>según el punto </a:t>
            </a:r>
            <a:r>
              <a:rPr lang="es-419" sz="2400" spc="-5" dirty="0">
                <a:latin typeface="Comic Sans MS"/>
                <a:cs typeface="Comic Sans MS"/>
              </a:rPr>
              <a:t>de </a:t>
            </a:r>
            <a:r>
              <a:rPr lang="es-419" sz="2400" dirty="0">
                <a:latin typeface="Comic Sans MS"/>
                <a:cs typeface="Comic Sans MS"/>
              </a:rPr>
              <a:t>partida</a:t>
            </a:r>
            <a:r>
              <a:rPr lang="es-419" sz="2400" spc="-65" dirty="0">
                <a:latin typeface="Comic Sans MS"/>
                <a:cs typeface="Comic Sans MS"/>
              </a:rPr>
              <a:t> </a:t>
            </a:r>
            <a:r>
              <a:rPr lang="es-419" sz="2400" dirty="0">
                <a:latin typeface="Comic Sans MS"/>
                <a:cs typeface="Comic Sans MS"/>
              </a:rPr>
              <a:t>sea:</a:t>
            </a:r>
          </a:p>
          <a:p>
            <a:pPr marL="12065" marR="5080" indent="0">
              <a:lnSpc>
                <a:spcPct val="100000"/>
              </a:lnSpc>
              <a:spcBef>
                <a:spcPts val="105"/>
              </a:spcBef>
              <a:buNone/>
            </a:pPr>
            <a:endParaRPr lang="es-419" sz="2400" dirty="0">
              <a:latin typeface="Comic Sans MS"/>
              <a:cs typeface="Comic Sans MS"/>
            </a:endParaRPr>
          </a:p>
          <a:p>
            <a:pPr marL="12065" indent="0">
              <a:lnSpc>
                <a:spcPct val="100000"/>
              </a:lnSpc>
              <a:spcBef>
                <a:spcPts val="770"/>
              </a:spcBef>
              <a:buNone/>
              <a:tabLst>
                <a:tab pos="355600" algn="l"/>
                <a:tab pos="356235" algn="l"/>
              </a:tabLst>
            </a:pPr>
            <a:r>
              <a:rPr lang="es-419" sz="2400" b="1" dirty="0">
                <a:solidFill>
                  <a:srgbClr val="339933"/>
                </a:solidFill>
                <a:latin typeface="Comic Sans MS"/>
                <a:cs typeface="Comic Sans MS"/>
              </a:rPr>
              <a:t>1. Un </a:t>
            </a:r>
            <a:r>
              <a:rPr lang="es-419" sz="2400" b="1" spc="-5" dirty="0">
                <a:solidFill>
                  <a:srgbClr val="339933"/>
                </a:solidFill>
                <a:latin typeface="Comic Sans MS"/>
                <a:cs typeface="Comic Sans MS"/>
              </a:rPr>
              <a:t>problema definido </a:t>
            </a:r>
            <a:r>
              <a:rPr lang="es-419" sz="2400" b="1" dirty="0">
                <a:solidFill>
                  <a:srgbClr val="339933"/>
                </a:solidFill>
                <a:latin typeface="Comic Sans MS"/>
                <a:cs typeface="Comic Sans MS"/>
              </a:rPr>
              <a:t>o</a:t>
            </a:r>
            <a:r>
              <a:rPr lang="es-419" sz="2400" b="1" spc="-6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lang="es-419" sz="2400" b="1" dirty="0">
                <a:solidFill>
                  <a:srgbClr val="339933"/>
                </a:solidFill>
                <a:latin typeface="Comic Sans MS"/>
                <a:cs typeface="Comic Sans MS"/>
              </a:rPr>
              <a:t>focalizado.</a:t>
            </a:r>
            <a:endParaRPr lang="es-419" sz="2400" dirty="0">
              <a:latin typeface="Comic Sans MS"/>
              <a:cs typeface="Comic Sans MS"/>
            </a:endParaRPr>
          </a:p>
          <a:p>
            <a:pPr marL="12065" indent="0">
              <a:lnSpc>
                <a:spcPct val="100000"/>
              </a:lnSpc>
              <a:spcBef>
                <a:spcPts val="770"/>
              </a:spcBef>
              <a:buNone/>
              <a:tabLst>
                <a:tab pos="355600" algn="l"/>
                <a:tab pos="356235" algn="l"/>
              </a:tabLst>
            </a:pPr>
            <a:r>
              <a:rPr lang="es-419" sz="2400" b="1" dirty="0">
                <a:solidFill>
                  <a:srgbClr val="CC6600"/>
                </a:solidFill>
                <a:latin typeface="Comic Sans MS"/>
                <a:cs typeface="Comic Sans MS"/>
              </a:rPr>
              <a:t>2. Un </a:t>
            </a:r>
            <a:r>
              <a:rPr lang="es-419" sz="2400" b="1" spc="-5" dirty="0">
                <a:solidFill>
                  <a:srgbClr val="CC6600"/>
                </a:solidFill>
                <a:latin typeface="Comic Sans MS"/>
                <a:cs typeface="Comic Sans MS"/>
              </a:rPr>
              <a:t>problema </a:t>
            </a:r>
            <a:r>
              <a:rPr lang="es-419" sz="2400" b="1" dirty="0">
                <a:solidFill>
                  <a:srgbClr val="CC6600"/>
                </a:solidFill>
                <a:latin typeface="Comic Sans MS"/>
                <a:cs typeface="Comic Sans MS"/>
              </a:rPr>
              <a:t>no</a:t>
            </a:r>
            <a:r>
              <a:rPr lang="es-419" sz="2400" b="1" spc="-15" dirty="0">
                <a:solidFill>
                  <a:srgbClr val="CC6600"/>
                </a:solidFill>
                <a:latin typeface="Comic Sans MS"/>
                <a:cs typeface="Comic Sans MS"/>
              </a:rPr>
              <a:t> </a:t>
            </a:r>
            <a:r>
              <a:rPr lang="es-419" sz="2400" b="1" spc="-5" dirty="0">
                <a:solidFill>
                  <a:srgbClr val="CC6600"/>
                </a:solidFill>
                <a:latin typeface="Comic Sans MS"/>
                <a:cs typeface="Comic Sans MS"/>
              </a:rPr>
              <a:t>definido.</a:t>
            </a:r>
            <a:endParaRPr lang="es-419" sz="2400" dirty="0">
              <a:latin typeface="Comic Sans MS"/>
              <a:cs typeface="Comic Sans MS"/>
            </a:endParaRPr>
          </a:p>
          <a:p>
            <a:pPr marL="12065" marR="273050" indent="0">
              <a:lnSpc>
                <a:spcPct val="100000"/>
              </a:lnSpc>
              <a:spcBef>
                <a:spcPts val="765"/>
              </a:spcBef>
              <a:buNone/>
              <a:tabLst>
                <a:tab pos="355600" algn="l"/>
                <a:tab pos="356235" algn="l"/>
              </a:tabLst>
            </a:pPr>
            <a:r>
              <a:rPr lang="es-419" sz="2400" b="1" dirty="0">
                <a:solidFill>
                  <a:srgbClr val="333399"/>
                </a:solidFill>
                <a:latin typeface="Comic Sans MS"/>
                <a:cs typeface="Comic Sans MS"/>
              </a:rPr>
              <a:t>3. Un objetivo a cumplir o </a:t>
            </a:r>
            <a:r>
              <a:rPr lang="es-419" sz="2400" b="1" spc="-5" dirty="0">
                <a:solidFill>
                  <a:srgbClr val="333399"/>
                </a:solidFill>
                <a:latin typeface="Comic Sans MS"/>
                <a:cs typeface="Comic Sans MS"/>
              </a:rPr>
              <a:t>una idea</a:t>
            </a:r>
            <a:r>
              <a:rPr lang="es-419" sz="2400" b="1" spc="-6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lang="es-419" sz="2400" b="1" dirty="0">
                <a:solidFill>
                  <a:srgbClr val="333399"/>
                </a:solidFill>
                <a:latin typeface="Comic Sans MS"/>
                <a:cs typeface="Comic Sans MS"/>
              </a:rPr>
              <a:t>a  realizar.</a:t>
            </a:r>
            <a:endParaRPr lang="es-419" sz="2400" dirty="0">
              <a:latin typeface="Comic Sans MS"/>
              <a:cs typeface="Comic Sans MS"/>
            </a:endParaRPr>
          </a:p>
          <a:p>
            <a:endParaRPr lang="es-419" sz="2400" dirty="0"/>
          </a:p>
        </p:txBody>
      </p:sp>
      <p:sp>
        <p:nvSpPr>
          <p:cNvPr id="4" name="object 5"/>
          <p:cNvSpPr/>
          <p:nvPr/>
        </p:nvSpPr>
        <p:spPr>
          <a:xfrm>
            <a:off x="6248400" y="4161531"/>
            <a:ext cx="2816586" cy="26659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793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dirty="0"/>
              <a:t>TÉCNICA DE ÁRBOLES</a:t>
            </a:r>
          </a:p>
        </p:txBody>
      </p:sp>
      <p:sp>
        <p:nvSpPr>
          <p:cNvPr id="5" name="object 4"/>
          <p:cNvSpPr txBox="1"/>
          <p:nvPr/>
        </p:nvSpPr>
        <p:spPr>
          <a:xfrm>
            <a:off x="1371599" y="1918431"/>
            <a:ext cx="53340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APLICACIÓN </a:t>
            </a:r>
            <a:r>
              <a:rPr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DEL </a:t>
            </a:r>
            <a:r>
              <a:rPr sz="1800" b="1" spc="-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MÉTODO </a:t>
            </a:r>
            <a:r>
              <a:rPr sz="1800" b="1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CUANDO </a:t>
            </a:r>
            <a:r>
              <a:rPr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EL PROBLEMA</a:t>
            </a:r>
            <a:r>
              <a:rPr sz="1800" b="1" spc="-1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ESTÁ  </a:t>
            </a:r>
            <a:r>
              <a:rPr sz="1800" b="1" spc="-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DEFINIDO</a:t>
            </a:r>
            <a:endParaRPr sz="18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FOCALIZADO</a:t>
            </a:r>
            <a:endParaRPr sz="18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738886" y="1930400"/>
            <a:ext cx="762000" cy="762000"/>
            <a:chOff x="2438400" y="2747264"/>
            <a:chExt cx="762000" cy="762000"/>
          </a:xfrm>
        </p:grpSpPr>
        <p:sp>
          <p:nvSpPr>
            <p:cNvPr id="7" name="object 5"/>
            <p:cNvSpPr/>
            <p:nvPr/>
          </p:nvSpPr>
          <p:spPr>
            <a:xfrm>
              <a:off x="2438400" y="2747264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2000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/>
            <p:cNvSpPr/>
            <p:nvPr/>
          </p:nvSpPr>
          <p:spPr>
            <a:xfrm>
              <a:off x="2438400" y="2747264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/>
            <p:cNvSpPr txBox="1"/>
            <p:nvPr/>
          </p:nvSpPr>
          <p:spPr>
            <a:xfrm>
              <a:off x="2693289" y="2860294"/>
              <a:ext cx="252095" cy="51371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3200" b="1" dirty="0">
                  <a:latin typeface="Arial"/>
                  <a:cs typeface="Arial"/>
                </a:rPr>
                <a:t>1</a:t>
              </a:r>
              <a:endParaRPr sz="3200" dirty="0">
                <a:latin typeface="Arial"/>
                <a:cs typeface="Arial"/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52" y="3072954"/>
            <a:ext cx="5067048" cy="380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1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5030" y="204411"/>
            <a:ext cx="6957312" cy="1320800"/>
          </a:xfrm>
        </p:spPr>
        <p:txBody>
          <a:bodyPr/>
          <a:lstStyle/>
          <a:p>
            <a:pPr algn="ctr"/>
            <a:r>
              <a:rPr lang="es-419" dirty="0"/>
              <a:t>Análisis del problema y búsqueda de soluciones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2286000"/>
            <a:ext cx="6355582" cy="491431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s-419" sz="2800" b="1" dirty="0"/>
              <a:t>Definición de un problema central</a:t>
            </a:r>
          </a:p>
          <a:p>
            <a:pPr>
              <a:buFont typeface="+mj-lt"/>
              <a:buAutoNum type="arabicPeriod"/>
            </a:pPr>
            <a:endParaRPr lang="es-419" sz="2800" dirty="0"/>
          </a:p>
          <a:p>
            <a:pPr marL="0" indent="0" algn="ctr">
              <a:buNone/>
            </a:pPr>
            <a:r>
              <a:rPr lang="es-419" sz="2800" dirty="0"/>
              <a:t>Caso del tomate</a:t>
            </a:r>
          </a:p>
          <a:p>
            <a:pPr marL="0" indent="0" algn="ctr">
              <a:buNone/>
            </a:pPr>
            <a:endParaRPr lang="es-419" sz="2800" dirty="0"/>
          </a:p>
          <a:p>
            <a:pPr marL="0" indent="0" algn="ctr">
              <a:buNone/>
            </a:pPr>
            <a:r>
              <a:rPr lang="es-419" sz="2800" dirty="0"/>
              <a:t>Deterioro de la fruta en la recolección</a:t>
            </a:r>
          </a:p>
        </p:txBody>
      </p:sp>
      <p:sp>
        <p:nvSpPr>
          <p:cNvPr id="15" name="Flecha abajo 14"/>
          <p:cNvSpPr/>
          <p:nvPr/>
        </p:nvSpPr>
        <p:spPr>
          <a:xfrm>
            <a:off x="3707255" y="2830889"/>
            <a:ext cx="559945" cy="5842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6" name="Flecha abajo 15"/>
          <p:cNvSpPr/>
          <p:nvPr/>
        </p:nvSpPr>
        <p:spPr>
          <a:xfrm>
            <a:off x="3707255" y="3948489"/>
            <a:ext cx="559945" cy="5842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582" y="4897263"/>
            <a:ext cx="2288768" cy="213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4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057" y="89882"/>
            <a:ext cx="6347713" cy="1320800"/>
          </a:xfrm>
        </p:spPr>
        <p:txBody>
          <a:bodyPr/>
          <a:lstStyle/>
          <a:p>
            <a:pPr algn="ctr"/>
            <a:r>
              <a:rPr lang="es-419" dirty="0"/>
              <a:t>Análisis del problema y búsqueda de soluciones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057" y="1749405"/>
            <a:ext cx="7162800" cy="49143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s-419" sz="2800" b="1" dirty="0"/>
              <a:t>Exploración y verificación de efectos</a:t>
            </a:r>
          </a:p>
          <a:p>
            <a:pPr marL="0" indent="0">
              <a:buNone/>
            </a:pPr>
            <a:endParaRPr lang="es-419" sz="2800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582" y="4897263"/>
            <a:ext cx="2288768" cy="2131552"/>
          </a:xfrm>
          <a:prstGeom prst="rect">
            <a:avLst/>
          </a:prstGeom>
        </p:spPr>
      </p:pic>
      <p:sp>
        <p:nvSpPr>
          <p:cNvPr id="7" name="object 4"/>
          <p:cNvSpPr txBox="1"/>
          <p:nvPr/>
        </p:nvSpPr>
        <p:spPr>
          <a:xfrm>
            <a:off x="267335" y="5619385"/>
            <a:ext cx="140906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+mj-lt"/>
                <a:cs typeface="Times New Roman"/>
              </a:rPr>
              <a:t>Problema</a:t>
            </a:r>
            <a:r>
              <a:rPr sz="1600" spc="-20" dirty="0">
                <a:latin typeface="+mj-lt"/>
                <a:cs typeface="Times New Roman"/>
              </a:rPr>
              <a:t> </a:t>
            </a:r>
            <a:r>
              <a:rPr sz="1600" spc="-5" dirty="0">
                <a:latin typeface="+mj-lt"/>
                <a:cs typeface="Times New Roman"/>
              </a:rPr>
              <a:t>central</a:t>
            </a:r>
            <a:endParaRPr sz="1600" dirty="0">
              <a:latin typeface="+mj-lt"/>
              <a:cs typeface="Times New Roman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2979172" y="5439630"/>
            <a:ext cx="3111500" cy="6731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530860" marR="311150" indent="-213360">
              <a:lnSpc>
                <a:spcPct val="100000"/>
              </a:lnSpc>
              <a:spcBef>
                <a:spcPts val="855"/>
              </a:spcBef>
            </a:pPr>
            <a:r>
              <a:rPr sz="1600" spc="-5" dirty="0">
                <a:latin typeface="Times New Roman"/>
                <a:cs typeface="Times New Roman"/>
              </a:rPr>
              <a:t>DETERIORO DE LA</a:t>
            </a:r>
            <a:r>
              <a:rPr sz="1600" spc="-18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FRUTA  </a:t>
            </a:r>
            <a:r>
              <a:rPr sz="1600" spc="-5" dirty="0">
                <a:latin typeface="Times New Roman"/>
                <a:cs typeface="Times New Roman"/>
              </a:rPr>
              <a:t>EN LA</a:t>
            </a:r>
            <a:r>
              <a:rPr sz="1600" spc="-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RECOLECCION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6"/>
          <p:cNvSpPr/>
          <p:nvPr/>
        </p:nvSpPr>
        <p:spPr>
          <a:xfrm>
            <a:off x="3047498" y="5507625"/>
            <a:ext cx="3127248" cy="6888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2" name="object 9"/>
          <p:cNvSpPr txBox="1"/>
          <p:nvPr/>
        </p:nvSpPr>
        <p:spPr>
          <a:xfrm>
            <a:off x="581057" y="3758509"/>
            <a:ext cx="76200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+mj-lt"/>
                <a:cs typeface="Times New Roman"/>
              </a:rPr>
              <a:t>Efectos</a:t>
            </a:r>
            <a:endParaRPr sz="1600" dirty="0">
              <a:latin typeface="+mj-lt"/>
              <a:cs typeface="Times New Roman"/>
            </a:endParaRPr>
          </a:p>
        </p:txBody>
      </p:sp>
      <p:sp>
        <p:nvSpPr>
          <p:cNvPr id="18" name="object 13"/>
          <p:cNvSpPr/>
          <p:nvPr/>
        </p:nvSpPr>
        <p:spPr>
          <a:xfrm>
            <a:off x="4528572" y="4811030"/>
            <a:ext cx="1943100" cy="628650"/>
          </a:xfrm>
          <a:custGeom>
            <a:avLst/>
            <a:gdLst/>
            <a:ahLst/>
            <a:cxnLst/>
            <a:rect l="l" t="t" r="r" b="b"/>
            <a:pathLst>
              <a:path w="1943100" h="628650">
                <a:moveTo>
                  <a:pt x="1898650" y="307974"/>
                </a:moveTo>
                <a:lnTo>
                  <a:pt x="0" y="307974"/>
                </a:lnTo>
                <a:lnTo>
                  <a:pt x="0" y="628649"/>
                </a:lnTo>
                <a:lnTo>
                  <a:pt x="12700" y="628649"/>
                </a:lnTo>
                <a:lnTo>
                  <a:pt x="12700" y="320674"/>
                </a:lnTo>
                <a:lnTo>
                  <a:pt x="6350" y="320674"/>
                </a:lnTo>
                <a:lnTo>
                  <a:pt x="12700" y="314324"/>
                </a:lnTo>
                <a:lnTo>
                  <a:pt x="1898650" y="314324"/>
                </a:lnTo>
                <a:lnTo>
                  <a:pt x="1898650" y="307974"/>
                </a:lnTo>
                <a:close/>
              </a:path>
              <a:path w="1943100" h="628650">
                <a:moveTo>
                  <a:pt x="12700" y="314324"/>
                </a:moveTo>
                <a:lnTo>
                  <a:pt x="6350" y="320674"/>
                </a:lnTo>
                <a:lnTo>
                  <a:pt x="12700" y="320674"/>
                </a:lnTo>
                <a:lnTo>
                  <a:pt x="12700" y="314324"/>
                </a:lnTo>
                <a:close/>
              </a:path>
              <a:path w="1943100" h="628650">
                <a:moveTo>
                  <a:pt x="1911350" y="307974"/>
                </a:moveTo>
                <a:lnTo>
                  <a:pt x="1905000" y="307974"/>
                </a:lnTo>
                <a:lnTo>
                  <a:pt x="1898650" y="314324"/>
                </a:lnTo>
                <a:lnTo>
                  <a:pt x="12700" y="314324"/>
                </a:lnTo>
                <a:lnTo>
                  <a:pt x="12700" y="320674"/>
                </a:lnTo>
                <a:lnTo>
                  <a:pt x="1911350" y="320674"/>
                </a:lnTo>
                <a:lnTo>
                  <a:pt x="1911350" y="307974"/>
                </a:lnTo>
                <a:close/>
              </a:path>
              <a:path w="1943100" h="628650">
                <a:moveTo>
                  <a:pt x="1911350" y="63499"/>
                </a:moveTo>
                <a:lnTo>
                  <a:pt x="1898650" y="63499"/>
                </a:lnTo>
                <a:lnTo>
                  <a:pt x="1898650" y="314324"/>
                </a:lnTo>
                <a:lnTo>
                  <a:pt x="1905000" y="307974"/>
                </a:lnTo>
                <a:lnTo>
                  <a:pt x="1911350" y="307974"/>
                </a:lnTo>
                <a:lnTo>
                  <a:pt x="1911350" y="63499"/>
                </a:lnTo>
                <a:close/>
              </a:path>
              <a:path w="1943100" h="628650">
                <a:moveTo>
                  <a:pt x="1905000" y="0"/>
                </a:moveTo>
                <a:lnTo>
                  <a:pt x="1866900" y="76199"/>
                </a:lnTo>
                <a:lnTo>
                  <a:pt x="1898650" y="76199"/>
                </a:lnTo>
                <a:lnTo>
                  <a:pt x="1898650" y="63499"/>
                </a:lnTo>
                <a:lnTo>
                  <a:pt x="1936750" y="63499"/>
                </a:lnTo>
                <a:lnTo>
                  <a:pt x="1905000" y="0"/>
                </a:lnTo>
                <a:close/>
              </a:path>
              <a:path w="1943100" h="628650">
                <a:moveTo>
                  <a:pt x="1936750" y="63499"/>
                </a:moveTo>
                <a:lnTo>
                  <a:pt x="1911350" y="63499"/>
                </a:lnTo>
                <a:lnTo>
                  <a:pt x="1911350" y="76199"/>
                </a:lnTo>
                <a:lnTo>
                  <a:pt x="1943100" y="76199"/>
                </a:lnTo>
                <a:lnTo>
                  <a:pt x="1936750" y="63499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3010922" y="4804680"/>
            <a:ext cx="1530350" cy="635000"/>
          </a:xfrm>
          <a:custGeom>
            <a:avLst/>
            <a:gdLst/>
            <a:ahLst/>
            <a:cxnLst/>
            <a:rect l="l" t="t" r="r" b="b"/>
            <a:pathLst>
              <a:path w="1530350" h="635000">
                <a:moveTo>
                  <a:pt x="1517650" y="317499"/>
                </a:moveTo>
                <a:lnTo>
                  <a:pt x="1517650" y="634999"/>
                </a:lnTo>
                <a:lnTo>
                  <a:pt x="1530350" y="634999"/>
                </a:lnTo>
                <a:lnTo>
                  <a:pt x="1530350" y="323849"/>
                </a:lnTo>
                <a:lnTo>
                  <a:pt x="1524000" y="323849"/>
                </a:lnTo>
                <a:lnTo>
                  <a:pt x="1517650" y="317499"/>
                </a:lnTo>
                <a:close/>
              </a:path>
              <a:path w="1530350" h="635000">
                <a:moveTo>
                  <a:pt x="44450" y="63499"/>
                </a:moveTo>
                <a:lnTo>
                  <a:pt x="31750" y="63499"/>
                </a:lnTo>
                <a:lnTo>
                  <a:pt x="31750" y="323849"/>
                </a:lnTo>
                <a:lnTo>
                  <a:pt x="1517650" y="323849"/>
                </a:lnTo>
                <a:lnTo>
                  <a:pt x="1517650" y="317499"/>
                </a:lnTo>
                <a:lnTo>
                  <a:pt x="44450" y="317499"/>
                </a:lnTo>
                <a:lnTo>
                  <a:pt x="38100" y="311149"/>
                </a:lnTo>
                <a:lnTo>
                  <a:pt x="44450" y="311149"/>
                </a:lnTo>
                <a:lnTo>
                  <a:pt x="44450" y="63499"/>
                </a:lnTo>
                <a:close/>
              </a:path>
              <a:path w="1530350" h="635000">
                <a:moveTo>
                  <a:pt x="1530350" y="311149"/>
                </a:moveTo>
                <a:lnTo>
                  <a:pt x="44450" y="311149"/>
                </a:lnTo>
                <a:lnTo>
                  <a:pt x="44450" y="317499"/>
                </a:lnTo>
                <a:lnTo>
                  <a:pt x="1517650" y="317499"/>
                </a:lnTo>
                <a:lnTo>
                  <a:pt x="1524000" y="323849"/>
                </a:lnTo>
                <a:lnTo>
                  <a:pt x="1530350" y="323849"/>
                </a:lnTo>
                <a:lnTo>
                  <a:pt x="1530350" y="311149"/>
                </a:lnTo>
                <a:close/>
              </a:path>
              <a:path w="1530350" h="635000">
                <a:moveTo>
                  <a:pt x="44450" y="311149"/>
                </a:moveTo>
                <a:lnTo>
                  <a:pt x="38100" y="311149"/>
                </a:lnTo>
                <a:lnTo>
                  <a:pt x="44450" y="317499"/>
                </a:lnTo>
                <a:lnTo>
                  <a:pt x="44450" y="311149"/>
                </a:lnTo>
                <a:close/>
              </a:path>
              <a:path w="1530350" h="635000">
                <a:moveTo>
                  <a:pt x="38100" y="0"/>
                </a:moveTo>
                <a:lnTo>
                  <a:pt x="0" y="76199"/>
                </a:lnTo>
                <a:lnTo>
                  <a:pt x="31750" y="76199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1530350" h="635000">
                <a:moveTo>
                  <a:pt x="69850" y="63499"/>
                </a:moveTo>
                <a:lnTo>
                  <a:pt x="44450" y="63499"/>
                </a:lnTo>
                <a:lnTo>
                  <a:pt x="44450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3098070" y="3623265"/>
            <a:ext cx="112776" cy="399048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ángulo redondeado 3"/>
          <p:cNvSpPr/>
          <p:nvPr/>
        </p:nvSpPr>
        <p:spPr>
          <a:xfrm>
            <a:off x="1800256" y="3069225"/>
            <a:ext cx="2736189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Proliferación de plagas y malos olores</a:t>
            </a:r>
          </a:p>
        </p:txBody>
      </p:sp>
      <p:sp>
        <p:nvSpPr>
          <p:cNvPr id="23" name="Rectángulo redondeado 22"/>
          <p:cNvSpPr/>
          <p:nvPr/>
        </p:nvSpPr>
        <p:spPr>
          <a:xfrm>
            <a:off x="4795774" y="3033627"/>
            <a:ext cx="2748026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Disminución de ingresos de los agricultores</a:t>
            </a:r>
          </a:p>
        </p:txBody>
      </p:sp>
      <p:sp>
        <p:nvSpPr>
          <p:cNvPr id="24" name="Rectángulo redondeado 23"/>
          <p:cNvSpPr/>
          <p:nvPr/>
        </p:nvSpPr>
        <p:spPr>
          <a:xfrm>
            <a:off x="4795272" y="4085772"/>
            <a:ext cx="2748026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Pérdida en cosecha</a:t>
            </a:r>
          </a:p>
        </p:txBody>
      </p:sp>
      <p:sp>
        <p:nvSpPr>
          <p:cNvPr id="25" name="Rectángulo redondeado 24"/>
          <p:cNvSpPr/>
          <p:nvPr/>
        </p:nvSpPr>
        <p:spPr>
          <a:xfrm>
            <a:off x="1800257" y="4085772"/>
            <a:ext cx="2748026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Contaminación por frutas dañadas</a:t>
            </a:r>
          </a:p>
        </p:txBody>
      </p:sp>
      <p:sp>
        <p:nvSpPr>
          <p:cNvPr id="26" name="object 17"/>
          <p:cNvSpPr/>
          <p:nvPr/>
        </p:nvSpPr>
        <p:spPr>
          <a:xfrm>
            <a:off x="6019298" y="3602625"/>
            <a:ext cx="112776" cy="399048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7"/>
          <p:cNvSpPr/>
          <p:nvPr/>
        </p:nvSpPr>
        <p:spPr>
          <a:xfrm>
            <a:off x="787902" y="4212225"/>
            <a:ext cx="202698" cy="1219200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Abrir llave 4"/>
          <p:cNvSpPr/>
          <p:nvPr/>
        </p:nvSpPr>
        <p:spPr>
          <a:xfrm>
            <a:off x="1486033" y="2971800"/>
            <a:ext cx="261239" cy="17942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Abrir llave 27"/>
          <p:cNvSpPr/>
          <p:nvPr/>
        </p:nvSpPr>
        <p:spPr>
          <a:xfrm>
            <a:off x="1486033" y="5355225"/>
            <a:ext cx="275596" cy="1066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73070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537" y="187645"/>
            <a:ext cx="6347713" cy="1320800"/>
          </a:xfrm>
        </p:spPr>
        <p:txBody>
          <a:bodyPr/>
          <a:lstStyle/>
          <a:p>
            <a:pPr algn="ctr"/>
            <a:r>
              <a:rPr lang="es-419" dirty="0"/>
              <a:t>Análisis del problema y búsqueda de soluciones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9166" y="1581678"/>
            <a:ext cx="7162800" cy="49143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s-419" sz="2800" b="1" dirty="0"/>
              <a:t>Determinación de causas</a:t>
            </a:r>
          </a:p>
          <a:p>
            <a:pPr marL="0" indent="0">
              <a:buNone/>
            </a:pPr>
            <a:endParaRPr lang="es-419" sz="2800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712" y="3713852"/>
            <a:ext cx="2288768" cy="2131552"/>
          </a:xfrm>
          <a:prstGeom prst="rect">
            <a:avLst/>
          </a:prstGeom>
        </p:spPr>
      </p:pic>
      <p:sp>
        <p:nvSpPr>
          <p:cNvPr id="7" name="object 4"/>
          <p:cNvSpPr txBox="1"/>
          <p:nvPr/>
        </p:nvSpPr>
        <p:spPr>
          <a:xfrm>
            <a:off x="89862" y="4495800"/>
            <a:ext cx="140906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+mj-lt"/>
                <a:cs typeface="Times New Roman"/>
              </a:rPr>
              <a:t>Problema</a:t>
            </a:r>
            <a:r>
              <a:rPr sz="1600" spc="-20" dirty="0">
                <a:latin typeface="+mj-lt"/>
                <a:cs typeface="Times New Roman"/>
              </a:rPr>
              <a:t> </a:t>
            </a:r>
            <a:r>
              <a:rPr sz="1600" spc="-5" dirty="0">
                <a:latin typeface="+mj-lt"/>
                <a:cs typeface="Times New Roman"/>
              </a:rPr>
              <a:t>central</a:t>
            </a:r>
            <a:endParaRPr sz="1600" dirty="0">
              <a:latin typeface="+mj-lt"/>
              <a:cs typeface="Times New Roman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2840434" y="4389118"/>
            <a:ext cx="3111500" cy="6731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530860" marR="311150" indent="-213360">
              <a:lnSpc>
                <a:spcPct val="100000"/>
              </a:lnSpc>
              <a:spcBef>
                <a:spcPts val="855"/>
              </a:spcBef>
            </a:pPr>
            <a:r>
              <a:rPr sz="1600" spc="-5" dirty="0">
                <a:latin typeface="Times New Roman"/>
                <a:cs typeface="Times New Roman"/>
              </a:rPr>
              <a:t>DETERIORO DE LA</a:t>
            </a:r>
            <a:r>
              <a:rPr sz="1600" spc="-18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FRUTA  </a:t>
            </a:r>
            <a:r>
              <a:rPr sz="1600" spc="-5" dirty="0">
                <a:latin typeface="Times New Roman"/>
                <a:cs typeface="Times New Roman"/>
              </a:rPr>
              <a:t>EN LA</a:t>
            </a:r>
            <a:r>
              <a:rPr sz="1600" spc="-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RECOLECCION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6"/>
          <p:cNvSpPr/>
          <p:nvPr/>
        </p:nvSpPr>
        <p:spPr>
          <a:xfrm>
            <a:off x="2908760" y="4457113"/>
            <a:ext cx="3127248" cy="6888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2" name="object 9"/>
          <p:cNvSpPr txBox="1"/>
          <p:nvPr/>
        </p:nvSpPr>
        <p:spPr>
          <a:xfrm>
            <a:off x="442319" y="2996509"/>
            <a:ext cx="76200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+mj-lt"/>
                <a:cs typeface="Times New Roman"/>
              </a:rPr>
              <a:t>Efectos</a:t>
            </a:r>
            <a:endParaRPr sz="1600" dirty="0">
              <a:latin typeface="+mj-lt"/>
              <a:cs typeface="Times New Roman"/>
            </a:endParaRPr>
          </a:p>
        </p:txBody>
      </p:sp>
      <p:sp>
        <p:nvSpPr>
          <p:cNvPr id="18" name="object 13"/>
          <p:cNvSpPr/>
          <p:nvPr/>
        </p:nvSpPr>
        <p:spPr>
          <a:xfrm>
            <a:off x="4389834" y="3886200"/>
            <a:ext cx="1943100" cy="502967"/>
          </a:xfrm>
          <a:custGeom>
            <a:avLst/>
            <a:gdLst/>
            <a:ahLst/>
            <a:cxnLst/>
            <a:rect l="l" t="t" r="r" b="b"/>
            <a:pathLst>
              <a:path w="1943100" h="628650">
                <a:moveTo>
                  <a:pt x="1898650" y="307974"/>
                </a:moveTo>
                <a:lnTo>
                  <a:pt x="0" y="307974"/>
                </a:lnTo>
                <a:lnTo>
                  <a:pt x="0" y="628649"/>
                </a:lnTo>
                <a:lnTo>
                  <a:pt x="12700" y="628649"/>
                </a:lnTo>
                <a:lnTo>
                  <a:pt x="12700" y="320674"/>
                </a:lnTo>
                <a:lnTo>
                  <a:pt x="6350" y="320674"/>
                </a:lnTo>
                <a:lnTo>
                  <a:pt x="12700" y="314324"/>
                </a:lnTo>
                <a:lnTo>
                  <a:pt x="1898650" y="314324"/>
                </a:lnTo>
                <a:lnTo>
                  <a:pt x="1898650" y="307974"/>
                </a:lnTo>
                <a:close/>
              </a:path>
              <a:path w="1943100" h="628650">
                <a:moveTo>
                  <a:pt x="12700" y="314324"/>
                </a:moveTo>
                <a:lnTo>
                  <a:pt x="6350" y="320674"/>
                </a:lnTo>
                <a:lnTo>
                  <a:pt x="12700" y="320674"/>
                </a:lnTo>
                <a:lnTo>
                  <a:pt x="12700" y="314324"/>
                </a:lnTo>
                <a:close/>
              </a:path>
              <a:path w="1943100" h="628650">
                <a:moveTo>
                  <a:pt x="1911350" y="307974"/>
                </a:moveTo>
                <a:lnTo>
                  <a:pt x="1905000" y="307974"/>
                </a:lnTo>
                <a:lnTo>
                  <a:pt x="1898650" y="314324"/>
                </a:lnTo>
                <a:lnTo>
                  <a:pt x="12700" y="314324"/>
                </a:lnTo>
                <a:lnTo>
                  <a:pt x="12700" y="320674"/>
                </a:lnTo>
                <a:lnTo>
                  <a:pt x="1911350" y="320674"/>
                </a:lnTo>
                <a:lnTo>
                  <a:pt x="1911350" y="307974"/>
                </a:lnTo>
                <a:close/>
              </a:path>
              <a:path w="1943100" h="628650">
                <a:moveTo>
                  <a:pt x="1911350" y="63499"/>
                </a:moveTo>
                <a:lnTo>
                  <a:pt x="1898650" y="63499"/>
                </a:lnTo>
                <a:lnTo>
                  <a:pt x="1898650" y="314324"/>
                </a:lnTo>
                <a:lnTo>
                  <a:pt x="1905000" y="307974"/>
                </a:lnTo>
                <a:lnTo>
                  <a:pt x="1911350" y="307974"/>
                </a:lnTo>
                <a:lnTo>
                  <a:pt x="1911350" y="63499"/>
                </a:lnTo>
                <a:close/>
              </a:path>
              <a:path w="1943100" h="628650">
                <a:moveTo>
                  <a:pt x="1905000" y="0"/>
                </a:moveTo>
                <a:lnTo>
                  <a:pt x="1866900" y="76199"/>
                </a:lnTo>
                <a:lnTo>
                  <a:pt x="1898650" y="76199"/>
                </a:lnTo>
                <a:lnTo>
                  <a:pt x="1898650" y="63499"/>
                </a:lnTo>
                <a:lnTo>
                  <a:pt x="1936750" y="63499"/>
                </a:lnTo>
                <a:lnTo>
                  <a:pt x="1905000" y="0"/>
                </a:lnTo>
                <a:close/>
              </a:path>
              <a:path w="1943100" h="628650">
                <a:moveTo>
                  <a:pt x="1936750" y="63499"/>
                </a:moveTo>
                <a:lnTo>
                  <a:pt x="1911350" y="63499"/>
                </a:lnTo>
                <a:lnTo>
                  <a:pt x="1911350" y="76199"/>
                </a:lnTo>
                <a:lnTo>
                  <a:pt x="1943100" y="76199"/>
                </a:lnTo>
                <a:lnTo>
                  <a:pt x="1936750" y="63499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2959332" y="2861265"/>
            <a:ext cx="112776" cy="399048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ángulo redondeado 3"/>
          <p:cNvSpPr/>
          <p:nvPr/>
        </p:nvSpPr>
        <p:spPr>
          <a:xfrm>
            <a:off x="1661518" y="2307225"/>
            <a:ext cx="2736189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Proliferación de plagas y malos olores</a:t>
            </a:r>
          </a:p>
        </p:txBody>
      </p:sp>
      <p:sp>
        <p:nvSpPr>
          <p:cNvPr id="23" name="Rectángulo redondeado 22"/>
          <p:cNvSpPr/>
          <p:nvPr/>
        </p:nvSpPr>
        <p:spPr>
          <a:xfrm>
            <a:off x="4657036" y="2271627"/>
            <a:ext cx="2748026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Disminución de ingresos de los agricultores</a:t>
            </a:r>
          </a:p>
        </p:txBody>
      </p:sp>
      <p:sp>
        <p:nvSpPr>
          <p:cNvPr id="24" name="Rectángulo redondeado 23"/>
          <p:cNvSpPr/>
          <p:nvPr/>
        </p:nvSpPr>
        <p:spPr>
          <a:xfrm>
            <a:off x="4656534" y="3323772"/>
            <a:ext cx="2748026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Pérdida en cosecha</a:t>
            </a:r>
          </a:p>
        </p:txBody>
      </p:sp>
      <p:sp>
        <p:nvSpPr>
          <p:cNvPr id="25" name="Rectángulo redondeado 24"/>
          <p:cNvSpPr/>
          <p:nvPr/>
        </p:nvSpPr>
        <p:spPr>
          <a:xfrm>
            <a:off x="1661519" y="3323772"/>
            <a:ext cx="2748026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Contaminación por frutas dañadas</a:t>
            </a:r>
          </a:p>
        </p:txBody>
      </p:sp>
      <p:sp>
        <p:nvSpPr>
          <p:cNvPr id="26" name="object 17"/>
          <p:cNvSpPr/>
          <p:nvPr/>
        </p:nvSpPr>
        <p:spPr>
          <a:xfrm>
            <a:off x="5880560" y="2840625"/>
            <a:ext cx="112776" cy="399048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7"/>
          <p:cNvSpPr/>
          <p:nvPr/>
        </p:nvSpPr>
        <p:spPr>
          <a:xfrm>
            <a:off x="649164" y="3450225"/>
            <a:ext cx="182626" cy="854488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Abrir llave 4"/>
          <p:cNvSpPr/>
          <p:nvPr/>
        </p:nvSpPr>
        <p:spPr>
          <a:xfrm>
            <a:off x="1347295" y="2209800"/>
            <a:ext cx="261239" cy="17942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Abrir llave 27"/>
          <p:cNvSpPr/>
          <p:nvPr/>
        </p:nvSpPr>
        <p:spPr>
          <a:xfrm>
            <a:off x="1347294" y="4304713"/>
            <a:ext cx="314223" cy="84124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object 6"/>
          <p:cNvSpPr txBox="1"/>
          <p:nvPr/>
        </p:nvSpPr>
        <p:spPr>
          <a:xfrm>
            <a:off x="394662" y="5868064"/>
            <a:ext cx="76778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12700" algn="ctr">
              <a:lnSpc>
                <a:spcPct val="100000"/>
              </a:lnSpc>
              <a:spcBef>
                <a:spcPts val="95"/>
              </a:spcBef>
              <a:defRPr sz="1600" spc="-5">
                <a:latin typeface="+mj-lt"/>
                <a:cs typeface="Times New Roman"/>
              </a:defRPr>
            </a:lvl1pPr>
          </a:lstStyle>
          <a:p>
            <a:r>
              <a:rPr dirty="0"/>
              <a:t>Causas</a:t>
            </a:r>
          </a:p>
        </p:txBody>
      </p:sp>
      <p:sp>
        <p:nvSpPr>
          <p:cNvPr id="32" name="object 21"/>
          <p:cNvSpPr/>
          <p:nvPr/>
        </p:nvSpPr>
        <p:spPr>
          <a:xfrm>
            <a:off x="2494433" y="5192300"/>
            <a:ext cx="1987550" cy="502638"/>
          </a:xfrm>
          <a:custGeom>
            <a:avLst/>
            <a:gdLst/>
            <a:ahLst/>
            <a:cxnLst/>
            <a:rect l="l" t="t" r="r" b="b"/>
            <a:pathLst>
              <a:path w="1987550" h="774700">
                <a:moveTo>
                  <a:pt x="1943100" y="381000"/>
                </a:moveTo>
                <a:lnTo>
                  <a:pt x="0" y="381000"/>
                </a:lnTo>
                <a:lnTo>
                  <a:pt x="0" y="774700"/>
                </a:lnTo>
                <a:lnTo>
                  <a:pt x="12700" y="774700"/>
                </a:lnTo>
                <a:lnTo>
                  <a:pt x="12700" y="393700"/>
                </a:lnTo>
                <a:lnTo>
                  <a:pt x="6350" y="393700"/>
                </a:lnTo>
                <a:lnTo>
                  <a:pt x="12700" y="387350"/>
                </a:lnTo>
                <a:lnTo>
                  <a:pt x="1943100" y="387350"/>
                </a:lnTo>
                <a:lnTo>
                  <a:pt x="1943100" y="381000"/>
                </a:lnTo>
                <a:close/>
              </a:path>
              <a:path w="1987550" h="774700">
                <a:moveTo>
                  <a:pt x="12700" y="387350"/>
                </a:moveTo>
                <a:lnTo>
                  <a:pt x="6350" y="393700"/>
                </a:lnTo>
                <a:lnTo>
                  <a:pt x="12700" y="393700"/>
                </a:lnTo>
                <a:lnTo>
                  <a:pt x="12700" y="387350"/>
                </a:lnTo>
                <a:close/>
              </a:path>
              <a:path w="1987550" h="774700">
                <a:moveTo>
                  <a:pt x="1955800" y="381000"/>
                </a:moveTo>
                <a:lnTo>
                  <a:pt x="1949450" y="381000"/>
                </a:lnTo>
                <a:lnTo>
                  <a:pt x="1943100" y="387350"/>
                </a:lnTo>
                <a:lnTo>
                  <a:pt x="12700" y="387350"/>
                </a:lnTo>
                <a:lnTo>
                  <a:pt x="12700" y="393700"/>
                </a:lnTo>
                <a:lnTo>
                  <a:pt x="1955800" y="393700"/>
                </a:lnTo>
                <a:lnTo>
                  <a:pt x="1955800" y="381000"/>
                </a:lnTo>
                <a:close/>
              </a:path>
              <a:path w="1987550" h="774700">
                <a:moveTo>
                  <a:pt x="1955800" y="63500"/>
                </a:moveTo>
                <a:lnTo>
                  <a:pt x="1943100" y="63500"/>
                </a:lnTo>
                <a:lnTo>
                  <a:pt x="1943100" y="387350"/>
                </a:lnTo>
                <a:lnTo>
                  <a:pt x="1949450" y="381000"/>
                </a:lnTo>
                <a:lnTo>
                  <a:pt x="1955800" y="381000"/>
                </a:lnTo>
                <a:lnTo>
                  <a:pt x="1955800" y="63500"/>
                </a:lnTo>
                <a:close/>
              </a:path>
              <a:path w="1987550" h="774700">
                <a:moveTo>
                  <a:pt x="1949450" y="0"/>
                </a:moveTo>
                <a:lnTo>
                  <a:pt x="1911350" y="76200"/>
                </a:lnTo>
                <a:lnTo>
                  <a:pt x="1943100" y="76200"/>
                </a:lnTo>
                <a:lnTo>
                  <a:pt x="1943100" y="63500"/>
                </a:lnTo>
                <a:lnTo>
                  <a:pt x="1981200" y="63500"/>
                </a:lnTo>
                <a:lnTo>
                  <a:pt x="1949450" y="0"/>
                </a:lnTo>
                <a:close/>
              </a:path>
              <a:path w="1987550" h="774700">
                <a:moveTo>
                  <a:pt x="1981200" y="63500"/>
                </a:moveTo>
                <a:lnTo>
                  <a:pt x="1955800" y="63500"/>
                </a:lnTo>
                <a:lnTo>
                  <a:pt x="1955800" y="76200"/>
                </a:lnTo>
                <a:lnTo>
                  <a:pt x="1987550" y="76200"/>
                </a:lnTo>
                <a:lnTo>
                  <a:pt x="1981200" y="63500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2"/>
          <p:cNvSpPr/>
          <p:nvPr/>
        </p:nvSpPr>
        <p:spPr>
          <a:xfrm>
            <a:off x="4405783" y="5197888"/>
            <a:ext cx="1866900" cy="498518"/>
          </a:xfrm>
          <a:custGeom>
            <a:avLst/>
            <a:gdLst/>
            <a:ahLst/>
            <a:cxnLst/>
            <a:rect l="l" t="t" r="r" b="b"/>
            <a:pathLst>
              <a:path w="1866900" h="768350">
                <a:moveTo>
                  <a:pt x="1854200" y="384175"/>
                </a:moveTo>
                <a:lnTo>
                  <a:pt x="1854200" y="768350"/>
                </a:lnTo>
                <a:lnTo>
                  <a:pt x="1866900" y="768350"/>
                </a:lnTo>
                <a:lnTo>
                  <a:pt x="1866900" y="390525"/>
                </a:lnTo>
                <a:lnTo>
                  <a:pt x="1860550" y="390525"/>
                </a:lnTo>
                <a:lnTo>
                  <a:pt x="1854200" y="384175"/>
                </a:lnTo>
                <a:close/>
              </a:path>
              <a:path w="1866900" h="768350">
                <a:moveTo>
                  <a:pt x="44450" y="63500"/>
                </a:moveTo>
                <a:lnTo>
                  <a:pt x="31750" y="63500"/>
                </a:lnTo>
                <a:lnTo>
                  <a:pt x="31750" y="390525"/>
                </a:lnTo>
                <a:lnTo>
                  <a:pt x="1854200" y="390525"/>
                </a:lnTo>
                <a:lnTo>
                  <a:pt x="1854200" y="384175"/>
                </a:lnTo>
                <a:lnTo>
                  <a:pt x="44450" y="384175"/>
                </a:lnTo>
                <a:lnTo>
                  <a:pt x="38100" y="377825"/>
                </a:lnTo>
                <a:lnTo>
                  <a:pt x="44450" y="377825"/>
                </a:lnTo>
                <a:lnTo>
                  <a:pt x="44450" y="63500"/>
                </a:lnTo>
                <a:close/>
              </a:path>
              <a:path w="1866900" h="768350">
                <a:moveTo>
                  <a:pt x="1866900" y="377825"/>
                </a:moveTo>
                <a:lnTo>
                  <a:pt x="44450" y="377825"/>
                </a:lnTo>
                <a:lnTo>
                  <a:pt x="44450" y="384175"/>
                </a:lnTo>
                <a:lnTo>
                  <a:pt x="1854200" y="384175"/>
                </a:lnTo>
                <a:lnTo>
                  <a:pt x="1860550" y="390525"/>
                </a:lnTo>
                <a:lnTo>
                  <a:pt x="1866900" y="390525"/>
                </a:lnTo>
                <a:lnTo>
                  <a:pt x="1866900" y="377825"/>
                </a:lnTo>
                <a:close/>
              </a:path>
              <a:path w="1866900" h="768350">
                <a:moveTo>
                  <a:pt x="44450" y="377825"/>
                </a:moveTo>
                <a:lnTo>
                  <a:pt x="38100" y="377825"/>
                </a:lnTo>
                <a:lnTo>
                  <a:pt x="44450" y="384175"/>
                </a:lnTo>
                <a:lnTo>
                  <a:pt x="44450" y="377825"/>
                </a:lnTo>
                <a:close/>
              </a:path>
              <a:path w="1866900" h="76835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866900" h="76835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Rectángulo redondeado 34"/>
          <p:cNvSpPr/>
          <p:nvPr/>
        </p:nvSpPr>
        <p:spPr>
          <a:xfrm>
            <a:off x="1697073" y="5715000"/>
            <a:ext cx="2736189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Inadecuado diseño mecánico</a:t>
            </a:r>
          </a:p>
        </p:txBody>
      </p:sp>
      <p:sp>
        <p:nvSpPr>
          <p:cNvPr id="36" name="Rectángulo redondeado 35"/>
          <p:cNvSpPr/>
          <p:nvPr/>
        </p:nvSpPr>
        <p:spPr>
          <a:xfrm>
            <a:off x="4665011" y="5715000"/>
            <a:ext cx="2736189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Fragilidad en la fruta</a:t>
            </a:r>
          </a:p>
        </p:txBody>
      </p:sp>
      <p:sp>
        <p:nvSpPr>
          <p:cNvPr id="37" name="object 13"/>
          <p:cNvSpPr/>
          <p:nvPr/>
        </p:nvSpPr>
        <p:spPr>
          <a:xfrm flipH="1">
            <a:off x="2731462" y="3886200"/>
            <a:ext cx="1701800" cy="502967"/>
          </a:xfrm>
          <a:custGeom>
            <a:avLst/>
            <a:gdLst/>
            <a:ahLst/>
            <a:cxnLst/>
            <a:rect l="l" t="t" r="r" b="b"/>
            <a:pathLst>
              <a:path w="1943100" h="628650">
                <a:moveTo>
                  <a:pt x="1898650" y="307974"/>
                </a:moveTo>
                <a:lnTo>
                  <a:pt x="0" y="307974"/>
                </a:lnTo>
                <a:lnTo>
                  <a:pt x="0" y="628649"/>
                </a:lnTo>
                <a:lnTo>
                  <a:pt x="12700" y="628649"/>
                </a:lnTo>
                <a:lnTo>
                  <a:pt x="12700" y="320674"/>
                </a:lnTo>
                <a:lnTo>
                  <a:pt x="6350" y="320674"/>
                </a:lnTo>
                <a:lnTo>
                  <a:pt x="12700" y="314324"/>
                </a:lnTo>
                <a:lnTo>
                  <a:pt x="1898650" y="314324"/>
                </a:lnTo>
                <a:lnTo>
                  <a:pt x="1898650" y="307974"/>
                </a:lnTo>
                <a:close/>
              </a:path>
              <a:path w="1943100" h="628650">
                <a:moveTo>
                  <a:pt x="12700" y="314324"/>
                </a:moveTo>
                <a:lnTo>
                  <a:pt x="6350" y="320674"/>
                </a:lnTo>
                <a:lnTo>
                  <a:pt x="12700" y="320674"/>
                </a:lnTo>
                <a:lnTo>
                  <a:pt x="12700" y="314324"/>
                </a:lnTo>
                <a:close/>
              </a:path>
              <a:path w="1943100" h="628650">
                <a:moveTo>
                  <a:pt x="1911350" y="307974"/>
                </a:moveTo>
                <a:lnTo>
                  <a:pt x="1905000" y="307974"/>
                </a:lnTo>
                <a:lnTo>
                  <a:pt x="1898650" y="314324"/>
                </a:lnTo>
                <a:lnTo>
                  <a:pt x="12700" y="314324"/>
                </a:lnTo>
                <a:lnTo>
                  <a:pt x="12700" y="320674"/>
                </a:lnTo>
                <a:lnTo>
                  <a:pt x="1911350" y="320674"/>
                </a:lnTo>
                <a:lnTo>
                  <a:pt x="1911350" y="307974"/>
                </a:lnTo>
                <a:close/>
              </a:path>
              <a:path w="1943100" h="628650">
                <a:moveTo>
                  <a:pt x="1911350" y="63499"/>
                </a:moveTo>
                <a:lnTo>
                  <a:pt x="1898650" y="63499"/>
                </a:lnTo>
                <a:lnTo>
                  <a:pt x="1898650" y="314324"/>
                </a:lnTo>
                <a:lnTo>
                  <a:pt x="1905000" y="307974"/>
                </a:lnTo>
                <a:lnTo>
                  <a:pt x="1911350" y="307974"/>
                </a:lnTo>
                <a:lnTo>
                  <a:pt x="1911350" y="63499"/>
                </a:lnTo>
                <a:close/>
              </a:path>
              <a:path w="1943100" h="628650">
                <a:moveTo>
                  <a:pt x="1905000" y="0"/>
                </a:moveTo>
                <a:lnTo>
                  <a:pt x="1866900" y="76199"/>
                </a:lnTo>
                <a:lnTo>
                  <a:pt x="1898650" y="76199"/>
                </a:lnTo>
                <a:lnTo>
                  <a:pt x="1898650" y="63499"/>
                </a:lnTo>
                <a:lnTo>
                  <a:pt x="1936750" y="63499"/>
                </a:lnTo>
                <a:lnTo>
                  <a:pt x="1905000" y="0"/>
                </a:lnTo>
                <a:close/>
              </a:path>
              <a:path w="1943100" h="628650">
                <a:moveTo>
                  <a:pt x="1936750" y="63499"/>
                </a:moveTo>
                <a:lnTo>
                  <a:pt x="1911350" y="63499"/>
                </a:lnTo>
                <a:lnTo>
                  <a:pt x="1911350" y="76199"/>
                </a:lnTo>
                <a:lnTo>
                  <a:pt x="1943100" y="76199"/>
                </a:lnTo>
                <a:lnTo>
                  <a:pt x="1936750" y="63499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/>
          <p:cNvSpPr/>
          <p:nvPr/>
        </p:nvSpPr>
        <p:spPr>
          <a:xfrm>
            <a:off x="669236" y="5105400"/>
            <a:ext cx="162554" cy="740004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Abrir llave 38"/>
          <p:cNvSpPr/>
          <p:nvPr/>
        </p:nvSpPr>
        <p:spPr>
          <a:xfrm>
            <a:off x="1375839" y="5559553"/>
            <a:ext cx="314223" cy="84124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object 8"/>
          <p:cNvSpPr txBox="1"/>
          <p:nvPr/>
        </p:nvSpPr>
        <p:spPr>
          <a:xfrm>
            <a:off x="5495925" y="6537433"/>
            <a:ext cx="30384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+mj-lt"/>
                <a:cs typeface="Times New Roman"/>
              </a:rPr>
              <a:t>ARBOL DE CAUSAS -</a:t>
            </a:r>
            <a:r>
              <a:rPr sz="1600" b="1" spc="-155" dirty="0">
                <a:latin typeface="+mj-lt"/>
                <a:cs typeface="Times New Roman"/>
              </a:rPr>
              <a:t> </a:t>
            </a:r>
            <a:r>
              <a:rPr sz="1600" b="1" spc="-10" dirty="0">
                <a:latin typeface="+mj-lt"/>
                <a:cs typeface="Times New Roman"/>
              </a:rPr>
              <a:t>EFECTOS</a:t>
            </a:r>
            <a:endParaRPr sz="1600" dirty="0">
              <a:latin typeface="+mj-lt"/>
              <a:cs typeface="Times New Roman"/>
            </a:endParaRPr>
          </a:p>
        </p:txBody>
      </p:sp>
      <p:sp>
        <p:nvSpPr>
          <p:cNvPr id="41" name="object 23"/>
          <p:cNvSpPr txBox="1"/>
          <p:nvPr/>
        </p:nvSpPr>
        <p:spPr>
          <a:xfrm>
            <a:off x="559435" y="6537433"/>
            <a:ext cx="24123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+mj-lt"/>
                <a:cs typeface="Times New Roman"/>
              </a:rPr>
              <a:t>ARBOL DEL</a:t>
            </a:r>
            <a:r>
              <a:rPr sz="1600" b="1" spc="-254" dirty="0">
                <a:latin typeface="+mj-lt"/>
                <a:cs typeface="Times New Roman"/>
              </a:rPr>
              <a:t> </a:t>
            </a:r>
            <a:r>
              <a:rPr sz="1600" b="1" spc="-5" dirty="0">
                <a:latin typeface="+mj-lt"/>
                <a:cs typeface="Times New Roman"/>
              </a:rPr>
              <a:t>PROBLEMA</a:t>
            </a:r>
            <a:endParaRPr sz="1600" dirty="0">
              <a:latin typeface="+mj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0671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537" y="187645"/>
            <a:ext cx="6347713" cy="1320800"/>
          </a:xfrm>
        </p:spPr>
        <p:txBody>
          <a:bodyPr/>
          <a:lstStyle/>
          <a:p>
            <a:pPr algn="ctr"/>
            <a:r>
              <a:rPr lang="es-419" dirty="0"/>
              <a:t>Análisis del problema y búsqueda de soluciones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0154" y="1941762"/>
            <a:ext cx="7162800" cy="49143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s-419" sz="2800" b="1" dirty="0"/>
              <a:t>Definición de objetivos</a:t>
            </a:r>
          </a:p>
          <a:p>
            <a:pPr marL="0" indent="0">
              <a:buNone/>
            </a:pPr>
            <a:endParaRPr lang="es-419" sz="2800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007" y="5471119"/>
            <a:ext cx="1570993" cy="1463081"/>
          </a:xfrm>
          <a:prstGeom prst="rect">
            <a:avLst/>
          </a:prstGeom>
        </p:spPr>
      </p:pic>
      <p:sp>
        <p:nvSpPr>
          <p:cNvPr id="31" name="object 4"/>
          <p:cNvSpPr txBox="1"/>
          <p:nvPr/>
        </p:nvSpPr>
        <p:spPr>
          <a:xfrm>
            <a:off x="381000" y="3048000"/>
            <a:ext cx="4800600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lang="es-419" sz="2000" spc="-5" dirty="0">
                <a:latin typeface="+mj-lt"/>
                <a:cs typeface="Arial"/>
              </a:rPr>
              <a:t>Describir la </a:t>
            </a:r>
            <a:r>
              <a:rPr lang="es-419" sz="2000" spc="-5" dirty="0">
                <a:solidFill>
                  <a:srgbClr val="00CC00"/>
                </a:solidFill>
                <a:latin typeface="+mj-lt"/>
                <a:cs typeface="Arial"/>
              </a:rPr>
              <a:t>situación  </a:t>
            </a:r>
            <a:r>
              <a:rPr lang="es-419" sz="2000" spc="-10" dirty="0">
                <a:solidFill>
                  <a:srgbClr val="00CC00"/>
                </a:solidFill>
                <a:latin typeface="+mj-lt"/>
                <a:cs typeface="Arial"/>
              </a:rPr>
              <a:t>esperada </a:t>
            </a:r>
            <a:r>
              <a:rPr lang="es-419" sz="2000" dirty="0">
                <a:latin typeface="+mj-lt"/>
                <a:cs typeface="Arial"/>
              </a:rPr>
              <a:t>que </a:t>
            </a:r>
            <a:r>
              <a:rPr lang="es-419" sz="2000" spc="-5" dirty="0">
                <a:latin typeface="+mj-lt"/>
                <a:cs typeface="Arial"/>
              </a:rPr>
              <a:t>será  alcanzada mediante la </a:t>
            </a:r>
            <a:r>
              <a:rPr lang="es-419" sz="2000" spc="-5" dirty="0">
                <a:solidFill>
                  <a:srgbClr val="CC3399"/>
                </a:solidFill>
                <a:latin typeface="+mj-lt"/>
                <a:cs typeface="Arial"/>
              </a:rPr>
              <a:t> solución del</a:t>
            </a:r>
            <a:r>
              <a:rPr lang="es-419" sz="2000" spc="-70" dirty="0">
                <a:solidFill>
                  <a:srgbClr val="CC3399"/>
                </a:solidFill>
                <a:latin typeface="+mj-lt"/>
                <a:cs typeface="Arial"/>
              </a:rPr>
              <a:t> </a:t>
            </a:r>
            <a:r>
              <a:rPr lang="es-419" sz="2000" spc="-5" dirty="0">
                <a:solidFill>
                  <a:srgbClr val="CC3399"/>
                </a:solidFill>
                <a:latin typeface="+mj-lt"/>
                <a:cs typeface="Arial"/>
              </a:rPr>
              <a:t>problema.</a:t>
            </a:r>
            <a:endParaRPr lang="es-419" sz="2000" dirty="0">
              <a:latin typeface="+mj-lt"/>
              <a:cs typeface="Arial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2598257" y="4883162"/>
            <a:ext cx="436099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s-419" sz="2000" b="1" spc="-5" dirty="0">
                <a:solidFill>
                  <a:srgbClr val="00CC00"/>
                </a:solidFill>
                <a:latin typeface="+mj-lt"/>
                <a:cs typeface="Arial"/>
              </a:rPr>
              <a:t>Revelado</a:t>
            </a:r>
            <a:r>
              <a:rPr lang="es-419" sz="2000" spc="-5" dirty="0">
                <a:solidFill>
                  <a:srgbClr val="00CC00"/>
                </a:solidFill>
                <a:latin typeface="+mj-lt"/>
                <a:cs typeface="Arial"/>
              </a:rPr>
              <a:t>: </a:t>
            </a:r>
            <a:r>
              <a:rPr lang="es-419" sz="2000" spc="-5" dirty="0">
                <a:latin typeface="+mj-lt"/>
                <a:cs typeface="Arial"/>
              </a:rPr>
              <a:t>cambio</a:t>
            </a:r>
            <a:r>
              <a:rPr lang="es-419" sz="2000" spc="-55" dirty="0">
                <a:latin typeface="+mj-lt"/>
                <a:cs typeface="Arial"/>
              </a:rPr>
              <a:t> </a:t>
            </a:r>
            <a:r>
              <a:rPr lang="es-419" sz="2000" spc="-10" dirty="0">
                <a:latin typeface="+mj-lt"/>
                <a:cs typeface="Arial"/>
              </a:rPr>
              <a:t>de  </a:t>
            </a:r>
            <a:r>
              <a:rPr lang="es-419" sz="2000" spc="-5" dirty="0">
                <a:latin typeface="+mj-lt"/>
                <a:cs typeface="Arial"/>
              </a:rPr>
              <a:t>negativo </a:t>
            </a:r>
            <a:r>
              <a:rPr lang="es-419" sz="2000" dirty="0">
                <a:latin typeface="+mj-lt"/>
                <a:cs typeface="Arial"/>
              </a:rPr>
              <a:t>a</a:t>
            </a:r>
            <a:r>
              <a:rPr lang="es-419" sz="2000" spc="-75" dirty="0">
                <a:latin typeface="+mj-lt"/>
                <a:cs typeface="Arial"/>
              </a:rPr>
              <a:t> </a:t>
            </a:r>
            <a:r>
              <a:rPr lang="es-419" sz="2000" dirty="0">
                <a:latin typeface="+mj-lt"/>
                <a:cs typeface="Arial"/>
              </a:rPr>
              <a:t>positivo.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55" b="97030" l="10000" r="93692">
                        <a14:foregroundMark x1="61385" y1="44224" x2="61385" y2="44224"/>
                        <a14:foregroundMark x1="58769" y1="27063" x2="58769" y2="27063"/>
                        <a14:foregroundMark x1="59538" y1="30033" x2="59538" y2="30033"/>
                        <a14:foregroundMark x1="62154" y1="22442" x2="62154" y2="22442"/>
                        <a14:foregroundMark x1="57231" y1="20297" x2="57231" y2="20297"/>
                        <a14:foregroundMark x1="50000" y1="23267" x2="50000" y2="23267"/>
                        <a14:foregroundMark x1="48615" y1="18812" x2="48615" y2="18812"/>
                        <a14:foregroundMark x1="48769" y1="14191" x2="48769" y2="14191"/>
                        <a14:foregroundMark x1="52000" y1="10396" x2="52000" y2="10396"/>
                        <a14:foregroundMark x1="57385" y1="7921" x2="57385" y2="7921"/>
                        <a14:foregroundMark x1="61846" y1="10066" x2="61846" y2="10066"/>
                        <a14:foregroundMark x1="66154" y1="13366" x2="66154" y2="13366"/>
                        <a14:foregroundMark x1="67538" y1="17327" x2="67538" y2="17327"/>
                        <a14:foregroundMark x1="65385" y1="22937" x2="65385" y2="229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466989"/>
            <a:ext cx="1792890" cy="167152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99" b="89965" l="4385" r="96769">
                        <a14:foregroundMark x1="69769" y1="29044" x2="69769" y2="29044"/>
                        <a14:foregroundMark x1="63846" y1="29044" x2="63846" y2="29044"/>
                        <a14:foregroundMark x1="63846" y1="29044" x2="63846" y2="29044"/>
                        <a14:foregroundMark x1="58462" y1="40614" x2="58462" y2="40614"/>
                        <a14:foregroundMark x1="59000" y1="61393" x2="59000" y2="61393"/>
                        <a14:foregroundMark x1="71923" y1="71311" x2="71923" y2="71311"/>
                        <a14:foregroundMark x1="64385" y1="71311" x2="64385" y2="71311"/>
                        <a14:foregroundMark x1="64923" y1="59740" x2="64923" y2="59740"/>
                        <a14:foregroundMark x1="84923" y1="67178" x2="84923" y2="67178"/>
                        <a14:foregroundMark x1="66000" y1="43920" x2="66000" y2="43920"/>
                        <a14:foregroundMark x1="75769" y1="38135" x2="75769" y2="38135"/>
                        <a14:foregroundMark x1="75769" y1="34829" x2="75769" y2="34829"/>
                        <a14:foregroundMark x1="82231" y1="43093" x2="82231" y2="43093"/>
                        <a14:foregroundMark x1="75231" y1="75443" x2="75231" y2="75443"/>
                        <a14:foregroundMark x1="71923" y1="37308" x2="71923" y2="37308"/>
                        <a14:foregroundMark x1="63308" y1="76269" x2="63308" y2="76269"/>
                        <a14:foregroundMark x1="57923" y1="70484" x2="57923" y2="70484"/>
                        <a14:foregroundMark x1="70846" y1="81228" x2="70846" y2="81228"/>
                        <a14:foregroundMark x1="75154" y1="41795" x2="75154" y2="41795"/>
                        <a14:foregroundMark x1="74077" y1="36600" x2="74077" y2="36600"/>
                        <a14:foregroundMark x1="73308" y1="31877" x2="73308" y2="318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" y="4482121"/>
            <a:ext cx="2195508" cy="143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1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537" y="187645"/>
            <a:ext cx="6347713" cy="1320800"/>
          </a:xfrm>
        </p:spPr>
        <p:txBody>
          <a:bodyPr/>
          <a:lstStyle/>
          <a:p>
            <a:pPr algn="ctr"/>
            <a:r>
              <a:rPr lang="es-419" dirty="0"/>
              <a:t>Análisis del problema y búsqueda de soluciones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9166" y="1581678"/>
            <a:ext cx="7162800" cy="49143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s-419" sz="2800" b="1" dirty="0"/>
              <a:t>Definición de objetivos</a:t>
            </a:r>
          </a:p>
          <a:p>
            <a:pPr marL="0" indent="0">
              <a:buNone/>
            </a:pPr>
            <a:endParaRPr lang="es-419" sz="2800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712" y="3713852"/>
            <a:ext cx="2288768" cy="2131552"/>
          </a:xfrm>
          <a:prstGeom prst="rect">
            <a:avLst/>
          </a:prstGeom>
        </p:spPr>
      </p:pic>
      <p:sp>
        <p:nvSpPr>
          <p:cNvPr id="7" name="object 4"/>
          <p:cNvSpPr txBox="1"/>
          <p:nvPr/>
        </p:nvSpPr>
        <p:spPr>
          <a:xfrm>
            <a:off x="89862" y="4648200"/>
            <a:ext cx="140906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s-419" sz="1600" spc="-5" dirty="0">
                <a:latin typeface="+mj-lt"/>
                <a:cs typeface="Times New Roman"/>
              </a:rPr>
              <a:t>Situación esperada</a:t>
            </a:r>
            <a:endParaRPr sz="1600" dirty="0">
              <a:latin typeface="+mj-lt"/>
              <a:cs typeface="Times New Roman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2840434" y="4541518"/>
            <a:ext cx="3111500" cy="60208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108585" rIns="0" bIns="0" rtlCol="0">
            <a:spAutoFit/>
          </a:bodyPr>
          <a:lstStyle/>
          <a:p>
            <a:pPr marL="530860" marR="311150" indent="-213360" algn="ctr">
              <a:lnSpc>
                <a:spcPct val="100000"/>
              </a:lnSpc>
              <a:spcBef>
                <a:spcPts val="855"/>
              </a:spcBef>
            </a:pPr>
            <a:r>
              <a:rPr lang="es-419" sz="1600" spc="-5" dirty="0">
                <a:latin typeface="Times New Roman"/>
                <a:cs typeface="Times New Roman"/>
              </a:rPr>
              <a:t>FRUTA RECOLECTADA SIN DETERIORO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2" name="object 9"/>
          <p:cNvSpPr txBox="1"/>
          <p:nvPr/>
        </p:nvSpPr>
        <p:spPr>
          <a:xfrm>
            <a:off x="442319" y="3148909"/>
            <a:ext cx="76200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419" sz="1600" spc="-5" dirty="0">
                <a:latin typeface="+mj-lt"/>
                <a:cs typeface="Times New Roman"/>
              </a:rPr>
              <a:t>Fines</a:t>
            </a:r>
            <a:endParaRPr sz="1600" dirty="0">
              <a:latin typeface="+mj-lt"/>
              <a:cs typeface="Times New Roman"/>
            </a:endParaRPr>
          </a:p>
        </p:txBody>
      </p:sp>
      <p:sp>
        <p:nvSpPr>
          <p:cNvPr id="18" name="object 13"/>
          <p:cNvSpPr/>
          <p:nvPr/>
        </p:nvSpPr>
        <p:spPr>
          <a:xfrm>
            <a:off x="4389834" y="4038600"/>
            <a:ext cx="1943100" cy="502967"/>
          </a:xfrm>
          <a:custGeom>
            <a:avLst/>
            <a:gdLst/>
            <a:ahLst/>
            <a:cxnLst/>
            <a:rect l="l" t="t" r="r" b="b"/>
            <a:pathLst>
              <a:path w="1943100" h="628650">
                <a:moveTo>
                  <a:pt x="1898650" y="307974"/>
                </a:moveTo>
                <a:lnTo>
                  <a:pt x="0" y="307974"/>
                </a:lnTo>
                <a:lnTo>
                  <a:pt x="0" y="628649"/>
                </a:lnTo>
                <a:lnTo>
                  <a:pt x="12700" y="628649"/>
                </a:lnTo>
                <a:lnTo>
                  <a:pt x="12700" y="320674"/>
                </a:lnTo>
                <a:lnTo>
                  <a:pt x="6350" y="320674"/>
                </a:lnTo>
                <a:lnTo>
                  <a:pt x="12700" y="314324"/>
                </a:lnTo>
                <a:lnTo>
                  <a:pt x="1898650" y="314324"/>
                </a:lnTo>
                <a:lnTo>
                  <a:pt x="1898650" y="307974"/>
                </a:lnTo>
                <a:close/>
              </a:path>
              <a:path w="1943100" h="628650">
                <a:moveTo>
                  <a:pt x="12700" y="314324"/>
                </a:moveTo>
                <a:lnTo>
                  <a:pt x="6350" y="320674"/>
                </a:lnTo>
                <a:lnTo>
                  <a:pt x="12700" y="320674"/>
                </a:lnTo>
                <a:lnTo>
                  <a:pt x="12700" y="314324"/>
                </a:lnTo>
                <a:close/>
              </a:path>
              <a:path w="1943100" h="628650">
                <a:moveTo>
                  <a:pt x="1911350" y="307974"/>
                </a:moveTo>
                <a:lnTo>
                  <a:pt x="1905000" y="307974"/>
                </a:lnTo>
                <a:lnTo>
                  <a:pt x="1898650" y="314324"/>
                </a:lnTo>
                <a:lnTo>
                  <a:pt x="12700" y="314324"/>
                </a:lnTo>
                <a:lnTo>
                  <a:pt x="12700" y="320674"/>
                </a:lnTo>
                <a:lnTo>
                  <a:pt x="1911350" y="320674"/>
                </a:lnTo>
                <a:lnTo>
                  <a:pt x="1911350" y="307974"/>
                </a:lnTo>
                <a:close/>
              </a:path>
              <a:path w="1943100" h="628650">
                <a:moveTo>
                  <a:pt x="1911350" y="63499"/>
                </a:moveTo>
                <a:lnTo>
                  <a:pt x="1898650" y="63499"/>
                </a:lnTo>
                <a:lnTo>
                  <a:pt x="1898650" y="314324"/>
                </a:lnTo>
                <a:lnTo>
                  <a:pt x="1905000" y="307974"/>
                </a:lnTo>
                <a:lnTo>
                  <a:pt x="1911350" y="307974"/>
                </a:lnTo>
                <a:lnTo>
                  <a:pt x="1911350" y="63499"/>
                </a:lnTo>
                <a:close/>
              </a:path>
              <a:path w="1943100" h="628650">
                <a:moveTo>
                  <a:pt x="1905000" y="0"/>
                </a:moveTo>
                <a:lnTo>
                  <a:pt x="1866900" y="76199"/>
                </a:lnTo>
                <a:lnTo>
                  <a:pt x="1898650" y="76199"/>
                </a:lnTo>
                <a:lnTo>
                  <a:pt x="1898650" y="63499"/>
                </a:lnTo>
                <a:lnTo>
                  <a:pt x="1936750" y="63499"/>
                </a:lnTo>
                <a:lnTo>
                  <a:pt x="1905000" y="0"/>
                </a:lnTo>
                <a:close/>
              </a:path>
              <a:path w="1943100" h="628650">
                <a:moveTo>
                  <a:pt x="1936750" y="63499"/>
                </a:moveTo>
                <a:lnTo>
                  <a:pt x="1911350" y="63499"/>
                </a:lnTo>
                <a:lnTo>
                  <a:pt x="1911350" y="76199"/>
                </a:lnTo>
                <a:lnTo>
                  <a:pt x="1943100" y="76199"/>
                </a:lnTo>
                <a:lnTo>
                  <a:pt x="1936750" y="63499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2959332" y="3013665"/>
            <a:ext cx="70280" cy="255825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ángulo redondeado 3"/>
          <p:cNvSpPr/>
          <p:nvPr/>
        </p:nvSpPr>
        <p:spPr>
          <a:xfrm>
            <a:off x="1661518" y="2459625"/>
            <a:ext cx="2736189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Disminución de plagas y malos olores</a:t>
            </a:r>
          </a:p>
        </p:txBody>
      </p:sp>
      <p:sp>
        <p:nvSpPr>
          <p:cNvPr id="23" name="Rectángulo redondeado 22"/>
          <p:cNvSpPr/>
          <p:nvPr/>
        </p:nvSpPr>
        <p:spPr>
          <a:xfrm>
            <a:off x="4657036" y="2424027"/>
            <a:ext cx="2748026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Aumento de ingresos de los agricultores</a:t>
            </a:r>
          </a:p>
        </p:txBody>
      </p:sp>
      <p:sp>
        <p:nvSpPr>
          <p:cNvPr id="24" name="Rectángulo redondeado 23"/>
          <p:cNvSpPr/>
          <p:nvPr/>
        </p:nvSpPr>
        <p:spPr>
          <a:xfrm>
            <a:off x="4656534" y="3332630"/>
            <a:ext cx="2748026" cy="6509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Disminución de pérdida en cosecha</a:t>
            </a:r>
          </a:p>
        </p:txBody>
      </p:sp>
      <p:sp>
        <p:nvSpPr>
          <p:cNvPr id="25" name="Rectángulo redondeado 24"/>
          <p:cNvSpPr/>
          <p:nvPr/>
        </p:nvSpPr>
        <p:spPr>
          <a:xfrm>
            <a:off x="1661519" y="3324466"/>
            <a:ext cx="2748026" cy="6591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Disminución de contaminación por frutas dañadas</a:t>
            </a:r>
          </a:p>
        </p:txBody>
      </p:sp>
      <p:sp>
        <p:nvSpPr>
          <p:cNvPr id="26" name="object 17"/>
          <p:cNvSpPr/>
          <p:nvPr/>
        </p:nvSpPr>
        <p:spPr>
          <a:xfrm>
            <a:off x="5880560" y="2993025"/>
            <a:ext cx="71374" cy="236854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7"/>
          <p:cNvSpPr/>
          <p:nvPr/>
        </p:nvSpPr>
        <p:spPr>
          <a:xfrm>
            <a:off x="649164" y="3602625"/>
            <a:ext cx="182626" cy="854488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Abrir llave 4"/>
          <p:cNvSpPr/>
          <p:nvPr/>
        </p:nvSpPr>
        <p:spPr>
          <a:xfrm>
            <a:off x="1347295" y="2362200"/>
            <a:ext cx="261239" cy="17942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Abrir llave 27"/>
          <p:cNvSpPr/>
          <p:nvPr/>
        </p:nvSpPr>
        <p:spPr>
          <a:xfrm>
            <a:off x="1347294" y="4457113"/>
            <a:ext cx="314223" cy="84124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object 6"/>
          <p:cNvSpPr txBox="1"/>
          <p:nvPr/>
        </p:nvSpPr>
        <p:spPr>
          <a:xfrm>
            <a:off x="394662" y="5944264"/>
            <a:ext cx="76778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12700" algn="ctr">
              <a:lnSpc>
                <a:spcPct val="100000"/>
              </a:lnSpc>
              <a:spcBef>
                <a:spcPts val="95"/>
              </a:spcBef>
              <a:defRPr sz="1600" spc="-5">
                <a:latin typeface="+mj-lt"/>
                <a:cs typeface="Times New Roman"/>
              </a:defRPr>
            </a:lvl1pPr>
          </a:lstStyle>
          <a:p>
            <a:r>
              <a:rPr lang="es-419" dirty="0"/>
              <a:t>Medios</a:t>
            </a:r>
            <a:endParaRPr dirty="0"/>
          </a:p>
        </p:txBody>
      </p:sp>
      <p:sp>
        <p:nvSpPr>
          <p:cNvPr id="32" name="object 21"/>
          <p:cNvSpPr/>
          <p:nvPr/>
        </p:nvSpPr>
        <p:spPr>
          <a:xfrm>
            <a:off x="2494433" y="5268500"/>
            <a:ext cx="1987550" cy="502638"/>
          </a:xfrm>
          <a:custGeom>
            <a:avLst/>
            <a:gdLst/>
            <a:ahLst/>
            <a:cxnLst/>
            <a:rect l="l" t="t" r="r" b="b"/>
            <a:pathLst>
              <a:path w="1987550" h="774700">
                <a:moveTo>
                  <a:pt x="1943100" y="381000"/>
                </a:moveTo>
                <a:lnTo>
                  <a:pt x="0" y="381000"/>
                </a:lnTo>
                <a:lnTo>
                  <a:pt x="0" y="774700"/>
                </a:lnTo>
                <a:lnTo>
                  <a:pt x="12700" y="774700"/>
                </a:lnTo>
                <a:lnTo>
                  <a:pt x="12700" y="393700"/>
                </a:lnTo>
                <a:lnTo>
                  <a:pt x="6350" y="393700"/>
                </a:lnTo>
                <a:lnTo>
                  <a:pt x="12700" y="387350"/>
                </a:lnTo>
                <a:lnTo>
                  <a:pt x="1943100" y="387350"/>
                </a:lnTo>
                <a:lnTo>
                  <a:pt x="1943100" y="381000"/>
                </a:lnTo>
                <a:close/>
              </a:path>
              <a:path w="1987550" h="774700">
                <a:moveTo>
                  <a:pt x="12700" y="387350"/>
                </a:moveTo>
                <a:lnTo>
                  <a:pt x="6350" y="393700"/>
                </a:lnTo>
                <a:lnTo>
                  <a:pt x="12700" y="393700"/>
                </a:lnTo>
                <a:lnTo>
                  <a:pt x="12700" y="387350"/>
                </a:lnTo>
                <a:close/>
              </a:path>
              <a:path w="1987550" h="774700">
                <a:moveTo>
                  <a:pt x="1955800" y="381000"/>
                </a:moveTo>
                <a:lnTo>
                  <a:pt x="1949450" y="381000"/>
                </a:lnTo>
                <a:lnTo>
                  <a:pt x="1943100" y="387350"/>
                </a:lnTo>
                <a:lnTo>
                  <a:pt x="12700" y="387350"/>
                </a:lnTo>
                <a:lnTo>
                  <a:pt x="12700" y="393700"/>
                </a:lnTo>
                <a:lnTo>
                  <a:pt x="1955800" y="393700"/>
                </a:lnTo>
                <a:lnTo>
                  <a:pt x="1955800" y="381000"/>
                </a:lnTo>
                <a:close/>
              </a:path>
              <a:path w="1987550" h="774700">
                <a:moveTo>
                  <a:pt x="1955800" y="63500"/>
                </a:moveTo>
                <a:lnTo>
                  <a:pt x="1943100" y="63500"/>
                </a:lnTo>
                <a:lnTo>
                  <a:pt x="1943100" y="387350"/>
                </a:lnTo>
                <a:lnTo>
                  <a:pt x="1949450" y="381000"/>
                </a:lnTo>
                <a:lnTo>
                  <a:pt x="1955800" y="381000"/>
                </a:lnTo>
                <a:lnTo>
                  <a:pt x="1955800" y="63500"/>
                </a:lnTo>
                <a:close/>
              </a:path>
              <a:path w="1987550" h="774700">
                <a:moveTo>
                  <a:pt x="1949450" y="0"/>
                </a:moveTo>
                <a:lnTo>
                  <a:pt x="1911350" y="76200"/>
                </a:lnTo>
                <a:lnTo>
                  <a:pt x="1943100" y="76200"/>
                </a:lnTo>
                <a:lnTo>
                  <a:pt x="1943100" y="63500"/>
                </a:lnTo>
                <a:lnTo>
                  <a:pt x="1981200" y="63500"/>
                </a:lnTo>
                <a:lnTo>
                  <a:pt x="1949450" y="0"/>
                </a:lnTo>
                <a:close/>
              </a:path>
              <a:path w="1987550" h="774700">
                <a:moveTo>
                  <a:pt x="1981200" y="63500"/>
                </a:moveTo>
                <a:lnTo>
                  <a:pt x="1955800" y="63500"/>
                </a:lnTo>
                <a:lnTo>
                  <a:pt x="1955800" y="76200"/>
                </a:lnTo>
                <a:lnTo>
                  <a:pt x="1987550" y="76200"/>
                </a:lnTo>
                <a:lnTo>
                  <a:pt x="1981200" y="63500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2"/>
          <p:cNvSpPr/>
          <p:nvPr/>
        </p:nvSpPr>
        <p:spPr>
          <a:xfrm>
            <a:off x="4405783" y="5274088"/>
            <a:ext cx="1866900" cy="498518"/>
          </a:xfrm>
          <a:custGeom>
            <a:avLst/>
            <a:gdLst/>
            <a:ahLst/>
            <a:cxnLst/>
            <a:rect l="l" t="t" r="r" b="b"/>
            <a:pathLst>
              <a:path w="1866900" h="768350">
                <a:moveTo>
                  <a:pt x="1854200" y="384175"/>
                </a:moveTo>
                <a:lnTo>
                  <a:pt x="1854200" y="768350"/>
                </a:lnTo>
                <a:lnTo>
                  <a:pt x="1866900" y="768350"/>
                </a:lnTo>
                <a:lnTo>
                  <a:pt x="1866900" y="390525"/>
                </a:lnTo>
                <a:lnTo>
                  <a:pt x="1860550" y="390525"/>
                </a:lnTo>
                <a:lnTo>
                  <a:pt x="1854200" y="384175"/>
                </a:lnTo>
                <a:close/>
              </a:path>
              <a:path w="1866900" h="768350">
                <a:moveTo>
                  <a:pt x="44450" y="63500"/>
                </a:moveTo>
                <a:lnTo>
                  <a:pt x="31750" y="63500"/>
                </a:lnTo>
                <a:lnTo>
                  <a:pt x="31750" y="390525"/>
                </a:lnTo>
                <a:lnTo>
                  <a:pt x="1854200" y="390525"/>
                </a:lnTo>
                <a:lnTo>
                  <a:pt x="1854200" y="384175"/>
                </a:lnTo>
                <a:lnTo>
                  <a:pt x="44450" y="384175"/>
                </a:lnTo>
                <a:lnTo>
                  <a:pt x="38100" y="377825"/>
                </a:lnTo>
                <a:lnTo>
                  <a:pt x="44450" y="377825"/>
                </a:lnTo>
                <a:lnTo>
                  <a:pt x="44450" y="63500"/>
                </a:lnTo>
                <a:close/>
              </a:path>
              <a:path w="1866900" h="768350">
                <a:moveTo>
                  <a:pt x="1866900" y="377825"/>
                </a:moveTo>
                <a:lnTo>
                  <a:pt x="44450" y="377825"/>
                </a:lnTo>
                <a:lnTo>
                  <a:pt x="44450" y="384175"/>
                </a:lnTo>
                <a:lnTo>
                  <a:pt x="1854200" y="384175"/>
                </a:lnTo>
                <a:lnTo>
                  <a:pt x="1860550" y="390525"/>
                </a:lnTo>
                <a:lnTo>
                  <a:pt x="1866900" y="390525"/>
                </a:lnTo>
                <a:lnTo>
                  <a:pt x="1866900" y="377825"/>
                </a:lnTo>
                <a:close/>
              </a:path>
              <a:path w="1866900" h="768350">
                <a:moveTo>
                  <a:pt x="44450" y="377825"/>
                </a:moveTo>
                <a:lnTo>
                  <a:pt x="38100" y="377825"/>
                </a:lnTo>
                <a:lnTo>
                  <a:pt x="44450" y="384175"/>
                </a:lnTo>
                <a:lnTo>
                  <a:pt x="44450" y="377825"/>
                </a:lnTo>
                <a:close/>
              </a:path>
              <a:path w="1866900" h="76835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866900" h="76835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Rectángulo redondeado 34"/>
          <p:cNvSpPr/>
          <p:nvPr/>
        </p:nvSpPr>
        <p:spPr>
          <a:xfrm>
            <a:off x="1697073" y="5791200"/>
            <a:ext cx="2736189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Adecuado diseño mecánico</a:t>
            </a:r>
          </a:p>
        </p:txBody>
      </p:sp>
      <p:sp>
        <p:nvSpPr>
          <p:cNvPr id="36" name="Rectángulo redondeado 35"/>
          <p:cNvSpPr/>
          <p:nvPr/>
        </p:nvSpPr>
        <p:spPr>
          <a:xfrm>
            <a:off x="4665011" y="5791200"/>
            <a:ext cx="2736189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Fruta resistente</a:t>
            </a:r>
          </a:p>
        </p:txBody>
      </p:sp>
      <p:sp>
        <p:nvSpPr>
          <p:cNvPr id="37" name="object 13"/>
          <p:cNvSpPr/>
          <p:nvPr/>
        </p:nvSpPr>
        <p:spPr>
          <a:xfrm flipH="1">
            <a:off x="2731462" y="4038600"/>
            <a:ext cx="1701800" cy="502967"/>
          </a:xfrm>
          <a:custGeom>
            <a:avLst/>
            <a:gdLst/>
            <a:ahLst/>
            <a:cxnLst/>
            <a:rect l="l" t="t" r="r" b="b"/>
            <a:pathLst>
              <a:path w="1943100" h="628650">
                <a:moveTo>
                  <a:pt x="1898650" y="307974"/>
                </a:moveTo>
                <a:lnTo>
                  <a:pt x="0" y="307974"/>
                </a:lnTo>
                <a:lnTo>
                  <a:pt x="0" y="628649"/>
                </a:lnTo>
                <a:lnTo>
                  <a:pt x="12700" y="628649"/>
                </a:lnTo>
                <a:lnTo>
                  <a:pt x="12700" y="320674"/>
                </a:lnTo>
                <a:lnTo>
                  <a:pt x="6350" y="320674"/>
                </a:lnTo>
                <a:lnTo>
                  <a:pt x="12700" y="314324"/>
                </a:lnTo>
                <a:lnTo>
                  <a:pt x="1898650" y="314324"/>
                </a:lnTo>
                <a:lnTo>
                  <a:pt x="1898650" y="307974"/>
                </a:lnTo>
                <a:close/>
              </a:path>
              <a:path w="1943100" h="628650">
                <a:moveTo>
                  <a:pt x="12700" y="314324"/>
                </a:moveTo>
                <a:lnTo>
                  <a:pt x="6350" y="320674"/>
                </a:lnTo>
                <a:lnTo>
                  <a:pt x="12700" y="320674"/>
                </a:lnTo>
                <a:lnTo>
                  <a:pt x="12700" y="314324"/>
                </a:lnTo>
                <a:close/>
              </a:path>
              <a:path w="1943100" h="628650">
                <a:moveTo>
                  <a:pt x="1911350" y="307974"/>
                </a:moveTo>
                <a:lnTo>
                  <a:pt x="1905000" y="307974"/>
                </a:lnTo>
                <a:lnTo>
                  <a:pt x="1898650" y="314324"/>
                </a:lnTo>
                <a:lnTo>
                  <a:pt x="12700" y="314324"/>
                </a:lnTo>
                <a:lnTo>
                  <a:pt x="12700" y="320674"/>
                </a:lnTo>
                <a:lnTo>
                  <a:pt x="1911350" y="320674"/>
                </a:lnTo>
                <a:lnTo>
                  <a:pt x="1911350" y="307974"/>
                </a:lnTo>
                <a:close/>
              </a:path>
              <a:path w="1943100" h="628650">
                <a:moveTo>
                  <a:pt x="1911350" y="63499"/>
                </a:moveTo>
                <a:lnTo>
                  <a:pt x="1898650" y="63499"/>
                </a:lnTo>
                <a:lnTo>
                  <a:pt x="1898650" y="314324"/>
                </a:lnTo>
                <a:lnTo>
                  <a:pt x="1905000" y="307974"/>
                </a:lnTo>
                <a:lnTo>
                  <a:pt x="1911350" y="307974"/>
                </a:lnTo>
                <a:lnTo>
                  <a:pt x="1911350" y="63499"/>
                </a:lnTo>
                <a:close/>
              </a:path>
              <a:path w="1943100" h="628650">
                <a:moveTo>
                  <a:pt x="1905000" y="0"/>
                </a:moveTo>
                <a:lnTo>
                  <a:pt x="1866900" y="76199"/>
                </a:lnTo>
                <a:lnTo>
                  <a:pt x="1898650" y="76199"/>
                </a:lnTo>
                <a:lnTo>
                  <a:pt x="1898650" y="63499"/>
                </a:lnTo>
                <a:lnTo>
                  <a:pt x="1936750" y="63499"/>
                </a:lnTo>
                <a:lnTo>
                  <a:pt x="1905000" y="0"/>
                </a:lnTo>
                <a:close/>
              </a:path>
              <a:path w="1943100" h="628650">
                <a:moveTo>
                  <a:pt x="1936750" y="63499"/>
                </a:moveTo>
                <a:lnTo>
                  <a:pt x="1911350" y="63499"/>
                </a:lnTo>
                <a:lnTo>
                  <a:pt x="1911350" y="76199"/>
                </a:lnTo>
                <a:lnTo>
                  <a:pt x="1943100" y="76199"/>
                </a:lnTo>
                <a:lnTo>
                  <a:pt x="1936750" y="63499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/>
          <p:cNvSpPr/>
          <p:nvPr/>
        </p:nvSpPr>
        <p:spPr>
          <a:xfrm>
            <a:off x="669236" y="5181600"/>
            <a:ext cx="162554" cy="740004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Abrir llave 38"/>
          <p:cNvSpPr/>
          <p:nvPr/>
        </p:nvSpPr>
        <p:spPr>
          <a:xfrm>
            <a:off x="1375839" y="5635753"/>
            <a:ext cx="314223" cy="84124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object 8"/>
          <p:cNvSpPr txBox="1"/>
          <p:nvPr/>
        </p:nvSpPr>
        <p:spPr>
          <a:xfrm>
            <a:off x="-8863" y="6583841"/>
            <a:ext cx="30384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+mj-lt"/>
                <a:cs typeface="Times New Roman"/>
              </a:rPr>
              <a:t>ARBOL DE </a:t>
            </a:r>
            <a:r>
              <a:rPr lang="es-419" sz="1600" b="1" spc="-5" dirty="0">
                <a:latin typeface="+mj-lt"/>
                <a:cs typeface="Times New Roman"/>
              </a:rPr>
              <a:t>MEDIOS</a:t>
            </a:r>
            <a:r>
              <a:rPr sz="1600" b="1" spc="-5" dirty="0">
                <a:latin typeface="+mj-lt"/>
                <a:cs typeface="Times New Roman"/>
              </a:rPr>
              <a:t> -</a:t>
            </a:r>
            <a:r>
              <a:rPr sz="1600" b="1" spc="-155" dirty="0">
                <a:latin typeface="+mj-lt"/>
                <a:cs typeface="Times New Roman"/>
              </a:rPr>
              <a:t> </a:t>
            </a:r>
            <a:r>
              <a:rPr lang="es-419" sz="1600" b="1" spc="-155" dirty="0">
                <a:latin typeface="+mj-lt"/>
                <a:cs typeface="Times New Roman"/>
              </a:rPr>
              <a:t>FINES</a:t>
            </a:r>
            <a:endParaRPr sz="1600" dirty="0">
              <a:latin typeface="+mj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44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2354" y="51641"/>
            <a:ext cx="6347713" cy="1320800"/>
          </a:xfrm>
        </p:spPr>
        <p:txBody>
          <a:bodyPr/>
          <a:lstStyle/>
          <a:p>
            <a:pPr algn="ctr"/>
            <a:r>
              <a:rPr lang="es-419" dirty="0"/>
              <a:t>Análisis del problema y búsqueda de soluciones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30073" y="1460212"/>
            <a:ext cx="7162800" cy="49143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s-419" sz="2800" b="1" dirty="0"/>
              <a:t>Búsqueda de alternativas</a:t>
            </a:r>
          </a:p>
          <a:p>
            <a:pPr marL="0" indent="0">
              <a:buNone/>
            </a:pPr>
            <a:endParaRPr lang="es-419" sz="2800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712" y="3713852"/>
            <a:ext cx="2288768" cy="2131552"/>
          </a:xfrm>
          <a:prstGeom prst="rect">
            <a:avLst/>
          </a:prstGeom>
        </p:spPr>
      </p:pic>
      <p:sp>
        <p:nvSpPr>
          <p:cNvPr id="8" name="object 5"/>
          <p:cNvSpPr txBox="1"/>
          <p:nvPr/>
        </p:nvSpPr>
        <p:spPr>
          <a:xfrm>
            <a:off x="2297234" y="4251091"/>
            <a:ext cx="3111500" cy="492443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530860" marR="311150" indent="-213360" algn="ctr">
              <a:lnSpc>
                <a:spcPct val="100000"/>
              </a:lnSpc>
              <a:spcBef>
                <a:spcPts val="855"/>
              </a:spcBef>
            </a:pPr>
            <a:r>
              <a:rPr lang="es-419" sz="1600" spc="-5" dirty="0">
                <a:latin typeface="Times New Roman"/>
                <a:cs typeface="Times New Roman"/>
              </a:rPr>
              <a:t>FRUTA RECOLECTADA SIN DETERIORO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8" name="object 13"/>
          <p:cNvSpPr/>
          <p:nvPr/>
        </p:nvSpPr>
        <p:spPr>
          <a:xfrm>
            <a:off x="3846634" y="3748173"/>
            <a:ext cx="1943100" cy="502967"/>
          </a:xfrm>
          <a:custGeom>
            <a:avLst/>
            <a:gdLst/>
            <a:ahLst/>
            <a:cxnLst/>
            <a:rect l="l" t="t" r="r" b="b"/>
            <a:pathLst>
              <a:path w="1943100" h="628650">
                <a:moveTo>
                  <a:pt x="1898650" y="307974"/>
                </a:moveTo>
                <a:lnTo>
                  <a:pt x="0" y="307974"/>
                </a:lnTo>
                <a:lnTo>
                  <a:pt x="0" y="628649"/>
                </a:lnTo>
                <a:lnTo>
                  <a:pt x="12700" y="628649"/>
                </a:lnTo>
                <a:lnTo>
                  <a:pt x="12700" y="320674"/>
                </a:lnTo>
                <a:lnTo>
                  <a:pt x="6350" y="320674"/>
                </a:lnTo>
                <a:lnTo>
                  <a:pt x="12700" y="314324"/>
                </a:lnTo>
                <a:lnTo>
                  <a:pt x="1898650" y="314324"/>
                </a:lnTo>
                <a:lnTo>
                  <a:pt x="1898650" y="307974"/>
                </a:lnTo>
                <a:close/>
              </a:path>
              <a:path w="1943100" h="628650">
                <a:moveTo>
                  <a:pt x="12700" y="314324"/>
                </a:moveTo>
                <a:lnTo>
                  <a:pt x="6350" y="320674"/>
                </a:lnTo>
                <a:lnTo>
                  <a:pt x="12700" y="320674"/>
                </a:lnTo>
                <a:lnTo>
                  <a:pt x="12700" y="314324"/>
                </a:lnTo>
                <a:close/>
              </a:path>
              <a:path w="1943100" h="628650">
                <a:moveTo>
                  <a:pt x="1911350" y="307974"/>
                </a:moveTo>
                <a:lnTo>
                  <a:pt x="1905000" y="307974"/>
                </a:lnTo>
                <a:lnTo>
                  <a:pt x="1898650" y="314324"/>
                </a:lnTo>
                <a:lnTo>
                  <a:pt x="12700" y="314324"/>
                </a:lnTo>
                <a:lnTo>
                  <a:pt x="12700" y="320674"/>
                </a:lnTo>
                <a:lnTo>
                  <a:pt x="1911350" y="320674"/>
                </a:lnTo>
                <a:lnTo>
                  <a:pt x="1911350" y="307974"/>
                </a:lnTo>
                <a:close/>
              </a:path>
              <a:path w="1943100" h="628650">
                <a:moveTo>
                  <a:pt x="1911350" y="63499"/>
                </a:moveTo>
                <a:lnTo>
                  <a:pt x="1898650" y="63499"/>
                </a:lnTo>
                <a:lnTo>
                  <a:pt x="1898650" y="314324"/>
                </a:lnTo>
                <a:lnTo>
                  <a:pt x="1905000" y="307974"/>
                </a:lnTo>
                <a:lnTo>
                  <a:pt x="1911350" y="307974"/>
                </a:lnTo>
                <a:lnTo>
                  <a:pt x="1911350" y="63499"/>
                </a:lnTo>
                <a:close/>
              </a:path>
              <a:path w="1943100" h="628650">
                <a:moveTo>
                  <a:pt x="1905000" y="0"/>
                </a:moveTo>
                <a:lnTo>
                  <a:pt x="1866900" y="76199"/>
                </a:lnTo>
                <a:lnTo>
                  <a:pt x="1898650" y="76199"/>
                </a:lnTo>
                <a:lnTo>
                  <a:pt x="1898650" y="63499"/>
                </a:lnTo>
                <a:lnTo>
                  <a:pt x="1936750" y="63499"/>
                </a:lnTo>
                <a:lnTo>
                  <a:pt x="1905000" y="0"/>
                </a:lnTo>
                <a:close/>
              </a:path>
              <a:path w="1943100" h="628650">
                <a:moveTo>
                  <a:pt x="1936750" y="63499"/>
                </a:moveTo>
                <a:lnTo>
                  <a:pt x="1911350" y="63499"/>
                </a:lnTo>
                <a:lnTo>
                  <a:pt x="1911350" y="76199"/>
                </a:lnTo>
                <a:lnTo>
                  <a:pt x="1943100" y="76199"/>
                </a:lnTo>
                <a:lnTo>
                  <a:pt x="1936750" y="63499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2319798" y="2875638"/>
            <a:ext cx="70280" cy="255825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ángulo redondeado 3"/>
          <p:cNvSpPr/>
          <p:nvPr/>
        </p:nvSpPr>
        <p:spPr>
          <a:xfrm>
            <a:off x="459632" y="2321598"/>
            <a:ext cx="3298541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Disminución de plagas y malos olores</a:t>
            </a:r>
          </a:p>
        </p:txBody>
      </p:sp>
      <p:sp>
        <p:nvSpPr>
          <p:cNvPr id="23" name="Rectángulo redondeado 22"/>
          <p:cNvSpPr/>
          <p:nvPr/>
        </p:nvSpPr>
        <p:spPr>
          <a:xfrm>
            <a:off x="4016051" y="2286000"/>
            <a:ext cx="3312811" cy="5074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Aumento de ingresos de los agricultores</a:t>
            </a:r>
          </a:p>
        </p:txBody>
      </p:sp>
      <p:sp>
        <p:nvSpPr>
          <p:cNvPr id="24" name="Rectángulo redondeado 23"/>
          <p:cNvSpPr/>
          <p:nvPr/>
        </p:nvSpPr>
        <p:spPr>
          <a:xfrm>
            <a:off x="4015549" y="3194603"/>
            <a:ext cx="3312811" cy="47938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Disminución de pérdida en cosecha</a:t>
            </a:r>
          </a:p>
        </p:txBody>
      </p:sp>
      <p:sp>
        <p:nvSpPr>
          <p:cNvPr id="25" name="Rectángulo redondeado 24"/>
          <p:cNvSpPr/>
          <p:nvPr/>
        </p:nvSpPr>
        <p:spPr>
          <a:xfrm>
            <a:off x="457200" y="3186439"/>
            <a:ext cx="3312811" cy="48540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Disminución de contaminación por frutas dañadas</a:t>
            </a:r>
          </a:p>
        </p:txBody>
      </p:sp>
      <p:sp>
        <p:nvSpPr>
          <p:cNvPr id="26" name="object 17"/>
          <p:cNvSpPr/>
          <p:nvPr/>
        </p:nvSpPr>
        <p:spPr>
          <a:xfrm>
            <a:off x="5804360" y="2854998"/>
            <a:ext cx="71374" cy="236854"/>
          </a:xfrm>
          <a:custGeom>
            <a:avLst/>
            <a:gdLst/>
            <a:ahLst/>
            <a:cxnLst/>
            <a:rect l="l" t="t" r="r" b="b"/>
            <a:pathLst>
              <a:path w="76200" h="546100">
                <a:moveTo>
                  <a:pt x="44450" y="63500"/>
                </a:moveTo>
                <a:lnTo>
                  <a:pt x="31750" y="6350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63500"/>
                </a:lnTo>
                <a:close/>
              </a:path>
              <a:path w="76200" h="5461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461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1"/>
          <p:cNvSpPr/>
          <p:nvPr/>
        </p:nvSpPr>
        <p:spPr>
          <a:xfrm>
            <a:off x="1951233" y="4814973"/>
            <a:ext cx="1987550" cy="502638"/>
          </a:xfrm>
          <a:custGeom>
            <a:avLst/>
            <a:gdLst/>
            <a:ahLst/>
            <a:cxnLst/>
            <a:rect l="l" t="t" r="r" b="b"/>
            <a:pathLst>
              <a:path w="1987550" h="774700">
                <a:moveTo>
                  <a:pt x="1943100" y="381000"/>
                </a:moveTo>
                <a:lnTo>
                  <a:pt x="0" y="381000"/>
                </a:lnTo>
                <a:lnTo>
                  <a:pt x="0" y="774700"/>
                </a:lnTo>
                <a:lnTo>
                  <a:pt x="12700" y="774700"/>
                </a:lnTo>
                <a:lnTo>
                  <a:pt x="12700" y="393700"/>
                </a:lnTo>
                <a:lnTo>
                  <a:pt x="6350" y="393700"/>
                </a:lnTo>
                <a:lnTo>
                  <a:pt x="12700" y="387350"/>
                </a:lnTo>
                <a:lnTo>
                  <a:pt x="1943100" y="387350"/>
                </a:lnTo>
                <a:lnTo>
                  <a:pt x="1943100" y="381000"/>
                </a:lnTo>
                <a:close/>
              </a:path>
              <a:path w="1987550" h="774700">
                <a:moveTo>
                  <a:pt x="12700" y="387350"/>
                </a:moveTo>
                <a:lnTo>
                  <a:pt x="6350" y="393700"/>
                </a:lnTo>
                <a:lnTo>
                  <a:pt x="12700" y="393700"/>
                </a:lnTo>
                <a:lnTo>
                  <a:pt x="12700" y="387350"/>
                </a:lnTo>
                <a:close/>
              </a:path>
              <a:path w="1987550" h="774700">
                <a:moveTo>
                  <a:pt x="1955800" y="381000"/>
                </a:moveTo>
                <a:lnTo>
                  <a:pt x="1949450" y="381000"/>
                </a:lnTo>
                <a:lnTo>
                  <a:pt x="1943100" y="387350"/>
                </a:lnTo>
                <a:lnTo>
                  <a:pt x="12700" y="387350"/>
                </a:lnTo>
                <a:lnTo>
                  <a:pt x="12700" y="393700"/>
                </a:lnTo>
                <a:lnTo>
                  <a:pt x="1955800" y="393700"/>
                </a:lnTo>
                <a:lnTo>
                  <a:pt x="1955800" y="381000"/>
                </a:lnTo>
                <a:close/>
              </a:path>
              <a:path w="1987550" h="774700">
                <a:moveTo>
                  <a:pt x="1955800" y="63500"/>
                </a:moveTo>
                <a:lnTo>
                  <a:pt x="1943100" y="63500"/>
                </a:lnTo>
                <a:lnTo>
                  <a:pt x="1943100" y="387350"/>
                </a:lnTo>
                <a:lnTo>
                  <a:pt x="1949450" y="381000"/>
                </a:lnTo>
                <a:lnTo>
                  <a:pt x="1955800" y="381000"/>
                </a:lnTo>
                <a:lnTo>
                  <a:pt x="1955800" y="63500"/>
                </a:lnTo>
                <a:close/>
              </a:path>
              <a:path w="1987550" h="774700">
                <a:moveTo>
                  <a:pt x="1949450" y="0"/>
                </a:moveTo>
                <a:lnTo>
                  <a:pt x="1911350" y="76200"/>
                </a:lnTo>
                <a:lnTo>
                  <a:pt x="1943100" y="76200"/>
                </a:lnTo>
                <a:lnTo>
                  <a:pt x="1943100" y="63500"/>
                </a:lnTo>
                <a:lnTo>
                  <a:pt x="1981200" y="63500"/>
                </a:lnTo>
                <a:lnTo>
                  <a:pt x="1949450" y="0"/>
                </a:lnTo>
                <a:close/>
              </a:path>
              <a:path w="1987550" h="774700">
                <a:moveTo>
                  <a:pt x="1981200" y="63500"/>
                </a:moveTo>
                <a:lnTo>
                  <a:pt x="1955800" y="63500"/>
                </a:lnTo>
                <a:lnTo>
                  <a:pt x="1955800" y="76200"/>
                </a:lnTo>
                <a:lnTo>
                  <a:pt x="1987550" y="76200"/>
                </a:lnTo>
                <a:lnTo>
                  <a:pt x="1981200" y="63500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2"/>
          <p:cNvSpPr/>
          <p:nvPr/>
        </p:nvSpPr>
        <p:spPr>
          <a:xfrm>
            <a:off x="3862583" y="4820561"/>
            <a:ext cx="1866900" cy="498518"/>
          </a:xfrm>
          <a:custGeom>
            <a:avLst/>
            <a:gdLst/>
            <a:ahLst/>
            <a:cxnLst/>
            <a:rect l="l" t="t" r="r" b="b"/>
            <a:pathLst>
              <a:path w="1866900" h="768350">
                <a:moveTo>
                  <a:pt x="1854200" y="384175"/>
                </a:moveTo>
                <a:lnTo>
                  <a:pt x="1854200" y="768350"/>
                </a:lnTo>
                <a:lnTo>
                  <a:pt x="1866900" y="768350"/>
                </a:lnTo>
                <a:lnTo>
                  <a:pt x="1866900" y="390525"/>
                </a:lnTo>
                <a:lnTo>
                  <a:pt x="1860550" y="390525"/>
                </a:lnTo>
                <a:lnTo>
                  <a:pt x="1854200" y="384175"/>
                </a:lnTo>
                <a:close/>
              </a:path>
              <a:path w="1866900" h="768350">
                <a:moveTo>
                  <a:pt x="44450" y="63500"/>
                </a:moveTo>
                <a:lnTo>
                  <a:pt x="31750" y="63500"/>
                </a:lnTo>
                <a:lnTo>
                  <a:pt x="31750" y="390525"/>
                </a:lnTo>
                <a:lnTo>
                  <a:pt x="1854200" y="390525"/>
                </a:lnTo>
                <a:lnTo>
                  <a:pt x="1854200" y="384175"/>
                </a:lnTo>
                <a:lnTo>
                  <a:pt x="44450" y="384175"/>
                </a:lnTo>
                <a:lnTo>
                  <a:pt x="38100" y="377825"/>
                </a:lnTo>
                <a:lnTo>
                  <a:pt x="44450" y="377825"/>
                </a:lnTo>
                <a:lnTo>
                  <a:pt x="44450" y="63500"/>
                </a:lnTo>
                <a:close/>
              </a:path>
              <a:path w="1866900" h="768350">
                <a:moveTo>
                  <a:pt x="1866900" y="377825"/>
                </a:moveTo>
                <a:lnTo>
                  <a:pt x="44450" y="377825"/>
                </a:lnTo>
                <a:lnTo>
                  <a:pt x="44450" y="384175"/>
                </a:lnTo>
                <a:lnTo>
                  <a:pt x="1854200" y="384175"/>
                </a:lnTo>
                <a:lnTo>
                  <a:pt x="1860550" y="390525"/>
                </a:lnTo>
                <a:lnTo>
                  <a:pt x="1866900" y="390525"/>
                </a:lnTo>
                <a:lnTo>
                  <a:pt x="1866900" y="377825"/>
                </a:lnTo>
                <a:close/>
              </a:path>
              <a:path w="1866900" h="768350">
                <a:moveTo>
                  <a:pt x="44450" y="377825"/>
                </a:moveTo>
                <a:lnTo>
                  <a:pt x="38100" y="377825"/>
                </a:lnTo>
                <a:lnTo>
                  <a:pt x="44450" y="384175"/>
                </a:lnTo>
                <a:lnTo>
                  <a:pt x="44450" y="377825"/>
                </a:lnTo>
                <a:close/>
              </a:path>
              <a:path w="1866900" h="76835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866900" h="76835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Rectángulo redondeado 34"/>
          <p:cNvSpPr/>
          <p:nvPr/>
        </p:nvSpPr>
        <p:spPr>
          <a:xfrm>
            <a:off x="609600" y="5337674"/>
            <a:ext cx="2736189" cy="3917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Adecuado diseño mecánico</a:t>
            </a:r>
          </a:p>
        </p:txBody>
      </p:sp>
      <p:sp>
        <p:nvSpPr>
          <p:cNvPr id="36" name="Rectángulo redondeado 35"/>
          <p:cNvSpPr/>
          <p:nvPr/>
        </p:nvSpPr>
        <p:spPr>
          <a:xfrm>
            <a:off x="4350411" y="5337674"/>
            <a:ext cx="2736189" cy="3917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600" dirty="0"/>
              <a:t>Fruta resistente</a:t>
            </a:r>
          </a:p>
        </p:txBody>
      </p:sp>
      <p:sp>
        <p:nvSpPr>
          <p:cNvPr id="37" name="object 13"/>
          <p:cNvSpPr/>
          <p:nvPr/>
        </p:nvSpPr>
        <p:spPr>
          <a:xfrm flipH="1">
            <a:off x="2188262" y="3748173"/>
            <a:ext cx="1701800" cy="502967"/>
          </a:xfrm>
          <a:custGeom>
            <a:avLst/>
            <a:gdLst/>
            <a:ahLst/>
            <a:cxnLst/>
            <a:rect l="l" t="t" r="r" b="b"/>
            <a:pathLst>
              <a:path w="1943100" h="628650">
                <a:moveTo>
                  <a:pt x="1898650" y="307974"/>
                </a:moveTo>
                <a:lnTo>
                  <a:pt x="0" y="307974"/>
                </a:lnTo>
                <a:lnTo>
                  <a:pt x="0" y="628649"/>
                </a:lnTo>
                <a:lnTo>
                  <a:pt x="12700" y="628649"/>
                </a:lnTo>
                <a:lnTo>
                  <a:pt x="12700" y="320674"/>
                </a:lnTo>
                <a:lnTo>
                  <a:pt x="6350" y="320674"/>
                </a:lnTo>
                <a:lnTo>
                  <a:pt x="12700" y="314324"/>
                </a:lnTo>
                <a:lnTo>
                  <a:pt x="1898650" y="314324"/>
                </a:lnTo>
                <a:lnTo>
                  <a:pt x="1898650" y="307974"/>
                </a:lnTo>
                <a:close/>
              </a:path>
              <a:path w="1943100" h="628650">
                <a:moveTo>
                  <a:pt x="12700" y="314324"/>
                </a:moveTo>
                <a:lnTo>
                  <a:pt x="6350" y="320674"/>
                </a:lnTo>
                <a:lnTo>
                  <a:pt x="12700" y="320674"/>
                </a:lnTo>
                <a:lnTo>
                  <a:pt x="12700" y="314324"/>
                </a:lnTo>
                <a:close/>
              </a:path>
              <a:path w="1943100" h="628650">
                <a:moveTo>
                  <a:pt x="1911350" y="307974"/>
                </a:moveTo>
                <a:lnTo>
                  <a:pt x="1905000" y="307974"/>
                </a:lnTo>
                <a:lnTo>
                  <a:pt x="1898650" y="314324"/>
                </a:lnTo>
                <a:lnTo>
                  <a:pt x="12700" y="314324"/>
                </a:lnTo>
                <a:lnTo>
                  <a:pt x="12700" y="320674"/>
                </a:lnTo>
                <a:lnTo>
                  <a:pt x="1911350" y="320674"/>
                </a:lnTo>
                <a:lnTo>
                  <a:pt x="1911350" y="307974"/>
                </a:lnTo>
                <a:close/>
              </a:path>
              <a:path w="1943100" h="628650">
                <a:moveTo>
                  <a:pt x="1911350" y="63499"/>
                </a:moveTo>
                <a:lnTo>
                  <a:pt x="1898650" y="63499"/>
                </a:lnTo>
                <a:lnTo>
                  <a:pt x="1898650" y="314324"/>
                </a:lnTo>
                <a:lnTo>
                  <a:pt x="1905000" y="307974"/>
                </a:lnTo>
                <a:lnTo>
                  <a:pt x="1911350" y="307974"/>
                </a:lnTo>
                <a:lnTo>
                  <a:pt x="1911350" y="63499"/>
                </a:lnTo>
                <a:close/>
              </a:path>
              <a:path w="1943100" h="628650">
                <a:moveTo>
                  <a:pt x="1905000" y="0"/>
                </a:moveTo>
                <a:lnTo>
                  <a:pt x="1866900" y="76199"/>
                </a:lnTo>
                <a:lnTo>
                  <a:pt x="1898650" y="76199"/>
                </a:lnTo>
                <a:lnTo>
                  <a:pt x="1898650" y="63499"/>
                </a:lnTo>
                <a:lnTo>
                  <a:pt x="1936750" y="63499"/>
                </a:lnTo>
                <a:lnTo>
                  <a:pt x="1905000" y="0"/>
                </a:lnTo>
                <a:close/>
              </a:path>
              <a:path w="1943100" h="628650">
                <a:moveTo>
                  <a:pt x="1936750" y="63499"/>
                </a:moveTo>
                <a:lnTo>
                  <a:pt x="1911350" y="63499"/>
                </a:lnTo>
                <a:lnTo>
                  <a:pt x="1911350" y="76199"/>
                </a:lnTo>
                <a:lnTo>
                  <a:pt x="1943100" y="76199"/>
                </a:lnTo>
                <a:lnTo>
                  <a:pt x="1936750" y="63499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"/>
          <p:cNvSpPr txBox="1"/>
          <p:nvPr/>
        </p:nvSpPr>
        <p:spPr>
          <a:xfrm>
            <a:off x="715032" y="6002094"/>
            <a:ext cx="2525324" cy="44371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DISEÑO DE</a:t>
            </a:r>
            <a:r>
              <a:rPr sz="1400" b="1" spc="-2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</a:t>
            </a:r>
            <a:r>
              <a:rPr sz="1400" b="1" spc="-5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MAQUINA</a:t>
            </a:r>
            <a:endParaRPr sz="1400" dirty="0">
              <a:solidFill>
                <a:schemeClr val="accent2">
                  <a:lumMod val="75000"/>
                </a:schemeClr>
              </a:solidFill>
              <a:latin typeface="+mj-lt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RECOLECTORA</a:t>
            </a:r>
            <a:r>
              <a:rPr sz="1400" b="1" spc="-195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</a:t>
            </a:r>
            <a:r>
              <a:rPr sz="1400" b="1" spc="-5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ADECUADA</a:t>
            </a:r>
            <a:endParaRPr sz="1400" dirty="0">
              <a:solidFill>
                <a:schemeClr val="accent2">
                  <a:lumMod val="75000"/>
                </a:schemeClr>
              </a:solidFill>
              <a:latin typeface="+mj-lt"/>
              <a:cs typeface="Times New Roman"/>
            </a:endParaRPr>
          </a:p>
        </p:txBody>
      </p:sp>
      <p:sp>
        <p:nvSpPr>
          <p:cNvPr id="41" name="object 5"/>
          <p:cNvSpPr txBox="1"/>
          <p:nvPr/>
        </p:nvSpPr>
        <p:spPr>
          <a:xfrm>
            <a:off x="4148425" y="6019800"/>
            <a:ext cx="3162116" cy="44371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DLLO DE UNA</a:t>
            </a:r>
            <a:r>
              <a:rPr sz="1400" b="1" spc="-105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</a:t>
            </a:r>
            <a:r>
              <a:rPr sz="1400" b="1" spc="-3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VARIEDAD</a:t>
            </a:r>
            <a:r>
              <a:rPr lang="es-419" sz="1400" b="1" spc="-3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</a:t>
            </a:r>
            <a:r>
              <a:rPr sz="14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QUE </a:t>
            </a:r>
            <a:r>
              <a:rPr sz="1400" b="1" spc="-15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RESISTA </a:t>
            </a:r>
            <a:r>
              <a:rPr sz="1400" b="1" spc="-5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RECOLECCION</a:t>
            </a:r>
            <a:r>
              <a:rPr sz="1400" b="1" spc="-9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</a:t>
            </a:r>
            <a:r>
              <a:rPr sz="1400" b="1" spc="-5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MECANICA</a:t>
            </a:r>
            <a:endParaRPr sz="1400" dirty="0">
              <a:solidFill>
                <a:schemeClr val="accent2">
                  <a:lumMod val="75000"/>
                </a:schemeClr>
              </a:solidFill>
              <a:latin typeface="+mj-lt"/>
              <a:cs typeface="Times New Roman"/>
            </a:endParaRPr>
          </a:p>
        </p:txBody>
      </p:sp>
      <p:cxnSp>
        <p:nvCxnSpPr>
          <p:cNvPr id="9" name="Conector recto de flecha 8"/>
          <p:cNvCxnSpPr>
            <a:stCxn id="35" idx="2"/>
            <a:endCxn id="31" idx="0"/>
          </p:cNvCxnSpPr>
          <p:nvPr/>
        </p:nvCxnSpPr>
        <p:spPr>
          <a:xfrm flipH="1">
            <a:off x="1977694" y="5729374"/>
            <a:ext cx="1" cy="2727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>
            <a:stCxn id="36" idx="2"/>
            <a:endCxn id="41" idx="0"/>
          </p:cNvCxnSpPr>
          <p:nvPr/>
        </p:nvCxnSpPr>
        <p:spPr>
          <a:xfrm>
            <a:off x="5718506" y="5729374"/>
            <a:ext cx="10977" cy="290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67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dirty="0"/>
              <a:t>TÉCNCA DE ÁRBOLES</a:t>
            </a:r>
          </a:p>
        </p:txBody>
      </p:sp>
      <p:sp>
        <p:nvSpPr>
          <p:cNvPr id="5" name="object 4"/>
          <p:cNvSpPr txBox="1"/>
          <p:nvPr/>
        </p:nvSpPr>
        <p:spPr>
          <a:xfrm>
            <a:off x="1363728" y="1930400"/>
            <a:ext cx="589051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lang="es-419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METODOLOGÍA EN 5 PASOS</a:t>
            </a:r>
            <a:endParaRPr sz="3200" b="1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object 4"/>
          <p:cNvSpPr txBox="1"/>
          <p:nvPr/>
        </p:nvSpPr>
        <p:spPr>
          <a:xfrm>
            <a:off x="381000" y="3124200"/>
            <a:ext cx="5257801" cy="193322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9250" indent="-33718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49885" algn="l"/>
                <a:tab pos="1738630" algn="l"/>
              </a:tabLst>
            </a:pP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DEFINIR</a:t>
            </a:r>
            <a:r>
              <a:rPr lang="es-419"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 </a:t>
            </a: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PROBLEMA</a:t>
            </a:r>
            <a:r>
              <a:rPr sz="2000" b="1" spc="-2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 </a:t>
            </a: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CENTRAL</a:t>
            </a:r>
            <a:endParaRPr sz="2000" dirty="0">
              <a:solidFill>
                <a:schemeClr val="bg2">
                  <a:lumMod val="50000"/>
                </a:schemeClr>
              </a:solidFill>
              <a:latin typeface="+mj-lt"/>
              <a:cs typeface="Arial"/>
            </a:endParaRPr>
          </a:p>
          <a:p>
            <a:pPr marL="349250" indent="-33718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49885" algn="l"/>
              </a:tabLst>
            </a:pP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VERIFICAR </a:t>
            </a:r>
            <a:r>
              <a:rPr sz="2000" b="1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LOS</a:t>
            </a:r>
            <a:r>
              <a:rPr sz="2000" b="1" spc="-10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 </a:t>
            </a:r>
            <a:r>
              <a:rPr sz="2000" b="1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EFECTOS</a:t>
            </a:r>
            <a:endParaRPr sz="2000" dirty="0">
              <a:solidFill>
                <a:schemeClr val="bg2">
                  <a:lumMod val="50000"/>
                </a:schemeClr>
              </a:solidFill>
              <a:latin typeface="+mj-lt"/>
              <a:cs typeface="Arial"/>
            </a:endParaRPr>
          </a:p>
          <a:p>
            <a:pPr marL="349250" indent="-33718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49885" algn="l"/>
              </a:tabLst>
            </a:pP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DETERMINAR</a:t>
            </a:r>
            <a:r>
              <a:rPr sz="2000" b="1" spc="10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 </a:t>
            </a: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CAUSAS</a:t>
            </a:r>
            <a:endParaRPr sz="2000" dirty="0">
              <a:solidFill>
                <a:schemeClr val="bg2">
                  <a:lumMod val="50000"/>
                </a:schemeClr>
              </a:solidFill>
              <a:latin typeface="+mj-lt"/>
              <a:cs typeface="Arial"/>
            </a:endParaRPr>
          </a:p>
          <a:p>
            <a:pPr marL="349250" indent="-33718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49885" algn="l"/>
              </a:tabLst>
            </a:pP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DEFINIR </a:t>
            </a:r>
            <a:r>
              <a:rPr sz="2000" b="1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OBJETIVOS</a:t>
            </a:r>
            <a:r>
              <a:rPr sz="2000" b="1" spc="-2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 </a:t>
            </a: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(</a:t>
            </a:r>
            <a:r>
              <a:rPr sz="2000" b="1" spc="-5" dirty="0" err="1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medios</a:t>
            </a:r>
            <a:r>
              <a:rPr lang="es-419"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 </a:t>
            </a: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-</a:t>
            </a:r>
            <a:r>
              <a:rPr lang="es-419"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 </a:t>
            </a:r>
            <a:r>
              <a:rPr sz="2000" b="1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fines)</a:t>
            </a:r>
            <a:endParaRPr sz="2000" dirty="0">
              <a:solidFill>
                <a:schemeClr val="bg2">
                  <a:lumMod val="50000"/>
                </a:schemeClr>
              </a:solidFill>
              <a:latin typeface="+mj-lt"/>
              <a:cs typeface="Arial"/>
            </a:endParaRPr>
          </a:p>
          <a:p>
            <a:pPr marL="349250" indent="-337185">
              <a:lnSpc>
                <a:spcPct val="100000"/>
              </a:lnSpc>
              <a:spcBef>
                <a:spcPts val="575"/>
              </a:spcBef>
              <a:buAutoNum type="arabicPeriod" startAt="5"/>
              <a:tabLst>
                <a:tab pos="349885" algn="l"/>
              </a:tabLst>
            </a:pP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GENERAR</a:t>
            </a:r>
            <a:r>
              <a:rPr sz="2000" b="1" spc="1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 </a:t>
            </a:r>
            <a:r>
              <a:rPr sz="2000" b="1" spc="-5" dirty="0">
                <a:solidFill>
                  <a:schemeClr val="bg2">
                    <a:lumMod val="50000"/>
                  </a:schemeClr>
                </a:solidFill>
                <a:latin typeface="+mj-lt"/>
                <a:cs typeface="Arial"/>
              </a:rPr>
              <a:t>ALTERNATIVAS</a:t>
            </a:r>
            <a:endParaRPr sz="2000" dirty="0">
              <a:solidFill>
                <a:schemeClr val="bg2">
                  <a:lumMod val="50000"/>
                </a:schemeClr>
              </a:solidFill>
              <a:latin typeface="+mj-lt"/>
              <a:cs typeface="Arial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819400"/>
            <a:ext cx="3734621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29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431140"/>
            <a:ext cx="4426860" cy="442686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7657" y="304800"/>
            <a:ext cx="45427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Mapa</a:t>
            </a:r>
            <a:r>
              <a:rPr sz="3600" dirty="0"/>
              <a:t> </a:t>
            </a:r>
            <a:r>
              <a:rPr dirty="0"/>
              <a:t>de involucrados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-304800" y="1691921"/>
            <a:ext cx="6248400" cy="35445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73075">
              <a:lnSpc>
                <a:spcPct val="100000"/>
              </a:lnSpc>
              <a:spcBef>
                <a:spcPts val="480"/>
              </a:spcBef>
            </a:pPr>
            <a:r>
              <a:rPr dirty="0">
                <a:latin typeface="+mj-lt"/>
                <a:cs typeface="Comic Sans MS"/>
              </a:rPr>
              <a:t>¿Quiénes son</a:t>
            </a:r>
            <a:r>
              <a:rPr spc="-35" dirty="0">
                <a:latin typeface="+mj-lt"/>
                <a:cs typeface="Comic Sans MS"/>
              </a:rPr>
              <a:t> </a:t>
            </a:r>
            <a:r>
              <a:rPr spc="-5" dirty="0">
                <a:solidFill>
                  <a:srgbClr val="333399"/>
                </a:solidFill>
                <a:latin typeface="+mj-lt"/>
                <a:cs typeface="Comic Sans MS"/>
              </a:rPr>
              <a:t>INVOLUCRADOS</a:t>
            </a:r>
            <a:r>
              <a:rPr spc="-5" dirty="0">
                <a:latin typeface="+mj-lt"/>
                <a:cs typeface="Comic Sans MS"/>
              </a:rPr>
              <a:t>?</a:t>
            </a:r>
            <a:endParaRPr dirty="0">
              <a:latin typeface="+mj-lt"/>
              <a:cs typeface="Comic Sans MS"/>
            </a:endParaRPr>
          </a:p>
          <a:p>
            <a:pPr marL="816610" marR="698500" indent="-343535">
              <a:lnSpc>
                <a:spcPts val="3460"/>
              </a:lnSpc>
              <a:spcBef>
                <a:spcPts val="820"/>
              </a:spcBef>
            </a:pPr>
            <a:r>
              <a:rPr spc="-5" dirty="0">
                <a:latin typeface="+mj-lt"/>
                <a:cs typeface="Comic Sans MS"/>
              </a:rPr>
              <a:t>Personas, instituciones </a:t>
            </a:r>
            <a:r>
              <a:rPr dirty="0">
                <a:latin typeface="+mj-lt"/>
                <a:cs typeface="Comic Sans MS"/>
              </a:rPr>
              <a:t>o </a:t>
            </a:r>
            <a:r>
              <a:rPr dirty="0" err="1">
                <a:latin typeface="+mj-lt"/>
                <a:cs typeface="Comic Sans MS"/>
              </a:rPr>
              <a:t>grupos</a:t>
            </a:r>
            <a:r>
              <a:rPr lang="es-419" dirty="0">
                <a:latin typeface="+mj-lt"/>
                <a:cs typeface="Comic Sans MS"/>
              </a:rPr>
              <a:t> </a:t>
            </a:r>
            <a:r>
              <a:rPr dirty="0" err="1">
                <a:latin typeface="+mj-lt"/>
                <a:cs typeface="Comic Sans MS"/>
              </a:rPr>
              <a:t>sociales</a:t>
            </a:r>
            <a:r>
              <a:rPr lang="es-419" dirty="0">
                <a:latin typeface="+mj-lt"/>
                <a:cs typeface="Comic Sans MS"/>
              </a:rPr>
              <a:t> que</a:t>
            </a:r>
            <a:r>
              <a:rPr dirty="0">
                <a:latin typeface="+mj-lt"/>
                <a:cs typeface="Comic Sans MS"/>
              </a:rPr>
              <a:t>:</a:t>
            </a:r>
            <a:endParaRPr lang="es-419" dirty="0">
              <a:latin typeface="+mj-lt"/>
              <a:cs typeface="Comic Sans MS"/>
            </a:endParaRPr>
          </a:p>
          <a:p>
            <a:pPr marL="816610" marR="698500" indent="-343535">
              <a:lnSpc>
                <a:spcPts val="3460"/>
              </a:lnSpc>
              <a:spcBef>
                <a:spcPts val="820"/>
              </a:spcBef>
            </a:pPr>
            <a:endParaRPr lang="es-419" dirty="0">
              <a:latin typeface="+mj-lt"/>
              <a:cs typeface="Comic Sans MS"/>
            </a:endParaRPr>
          </a:p>
          <a:p>
            <a:pPr marL="816610" marR="698500" indent="-343535">
              <a:lnSpc>
                <a:spcPts val="3460"/>
              </a:lnSpc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es-419" dirty="0">
                <a:latin typeface="+mj-lt"/>
                <a:cs typeface="Comic Sans MS"/>
              </a:rPr>
              <a:t>Se vean afectados por el problema.</a:t>
            </a:r>
          </a:p>
          <a:p>
            <a:pPr marL="816610" marR="698500" indent="-343535">
              <a:lnSpc>
                <a:spcPts val="3460"/>
              </a:lnSpc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es-419" dirty="0">
                <a:latin typeface="+mj-lt"/>
                <a:cs typeface="Comic Sans MS"/>
              </a:rPr>
              <a:t>Se muevan entorno al problema.</a:t>
            </a:r>
          </a:p>
          <a:p>
            <a:pPr marL="816610" marR="698500" indent="-343535">
              <a:lnSpc>
                <a:spcPts val="3460"/>
              </a:lnSpc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es-419" dirty="0">
                <a:latin typeface="+mj-lt"/>
                <a:cs typeface="Comic Sans MS"/>
              </a:rPr>
              <a:t>Pueden participar en la solución del problema.</a:t>
            </a:r>
            <a:endParaRPr dirty="0">
              <a:latin typeface="+mj-lt"/>
              <a:cs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6324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419" dirty="0" err="1"/>
              <a:t>Paticipación</a:t>
            </a:r>
            <a:r>
              <a:rPr lang="es-419" dirty="0"/>
              <a:t> de los </a:t>
            </a:r>
            <a:br>
              <a:rPr lang="es-419" dirty="0"/>
            </a:br>
            <a:r>
              <a:rPr dirty="0" err="1"/>
              <a:t>involucrados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35280" y="2514600"/>
            <a:ext cx="4084320" cy="283154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</a:pPr>
            <a:r>
              <a:rPr lang="es-419" sz="2000" dirty="0">
                <a:latin typeface="+mj-lt"/>
                <a:cs typeface="Comic Sans MS"/>
              </a:rPr>
              <a:t>Con </a:t>
            </a:r>
            <a:r>
              <a:rPr lang="es-419" sz="2000" spc="-5" dirty="0">
                <a:latin typeface="+mj-lt"/>
                <a:cs typeface="Comic Sans MS"/>
              </a:rPr>
              <a:t>base </a:t>
            </a:r>
            <a:r>
              <a:rPr lang="es-419" sz="2000" dirty="0">
                <a:latin typeface="+mj-lt"/>
                <a:cs typeface="Comic Sans MS"/>
              </a:rPr>
              <a:t>en el mapa de involucrados el  equipo </a:t>
            </a:r>
            <a:r>
              <a:rPr lang="es-419" sz="2000" spc="-5" dirty="0">
                <a:latin typeface="+mj-lt"/>
                <a:cs typeface="Comic Sans MS"/>
              </a:rPr>
              <a:t>de proyecto diseña </a:t>
            </a:r>
            <a:r>
              <a:rPr lang="es-419" sz="2000" dirty="0">
                <a:latin typeface="+mj-lt"/>
                <a:cs typeface="Comic Sans MS"/>
              </a:rPr>
              <a:t>y aplica  </a:t>
            </a:r>
            <a:r>
              <a:rPr lang="es-419" sz="2000" dirty="0">
                <a:solidFill>
                  <a:srgbClr val="CC6600"/>
                </a:solidFill>
                <a:latin typeface="+mj-lt"/>
                <a:cs typeface="Comic Sans MS"/>
              </a:rPr>
              <a:t>estrategias participativas </a:t>
            </a:r>
            <a:r>
              <a:rPr lang="es-419" sz="2000" spc="-5" dirty="0">
                <a:latin typeface="+mj-lt"/>
                <a:cs typeface="Comic Sans MS"/>
              </a:rPr>
              <a:t>que  </a:t>
            </a:r>
            <a:r>
              <a:rPr lang="es-419" sz="2000" dirty="0">
                <a:latin typeface="+mj-lt"/>
                <a:cs typeface="Comic Sans MS"/>
              </a:rPr>
              <a:t>propicien la </a:t>
            </a:r>
            <a:r>
              <a:rPr lang="es-419" sz="2000" spc="-5" dirty="0">
                <a:latin typeface="+mj-lt"/>
                <a:cs typeface="Comic Sans MS"/>
              </a:rPr>
              <a:t>intervención </a:t>
            </a:r>
            <a:r>
              <a:rPr lang="es-419" sz="2000" dirty="0">
                <a:latin typeface="+mj-lt"/>
                <a:cs typeface="Comic Sans MS"/>
              </a:rPr>
              <a:t>efectiva </a:t>
            </a:r>
            <a:r>
              <a:rPr lang="es-419" sz="2000" spc="-5" dirty="0">
                <a:latin typeface="+mj-lt"/>
                <a:cs typeface="Comic Sans MS"/>
              </a:rPr>
              <a:t>de  </a:t>
            </a:r>
            <a:r>
              <a:rPr lang="es-419" sz="2000" dirty="0">
                <a:latin typeface="+mj-lt"/>
                <a:cs typeface="Comic Sans MS"/>
              </a:rPr>
              <a:t>los </a:t>
            </a:r>
            <a:r>
              <a:rPr lang="es-419" sz="2000" spc="-5" dirty="0">
                <a:latin typeface="+mj-lt"/>
                <a:cs typeface="Comic Sans MS"/>
              </a:rPr>
              <a:t>involucrados </a:t>
            </a:r>
            <a:r>
              <a:rPr lang="es-419" sz="2000" dirty="0">
                <a:latin typeface="+mj-lt"/>
                <a:cs typeface="Comic Sans MS"/>
              </a:rPr>
              <a:t>en </a:t>
            </a:r>
            <a:r>
              <a:rPr lang="es-419" sz="2000" spc="-5" dirty="0">
                <a:latin typeface="+mj-lt"/>
                <a:cs typeface="Comic Sans MS"/>
              </a:rPr>
              <a:t>los procesos de  identificación, </a:t>
            </a:r>
            <a:r>
              <a:rPr lang="es-419" sz="2000" dirty="0">
                <a:latin typeface="+mj-lt"/>
                <a:cs typeface="Comic Sans MS"/>
              </a:rPr>
              <a:t>propuesta y  compromiso con la</a:t>
            </a:r>
            <a:r>
              <a:rPr lang="es-419" sz="2000" spc="5" dirty="0">
                <a:latin typeface="+mj-lt"/>
                <a:cs typeface="Comic Sans MS"/>
              </a:rPr>
              <a:t> </a:t>
            </a:r>
            <a:r>
              <a:rPr lang="es-419" sz="2000" dirty="0">
                <a:latin typeface="+mj-lt"/>
                <a:cs typeface="Comic Sans MS"/>
              </a:rPr>
              <a:t>solución.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8" b="13338"/>
          <a:stretch/>
        </p:blipFill>
        <p:spPr>
          <a:xfrm>
            <a:off x="5055154" y="2695110"/>
            <a:ext cx="4165045" cy="218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04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200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lang="es-419" sz="2800" dirty="0"/>
              <a:t>Pasos y estrategias para analizar el problema y postular alternativas </a:t>
            </a:r>
          </a:p>
        </p:txBody>
      </p:sp>
      <p:sp>
        <p:nvSpPr>
          <p:cNvPr id="6" name="object 5"/>
          <p:cNvSpPr txBox="1"/>
          <p:nvPr/>
        </p:nvSpPr>
        <p:spPr>
          <a:xfrm>
            <a:off x="762000" y="3657794"/>
            <a:ext cx="516025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+mj-lt"/>
                <a:cs typeface="Times New Roman"/>
              </a:rPr>
              <a:t>Examinar los efectos del</a:t>
            </a:r>
            <a:r>
              <a:rPr b="1" spc="-15" dirty="0">
                <a:latin typeface="+mj-lt"/>
                <a:cs typeface="Times New Roman"/>
              </a:rPr>
              <a:t> </a:t>
            </a:r>
            <a:r>
              <a:rPr b="1" spc="-10" dirty="0">
                <a:latin typeface="+mj-lt"/>
                <a:cs typeface="Times New Roman"/>
              </a:rPr>
              <a:t>problema</a:t>
            </a:r>
            <a:endParaRPr dirty="0">
              <a:latin typeface="+mj-lt"/>
              <a:cs typeface="Times New Roman"/>
            </a:endParaRPr>
          </a:p>
        </p:txBody>
      </p:sp>
      <p:sp>
        <p:nvSpPr>
          <p:cNvPr id="11" name="object 10"/>
          <p:cNvSpPr txBox="1"/>
          <p:nvPr/>
        </p:nvSpPr>
        <p:spPr>
          <a:xfrm>
            <a:off x="762000" y="4361692"/>
            <a:ext cx="516025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5" dirty="0" err="1">
                <a:latin typeface="+mj-lt"/>
                <a:cs typeface="Times New Roman"/>
              </a:rPr>
              <a:t>Identificar</a:t>
            </a:r>
            <a:r>
              <a:rPr b="1" spc="-5" dirty="0">
                <a:latin typeface="+mj-lt"/>
                <a:cs typeface="Times New Roman"/>
              </a:rPr>
              <a:t> las posibles causa del</a:t>
            </a:r>
            <a:r>
              <a:rPr b="1" spc="60" dirty="0">
                <a:latin typeface="+mj-lt"/>
                <a:cs typeface="Times New Roman"/>
              </a:rPr>
              <a:t> </a:t>
            </a:r>
            <a:r>
              <a:rPr b="1" spc="-10" dirty="0">
                <a:latin typeface="+mj-lt"/>
                <a:cs typeface="Times New Roman"/>
              </a:rPr>
              <a:t>problema</a:t>
            </a:r>
            <a:endParaRPr dirty="0">
              <a:latin typeface="+mj-lt"/>
              <a:cs typeface="Times New Roman"/>
            </a:endParaRPr>
          </a:p>
        </p:txBody>
      </p:sp>
      <p:sp>
        <p:nvSpPr>
          <p:cNvPr id="16" name="object 15"/>
          <p:cNvSpPr txBox="1"/>
          <p:nvPr/>
        </p:nvSpPr>
        <p:spPr>
          <a:xfrm>
            <a:off x="762000" y="5117745"/>
            <a:ext cx="516025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0" tIns="1270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419" b="1" spc="-5" dirty="0">
                <a:latin typeface="+mj-lt"/>
                <a:cs typeface="Times New Roman"/>
              </a:rPr>
              <a:t>    </a:t>
            </a:r>
            <a:r>
              <a:rPr b="1" spc="-5" dirty="0" err="1">
                <a:latin typeface="+mj-lt"/>
                <a:cs typeface="Times New Roman"/>
              </a:rPr>
              <a:t>Definir</a:t>
            </a:r>
            <a:r>
              <a:rPr b="1" spc="-5" dirty="0">
                <a:latin typeface="+mj-lt"/>
                <a:cs typeface="Times New Roman"/>
              </a:rPr>
              <a:t> </a:t>
            </a:r>
            <a:r>
              <a:rPr b="1" dirty="0">
                <a:latin typeface="+mj-lt"/>
                <a:cs typeface="Times New Roman"/>
              </a:rPr>
              <a:t>los </a:t>
            </a:r>
            <a:r>
              <a:rPr b="1" spc="-5" dirty="0">
                <a:latin typeface="+mj-lt"/>
                <a:cs typeface="Times New Roman"/>
              </a:rPr>
              <a:t>objetivos para </a:t>
            </a:r>
            <a:r>
              <a:rPr b="1" dirty="0">
                <a:latin typeface="+mj-lt"/>
                <a:cs typeface="Times New Roman"/>
              </a:rPr>
              <a:t>la </a:t>
            </a:r>
            <a:r>
              <a:rPr b="1" spc="-5" dirty="0">
                <a:latin typeface="+mj-lt"/>
                <a:cs typeface="Times New Roman"/>
              </a:rPr>
              <a:t>solución: Medios </a:t>
            </a:r>
            <a:r>
              <a:rPr b="1" dirty="0">
                <a:latin typeface="+mj-lt"/>
                <a:cs typeface="Times New Roman"/>
              </a:rPr>
              <a:t>-</a:t>
            </a:r>
            <a:r>
              <a:rPr b="1" spc="-45" dirty="0">
                <a:latin typeface="+mj-lt"/>
                <a:cs typeface="Times New Roman"/>
              </a:rPr>
              <a:t> </a:t>
            </a:r>
            <a:r>
              <a:rPr b="1" spc="-5" dirty="0">
                <a:latin typeface="+mj-lt"/>
                <a:cs typeface="Times New Roman"/>
              </a:rPr>
              <a:t>Fines</a:t>
            </a:r>
            <a:endParaRPr dirty="0">
              <a:latin typeface="+mj-lt"/>
              <a:cs typeface="Times New Roman"/>
            </a:endParaRPr>
          </a:p>
        </p:txBody>
      </p:sp>
      <p:sp>
        <p:nvSpPr>
          <p:cNvPr id="21" name="object 20"/>
          <p:cNvSpPr txBox="1"/>
          <p:nvPr/>
        </p:nvSpPr>
        <p:spPr>
          <a:xfrm>
            <a:off x="762000" y="5836995"/>
            <a:ext cx="5158589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+mj-lt"/>
                <a:cs typeface="Times New Roman"/>
              </a:rPr>
              <a:t>Generar</a:t>
            </a:r>
            <a:r>
              <a:rPr b="1" spc="-55" dirty="0">
                <a:latin typeface="+mj-lt"/>
                <a:cs typeface="Times New Roman"/>
              </a:rPr>
              <a:t> </a:t>
            </a:r>
            <a:r>
              <a:rPr b="1" spc="-5" dirty="0">
                <a:latin typeface="+mj-lt"/>
                <a:cs typeface="Times New Roman"/>
              </a:rPr>
              <a:t>alternativas</a:t>
            </a:r>
            <a:endParaRPr dirty="0">
              <a:latin typeface="+mj-lt"/>
              <a:cs typeface="Times New Roman"/>
            </a:endParaRPr>
          </a:p>
        </p:txBody>
      </p:sp>
      <p:sp>
        <p:nvSpPr>
          <p:cNvPr id="31" name="object 32"/>
          <p:cNvSpPr txBox="1"/>
          <p:nvPr/>
        </p:nvSpPr>
        <p:spPr>
          <a:xfrm>
            <a:off x="6901815" y="1814796"/>
            <a:ext cx="1480185" cy="5052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+mj-lt"/>
                <a:cs typeface="Times New Roman"/>
              </a:rPr>
              <a:t>Identificación</a:t>
            </a: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chemeClr val="tx1"/>
                </a:solidFill>
                <a:latin typeface="+mj-lt"/>
                <a:cs typeface="Times New Roman"/>
              </a:rPr>
              <a:t>de</a:t>
            </a:r>
            <a:r>
              <a:rPr sz="1600" spc="-85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1600" dirty="0">
                <a:solidFill>
                  <a:schemeClr val="tx1"/>
                </a:solidFill>
                <a:latin typeface="+mj-lt"/>
                <a:cs typeface="Times New Roman"/>
              </a:rPr>
              <a:t>involucrados</a:t>
            </a:r>
          </a:p>
        </p:txBody>
      </p:sp>
      <p:sp>
        <p:nvSpPr>
          <p:cNvPr id="32" name="object 33"/>
          <p:cNvSpPr/>
          <p:nvPr/>
        </p:nvSpPr>
        <p:spPr>
          <a:xfrm>
            <a:off x="7010400" y="2832406"/>
            <a:ext cx="1371600" cy="3568393"/>
          </a:xfrm>
          <a:custGeom>
            <a:avLst/>
            <a:gdLst/>
            <a:ahLst/>
            <a:cxnLst/>
            <a:rect l="l" t="t" r="r" b="b"/>
            <a:pathLst>
              <a:path w="1371600" h="3657600">
                <a:moveTo>
                  <a:pt x="1143000" y="0"/>
                </a:moveTo>
                <a:lnTo>
                  <a:pt x="228600" y="0"/>
                </a:lnTo>
                <a:lnTo>
                  <a:pt x="182533" y="4644"/>
                </a:lnTo>
                <a:lnTo>
                  <a:pt x="139624" y="17966"/>
                </a:lnTo>
                <a:lnTo>
                  <a:pt x="100793" y="39045"/>
                </a:lnTo>
                <a:lnTo>
                  <a:pt x="66960" y="66960"/>
                </a:lnTo>
                <a:lnTo>
                  <a:pt x="39045" y="100793"/>
                </a:lnTo>
                <a:lnTo>
                  <a:pt x="17966" y="139624"/>
                </a:lnTo>
                <a:lnTo>
                  <a:pt x="4644" y="182533"/>
                </a:lnTo>
                <a:lnTo>
                  <a:pt x="0" y="228600"/>
                </a:lnTo>
                <a:lnTo>
                  <a:pt x="0" y="3429000"/>
                </a:lnTo>
                <a:lnTo>
                  <a:pt x="4644" y="3475070"/>
                </a:lnTo>
                <a:lnTo>
                  <a:pt x="17966" y="3517980"/>
                </a:lnTo>
                <a:lnTo>
                  <a:pt x="39045" y="3556811"/>
                </a:lnTo>
                <a:lnTo>
                  <a:pt x="66960" y="3590644"/>
                </a:lnTo>
                <a:lnTo>
                  <a:pt x="100793" y="3618558"/>
                </a:lnTo>
                <a:lnTo>
                  <a:pt x="139624" y="3639635"/>
                </a:lnTo>
                <a:lnTo>
                  <a:pt x="182533" y="3652955"/>
                </a:lnTo>
                <a:lnTo>
                  <a:pt x="228600" y="3657600"/>
                </a:lnTo>
                <a:lnTo>
                  <a:pt x="1143000" y="3657600"/>
                </a:lnTo>
                <a:lnTo>
                  <a:pt x="1189066" y="3652955"/>
                </a:lnTo>
                <a:lnTo>
                  <a:pt x="1231975" y="3639635"/>
                </a:lnTo>
                <a:lnTo>
                  <a:pt x="1270806" y="3618558"/>
                </a:lnTo>
                <a:lnTo>
                  <a:pt x="1304639" y="3590644"/>
                </a:lnTo>
                <a:lnTo>
                  <a:pt x="1332554" y="3556811"/>
                </a:lnTo>
                <a:lnTo>
                  <a:pt x="1353633" y="3517980"/>
                </a:lnTo>
                <a:lnTo>
                  <a:pt x="1366955" y="3475070"/>
                </a:lnTo>
                <a:lnTo>
                  <a:pt x="1371600" y="3429000"/>
                </a:lnTo>
                <a:lnTo>
                  <a:pt x="1371600" y="228600"/>
                </a:lnTo>
                <a:lnTo>
                  <a:pt x="1366955" y="182533"/>
                </a:lnTo>
                <a:lnTo>
                  <a:pt x="1353633" y="139624"/>
                </a:lnTo>
                <a:lnTo>
                  <a:pt x="1332554" y="100793"/>
                </a:lnTo>
                <a:lnTo>
                  <a:pt x="1304639" y="66960"/>
                </a:lnTo>
                <a:lnTo>
                  <a:pt x="1270806" y="39045"/>
                </a:lnTo>
                <a:lnTo>
                  <a:pt x="1231975" y="17966"/>
                </a:lnTo>
                <a:lnTo>
                  <a:pt x="1189066" y="4644"/>
                </a:lnTo>
                <a:lnTo>
                  <a:pt x="1143000" y="0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600">
              <a:latin typeface="+mj-lt"/>
            </a:endParaRPr>
          </a:p>
        </p:txBody>
      </p:sp>
      <p:sp>
        <p:nvSpPr>
          <p:cNvPr id="33" name="object 34"/>
          <p:cNvSpPr/>
          <p:nvPr/>
        </p:nvSpPr>
        <p:spPr>
          <a:xfrm>
            <a:off x="7010400" y="2743200"/>
            <a:ext cx="1371600" cy="3657600"/>
          </a:xfrm>
          <a:custGeom>
            <a:avLst/>
            <a:gdLst/>
            <a:ahLst/>
            <a:cxnLst/>
            <a:rect l="l" t="t" r="r" b="b"/>
            <a:pathLst>
              <a:path w="1371600" h="36576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1143000" y="0"/>
                </a:lnTo>
                <a:lnTo>
                  <a:pt x="1189066" y="4644"/>
                </a:lnTo>
                <a:lnTo>
                  <a:pt x="1231975" y="17966"/>
                </a:lnTo>
                <a:lnTo>
                  <a:pt x="1270806" y="39045"/>
                </a:lnTo>
                <a:lnTo>
                  <a:pt x="1304639" y="66960"/>
                </a:lnTo>
                <a:lnTo>
                  <a:pt x="1332554" y="100793"/>
                </a:lnTo>
                <a:lnTo>
                  <a:pt x="1353633" y="139624"/>
                </a:lnTo>
                <a:lnTo>
                  <a:pt x="1366955" y="182533"/>
                </a:lnTo>
                <a:lnTo>
                  <a:pt x="1371600" y="228600"/>
                </a:lnTo>
                <a:lnTo>
                  <a:pt x="1371600" y="3429000"/>
                </a:lnTo>
                <a:lnTo>
                  <a:pt x="1366955" y="3475070"/>
                </a:lnTo>
                <a:lnTo>
                  <a:pt x="1353633" y="3517980"/>
                </a:lnTo>
                <a:lnTo>
                  <a:pt x="1332554" y="3556811"/>
                </a:lnTo>
                <a:lnTo>
                  <a:pt x="1304639" y="3590644"/>
                </a:lnTo>
                <a:lnTo>
                  <a:pt x="1270806" y="3618558"/>
                </a:lnTo>
                <a:lnTo>
                  <a:pt x="1231975" y="3639635"/>
                </a:lnTo>
                <a:lnTo>
                  <a:pt x="1189066" y="3652955"/>
                </a:lnTo>
                <a:lnTo>
                  <a:pt x="1143000" y="3657600"/>
                </a:lnTo>
                <a:lnTo>
                  <a:pt x="228600" y="3657600"/>
                </a:lnTo>
                <a:lnTo>
                  <a:pt x="182533" y="3652955"/>
                </a:lnTo>
                <a:lnTo>
                  <a:pt x="139624" y="3639635"/>
                </a:lnTo>
                <a:lnTo>
                  <a:pt x="100793" y="3618558"/>
                </a:lnTo>
                <a:lnTo>
                  <a:pt x="66960" y="3590644"/>
                </a:lnTo>
                <a:lnTo>
                  <a:pt x="39045" y="3556811"/>
                </a:lnTo>
                <a:lnTo>
                  <a:pt x="17966" y="3517980"/>
                </a:lnTo>
                <a:lnTo>
                  <a:pt x="4644" y="3475070"/>
                </a:lnTo>
                <a:lnTo>
                  <a:pt x="0" y="3429000"/>
                </a:lnTo>
                <a:lnTo>
                  <a:pt x="0" y="228600"/>
                </a:lnTo>
                <a:close/>
              </a:path>
            </a:pathLst>
          </a:custGeom>
          <a:ln w="9525">
            <a:noFill/>
          </a:ln>
        </p:spPr>
        <p:txBody>
          <a:bodyPr wrap="square" lIns="0" tIns="0" rIns="0" bIns="0" rtlCol="0"/>
          <a:lstStyle/>
          <a:p>
            <a:endParaRPr sz="1600">
              <a:latin typeface="+mj-lt"/>
            </a:endParaRPr>
          </a:p>
        </p:txBody>
      </p:sp>
      <p:sp>
        <p:nvSpPr>
          <p:cNvPr id="34" name="object 35"/>
          <p:cNvSpPr txBox="1"/>
          <p:nvPr/>
        </p:nvSpPr>
        <p:spPr>
          <a:xfrm>
            <a:off x="7079868" y="3958208"/>
            <a:ext cx="123444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+mj-lt"/>
                <a:cs typeface="Times New Roman"/>
              </a:rPr>
              <a:t>Part</a:t>
            </a:r>
            <a:r>
              <a:rPr sz="1600" spc="5" dirty="0">
                <a:latin typeface="+mj-lt"/>
                <a:cs typeface="Times New Roman"/>
              </a:rPr>
              <a:t>i</a:t>
            </a:r>
            <a:r>
              <a:rPr sz="1600" spc="-5" dirty="0">
                <a:latin typeface="+mj-lt"/>
                <a:cs typeface="Times New Roman"/>
              </a:rPr>
              <a:t>c</a:t>
            </a:r>
            <a:r>
              <a:rPr sz="1600" spc="5" dirty="0">
                <a:latin typeface="+mj-lt"/>
                <a:cs typeface="Times New Roman"/>
              </a:rPr>
              <a:t>i</a:t>
            </a:r>
            <a:r>
              <a:rPr sz="1600" spc="-5" dirty="0">
                <a:latin typeface="+mj-lt"/>
                <a:cs typeface="Times New Roman"/>
              </a:rPr>
              <a:t>pa</a:t>
            </a:r>
            <a:r>
              <a:rPr sz="1600" dirty="0">
                <a:latin typeface="+mj-lt"/>
                <a:cs typeface="Times New Roman"/>
              </a:rPr>
              <a:t>c</a:t>
            </a:r>
            <a:r>
              <a:rPr sz="1600" spc="-5" dirty="0">
                <a:latin typeface="+mj-lt"/>
                <a:cs typeface="Times New Roman"/>
              </a:rPr>
              <a:t>ión  de       </a:t>
            </a:r>
            <a:r>
              <a:rPr sz="1600" dirty="0">
                <a:latin typeface="+mj-lt"/>
                <a:cs typeface="Times New Roman"/>
              </a:rPr>
              <a:t>involucr</a:t>
            </a:r>
            <a:r>
              <a:rPr sz="1600" spc="5" dirty="0">
                <a:latin typeface="+mj-lt"/>
                <a:cs typeface="Times New Roman"/>
              </a:rPr>
              <a:t>a</a:t>
            </a:r>
            <a:r>
              <a:rPr sz="1600" dirty="0">
                <a:latin typeface="+mj-lt"/>
                <a:cs typeface="Times New Roman"/>
              </a:rPr>
              <a:t>dos</a:t>
            </a:r>
            <a:endParaRPr sz="1600">
              <a:latin typeface="+mj-lt"/>
              <a:cs typeface="Times New Roman"/>
            </a:endParaRPr>
          </a:p>
        </p:txBody>
      </p:sp>
      <p:sp>
        <p:nvSpPr>
          <p:cNvPr id="47" name="object 48"/>
          <p:cNvSpPr txBox="1"/>
          <p:nvPr/>
        </p:nvSpPr>
        <p:spPr>
          <a:xfrm>
            <a:off x="1492097" y="1752600"/>
            <a:ext cx="3511703" cy="56746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+mj-lt"/>
                <a:cs typeface="Times New Roman"/>
              </a:rPr>
              <a:t>Señal sobre la</a:t>
            </a:r>
            <a:r>
              <a:rPr b="1" spc="-114" dirty="0">
                <a:latin typeface="+mj-lt"/>
                <a:cs typeface="Times New Roman"/>
              </a:rPr>
              <a:t> </a:t>
            </a:r>
            <a:r>
              <a:rPr b="1" dirty="0">
                <a:latin typeface="+mj-lt"/>
                <a:cs typeface="Times New Roman"/>
              </a:rPr>
              <a:t>existencia</a:t>
            </a:r>
          </a:p>
          <a:p>
            <a:pPr marL="1270" algn="ctr">
              <a:lnSpc>
                <a:spcPct val="100000"/>
              </a:lnSpc>
            </a:pPr>
            <a:r>
              <a:rPr b="1" dirty="0">
                <a:latin typeface="+mj-lt"/>
                <a:cs typeface="Times New Roman"/>
              </a:rPr>
              <a:t>del</a:t>
            </a:r>
            <a:r>
              <a:rPr b="1" spc="310" dirty="0">
                <a:latin typeface="+mj-lt"/>
                <a:cs typeface="Times New Roman"/>
              </a:rPr>
              <a:t> </a:t>
            </a:r>
            <a:r>
              <a:rPr b="1" spc="-5" dirty="0">
                <a:latin typeface="+mj-lt"/>
                <a:cs typeface="Times New Roman"/>
              </a:rPr>
              <a:t>problema</a:t>
            </a:r>
            <a:endParaRPr b="1" dirty="0">
              <a:latin typeface="+mj-lt"/>
              <a:cs typeface="Times New Roman"/>
            </a:endParaRPr>
          </a:p>
        </p:txBody>
      </p:sp>
      <p:sp>
        <p:nvSpPr>
          <p:cNvPr id="50" name="object 51"/>
          <p:cNvSpPr txBox="1"/>
          <p:nvPr/>
        </p:nvSpPr>
        <p:spPr>
          <a:xfrm>
            <a:off x="762000" y="2971800"/>
            <a:ext cx="516025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0" tIns="1333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+mj-lt"/>
                <a:cs typeface="Times New Roman"/>
              </a:rPr>
              <a:t>Identificar el</a:t>
            </a:r>
            <a:r>
              <a:rPr b="1" spc="-140" dirty="0">
                <a:latin typeface="+mj-lt"/>
                <a:cs typeface="Times New Roman"/>
              </a:rPr>
              <a:t> </a:t>
            </a:r>
            <a:r>
              <a:rPr b="1" spc="-5" dirty="0">
                <a:latin typeface="+mj-lt"/>
                <a:cs typeface="Times New Roman"/>
              </a:rPr>
              <a:t>problema</a:t>
            </a:r>
            <a:endParaRPr dirty="0">
              <a:latin typeface="+mj-lt"/>
              <a:cs typeface="Times New Roman"/>
            </a:endParaRPr>
          </a:p>
        </p:txBody>
      </p:sp>
      <p:sp>
        <p:nvSpPr>
          <p:cNvPr id="56" name="Elipse 55"/>
          <p:cNvSpPr/>
          <p:nvPr/>
        </p:nvSpPr>
        <p:spPr>
          <a:xfrm>
            <a:off x="457200" y="2950843"/>
            <a:ext cx="533400" cy="58191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Elipse 56"/>
          <p:cNvSpPr/>
          <p:nvPr/>
        </p:nvSpPr>
        <p:spPr>
          <a:xfrm>
            <a:off x="457200" y="3636837"/>
            <a:ext cx="533400" cy="58191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8" name="Elipse 57"/>
          <p:cNvSpPr/>
          <p:nvPr/>
        </p:nvSpPr>
        <p:spPr>
          <a:xfrm>
            <a:off x="457200" y="4356087"/>
            <a:ext cx="533400" cy="58191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9" name="Elipse 58"/>
          <p:cNvSpPr/>
          <p:nvPr/>
        </p:nvSpPr>
        <p:spPr>
          <a:xfrm>
            <a:off x="457200" y="5096788"/>
            <a:ext cx="533400" cy="58191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0" name="Elipse 59"/>
          <p:cNvSpPr/>
          <p:nvPr/>
        </p:nvSpPr>
        <p:spPr>
          <a:xfrm>
            <a:off x="457200" y="5816038"/>
            <a:ext cx="533400" cy="58191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1" name="Flecha izquierda y derecha 60"/>
          <p:cNvSpPr/>
          <p:nvPr/>
        </p:nvSpPr>
        <p:spPr>
          <a:xfrm>
            <a:off x="6138403" y="3036948"/>
            <a:ext cx="632611" cy="372824"/>
          </a:xfrm>
          <a:prstGeom prst="left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2" name="Flecha izquierda y derecha 61"/>
          <p:cNvSpPr/>
          <p:nvPr/>
        </p:nvSpPr>
        <p:spPr>
          <a:xfrm>
            <a:off x="6149189" y="3741976"/>
            <a:ext cx="632611" cy="372824"/>
          </a:xfrm>
          <a:prstGeom prst="left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3" name="Flecha izquierda y derecha 62"/>
          <p:cNvSpPr/>
          <p:nvPr/>
        </p:nvSpPr>
        <p:spPr>
          <a:xfrm>
            <a:off x="6172200" y="4503976"/>
            <a:ext cx="632611" cy="372824"/>
          </a:xfrm>
          <a:prstGeom prst="left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4" name="Flecha izquierda y derecha 63"/>
          <p:cNvSpPr/>
          <p:nvPr/>
        </p:nvSpPr>
        <p:spPr>
          <a:xfrm>
            <a:off x="6172200" y="5189776"/>
            <a:ext cx="632611" cy="372824"/>
          </a:xfrm>
          <a:prstGeom prst="left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5" name="Flecha izquierda y derecha 64"/>
          <p:cNvSpPr/>
          <p:nvPr/>
        </p:nvSpPr>
        <p:spPr>
          <a:xfrm>
            <a:off x="6172200" y="5867400"/>
            <a:ext cx="632611" cy="372824"/>
          </a:xfrm>
          <a:prstGeom prst="left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6" name="Flecha izquierda y derecha 65"/>
          <p:cNvSpPr/>
          <p:nvPr/>
        </p:nvSpPr>
        <p:spPr>
          <a:xfrm>
            <a:off x="5194633" y="1855915"/>
            <a:ext cx="1493822" cy="399662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7" name="Flecha abajo 66"/>
          <p:cNvSpPr/>
          <p:nvPr/>
        </p:nvSpPr>
        <p:spPr>
          <a:xfrm>
            <a:off x="3124200" y="2438400"/>
            <a:ext cx="533400" cy="394006"/>
          </a:xfrm>
          <a:prstGeom prst="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8" name="Flecha abajo 67"/>
          <p:cNvSpPr/>
          <p:nvPr/>
        </p:nvSpPr>
        <p:spPr>
          <a:xfrm>
            <a:off x="7429500" y="2393797"/>
            <a:ext cx="533400" cy="394006"/>
          </a:xfrm>
          <a:prstGeom prst="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8919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dirty="0"/>
              <a:t>TÉCNCA DE ÁRBOLES</a:t>
            </a:r>
          </a:p>
        </p:txBody>
      </p:sp>
      <p:sp>
        <p:nvSpPr>
          <p:cNvPr id="5" name="object 4"/>
          <p:cNvSpPr txBox="1"/>
          <p:nvPr/>
        </p:nvSpPr>
        <p:spPr>
          <a:xfrm>
            <a:off x="1562099" y="2046203"/>
            <a:ext cx="5334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s-419" b="1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APLICACIÓN DEL MÉTODO  PARA PROBLEMAS NO DEFINIDOS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738886" y="1930400"/>
            <a:ext cx="762000" cy="762000"/>
            <a:chOff x="2438400" y="2747264"/>
            <a:chExt cx="762000" cy="762000"/>
          </a:xfrm>
        </p:grpSpPr>
        <p:sp>
          <p:nvSpPr>
            <p:cNvPr id="7" name="object 5"/>
            <p:cNvSpPr/>
            <p:nvPr/>
          </p:nvSpPr>
          <p:spPr>
            <a:xfrm>
              <a:off x="2438400" y="2747264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2000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/>
            <p:cNvSpPr/>
            <p:nvPr/>
          </p:nvSpPr>
          <p:spPr>
            <a:xfrm>
              <a:off x="2438400" y="2747264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/>
            <p:cNvSpPr txBox="1"/>
            <p:nvPr/>
          </p:nvSpPr>
          <p:spPr>
            <a:xfrm>
              <a:off x="2693289" y="2860294"/>
              <a:ext cx="252095" cy="51371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s-419" sz="3200" b="1" dirty="0">
                  <a:latin typeface="Arial"/>
                  <a:cs typeface="Arial"/>
                </a:rPr>
                <a:t>2</a:t>
              </a:r>
              <a:endParaRPr sz="3200" dirty="0">
                <a:latin typeface="Arial"/>
                <a:cs typeface="Arial"/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52" y="3072954"/>
            <a:ext cx="5067048" cy="380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89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5800"/>
            <a:ext cx="3826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3600" spc="-5" dirty="0"/>
              <a:t>Pasos: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838200" y="1779215"/>
            <a:ext cx="6626860" cy="245003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3535">
              <a:lnSpc>
                <a:spcPts val="3240"/>
              </a:lnSpc>
              <a:spcBef>
                <a:spcPts val="505"/>
              </a:spcBef>
              <a:buClr>
                <a:srgbClr val="333399"/>
              </a:buClr>
              <a:buFont typeface="Comic Sans MS"/>
              <a:buAutoNum type="arabicPeriod"/>
              <a:tabLst>
                <a:tab pos="393065" algn="l"/>
              </a:tabLst>
            </a:pP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	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Identificar problemas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posibles y  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enlazarlos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por </a:t>
            </a:r>
            <a:r>
              <a:rPr sz="2000" spc="-1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criterio 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de</a:t>
            </a:r>
            <a:r>
              <a:rPr sz="2000" spc="-2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causa-efecto</a:t>
            </a:r>
          </a:p>
          <a:p>
            <a:pPr marL="453390" indent="-44132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54025" algn="l"/>
              </a:tabLst>
            </a:pP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Determinar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el 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problema</a:t>
            </a:r>
            <a:r>
              <a:rPr sz="2000" spc="-2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 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central</a:t>
            </a:r>
            <a:endParaRPr sz="2000" dirty="0">
              <a:solidFill>
                <a:schemeClr val="bg2">
                  <a:lumMod val="25000"/>
                </a:schemeClr>
              </a:solidFill>
              <a:latin typeface="+mj-lt"/>
              <a:cs typeface="Comic Sans MS"/>
            </a:endParaRPr>
          </a:p>
          <a:p>
            <a:pPr marL="453390" indent="-441325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454025" algn="l"/>
              </a:tabLst>
            </a:pP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Ajustar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el 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Arbol del</a:t>
            </a:r>
            <a:r>
              <a:rPr sz="2000" spc="-1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 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Problema</a:t>
            </a:r>
            <a:endParaRPr sz="2000" dirty="0">
              <a:solidFill>
                <a:schemeClr val="bg2">
                  <a:lumMod val="25000"/>
                </a:schemeClr>
              </a:solidFill>
              <a:latin typeface="+mj-lt"/>
              <a:cs typeface="Comic Sans MS"/>
            </a:endParaRPr>
          </a:p>
          <a:p>
            <a:pPr marL="355600" marR="436245" indent="-343535">
              <a:lnSpc>
                <a:spcPts val="3240"/>
              </a:lnSpc>
              <a:spcBef>
                <a:spcPts val="770"/>
              </a:spcBef>
              <a:buAutoNum type="arabicPeriod"/>
              <a:tabLst>
                <a:tab pos="454025" algn="l"/>
              </a:tabLst>
            </a:pP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Definir objetivos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y ajustar 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Arbol de  medios-fines</a:t>
            </a:r>
            <a:endParaRPr sz="2000" dirty="0">
              <a:solidFill>
                <a:schemeClr val="bg2">
                  <a:lumMod val="25000"/>
                </a:schemeClr>
              </a:solidFill>
              <a:latin typeface="+mj-lt"/>
              <a:cs typeface="Comic Sans MS"/>
            </a:endParaRPr>
          </a:p>
          <a:p>
            <a:pPr marL="453390" indent="-44132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54025" algn="l"/>
              </a:tabLst>
            </a:pP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Generar alternativas 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de</a:t>
            </a:r>
            <a:r>
              <a:rPr sz="2000" spc="-3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 </a:t>
            </a:r>
            <a:r>
              <a:rPr sz="2000" spc="-1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solución.</a:t>
            </a:r>
            <a:endParaRPr sz="2000" dirty="0">
              <a:solidFill>
                <a:schemeClr val="bg2">
                  <a:lumMod val="25000"/>
                </a:schemeClr>
              </a:solidFill>
              <a:latin typeface="+mj-lt"/>
              <a:cs typeface="Comic Sans MS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0" t="27210" r="4589" b="28087"/>
          <a:stretch/>
        </p:blipFill>
        <p:spPr>
          <a:xfrm>
            <a:off x="381000" y="4771480"/>
            <a:ext cx="7543800" cy="208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52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5800"/>
            <a:ext cx="382651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4800" spc="-5" dirty="0"/>
              <a:t>Paso 1:</a:t>
            </a:r>
            <a:endParaRPr sz="4800" dirty="0"/>
          </a:p>
        </p:txBody>
      </p:sp>
      <p:sp>
        <p:nvSpPr>
          <p:cNvPr id="4" name="object 4"/>
          <p:cNvSpPr txBox="1"/>
          <p:nvPr/>
        </p:nvSpPr>
        <p:spPr>
          <a:xfrm>
            <a:off x="3200400" y="2575882"/>
            <a:ext cx="3810000" cy="1706236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065" marR="5080" algn="ctr">
              <a:lnSpc>
                <a:spcPts val="3240"/>
              </a:lnSpc>
              <a:spcBef>
                <a:spcPts val="505"/>
              </a:spcBef>
              <a:buClr>
                <a:srgbClr val="333399"/>
              </a:buClr>
              <a:tabLst>
                <a:tab pos="393065" algn="l"/>
              </a:tabLst>
            </a:pPr>
            <a:r>
              <a:rPr sz="2800" spc="-5" dirty="0" err="1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Identificar</a:t>
            </a:r>
            <a:r>
              <a:rPr sz="28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 problemas </a:t>
            </a:r>
            <a:r>
              <a:rPr sz="280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posibles y  </a:t>
            </a:r>
            <a:r>
              <a:rPr sz="28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enlazarlos </a:t>
            </a:r>
            <a:r>
              <a:rPr sz="280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por </a:t>
            </a:r>
            <a:r>
              <a:rPr sz="2800" spc="-1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criterio </a:t>
            </a:r>
            <a:r>
              <a:rPr sz="28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de</a:t>
            </a:r>
            <a:r>
              <a:rPr sz="2800" spc="-2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 </a:t>
            </a:r>
            <a:r>
              <a:rPr sz="2800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causa-</a:t>
            </a:r>
            <a:r>
              <a:rPr sz="2800" dirty="0" err="1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efecto</a:t>
            </a:r>
            <a:endParaRPr sz="2800" dirty="0">
              <a:solidFill>
                <a:schemeClr val="bg2">
                  <a:lumMod val="25000"/>
                </a:schemeClr>
              </a:solidFill>
              <a:latin typeface="+mj-lt"/>
              <a:cs typeface="Comic Sans MS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" t="32217" r="74807" b="33572"/>
          <a:stretch/>
        </p:blipFill>
        <p:spPr>
          <a:xfrm>
            <a:off x="13010" y="2133600"/>
            <a:ext cx="265399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46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093" y="381000"/>
            <a:ext cx="6477000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Problema no </a:t>
            </a:r>
            <a:r>
              <a:rPr dirty="0" err="1"/>
              <a:t>definido</a:t>
            </a:r>
            <a:r>
              <a:rPr spc="-65" dirty="0"/>
              <a:t> </a:t>
            </a:r>
            <a:br>
              <a:rPr lang="es-419" spc="-65" dirty="0"/>
            </a:br>
            <a:r>
              <a:rPr spc="-5" dirty="0"/>
              <a:t>(difuso)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46853" y="1828800"/>
            <a:ext cx="5010947" cy="4471737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2000" spc="-5" dirty="0">
                <a:latin typeface="+mj-lt"/>
                <a:cs typeface="Comic Sans MS"/>
              </a:rPr>
              <a:t>Un problema no está</a:t>
            </a:r>
            <a:r>
              <a:rPr sz="2000" spc="30" dirty="0">
                <a:latin typeface="+mj-lt"/>
                <a:cs typeface="Comic Sans MS"/>
              </a:rPr>
              <a:t> </a:t>
            </a:r>
            <a:r>
              <a:rPr sz="2000" spc="-10" dirty="0" err="1">
                <a:latin typeface="+mj-lt"/>
                <a:cs typeface="Comic Sans MS"/>
              </a:rPr>
              <a:t>definido</a:t>
            </a:r>
            <a:r>
              <a:rPr sz="2000" spc="-10" dirty="0">
                <a:latin typeface="+mj-lt"/>
                <a:cs typeface="Comic Sans MS"/>
              </a:rPr>
              <a:t>:</a:t>
            </a:r>
            <a:endParaRPr lang="es-419" sz="2000" spc="-10" dirty="0">
              <a:latin typeface="+mj-lt"/>
              <a:cs typeface="Comic Sans MS"/>
            </a:endParaRPr>
          </a:p>
          <a:p>
            <a:pPr marL="12700" algn="just">
              <a:lnSpc>
                <a:spcPct val="100000"/>
              </a:lnSpc>
              <a:spcBef>
                <a:spcPts val="770"/>
              </a:spcBef>
            </a:pPr>
            <a:endParaRPr sz="2000" dirty="0">
              <a:latin typeface="+mj-lt"/>
              <a:cs typeface="Comic Sans MS"/>
            </a:endParaRPr>
          </a:p>
          <a:p>
            <a:pPr marL="355600" marR="185420" indent="-343535" algn="just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+mj-lt"/>
                <a:cs typeface="Comic Sans MS"/>
              </a:rPr>
              <a:t>Cuando un conjunto de </a:t>
            </a:r>
            <a:r>
              <a:rPr sz="2000" spc="-10" dirty="0">
                <a:latin typeface="+mj-lt"/>
                <a:cs typeface="Comic Sans MS"/>
              </a:rPr>
              <a:t>involucrados </a:t>
            </a:r>
            <a:r>
              <a:rPr sz="2000" spc="-5" dirty="0">
                <a:latin typeface="+mj-lt"/>
                <a:cs typeface="Comic Sans MS"/>
              </a:rPr>
              <a:t>puede  tener apreciaciones </a:t>
            </a:r>
            <a:r>
              <a:rPr sz="2000" spc="-10" dirty="0">
                <a:latin typeface="+mj-lt"/>
                <a:cs typeface="Comic Sans MS"/>
              </a:rPr>
              <a:t>distintas </a:t>
            </a:r>
            <a:r>
              <a:rPr sz="2000" spc="-5" dirty="0">
                <a:latin typeface="+mj-lt"/>
                <a:cs typeface="Comic Sans MS"/>
              </a:rPr>
              <a:t>sobre la  </a:t>
            </a:r>
            <a:r>
              <a:rPr sz="2000" spc="-10" dirty="0">
                <a:latin typeface="+mj-lt"/>
                <a:cs typeface="Comic Sans MS"/>
              </a:rPr>
              <a:t>naturaleza </a:t>
            </a:r>
            <a:r>
              <a:rPr sz="2000" spc="-5" dirty="0">
                <a:latin typeface="+mj-lt"/>
                <a:cs typeface="Comic Sans MS"/>
              </a:rPr>
              <a:t>o la magnitud el problema  sentido.</a:t>
            </a:r>
            <a:endParaRPr sz="2000" dirty="0">
              <a:latin typeface="+mj-lt"/>
              <a:cs typeface="Comic Sans MS"/>
            </a:endParaRPr>
          </a:p>
          <a:p>
            <a:pPr marL="355600" marR="456565" indent="-343535" algn="just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+mj-lt"/>
                <a:cs typeface="Comic Sans MS"/>
              </a:rPr>
              <a:t>Cuando </a:t>
            </a:r>
            <a:r>
              <a:rPr sz="2000" spc="-5" dirty="0">
                <a:latin typeface="+mj-lt"/>
                <a:cs typeface="Comic Sans MS"/>
              </a:rPr>
              <a:t>se </a:t>
            </a:r>
            <a:r>
              <a:rPr sz="2000" spc="-10" dirty="0">
                <a:latin typeface="+mj-lt"/>
                <a:cs typeface="Comic Sans MS"/>
              </a:rPr>
              <a:t>tiene identificado </a:t>
            </a:r>
            <a:r>
              <a:rPr sz="2000" spc="-5" dirty="0">
                <a:latin typeface="+mj-lt"/>
                <a:cs typeface="Comic Sans MS"/>
              </a:rPr>
              <a:t>un menú </a:t>
            </a:r>
            <a:r>
              <a:rPr sz="2000" spc="-10" dirty="0">
                <a:latin typeface="+mj-lt"/>
                <a:cs typeface="Comic Sans MS"/>
              </a:rPr>
              <a:t>de  </a:t>
            </a:r>
            <a:r>
              <a:rPr sz="2000" spc="-5" dirty="0">
                <a:latin typeface="+mj-lt"/>
                <a:cs typeface="Comic Sans MS"/>
              </a:rPr>
              <a:t>problemas en torno a </a:t>
            </a:r>
            <a:r>
              <a:rPr sz="2000" spc="-10" dirty="0">
                <a:latin typeface="+mj-lt"/>
                <a:cs typeface="Comic Sans MS"/>
              </a:rPr>
              <a:t>una </a:t>
            </a:r>
            <a:r>
              <a:rPr sz="2000" spc="-5" dirty="0">
                <a:latin typeface="+mj-lt"/>
                <a:cs typeface="Comic Sans MS"/>
              </a:rPr>
              <a:t>situación  compartida pero no</a:t>
            </a:r>
            <a:r>
              <a:rPr sz="2000" spc="40" dirty="0">
                <a:latin typeface="+mj-lt"/>
                <a:cs typeface="Comic Sans MS"/>
              </a:rPr>
              <a:t> </a:t>
            </a:r>
            <a:r>
              <a:rPr sz="2000" spc="-10" dirty="0">
                <a:latin typeface="+mj-lt"/>
                <a:cs typeface="Comic Sans MS"/>
              </a:rPr>
              <a:t>delimitada.</a:t>
            </a:r>
            <a:endParaRPr sz="2000" dirty="0">
              <a:latin typeface="+mj-lt"/>
              <a:cs typeface="Comic Sans MS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+mj-lt"/>
                <a:cs typeface="Comic Sans MS"/>
              </a:rPr>
              <a:t>Cuando </a:t>
            </a:r>
            <a:r>
              <a:rPr sz="2000" spc="-5" dirty="0">
                <a:latin typeface="+mj-lt"/>
                <a:cs typeface="Comic Sans MS"/>
              </a:rPr>
              <a:t>se </a:t>
            </a:r>
            <a:r>
              <a:rPr sz="2000" spc="-10" dirty="0">
                <a:latin typeface="+mj-lt"/>
                <a:cs typeface="Comic Sans MS"/>
              </a:rPr>
              <a:t>tiene </a:t>
            </a:r>
            <a:r>
              <a:rPr sz="2000" spc="-5" dirty="0">
                <a:latin typeface="+mj-lt"/>
                <a:cs typeface="Comic Sans MS"/>
              </a:rPr>
              <a:t>un “sentimiento” </a:t>
            </a:r>
            <a:r>
              <a:rPr sz="2000" spc="-10" dirty="0">
                <a:latin typeface="+mj-lt"/>
                <a:cs typeface="Comic Sans MS"/>
              </a:rPr>
              <a:t>de  </a:t>
            </a:r>
            <a:r>
              <a:rPr sz="2000" spc="-5" dirty="0">
                <a:latin typeface="+mj-lt"/>
                <a:cs typeface="Comic Sans MS"/>
              </a:rPr>
              <a:t>efectos inconvenientes o </a:t>
            </a:r>
            <a:r>
              <a:rPr sz="2000" spc="-10" dirty="0">
                <a:latin typeface="+mj-lt"/>
                <a:cs typeface="Comic Sans MS"/>
              </a:rPr>
              <a:t>negativos </a:t>
            </a:r>
            <a:r>
              <a:rPr sz="2000" spc="-5" dirty="0">
                <a:latin typeface="+mj-lt"/>
                <a:cs typeface="Comic Sans MS"/>
              </a:rPr>
              <a:t>pero </a:t>
            </a:r>
            <a:r>
              <a:rPr sz="2000" spc="-10" dirty="0">
                <a:latin typeface="+mj-lt"/>
                <a:cs typeface="Comic Sans MS"/>
              </a:rPr>
              <a:t>no  </a:t>
            </a:r>
            <a:r>
              <a:rPr sz="2000" spc="-5" dirty="0">
                <a:latin typeface="+mj-lt"/>
                <a:cs typeface="Comic Sans MS"/>
              </a:rPr>
              <a:t>se </a:t>
            </a:r>
            <a:r>
              <a:rPr sz="2000" spc="-10" dirty="0">
                <a:latin typeface="+mj-lt"/>
                <a:cs typeface="Comic Sans MS"/>
              </a:rPr>
              <a:t>sabe </a:t>
            </a:r>
            <a:r>
              <a:rPr sz="2000" spc="-5" dirty="0">
                <a:latin typeface="+mj-lt"/>
                <a:cs typeface="Comic Sans MS"/>
              </a:rPr>
              <a:t>con claridad de </a:t>
            </a:r>
            <a:r>
              <a:rPr sz="2000" spc="-10" dirty="0">
                <a:latin typeface="+mj-lt"/>
                <a:cs typeface="Comic Sans MS"/>
              </a:rPr>
              <a:t>qué se</a:t>
            </a:r>
            <a:r>
              <a:rPr sz="2000" spc="95" dirty="0">
                <a:latin typeface="+mj-lt"/>
                <a:cs typeface="Comic Sans MS"/>
              </a:rPr>
              <a:t> </a:t>
            </a:r>
            <a:r>
              <a:rPr sz="2000" spc="-10" dirty="0">
                <a:latin typeface="+mj-lt"/>
                <a:cs typeface="Comic Sans MS"/>
              </a:rPr>
              <a:t>trata.</a:t>
            </a:r>
            <a:endParaRPr sz="2000" dirty="0">
              <a:latin typeface="+mj-lt"/>
              <a:cs typeface="Comic Sans MS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8" y="2743200"/>
            <a:ext cx="382063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Ejemplo: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1000" y="1676400"/>
            <a:ext cx="7010400" cy="38807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419" sz="2200" dirty="0"/>
              <a:t>Problemas en cosecha y post-cosecha  percibidos por una comunidad de agricultores.</a:t>
            </a:r>
          </a:p>
          <a:p>
            <a:pPr marL="0" indent="0" algn="just">
              <a:buNone/>
            </a:pPr>
            <a:endParaRPr lang="es-419" sz="2200" dirty="0"/>
          </a:p>
          <a:p>
            <a:pPr algn="just"/>
            <a:r>
              <a:rPr lang="es-419" sz="2200" dirty="0"/>
              <a:t>Como resultado de un primer taller de  intercambio, se obtuvo un listado de los  principales 15 problemas asociados a los  procesos de cosecha y post-cosecha que los  involucrados identificaron.</a:t>
            </a:r>
          </a:p>
          <a:p>
            <a:pPr algn="just"/>
            <a:r>
              <a:rPr lang="es-419" sz="2200" dirty="0"/>
              <a:t>Se produjo una tarjeta por cada problema.</a:t>
            </a:r>
          </a:p>
          <a:p>
            <a:pPr algn="just"/>
            <a:r>
              <a:rPr lang="es-419" sz="2200" dirty="0"/>
              <a:t>El número de cada problema es de  identificación, no tiene nada que ver con  importancia o trascendencia:</a:t>
            </a:r>
          </a:p>
          <a:p>
            <a:pPr algn="just"/>
            <a:endParaRPr lang="es-419" sz="2200" dirty="0"/>
          </a:p>
        </p:txBody>
      </p:sp>
    </p:spTree>
    <p:extLst>
      <p:ext uri="{BB962C8B-B14F-4D97-AF65-F5344CB8AC3E}">
        <p14:creationId xmlns:p14="http://schemas.microsoft.com/office/powerpoint/2010/main" val="3068619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449" y="2027874"/>
            <a:ext cx="2435733" cy="690574"/>
          </a:xfrm>
          <a:prstGeom prst="rect">
            <a:avLst/>
          </a:prstGeom>
          <a:solidFill>
            <a:srgbClr val="009999"/>
          </a:solidFill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1400" b="1" dirty="0">
                <a:latin typeface="+mj-lt"/>
                <a:cs typeface="Tahoma"/>
              </a:rPr>
              <a:t>1</a:t>
            </a:r>
            <a:endParaRPr sz="1400" dirty="0">
              <a:latin typeface="+mj-lt"/>
              <a:cs typeface="Tahoma"/>
            </a:endParaRPr>
          </a:p>
          <a:p>
            <a:pPr marL="91440" marR="86360" algn="ctr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latin typeface="+mj-lt"/>
                <a:cs typeface="Tahoma"/>
              </a:rPr>
              <a:t>LA FRUTA SE</a:t>
            </a:r>
            <a:r>
              <a:rPr sz="1400" b="1" spc="-35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DETERIORA  </a:t>
            </a:r>
            <a:r>
              <a:rPr sz="1400" b="1" dirty="0">
                <a:latin typeface="+mj-lt"/>
                <a:cs typeface="Tahoma"/>
              </a:rPr>
              <a:t>EN </a:t>
            </a:r>
            <a:r>
              <a:rPr sz="1400" b="1" spc="-5" dirty="0">
                <a:latin typeface="+mj-lt"/>
                <a:cs typeface="Tahoma"/>
              </a:rPr>
              <a:t>LA</a:t>
            </a:r>
            <a:r>
              <a:rPr sz="1400" b="1" spc="-45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RECOLECCIÓN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0544" y="2884129"/>
            <a:ext cx="2452497" cy="69121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400" b="1" dirty="0">
                <a:latin typeface="+mj-lt"/>
                <a:cs typeface="Tahoma"/>
              </a:rPr>
              <a:t>2</a:t>
            </a:r>
            <a:endParaRPr sz="1400" dirty="0">
              <a:latin typeface="+mj-lt"/>
              <a:cs typeface="Tahoma"/>
            </a:endParaRPr>
          </a:p>
          <a:p>
            <a:pPr marL="93345" marR="85725" algn="ctr">
              <a:lnSpc>
                <a:spcPct val="100000"/>
              </a:lnSpc>
            </a:pPr>
            <a:r>
              <a:rPr sz="1400" b="1" spc="-5" dirty="0">
                <a:latin typeface="+mj-lt"/>
                <a:cs typeface="Tahoma"/>
              </a:rPr>
              <a:t>MENORES INGRESOS  DE LOS</a:t>
            </a:r>
            <a:r>
              <a:rPr sz="1400" b="1" spc="-75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AGRICULTORES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16604" y="3646129"/>
            <a:ext cx="2412999" cy="691215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400" b="1" dirty="0">
                <a:latin typeface="+mj-lt"/>
                <a:cs typeface="Tahoma"/>
              </a:rPr>
              <a:t>8</a:t>
            </a:r>
            <a:endParaRPr sz="1400" dirty="0">
              <a:latin typeface="+mj-lt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latin typeface="+mj-lt"/>
                <a:cs typeface="Tahoma"/>
              </a:rPr>
              <a:t>MAQUINAS</a:t>
            </a:r>
            <a:r>
              <a:rPr sz="1400" b="1" spc="-10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RECOLECTORAS</a:t>
            </a:r>
            <a:endParaRPr sz="1400" dirty="0">
              <a:latin typeface="+mj-lt"/>
              <a:cs typeface="Tahoma"/>
            </a:endParaRPr>
          </a:p>
          <a:p>
            <a:pPr marL="635" algn="ctr">
              <a:lnSpc>
                <a:spcPct val="100000"/>
              </a:lnSpc>
            </a:pPr>
            <a:r>
              <a:rPr sz="1400" b="1" spc="-5" dirty="0">
                <a:latin typeface="+mj-lt"/>
                <a:cs typeface="Tahoma"/>
              </a:rPr>
              <a:t>OBSOLETAS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6606" y="2813344"/>
            <a:ext cx="2437638" cy="691215"/>
          </a:xfrm>
          <a:prstGeom prst="rect">
            <a:avLst/>
          </a:prstGeom>
          <a:solidFill>
            <a:srgbClr val="33CCCC"/>
          </a:solidFill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400" b="1" dirty="0">
                <a:latin typeface="+mj-lt"/>
                <a:cs typeface="Tahoma"/>
              </a:rPr>
              <a:t>7</a:t>
            </a:r>
            <a:endParaRPr sz="1400" dirty="0">
              <a:latin typeface="+mj-lt"/>
              <a:cs typeface="Tahoma"/>
            </a:endParaRPr>
          </a:p>
          <a:p>
            <a:pPr marL="92710" marR="85725" algn="ctr">
              <a:lnSpc>
                <a:spcPct val="100000"/>
              </a:lnSpc>
            </a:pPr>
            <a:r>
              <a:rPr sz="1400" b="1" spc="-5" dirty="0">
                <a:latin typeface="+mj-lt"/>
                <a:cs typeface="Tahoma"/>
              </a:rPr>
              <a:t>MAQUINAS</a:t>
            </a:r>
            <a:r>
              <a:rPr sz="1400" b="1" spc="-40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RECOLECTORAS  INADECUADAS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6604" y="4483688"/>
            <a:ext cx="2412999" cy="691856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400" b="1" dirty="0">
                <a:latin typeface="+mj-lt"/>
                <a:cs typeface="Tahoma"/>
              </a:rPr>
              <a:t>9</a:t>
            </a:r>
            <a:endParaRPr sz="1400" dirty="0">
              <a:latin typeface="+mj-lt"/>
              <a:cs typeface="Tahoma"/>
            </a:endParaRPr>
          </a:p>
          <a:p>
            <a:pPr marL="92710" marR="85090" indent="-635" algn="ctr">
              <a:lnSpc>
                <a:spcPct val="100000"/>
              </a:lnSpc>
            </a:pPr>
            <a:r>
              <a:rPr sz="1400" b="1" dirty="0">
                <a:latin typeface="+mj-lt"/>
                <a:cs typeface="Tahoma"/>
              </a:rPr>
              <a:t>OBREROS </a:t>
            </a:r>
            <a:r>
              <a:rPr sz="1400" b="1" spc="-10" dirty="0">
                <a:latin typeface="+mj-lt"/>
                <a:cs typeface="Tahoma"/>
              </a:rPr>
              <a:t>MALTRATAN  </a:t>
            </a:r>
            <a:r>
              <a:rPr sz="1400" b="1" spc="-5" dirty="0">
                <a:latin typeface="+mj-lt"/>
                <a:cs typeface="Tahoma"/>
              </a:rPr>
              <a:t>LA FRUTA AL</a:t>
            </a:r>
            <a:r>
              <a:rPr sz="1400" b="1" spc="-35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RECOGERLA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544" y="3727744"/>
            <a:ext cx="2437638" cy="907300"/>
          </a:xfrm>
          <a:prstGeom prst="rect">
            <a:avLst/>
          </a:prstGeom>
          <a:solidFill>
            <a:srgbClr val="CCFFFF"/>
          </a:solidFill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400" b="1" dirty="0">
                <a:latin typeface="+mj-lt"/>
                <a:cs typeface="Tahoma"/>
              </a:rPr>
              <a:t>3</a:t>
            </a:r>
            <a:endParaRPr sz="1400" dirty="0">
              <a:latin typeface="+mj-lt"/>
              <a:cs typeface="Tahoma"/>
            </a:endParaRPr>
          </a:p>
          <a:p>
            <a:pPr marL="93345" marR="86995" algn="ctr">
              <a:lnSpc>
                <a:spcPct val="100000"/>
              </a:lnSpc>
            </a:pPr>
            <a:r>
              <a:rPr sz="1400" b="1" dirty="0">
                <a:latin typeface="+mj-lt"/>
                <a:cs typeface="Tahoma"/>
              </a:rPr>
              <a:t>OBREROS </a:t>
            </a:r>
            <a:r>
              <a:rPr sz="1400" b="1" spc="-5" dirty="0">
                <a:latin typeface="+mj-lt"/>
                <a:cs typeface="Tahoma"/>
              </a:rPr>
              <a:t>MAL  CAPACITADOS</a:t>
            </a:r>
            <a:r>
              <a:rPr sz="1400" b="1" spc="-80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PARA  RECOLECCIÓN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6603" y="5321888"/>
            <a:ext cx="2412999" cy="691856"/>
          </a:xfrm>
          <a:prstGeom prst="rect">
            <a:avLst/>
          </a:prstGeom>
          <a:solidFill>
            <a:srgbClr val="CCFF99"/>
          </a:solidFill>
        </p:spPr>
        <p:txBody>
          <a:bodyPr vert="horz" wrap="square" lIns="0" tIns="4508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55"/>
              </a:spcBef>
            </a:pPr>
            <a:r>
              <a:rPr sz="1400" b="1" dirty="0">
                <a:latin typeface="+mj-lt"/>
                <a:cs typeface="Tahoma"/>
              </a:rPr>
              <a:t>10</a:t>
            </a:r>
            <a:endParaRPr sz="1400" dirty="0">
              <a:latin typeface="+mj-lt"/>
              <a:cs typeface="Tahoma"/>
            </a:endParaRPr>
          </a:p>
          <a:p>
            <a:pPr marL="93980" marR="84455" indent="-1270" algn="ctr">
              <a:lnSpc>
                <a:spcPct val="100000"/>
              </a:lnSpc>
            </a:pPr>
            <a:r>
              <a:rPr sz="1400" b="1" spc="-5" dirty="0">
                <a:latin typeface="+mj-lt"/>
                <a:cs typeface="Tahoma"/>
              </a:rPr>
              <a:t>BAJOS PRECIOS </a:t>
            </a:r>
            <a:r>
              <a:rPr sz="1400" b="1" dirty="0">
                <a:latin typeface="+mj-lt"/>
                <a:cs typeface="Tahoma"/>
              </a:rPr>
              <a:t>EN  EPOCA </a:t>
            </a:r>
            <a:r>
              <a:rPr sz="1400" b="1" spc="-5" dirty="0">
                <a:latin typeface="+mj-lt"/>
                <a:cs typeface="Tahoma"/>
              </a:rPr>
              <a:t>DE</a:t>
            </a:r>
            <a:r>
              <a:rPr sz="1400" b="1" spc="-100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COSECHA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7809" y="5023144"/>
            <a:ext cx="2561840" cy="691856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4508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55"/>
              </a:spcBef>
            </a:pPr>
            <a:r>
              <a:rPr sz="1400" b="1" dirty="0">
                <a:latin typeface="+mj-lt"/>
                <a:cs typeface="Tahoma"/>
              </a:rPr>
              <a:t>14</a:t>
            </a:r>
            <a:endParaRPr sz="1400" dirty="0">
              <a:latin typeface="+mj-lt"/>
              <a:cs typeface="Tahoma"/>
            </a:endParaRPr>
          </a:p>
          <a:p>
            <a:pPr marL="94615" marR="83820" algn="ctr">
              <a:lnSpc>
                <a:spcPct val="100000"/>
              </a:lnSpc>
            </a:pPr>
            <a:r>
              <a:rPr sz="1400" b="1" spc="-5" dirty="0">
                <a:latin typeface="+mj-lt"/>
                <a:cs typeface="Tahoma"/>
              </a:rPr>
              <a:t>FRUTA SE</a:t>
            </a:r>
            <a:r>
              <a:rPr sz="1400" b="1" spc="-60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EMPACA  SIN</a:t>
            </a:r>
            <a:r>
              <a:rPr sz="1400" b="1" spc="-30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SELECCIÓN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545" y="4794544"/>
            <a:ext cx="2452495" cy="691856"/>
          </a:xfrm>
          <a:prstGeom prst="rect">
            <a:avLst/>
          </a:prstGeom>
          <a:solidFill>
            <a:srgbClr val="66FFCC"/>
          </a:solidFill>
        </p:spPr>
        <p:txBody>
          <a:bodyPr vert="horz" wrap="square" lIns="0" tIns="450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5"/>
              </a:spcBef>
            </a:pPr>
            <a:r>
              <a:rPr sz="1400" b="1" dirty="0">
                <a:latin typeface="+mj-lt"/>
                <a:cs typeface="Tahoma"/>
              </a:rPr>
              <a:t>4</a:t>
            </a:r>
            <a:endParaRPr sz="1400" dirty="0">
              <a:latin typeface="+mj-lt"/>
              <a:cs typeface="Tahoma"/>
            </a:endParaRPr>
          </a:p>
          <a:p>
            <a:pPr marL="93345" marR="84455" algn="ctr">
              <a:lnSpc>
                <a:spcPct val="100000"/>
              </a:lnSpc>
            </a:pPr>
            <a:r>
              <a:rPr sz="1400" b="1" spc="-5" dirty="0">
                <a:latin typeface="+mj-lt"/>
                <a:cs typeface="Tahoma"/>
              </a:rPr>
              <a:t>ABUNDANCIA DE</a:t>
            </a:r>
            <a:r>
              <a:rPr sz="1400" b="1" spc="-40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OFERTA  </a:t>
            </a:r>
            <a:r>
              <a:rPr sz="1400" b="1" dirty="0">
                <a:latin typeface="+mj-lt"/>
                <a:cs typeface="Tahoma"/>
              </a:rPr>
              <a:t>EN EPOCA </a:t>
            </a:r>
            <a:r>
              <a:rPr sz="1400" b="1" spc="-5" dirty="0">
                <a:latin typeface="+mj-lt"/>
                <a:cs typeface="Tahoma"/>
              </a:rPr>
              <a:t>DE</a:t>
            </a:r>
            <a:r>
              <a:rPr sz="1400" b="1" spc="-85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COSECHA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67809" y="3041944"/>
            <a:ext cx="2561840" cy="906658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50"/>
              </a:spcBef>
            </a:pPr>
            <a:r>
              <a:rPr sz="1400" b="1" dirty="0">
                <a:latin typeface="+mj-lt"/>
                <a:cs typeface="Tahoma"/>
              </a:rPr>
              <a:t>12</a:t>
            </a:r>
            <a:endParaRPr sz="1400" dirty="0">
              <a:latin typeface="+mj-lt"/>
              <a:cs typeface="Tahoma"/>
            </a:endParaRPr>
          </a:p>
          <a:p>
            <a:pPr marL="92710" marR="85725" indent="-45085" algn="ctr">
              <a:lnSpc>
                <a:spcPct val="100000"/>
              </a:lnSpc>
            </a:pPr>
            <a:r>
              <a:rPr sz="1400" b="1" spc="-5" dirty="0">
                <a:latin typeface="+mj-lt"/>
                <a:cs typeface="Tahoma"/>
              </a:rPr>
              <a:t>COMPRADORES CASTIGAN  PRECIOS </a:t>
            </a:r>
            <a:r>
              <a:rPr sz="1400" b="1" dirty="0">
                <a:latin typeface="+mj-lt"/>
                <a:cs typeface="Tahoma"/>
              </a:rPr>
              <a:t>POR NO</a:t>
            </a:r>
            <a:r>
              <a:rPr sz="1400" b="1" spc="-85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SELECCIÓN  </a:t>
            </a:r>
            <a:r>
              <a:rPr sz="1400" b="1" dirty="0">
                <a:latin typeface="+mj-lt"/>
                <a:cs typeface="Tahoma"/>
              </a:rPr>
              <a:t>EN</a:t>
            </a:r>
            <a:r>
              <a:rPr sz="1400" b="1" spc="-30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EMPAQUE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73648" y="2027359"/>
            <a:ext cx="2556001" cy="906658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4445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50"/>
              </a:spcBef>
            </a:pPr>
            <a:r>
              <a:rPr sz="1400" b="1" dirty="0">
                <a:latin typeface="+mj-lt"/>
                <a:cs typeface="Tahoma"/>
              </a:rPr>
              <a:t>11</a:t>
            </a:r>
            <a:endParaRPr sz="1400" dirty="0">
              <a:latin typeface="+mj-lt"/>
              <a:cs typeface="Tahoma"/>
            </a:endParaRPr>
          </a:p>
          <a:p>
            <a:pPr marL="92710" marR="86360" indent="635" algn="ctr">
              <a:lnSpc>
                <a:spcPct val="100000"/>
              </a:lnSpc>
            </a:pPr>
            <a:r>
              <a:rPr sz="1400" b="1" spc="-5" dirty="0">
                <a:latin typeface="+mj-lt"/>
                <a:cs typeface="Tahoma"/>
              </a:rPr>
              <a:t>DESCONOCIMIENTO DE  TECNOLOGÍAS PARA  EMPAQUE</a:t>
            </a:r>
            <a:r>
              <a:rPr sz="1400" b="1" spc="-70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SELECCIONADO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67809" y="5785144"/>
            <a:ext cx="2561840" cy="691856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4508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55"/>
              </a:spcBef>
            </a:pPr>
            <a:r>
              <a:rPr sz="1400" b="1" dirty="0">
                <a:latin typeface="+mj-lt"/>
                <a:cs typeface="Tahoma"/>
              </a:rPr>
              <a:t>15</a:t>
            </a:r>
            <a:endParaRPr sz="1400" dirty="0">
              <a:latin typeface="+mj-lt"/>
              <a:cs typeface="Tahoma"/>
            </a:endParaRPr>
          </a:p>
          <a:p>
            <a:pPr marL="92710" marR="85725" algn="ctr">
              <a:lnSpc>
                <a:spcPct val="100000"/>
              </a:lnSpc>
            </a:pPr>
            <a:r>
              <a:rPr sz="1400" b="1" spc="-5" dirty="0">
                <a:latin typeface="+mj-lt"/>
                <a:cs typeface="Tahoma"/>
              </a:rPr>
              <a:t>CONTAMINACIÓN</a:t>
            </a:r>
            <a:r>
              <a:rPr sz="1400" b="1" spc="-70" dirty="0">
                <a:latin typeface="+mj-lt"/>
                <a:cs typeface="Tahoma"/>
              </a:rPr>
              <a:t> </a:t>
            </a:r>
            <a:r>
              <a:rPr sz="1400" b="1" dirty="0">
                <a:latin typeface="+mj-lt"/>
                <a:cs typeface="Tahoma"/>
              </a:rPr>
              <a:t>POR  </a:t>
            </a:r>
            <a:r>
              <a:rPr sz="1400" b="1" spc="-5" dirty="0">
                <a:latin typeface="+mj-lt"/>
                <a:cs typeface="Tahoma"/>
              </a:rPr>
              <a:t>FRUTAS</a:t>
            </a:r>
            <a:r>
              <a:rPr sz="1400" b="1" spc="-15" dirty="0">
                <a:latin typeface="+mj-lt"/>
                <a:cs typeface="Tahoma"/>
              </a:rPr>
              <a:t> </a:t>
            </a:r>
            <a:r>
              <a:rPr sz="1400" b="1" spc="-10" dirty="0">
                <a:latin typeface="+mj-lt"/>
                <a:cs typeface="Tahoma"/>
              </a:rPr>
              <a:t>DAÑADAS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67809" y="4032544"/>
            <a:ext cx="2561840" cy="873957"/>
          </a:xfrm>
          <a:prstGeom prst="rect">
            <a:avLst/>
          </a:prstGeom>
          <a:solidFill>
            <a:srgbClr val="FFCC00"/>
          </a:solidFill>
        </p:spPr>
        <p:txBody>
          <a:bodyPr vert="horz" wrap="square" lIns="0" tIns="45085" rIns="0" bIns="0" rtlCol="0">
            <a:spAutoFit/>
          </a:bodyPr>
          <a:lstStyle/>
          <a:p>
            <a:pPr marL="1905" algn="ctr">
              <a:lnSpc>
                <a:spcPts val="1680"/>
              </a:lnSpc>
              <a:spcBef>
                <a:spcPts val="355"/>
              </a:spcBef>
            </a:pPr>
            <a:r>
              <a:rPr sz="1400" b="1" spc="-10" dirty="0">
                <a:latin typeface="+mj-lt"/>
                <a:cs typeface="Tahoma"/>
              </a:rPr>
              <a:t>13</a:t>
            </a:r>
            <a:endParaRPr sz="1400" dirty="0">
              <a:latin typeface="+mj-lt"/>
              <a:cs typeface="Tahoma"/>
            </a:endParaRPr>
          </a:p>
          <a:p>
            <a:pPr marL="1905" algn="ctr">
              <a:lnSpc>
                <a:spcPts val="1440"/>
              </a:lnSpc>
            </a:pPr>
            <a:r>
              <a:rPr sz="1400" b="1" spc="-5" dirty="0">
                <a:latin typeface="+mj-lt"/>
                <a:cs typeface="Tahoma"/>
              </a:rPr>
              <a:t>MANTENIMIENTO</a:t>
            </a:r>
            <a:endParaRPr sz="1400" dirty="0">
              <a:latin typeface="+mj-lt"/>
              <a:cs typeface="Tahoma"/>
            </a:endParaRPr>
          </a:p>
          <a:p>
            <a:pPr marL="138430" marR="130810" indent="-46355" algn="ctr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latin typeface="+mj-lt"/>
                <a:cs typeface="Tahoma"/>
              </a:rPr>
              <a:t>DEFICIENTE DE  </a:t>
            </a:r>
            <a:r>
              <a:rPr sz="1400" b="1" dirty="0">
                <a:latin typeface="+mj-lt"/>
                <a:cs typeface="Tahoma"/>
              </a:rPr>
              <a:t>CO</a:t>
            </a:r>
            <a:r>
              <a:rPr sz="1400" b="1" spc="-5" dirty="0">
                <a:latin typeface="+mj-lt"/>
                <a:cs typeface="Tahoma"/>
              </a:rPr>
              <a:t>S</a:t>
            </a:r>
            <a:r>
              <a:rPr sz="1400" b="1" dirty="0">
                <a:latin typeface="+mj-lt"/>
                <a:cs typeface="Tahoma"/>
              </a:rPr>
              <a:t>EC</a:t>
            </a:r>
            <a:r>
              <a:rPr sz="1400" b="1" spc="-5" dirty="0">
                <a:latin typeface="+mj-lt"/>
                <a:cs typeface="Tahoma"/>
              </a:rPr>
              <a:t>H</a:t>
            </a:r>
            <a:r>
              <a:rPr sz="1400" b="1" spc="-10" dirty="0">
                <a:latin typeface="+mj-lt"/>
                <a:cs typeface="Tahoma"/>
              </a:rPr>
              <a:t>A</a:t>
            </a:r>
            <a:r>
              <a:rPr sz="1400" b="1" spc="-5" dirty="0">
                <a:latin typeface="+mj-lt"/>
                <a:cs typeface="Tahoma"/>
              </a:rPr>
              <a:t>D</a:t>
            </a:r>
            <a:r>
              <a:rPr sz="1400" b="1" dirty="0">
                <a:latin typeface="+mj-lt"/>
                <a:cs typeface="Tahoma"/>
              </a:rPr>
              <a:t>OR</a:t>
            </a:r>
            <a:r>
              <a:rPr sz="1400" b="1" spc="-10" dirty="0">
                <a:latin typeface="+mj-lt"/>
                <a:cs typeface="Tahoma"/>
              </a:rPr>
              <a:t>A</a:t>
            </a:r>
            <a:r>
              <a:rPr sz="1400" b="1" dirty="0">
                <a:latin typeface="+mj-lt"/>
                <a:cs typeface="Tahoma"/>
              </a:rPr>
              <a:t>S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6605" y="2027874"/>
            <a:ext cx="2412999" cy="691856"/>
          </a:xfrm>
          <a:prstGeom prst="rect">
            <a:avLst/>
          </a:prstGeom>
          <a:solidFill>
            <a:srgbClr val="FF99CC"/>
          </a:solidFill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400" b="1" spc="-5" dirty="0">
                <a:latin typeface="+mj-lt"/>
                <a:cs typeface="Tahoma"/>
              </a:rPr>
              <a:t>6</a:t>
            </a:r>
            <a:endParaRPr sz="1400" dirty="0">
              <a:latin typeface="+mj-lt"/>
              <a:cs typeface="Tahoma"/>
            </a:endParaRPr>
          </a:p>
          <a:p>
            <a:pPr marL="92710" marR="135890" algn="ctr">
              <a:lnSpc>
                <a:spcPct val="100000"/>
              </a:lnSpc>
            </a:pPr>
            <a:r>
              <a:rPr sz="1400" b="1" spc="-10" dirty="0">
                <a:latin typeface="+mj-lt"/>
                <a:cs typeface="Tahoma"/>
              </a:rPr>
              <a:t>PR</a:t>
            </a:r>
            <a:r>
              <a:rPr sz="1400" b="1" spc="-5" dirty="0">
                <a:latin typeface="+mj-lt"/>
                <a:cs typeface="Tahoma"/>
              </a:rPr>
              <a:t>OLIFE</a:t>
            </a:r>
            <a:r>
              <a:rPr sz="1400" b="1" spc="-15" dirty="0">
                <a:latin typeface="+mj-lt"/>
                <a:cs typeface="Tahoma"/>
              </a:rPr>
              <a:t>R</a:t>
            </a:r>
            <a:r>
              <a:rPr sz="1400" b="1" spc="-5" dirty="0">
                <a:latin typeface="+mj-lt"/>
                <a:cs typeface="Tahoma"/>
              </a:rPr>
              <a:t>ACI</a:t>
            </a:r>
            <a:r>
              <a:rPr sz="1400" b="1" spc="-10" dirty="0">
                <a:latin typeface="+mj-lt"/>
                <a:cs typeface="Tahoma"/>
              </a:rPr>
              <a:t>Ó</a:t>
            </a:r>
            <a:r>
              <a:rPr sz="1400" b="1" spc="-5" dirty="0">
                <a:latin typeface="+mj-lt"/>
                <a:cs typeface="Tahoma"/>
              </a:rPr>
              <a:t>N  </a:t>
            </a:r>
            <a:r>
              <a:rPr sz="1400" b="1" spc="-10" dirty="0">
                <a:latin typeface="+mj-lt"/>
                <a:cs typeface="Tahoma"/>
              </a:rPr>
              <a:t>DE PLAGAS </a:t>
            </a:r>
            <a:r>
              <a:rPr sz="1400" b="1" spc="-5" dirty="0">
                <a:latin typeface="+mj-lt"/>
                <a:cs typeface="Tahoma"/>
              </a:rPr>
              <a:t>Y  MALOS</a:t>
            </a:r>
            <a:r>
              <a:rPr sz="1400" b="1" spc="-30" dirty="0">
                <a:latin typeface="+mj-lt"/>
                <a:cs typeface="Tahoma"/>
              </a:rPr>
              <a:t> </a:t>
            </a:r>
            <a:r>
              <a:rPr sz="1400" b="1" spc="-10" dirty="0">
                <a:latin typeface="+mj-lt"/>
                <a:cs typeface="Tahoma"/>
              </a:rPr>
              <a:t>OLORES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5145" y="5632744"/>
            <a:ext cx="2477895" cy="487564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450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5"/>
              </a:spcBef>
            </a:pPr>
            <a:r>
              <a:rPr sz="1400" b="1" dirty="0">
                <a:latin typeface="+mj-lt"/>
                <a:cs typeface="Tahoma"/>
              </a:rPr>
              <a:t>5</a:t>
            </a:r>
            <a:endParaRPr sz="1400" dirty="0">
              <a:latin typeface="+mj-lt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400" b="1" spc="-5" dirty="0">
                <a:latin typeface="+mj-lt"/>
                <a:cs typeface="Tahoma"/>
              </a:rPr>
              <a:t>PÉRDIDAS </a:t>
            </a:r>
            <a:r>
              <a:rPr sz="1400" b="1" dirty="0">
                <a:latin typeface="+mj-lt"/>
                <a:cs typeface="Tahoma"/>
              </a:rPr>
              <a:t>EN</a:t>
            </a:r>
            <a:r>
              <a:rPr sz="1400" b="1" spc="-50" dirty="0">
                <a:latin typeface="+mj-lt"/>
                <a:cs typeface="Tahoma"/>
              </a:rPr>
              <a:t> </a:t>
            </a:r>
            <a:r>
              <a:rPr sz="1400" b="1" spc="-5" dirty="0">
                <a:latin typeface="+mj-lt"/>
                <a:cs typeface="Tahoma"/>
              </a:rPr>
              <a:t>COSECHA</a:t>
            </a:r>
            <a:endParaRPr sz="1400" dirty="0">
              <a:latin typeface="+mj-lt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85800" y="534138"/>
            <a:ext cx="591388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a) Tarjetas </a:t>
            </a:r>
            <a:r>
              <a:rPr spc="-5" dirty="0"/>
              <a:t>de</a:t>
            </a:r>
            <a:r>
              <a:rPr spc="-150" dirty="0"/>
              <a:t> </a:t>
            </a:r>
            <a:r>
              <a:rPr dirty="0"/>
              <a:t>problemas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228600" y="271378"/>
            <a:ext cx="693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b)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5" dirty="0" err="1">
                <a:latin typeface="Arial"/>
                <a:cs typeface="Arial"/>
              </a:rPr>
              <a:t>Encadenamiento</a:t>
            </a:r>
            <a:r>
              <a:rPr lang="es-419"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</a:t>
            </a:r>
            <a:r>
              <a:rPr spc="-10" dirty="0">
                <a:latin typeface="Arial"/>
                <a:cs typeface="Arial"/>
              </a:rPr>
              <a:t>u</a:t>
            </a:r>
            <a:r>
              <a:rPr dirty="0">
                <a:latin typeface="Arial"/>
                <a:cs typeface="Arial"/>
              </a:rPr>
              <a:t>sal</a:t>
            </a:r>
          </a:p>
        </p:txBody>
      </p:sp>
      <p:grpSp>
        <p:nvGrpSpPr>
          <p:cNvPr id="32" name="Grupo 31"/>
          <p:cNvGrpSpPr/>
          <p:nvPr/>
        </p:nvGrpSpPr>
        <p:grpSpPr>
          <a:xfrm>
            <a:off x="304800" y="1219200"/>
            <a:ext cx="8635873" cy="5424805"/>
            <a:chOff x="304800" y="1219200"/>
            <a:chExt cx="8635873" cy="5424805"/>
          </a:xfrm>
        </p:grpSpPr>
        <p:sp>
          <p:nvSpPr>
            <p:cNvPr id="2" name="object 2"/>
            <p:cNvSpPr txBox="1"/>
            <p:nvPr/>
          </p:nvSpPr>
          <p:spPr>
            <a:xfrm>
              <a:off x="2286000" y="3809936"/>
              <a:ext cx="2125980" cy="640080"/>
            </a:xfrm>
            <a:prstGeom prst="rect">
              <a:avLst/>
            </a:prstGeom>
            <a:solidFill>
              <a:srgbClr val="009999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1</a:t>
              </a:r>
              <a:endParaRPr sz="1200">
                <a:latin typeface="Tahoma"/>
                <a:cs typeface="Tahoma"/>
              </a:endParaRPr>
            </a:p>
            <a:p>
              <a:pPr marL="92075" marR="85725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LA FRUTA SE</a:t>
              </a:r>
              <a:r>
                <a:rPr sz="1200" b="1" spc="-3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DETERIORA  </a:t>
              </a:r>
              <a:r>
                <a:rPr sz="1200" b="1" dirty="0">
                  <a:latin typeface="Tahoma"/>
                  <a:cs typeface="Tahoma"/>
                </a:rPr>
                <a:t>EN </a:t>
              </a:r>
              <a:r>
                <a:rPr sz="1200" b="1" spc="-5" dirty="0">
                  <a:latin typeface="Tahoma"/>
                  <a:cs typeface="Tahoma"/>
                </a:rPr>
                <a:t>LA</a:t>
              </a:r>
              <a:r>
                <a:rPr sz="1200" b="1" spc="-4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RECOLECCIÓN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179445" y="1509395"/>
              <a:ext cx="2002155" cy="640080"/>
            </a:xfrm>
            <a:prstGeom prst="rect">
              <a:avLst/>
            </a:prstGeom>
            <a:solidFill>
              <a:srgbClr val="FFCCFF"/>
            </a:solidFill>
          </p:spPr>
          <p:txBody>
            <a:bodyPr vert="horz" wrap="square" lIns="0" tIns="4381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45"/>
                </a:spcBef>
              </a:pPr>
              <a:r>
                <a:rPr sz="1200" b="1" dirty="0">
                  <a:latin typeface="Tahoma"/>
                  <a:cs typeface="Tahoma"/>
                </a:rPr>
                <a:t>2</a:t>
              </a:r>
              <a:endParaRPr sz="1200">
                <a:latin typeface="Tahoma"/>
                <a:cs typeface="Tahoma"/>
              </a:endParaRPr>
            </a:p>
            <a:p>
              <a:pPr marL="1270" algn="ctr">
                <a:lnSpc>
                  <a:spcPct val="100000"/>
                </a:lnSpc>
                <a:spcBef>
                  <a:spcPts val="5"/>
                </a:spcBef>
              </a:pPr>
              <a:r>
                <a:rPr sz="1200" b="1" spc="-5" dirty="0">
                  <a:latin typeface="Tahoma"/>
                  <a:cs typeface="Tahoma"/>
                </a:rPr>
                <a:t>MENORES</a:t>
              </a:r>
              <a:r>
                <a:rPr sz="1200" b="1" spc="-3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INGRESOS</a:t>
              </a:r>
              <a:endParaRPr sz="12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DE LOS</a:t>
              </a:r>
              <a:r>
                <a:rPr sz="1200" b="1" spc="-4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AGRICULTORES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2549144" y="2819400"/>
              <a:ext cx="2027555" cy="457200"/>
            </a:xfrm>
            <a:prstGeom prst="rect">
              <a:avLst/>
            </a:prstGeom>
            <a:solidFill>
              <a:srgbClr val="FFFFCC"/>
            </a:solidFill>
          </p:spPr>
          <p:txBody>
            <a:bodyPr vert="horz" wrap="square" lIns="0" tIns="4445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50"/>
                </a:spcBef>
              </a:pPr>
              <a:r>
                <a:rPr sz="1200" b="1" dirty="0">
                  <a:latin typeface="Tahoma"/>
                  <a:cs typeface="Tahoma"/>
                </a:rPr>
                <a:t>5</a:t>
              </a:r>
              <a:endParaRPr sz="1200" dirty="0">
                <a:latin typeface="Tahoma"/>
                <a:cs typeface="Tahoma"/>
              </a:endParaRPr>
            </a:p>
            <a:p>
              <a:pPr marL="635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PÉRDIDAS 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r>
                <a:rPr sz="1200" b="1" spc="-5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COSECHA</a:t>
              </a:r>
              <a:endParaRPr sz="1200" dirty="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003425" y="5765800"/>
              <a:ext cx="1414780" cy="822325"/>
            </a:xfrm>
            <a:prstGeom prst="rect">
              <a:avLst/>
            </a:prstGeom>
            <a:solidFill>
              <a:srgbClr val="CCFFCC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8</a:t>
              </a:r>
              <a:endParaRPr sz="1200">
                <a:latin typeface="Tahoma"/>
                <a:cs typeface="Tahoma"/>
              </a:endParaRPr>
            </a:p>
            <a:p>
              <a:pPr marL="92075" marR="84455" indent="1905" algn="ctr">
                <a:lnSpc>
                  <a:spcPct val="100000"/>
                </a:lnSpc>
                <a:spcBef>
                  <a:spcPts val="5"/>
                </a:spcBef>
              </a:pPr>
              <a:r>
                <a:rPr sz="1200" b="1" spc="-5" dirty="0">
                  <a:latin typeface="Tahoma"/>
                  <a:cs typeface="Tahoma"/>
                </a:rPr>
                <a:t>MAQUINAS  </a:t>
              </a:r>
              <a:r>
                <a:rPr sz="1200" b="1" dirty="0">
                  <a:latin typeface="Tahoma"/>
                  <a:cs typeface="Tahoma"/>
                </a:rPr>
                <a:t>RECOLEC</a:t>
              </a:r>
              <a:r>
                <a:rPr sz="1200" b="1" spc="-5" dirty="0">
                  <a:latin typeface="Tahoma"/>
                  <a:cs typeface="Tahoma"/>
                </a:rPr>
                <a:t>TORAS  OBSOLETAS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58825" y="4800663"/>
              <a:ext cx="2322830" cy="640080"/>
            </a:xfrm>
            <a:prstGeom prst="rect">
              <a:avLst/>
            </a:prstGeom>
            <a:solidFill>
              <a:srgbClr val="33CCCC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7</a:t>
              </a:r>
              <a:endParaRPr sz="1200">
                <a:latin typeface="Tahoma"/>
                <a:cs typeface="Tahoma"/>
              </a:endParaRPr>
            </a:p>
            <a:p>
              <a:pPr marL="92075" marR="86360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MAQUINAS</a:t>
              </a:r>
              <a:r>
                <a:rPr sz="1200" b="1" spc="-4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RECOLECTORAS  DEFICIENTES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3175000" y="4800663"/>
              <a:ext cx="2148205" cy="640080"/>
            </a:xfrm>
            <a:prstGeom prst="rect">
              <a:avLst/>
            </a:prstGeom>
            <a:solidFill>
              <a:srgbClr val="00FF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9</a:t>
              </a:r>
              <a:endParaRPr sz="1200">
                <a:latin typeface="Tahoma"/>
                <a:cs typeface="Tahoma"/>
              </a:endParaRPr>
            </a:p>
            <a:p>
              <a:pPr marL="92075" marR="85090" indent="-635" algn="ctr">
                <a:lnSpc>
                  <a:spcPct val="100000"/>
                </a:lnSpc>
              </a:pPr>
              <a:r>
                <a:rPr sz="1200" b="1" dirty="0">
                  <a:latin typeface="Tahoma"/>
                  <a:cs typeface="Tahoma"/>
                </a:rPr>
                <a:t>OBREROS </a:t>
              </a:r>
              <a:r>
                <a:rPr sz="1200" b="1" spc="-10" dirty="0">
                  <a:latin typeface="Tahoma"/>
                  <a:cs typeface="Tahoma"/>
                </a:rPr>
                <a:t>MALTRATAN  </a:t>
              </a:r>
              <a:r>
                <a:rPr sz="1200" b="1" spc="-5" dirty="0">
                  <a:latin typeface="Tahoma"/>
                  <a:cs typeface="Tahoma"/>
                </a:rPr>
                <a:t>LA FRUTA AL</a:t>
              </a:r>
              <a:r>
                <a:rPr sz="1200" b="1" spc="-3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RECOGERLA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733800" y="5791200"/>
              <a:ext cx="1808480" cy="822325"/>
            </a:xfrm>
            <a:prstGeom prst="rect">
              <a:avLst/>
            </a:prstGeom>
            <a:solidFill>
              <a:srgbClr val="CCFFFF"/>
            </a:solidFill>
          </p:spPr>
          <p:txBody>
            <a:bodyPr vert="horz" wrap="square" lIns="0" tIns="45719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59"/>
                </a:spcBef>
              </a:pPr>
              <a:r>
                <a:rPr sz="1200" b="1" dirty="0">
                  <a:latin typeface="Tahoma"/>
                  <a:cs typeface="Tahoma"/>
                </a:rPr>
                <a:t>3</a:t>
              </a:r>
              <a:endParaRPr sz="1200">
                <a:latin typeface="Tahoma"/>
                <a:cs typeface="Tahoma"/>
              </a:endParaRPr>
            </a:p>
            <a:p>
              <a:pPr marL="92075" marR="132080" indent="48895" algn="ctr">
                <a:lnSpc>
                  <a:spcPct val="100000"/>
                </a:lnSpc>
              </a:pPr>
              <a:r>
                <a:rPr sz="1200" b="1" dirty="0">
                  <a:latin typeface="Tahoma"/>
                  <a:cs typeface="Tahoma"/>
                </a:rPr>
                <a:t>OBREROS </a:t>
              </a:r>
              <a:r>
                <a:rPr sz="1200" b="1" spc="-5" dirty="0">
                  <a:latin typeface="Tahoma"/>
                  <a:cs typeface="Tahoma"/>
                </a:rPr>
                <a:t>MAL  CAPACITADOS</a:t>
              </a:r>
              <a:r>
                <a:rPr sz="1200" b="1" spc="-8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PARA  RECOLECCIÓN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7208393" y="2606738"/>
              <a:ext cx="1732280" cy="640080"/>
            </a:xfrm>
            <a:prstGeom prst="rect">
              <a:avLst/>
            </a:prstGeom>
            <a:solidFill>
              <a:srgbClr val="CCFF99"/>
            </a:solidFill>
          </p:spPr>
          <p:txBody>
            <a:bodyPr vert="horz" wrap="square" lIns="0" tIns="44450" rIns="0" bIns="0" rtlCol="0">
              <a:spAutoFit/>
            </a:bodyPr>
            <a:lstStyle/>
            <a:p>
              <a:pPr marL="2540" algn="ctr">
                <a:lnSpc>
                  <a:spcPct val="100000"/>
                </a:lnSpc>
                <a:spcBef>
                  <a:spcPts val="350"/>
                </a:spcBef>
              </a:pPr>
              <a:r>
                <a:rPr sz="1200" b="1" dirty="0">
                  <a:latin typeface="Tahoma"/>
                  <a:cs typeface="Tahoma"/>
                </a:rPr>
                <a:t>10</a:t>
              </a:r>
              <a:endParaRPr sz="1200">
                <a:latin typeface="Tahoma"/>
                <a:cs typeface="Tahoma"/>
              </a:endParaRPr>
            </a:p>
            <a:p>
              <a:pPr marL="1270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BAJOS PRECIOS</a:t>
              </a:r>
              <a:r>
                <a:rPr sz="1200" b="1" spc="-45" dirty="0">
                  <a:latin typeface="Tahoma"/>
                  <a:cs typeface="Tahoma"/>
                </a:rPr>
                <a:t> 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endParaRPr sz="1200">
                <a:latin typeface="Tahoma"/>
                <a:cs typeface="Tahoma"/>
              </a:endParaRPr>
            </a:p>
            <a:p>
              <a:pPr marL="1905" algn="ctr">
                <a:lnSpc>
                  <a:spcPct val="100000"/>
                </a:lnSpc>
              </a:pPr>
              <a:r>
                <a:rPr sz="1200" b="1" dirty="0">
                  <a:latin typeface="Tahoma"/>
                  <a:cs typeface="Tahoma"/>
                </a:rPr>
                <a:t>EPOCA </a:t>
              </a:r>
              <a:r>
                <a:rPr sz="1200" b="1" spc="-5" dirty="0">
                  <a:latin typeface="Tahoma"/>
                  <a:cs typeface="Tahoma"/>
                </a:rPr>
                <a:t>DE</a:t>
              </a:r>
              <a:r>
                <a:rPr sz="1200" b="1" spc="-6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COSECHA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5410200" y="4800663"/>
              <a:ext cx="1616075" cy="640080"/>
            </a:xfrm>
            <a:prstGeom prst="rect">
              <a:avLst/>
            </a:prstGeom>
            <a:solidFill>
              <a:srgbClr val="FFFF99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14</a:t>
              </a:r>
              <a:endParaRPr sz="1200">
                <a:latin typeface="Tahoma"/>
                <a:cs typeface="Tahoma"/>
              </a:endParaRPr>
            </a:p>
            <a:p>
              <a:pPr marL="93980" marR="84455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FRUTA SE</a:t>
              </a:r>
              <a:r>
                <a:rPr sz="1200" b="1" spc="-6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EMPACA  SIN</a:t>
              </a:r>
              <a:r>
                <a:rPr sz="1200" b="1" spc="-3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SELECCIÓN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7164451" y="4724400"/>
              <a:ext cx="1732280" cy="822325"/>
            </a:xfrm>
            <a:prstGeom prst="rect">
              <a:avLst/>
            </a:prstGeom>
            <a:solidFill>
              <a:srgbClr val="66FFCC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4</a:t>
              </a:r>
              <a:endParaRPr sz="1200">
                <a:latin typeface="Tahoma"/>
                <a:cs typeface="Tahoma"/>
              </a:endParaRPr>
            </a:p>
            <a:p>
              <a:pPr marL="307340" marR="298450" indent="-44450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ABUNDANCIA  DE OFERTA</a:t>
              </a:r>
              <a:r>
                <a:rPr sz="1200" b="1" spc="-80" dirty="0">
                  <a:latin typeface="Tahoma"/>
                  <a:cs typeface="Tahoma"/>
                </a:rPr>
                <a:t> 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endParaRPr sz="1200">
                <a:latin typeface="Tahoma"/>
                <a:cs typeface="Tahoma"/>
              </a:endParaRPr>
            </a:p>
            <a:p>
              <a:pPr marL="1905" algn="ctr">
                <a:lnSpc>
                  <a:spcPct val="100000"/>
                </a:lnSpc>
              </a:pPr>
              <a:r>
                <a:rPr sz="1200" b="1" dirty="0">
                  <a:latin typeface="Tahoma"/>
                  <a:cs typeface="Tahoma"/>
                </a:rPr>
                <a:t>EPOCA </a:t>
              </a:r>
              <a:r>
                <a:rPr sz="1200" b="1" spc="-5" dirty="0">
                  <a:latin typeface="Tahoma"/>
                  <a:cs typeface="Tahoma"/>
                </a:rPr>
                <a:t>DE</a:t>
              </a:r>
              <a:r>
                <a:rPr sz="1200" b="1" spc="-6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COSECHA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649343" y="2606675"/>
              <a:ext cx="2286000" cy="822325"/>
            </a:xfrm>
            <a:prstGeom prst="rect">
              <a:avLst/>
            </a:prstGeom>
            <a:solidFill>
              <a:srgbClr val="99CCFF"/>
            </a:solidFill>
          </p:spPr>
          <p:txBody>
            <a:bodyPr vert="horz" wrap="square" lIns="0" tIns="4445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</a:pPr>
              <a:r>
                <a:rPr sz="1200" b="1" dirty="0">
                  <a:latin typeface="Tahoma"/>
                  <a:cs typeface="Tahoma"/>
                </a:rPr>
                <a:t>12</a:t>
              </a:r>
              <a:endParaRPr sz="1200">
                <a:latin typeface="Tahoma"/>
                <a:cs typeface="Tahoma"/>
              </a:endParaRPr>
            </a:p>
            <a:p>
              <a:pPr marL="92710" marR="132715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COMPRADORES</a:t>
              </a:r>
              <a:r>
                <a:rPr sz="1200" b="1" spc="-7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CASTIGAN  PRECIOS </a:t>
              </a:r>
              <a:r>
                <a:rPr sz="1200" b="1" dirty="0">
                  <a:latin typeface="Tahoma"/>
                  <a:cs typeface="Tahoma"/>
                </a:rPr>
                <a:t>POR NO  </a:t>
              </a:r>
              <a:r>
                <a:rPr sz="1200" b="1" spc="-5" dirty="0">
                  <a:latin typeface="Tahoma"/>
                  <a:cs typeface="Tahoma"/>
                </a:rPr>
                <a:t>SELECCIÓN 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r>
                <a:rPr sz="1200" b="1" spc="-7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EMPAQUE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28625" y="2707196"/>
              <a:ext cx="1933575" cy="640080"/>
            </a:xfrm>
            <a:prstGeom prst="rect">
              <a:avLst/>
            </a:prstGeom>
            <a:solidFill>
              <a:srgbClr val="EAEAEA"/>
            </a:solidFill>
          </p:spPr>
          <p:txBody>
            <a:bodyPr vert="horz" wrap="square" lIns="0" tIns="4445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50"/>
                </a:spcBef>
              </a:pPr>
              <a:r>
                <a:rPr sz="1200" b="1" dirty="0">
                  <a:latin typeface="Tahoma"/>
                  <a:cs typeface="Tahoma"/>
                </a:rPr>
                <a:t>15</a:t>
              </a:r>
              <a:endParaRPr sz="1200" dirty="0">
                <a:latin typeface="Tahoma"/>
                <a:cs typeface="Tahoma"/>
              </a:endParaRPr>
            </a:p>
            <a:p>
              <a:pPr marL="91440" marR="86360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CONTAMINACIÓN</a:t>
              </a:r>
              <a:r>
                <a:rPr sz="1200" b="1" spc="-70" dirty="0">
                  <a:latin typeface="Tahoma"/>
                  <a:cs typeface="Tahoma"/>
                </a:rPr>
                <a:t> </a:t>
              </a:r>
              <a:r>
                <a:rPr sz="1200" b="1" dirty="0">
                  <a:latin typeface="Tahoma"/>
                  <a:cs typeface="Tahoma"/>
                </a:rPr>
                <a:t>POR  </a:t>
              </a:r>
              <a:r>
                <a:rPr sz="1200" b="1" spc="-5" dirty="0">
                  <a:latin typeface="Tahoma"/>
                  <a:cs typeface="Tahoma"/>
                </a:rPr>
                <a:t>FRUTAS</a:t>
              </a:r>
              <a:r>
                <a:rPr sz="1200" b="1" spc="-15" dirty="0">
                  <a:latin typeface="Tahoma"/>
                  <a:cs typeface="Tahoma"/>
                </a:rPr>
                <a:t> </a:t>
              </a:r>
              <a:r>
                <a:rPr sz="1200" b="1" spc="-10" dirty="0">
                  <a:latin typeface="Tahoma"/>
                  <a:cs typeface="Tahoma"/>
                </a:rPr>
                <a:t>DAÑADAS</a:t>
              </a:r>
              <a:endParaRPr sz="1200" dirty="0">
                <a:latin typeface="Tahoma"/>
                <a:cs typeface="Tahoma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68300" y="1219200"/>
              <a:ext cx="1525905" cy="822325"/>
            </a:xfrm>
            <a:prstGeom prst="rect">
              <a:avLst/>
            </a:prstGeom>
            <a:solidFill>
              <a:srgbClr val="FF99CC"/>
            </a:solidFill>
          </p:spPr>
          <p:txBody>
            <a:bodyPr vert="horz" wrap="square" lIns="0" tIns="4381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45"/>
                </a:spcBef>
              </a:pPr>
              <a:r>
                <a:rPr sz="1200" b="1" dirty="0">
                  <a:latin typeface="Tahoma"/>
                  <a:cs typeface="Tahoma"/>
                </a:rPr>
                <a:t>6</a:t>
              </a:r>
              <a:endParaRPr sz="1200" dirty="0">
                <a:latin typeface="Tahoma"/>
                <a:cs typeface="Tahoma"/>
              </a:endParaRPr>
            </a:p>
            <a:p>
              <a:pPr marL="91440" marR="128905" algn="ctr">
                <a:lnSpc>
                  <a:spcPct val="100000"/>
                </a:lnSpc>
                <a:spcBef>
                  <a:spcPts val="5"/>
                </a:spcBef>
              </a:pPr>
              <a:r>
                <a:rPr sz="1200" b="1" spc="-5" dirty="0">
                  <a:latin typeface="Tahoma"/>
                  <a:cs typeface="Tahoma"/>
                </a:rPr>
                <a:t>P</a:t>
              </a:r>
              <a:r>
                <a:rPr sz="1200" b="1" dirty="0">
                  <a:latin typeface="Tahoma"/>
                  <a:cs typeface="Tahoma"/>
                </a:rPr>
                <a:t>RO</a:t>
              </a:r>
              <a:r>
                <a:rPr sz="1200" b="1" spc="-10" dirty="0">
                  <a:latin typeface="Tahoma"/>
                  <a:cs typeface="Tahoma"/>
                </a:rPr>
                <a:t>LI</a:t>
              </a:r>
              <a:r>
                <a:rPr sz="1200" b="1" spc="-5" dirty="0">
                  <a:latin typeface="Tahoma"/>
                  <a:cs typeface="Tahoma"/>
                </a:rPr>
                <a:t>FE</a:t>
              </a:r>
              <a:r>
                <a:rPr sz="1200" b="1" dirty="0">
                  <a:latin typeface="Tahoma"/>
                  <a:cs typeface="Tahoma"/>
                </a:rPr>
                <a:t>R</a:t>
              </a:r>
              <a:r>
                <a:rPr sz="1200" b="1" spc="-10" dirty="0">
                  <a:latin typeface="Tahoma"/>
                  <a:cs typeface="Tahoma"/>
                </a:rPr>
                <a:t>A</a:t>
              </a:r>
              <a:r>
                <a:rPr sz="1200" b="1" spc="-5" dirty="0">
                  <a:latin typeface="Tahoma"/>
                  <a:cs typeface="Tahoma"/>
                </a:rPr>
                <a:t>CI</a:t>
              </a:r>
              <a:r>
                <a:rPr sz="1200" b="1" spc="-10" dirty="0">
                  <a:latin typeface="Tahoma"/>
                  <a:cs typeface="Tahoma"/>
                </a:rPr>
                <a:t>Ó</a:t>
              </a:r>
              <a:r>
                <a:rPr sz="1200" b="1" dirty="0">
                  <a:latin typeface="Tahoma"/>
                  <a:cs typeface="Tahoma"/>
                </a:rPr>
                <a:t>N  </a:t>
              </a:r>
              <a:r>
                <a:rPr sz="1200" b="1" spc="-5" dirty="0">
                  <a:latin typeface="Tahoma"/>
                  <a:cs typeface="Tahoma"/>
                </a:rPr>
                <a:t>DE PLAGAS </a:t>
              </a:r>
              <a:r>
                <a:rPr sz="1200" b="1" dirty="0">
                  <a:latin typeface="Tahoma"/>
                  <a:cs typeface="Tahoma"/>
                </a:rPr>
                <a:t>Y  </a:t>
              </a:r>
              <a:r>
                <a:rPr sz="1200" b="1" spc="-5" dirty="0">
                  <a:latin typeface="Tahoma"/>
                  <a:cs typeface="Tahoma"/>
                </a:rPr>
                <a:t>MALOS</a:t>
              </a:r>
              <a:r>
                <a:rPr sz="1200" b="1" spc="-50" dirty="0">
                  <a:latin typeface="Tahoma"/>
                  <a:cs typeface="Tahoma"/>
                </a:rPr>
                <a:t> </a:t>
              </a:r>
              <a:r>
                <a:rPr sz="1200" b="1" dirty="0">
                  <a:latin typeface="Tahoma"/>
                  <a:cs typeface="Tahoma"/>
                </a:rPr>
                <a:t>OLORES</a:t>
              </a:r>
              <a:endParaRPr sz="1200" dirty="0">
                <a:latin typeface="Tahoma"/>
                <a:cs typeface="Tahoma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074737" y="5440298"/>
              <a:ext cx="884555" cy="351155"/>
            </a:xfrm>
            <a:custGeom>
              <a:avLst/>
              <a:gdLst/>
              <a:ahLst/>
              <a:cxnLst/>
              <a:rect l="l" t="t" r="r" b="b"/>
              <a:pathLst>
                <a:path w="884555" h="351154">
                  <a:moveTo>
                    <a:pt x="839787" y="169925"/>
                  </a:moveTo>
                  <a:lnTo>
                    <a:pt x="0" y="169925"/>
                  </a:lnTo>
                  <a:lnTo>
                    <a:pt x="0" y="350900"/>
                  </a:lnTo>
                  <a:lnTo>
                    <a:pt x="12700" y="350900"/>
                  </a:lnTo>
                  <a:lnTo>
                    <a:pt x="12700" y="182625"/>
                  </a:lnTo>
                  <a:lnTo>
                    <a:pt x="6350" y="182625"/>
                  </a:lnTo>
                  <a:lnTo>
                    <a:pt x="12700" y="176275"/>
                  </a:lnTo>
                  <a:lnTo>
                    <a:pt x="839787" y="176275"/>
                  </a:lnTo>
                  <a:lnTo>
                    <a:pt x="839787" y="169925"/>
                  </a:lnTo>
                  <a:close/>
                </a:path>
                <a:path w="884555" h="351154">
                  <a:moveTo>
                    <a:pt x="12700" y="176275"/>
                  </a:moveTo>
                  <a:lnTo>
                    <a:pt x="6350" y="182625"/>
                  </a:lnTo>
                  <a:lnTo>
                    <a:pt x="12700" y="182625"/>
                  </a:lnTo>
                  <a:lnTo>
                    <a:pt x="12700" y="176275"/>
                  </a:lnTo>
                  <a:close/>
                </a:path>
                <a:path w="884555" h="351154">
                  <a:moveTo>
                    <a:pt x="852487" y="169925"/>
                  </a:moveTo>
                  <a:lnTo>
                    <a:pt x="846137" y="169925"/>
                  </a:lnTo>
                  <a:lnTo>
                    <a:pt x="839787" y="176275"/>
                  </a:lnTo>
                  <a:lnTo>
                    <a:pt x="12700" y="176275"/>
                  </a:lnTo>
                  <a:lnTo>
                    <a:pt x="12700" y="182625"/>
                  </a:lnTo>
                  <a:lnTo>
                    <a:pt x="852487" y="182625"/>
                  </a:lnTo>
                  <a:lnTo>
                    <a:pt x="852487" y="169925"/>
                  </a:lnTo>
                  <a:close/>
                </a:path>
                <a:path w="884555" h="351154">
                  <a:moveTo>
                    <a:pt x="852487" y="63500"/>
                  </a:moveTo>
                  <a:lnTo>
                    <a:pt x="839787" y="63500"/>
                  </a:lnTo>
                  <a:lnTo>
                    <a:pt x="839787" y="176275"/>
                  </a:lnTo>
                  <a:lnTo>
                    <a:pt x="846137" y="169925"/>
                  </a:lnTo>
                  <a:lnTo>
                    <a:pt x="852487" y="169925"/>
                  </a:lnTo>
                  <a:lnTo>
                    <a:pt x="852487" y="63500"/>
                  </a:lnTo>
                  <a:close/>
                </a:path>
                <a:path w="884555" h="351154">
                  <a:moveTo>
                    <a:pt x="846137" y="0"/>
                  </a:moveTo>
                  <a:lnTo>
                    <a:pt x="808037" y="76200"/>
                  </a:lnTo>
                  <a:lnTo>
                    <a:pt x="839787" y="76200"/>
                  </a:lnTo>
                  <a:lnTo>
                    <a:pt x="839787" y="63500"/>
                  </a:lnTo>
                  <a:lnTo>
                    <a:pt x="877887" y="63500"/>
                  </a:lnTo>
                  <a:lnTo>
                    <a:pt x="846137" y="0"/>
                  </a:lnTo>
                  <a:close/>
                </a:path>
                <a:path w="884555" h="351154">
                  <a:moveTo>
                    <a:pt x="877887" y="63500"/>
                  </a:moveTo>
                  <a:lnTo>
                    <a:pt x="852487" y="63500"/>
                  </a:lnTo>
                  <a:lnTo>
                    <a:pt x="852487" y="76200"/>
                  </a:lnTo>
                  <a:lnTo>
                    <a:pt x="884237" y="76200"/>
                  </a:lnTo>
                  <a:lnTo>
                    <a:pt x="877887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82775" y="5440298"/>
              <a:ext cx="835025" cy="325755"/>
            </a:xfrm>
            <a:custGeom>
              <a:avLst/>
              <a:gdLst/>
              <a:ahLst/>
              <a:cxnLst/>
              <a:rect l="l" t="t" r="r" b="b"/>
              <a:pathLst>
                <a:path w="835025" h="325754">
                  <a:moveTo>
                    <a:pt x="822325" y="163575"/>
                  </a:moveTo>
                  <a:lnTo>
                    <a:pt x="822325" y="325500"/>
                  </a:lnTo>
                  <a:lnTo>
                    <a:pt x="835025" y="325500"/>
                  </a:lnTo>
                  <a:lnTo>
                    <a:pt x="835025" y="169925"/>
                  </a:lnTo>
                  <a:lnTo>
                    <a:pt x="828675" y="169925"/>
                  </a:lnTo>
                  <a:lnTo>
                    <a:pt x="822325" y="163575"/>
                  </a:lnTo>
                  <a:close/>
                </a:path>
                <a:path w="835025" h="3257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69925"/>
                  </a:lnTo>
                  <a:lnTo>
                    <a:pt x="822325" y="169925"/>
                  </a:lnTo>
                  <a:lnTo>
                    <a:pt x="822325" y="163575"/>
                  </a:lnTo>
                  <a:lnTo>
                    <a:pt x="44450" y="163575"/>
                  </a:lnTo>
                  <a:lnTo>
                    <a:pt x="38100" y="157225"/>
                  </a:lnTo>
                  <a:lnTo>
                    <a:pt x="44450" y="157225"/>
                  </a:lnTo>
                  <a:lnTo>
                    <a:pt x="44450" y="63500"/>
                  </a:lnTo>
                  <a:close/>
                </a:path>
                <a:path w="835025" h="325754">
                  <a:moveTo>
                    <a:pt x="835025" y="157225"/>
                  </a:moveTo>
                  <a:lnTo>
                    <a:pt x="44450" y="157225"/>
                  </a:lnTo>
                  <a:lnTo>
                    <a:pt x="44450" y="163575"/>
                  </a:lnTo>
                  <a:lnTo>
                    <a:pt x="822325" y="163575"/>
                  </a:lnTo>
                  <a:lnTo>
                    <a:pt x="828675" y="169925"/>
                  </a:lnTo>
                  <a:lnTo>
                    <a:pt x="835025" y="169925"/>
                  </a:lnTo>
                  <a:lnTo>
                    <a:pt x="835025" y="157225"/>
                  </a:lnTo>
                  <a:close/>
                </a:path>
                <a:path w="835025" h="325754">
                  <a:moveTo>
                    <a:pt x="44450" y="157225"/>
                  </a:moveTo>
                  <a:lnTo>
                    <a:pt x="38100" y="157225"/>
                  </a:lnTo>
                  <a:lnTo>
                    <a:pt x="44450" y="163575"/>
                  </a:lnTo>
                  <a:lnTo>
                    <a:pt x="44450" y="157225"/>
                  </a:lnTo>
                  <a:close/>
                </a:path>
                <a:path w="835025" h="3257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835025" h="3257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11573" y="5440298"/>
              <a:ext cx="433705" cy="351155"/>
            </a:xfrm>
            <a:custGeom>
              <a:avLst/>
              <a:gdLst/>
              <a:ahLst/>
              <a:cxnLst/>
              <a:rect l="l" t="t" r="r" b="b"/>
              <a:pathLst>
                <a:path w="433704" h="351154">
                  <a:moveTo>
                    <a:pt x="420750" y="176275"/>
                  </a:moveTo>
                  <a:lnTo>
                    <a:pt x="420750" y="350900"/>
                  </a:lnTo>
                  <a:lnTo>
                    <a:pt x="433450" y="350900"/>
                  </a:lnTo>
                  <a:lnTo>
                    <a:pt x="433450" y="182625"/>
                  </a:lnTo>
                  <a:lnTo>
                    <a:pt x="427100" y="182625"/>
                  </a:lnTo>
                  <a:lnTo>
                    <a:pt x="420750" y="176275"/>
                  </a:lnTo>
                  <a:close/>
                </a:path>
                <a:path w="433704" h="3511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2625"/>
                  </a:lnTo>
                  <a:lnTo>
                    <a:pt x="420750" y="182625"/>
                  </a:lnTo>
                  <a:lnTo>
                    <a:pt x="420750" y="176275"/>
                  </a:lnTo>
                  <a:lnTo>
                    <a:pt x="44450" y="176275"/>
                  </a:lnTo>
                  <a:lnTo>
                    <a:pt x="38100" y="169925"/>
                  </a:lnTo>
                  <a:lnTo>
                    <a:pt x="44450" y="169925"/>
                  </a:lnTo>
                  <a:lnTo>
                    <a:pt x="44450" y="63500"/>
                  </a:lnTo>
                  <a:close/>
                </a:path>
                <a:path w="433704" h="351154">
                  <a:moveTo>
                    <a:pt x="433450" y="169925"/>
                  </a:moveTo>
                  <a:lnTo>
                    <a:pt x="44450" y="169925"/>
                  </a:lnTo>
                  <a:lnTo>
                    <a:pt x="44450" y="176275"/>
                  </a:lnTo>
                  <a:lnTo>
                    <a:pt x="420750" y="176275"/>
                  </a:lnTo>
                  <a:lnTo>
                    <a:pt x="427100" y="182625"/>
                  </a:lnTo>
                  <a:lnTo>
                    <a:pt x="433450" y="182625"/>
                  </a:lnTo>
                  <a:lnTo>
                    <a:pt x="433450" y="169925"/>
                  </a:lnTo>
                  <a:close/>
                </a:path>
                <a:path w="433704" h="351154">
                  <a:moveTo>
                    <a:pt x="44450" y="169925"/>
                  </a:moveTo>
                  <a:lnTo>
                    <a:pt x="38100" y="169925"/>
                  </a:lnTo>
                  <a:lnTo>
                    <a:pt x="44450" y="176275"/>
                  </a:lnTo>
                  <a:lnTo>
                    <a:pt x="44450" y="169925"/>
                  </a:lnTo>
                  <a:close/>
                </a:path>
                <a:path w="433704" h="3511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33704" h="3511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00700" y="3474656"/>
              <a:ext cx="579373" cy="1325943"/>
            </a:xfrm>
            <a:custGeom>
              <a:avLst/>
              <a:gdLst/>
              <a:ahLst/>
              <a:cxnLst/>
              <a:rect l="l" t="t" r="r" b="b"/>
              <a:pathLst>
                <a:path w="624204" h="2378075">
                  <a:moveTo>
                    <a:pt x="611124" y="1188974"/>
                  </a:moveTo>
                  <a:lnTo>
                    <a:pt x="611124" y="2378075"/>
                  </a:lnTo>
                  <a:lnTo>
                    <a:pt x="623824" y="2378075"/>
                  </a:lnTo>
                  <a:lnTo>
                    <a:pt x="623824" y="1195324"/>
                  </a:lnTo>
                  <a:lnTo>
                    <a:pt x="617474" y="1195324"/>
                  </a:lnTo>
                  <a:lnTo>
                    <a:pt x="611124" y="1188974"/>
                  </a:lnTo>
                  <a:close/>
                </a:path>
                <a:path w="624204" h="237807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195324"/>
                  </a:lnTo>
                  <a:lnTo>
                    <a:pt x="611124" y="1195324"/>
                  </a:lnTo>
                  <a:lnTo>
                    <a:pt x="611124" y="1188974"/>
                  </a:lnTo>
                  <a:lnTo>
                    <a:pt x="44450" y="1188974"/>
                  </a:lnTo>
                  <a:lnTo>
                    <a:pt x="38100" y="1182624"/>
                  </a:lnTo>
                  <a:lnTo>
                    <a:pt x="44450" y="1182624"/>
                  </a:lnTo>
                  <a:lnTo>
                    <a:pt x="44450" y="63500"/>
                  </a:lnTo>
                  <a:close/>
                </a:path>
                <a:path w="624204" h="2378075">
                  <a:moveTo>
                    <a:pt x="623824" y="1182624"/>
                  </a:moveTo>
                  <a:lnTo>
                    <a:pt x="44450" y="1182624"/>
                  </a:lnTo>
                  <a:lnTo>
                    <a:pt x="44450" y="1188974"/>
                  </a:lnTo>
                  <a:lnTo>
                    <a:pt x="611124" y="1188974"/>
                  </a:lnTo>
                  <a:lnTo>
                    <a:pt x="617474" y="1195324"/>
                  </a:lnTo>
                  <a:lnTo>
                    <a:pt x="623824" y="1195324"/>
                  </a:lnTo>
                  <a:lnTo>
                    <a:pt x="623824" y="1182624"/>
                  </a:lnTo>
                  <a:close/>
                </a:path>
                <a:path w="624204" h="2378075">
                  <a:moveTo>
                    <a:pt x="44450" y="1182624"/>
                  </a:moveTo>
                  <a:lnTo>
                    <a:pt x="38100" y="1182624"/>
                  </a:lnTo>
                  <a:lnTo>
                    <a:pt x="44450" y="1188974"/>
                  </a:lnTo>
                  <a:lnTo>
                    <a:pt x="44450" y="1182624"/>
                  </a:lnTo>
                  <a:close/>
                </a:path>
                <a:path w="624204" h="237807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624204" h="237807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 flipH="1">
              <a:off x="8037827" y="3382898"/>
              <a:ext cx="241810" cy="1341756"/>
            </a:xfrm>
            <a:custGeom>
              <a:avLst/>
              <a:gdLst/>
              <a:ahLst/>
              <a:cxnLst/>
              <a:rect l="l" t="t" r="r" b="b"/>
              <a:pathLst>
                <a:path w="154304" h="2484754">
                  <a:moveTo>
                    <a:pt x="141224" y="1243076"/>
                  </a:moveTo>
                  <a:lnTo>
                    <a:pt x="141224" y="2484501"/>
                  </a:lnTo>
                  <a:lnTo>
                    <a:pt x="153924" y="2484501"/>
                  </a:lnTo>
                  <a:lnTo>
                    <a:pt x="153924" y="1249426"/>
                  </a:lnTo>
                  <a:lnTo>
                    <a:pt x="147574" y="1249426"/>
                  </a:lnTo>
                  <a:lnTo>
                    <a:pt x="141224" y="1243076"/>
                  </a:lnTo>
                  <a:close/>
                </a:path>
                <a:path w="154304" h="24847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249426"/>
                  </a:lnTo>
                  <a:lnTo>
                    <a:pt x="141224" y="1249426"/>
                  </a:lnTo>
                  <a:lnTo>
                    <a:pt x="141224" y="1243076"/>
                  </a:lnTo>
                  <a:lnTo>
                    <a:pt x="44450" y="1243076"/>
                  </a:lnTo>
                  <a:lnTo>
                    <a:pt x="38100" y="1236726"/>
                  </a:lnTo>
                  <a:lnTo>
                    <a:pt x="44450" y="1236726"/>
                  </a:lnTo>
                  <a:lnTo>
                    <a:pt x="44450" y="63500"/>
                  </a:lnTo>
                  <a:close/>
                </a:path>
                <a:path w="154304" h="2484754">
                  <a:moveTo>
                    <a:pt x="153924" y="1236726"/>
                  </a:moveTo>
                  <a:lnTo>
                    <a:pt x="44450" y="1236726"/>
                  </a:lnTo>
                  <a:lnTo>
                    <a:pt x="44450" y="1243076"/>
                  </a:lnTo>
                  <a:lnTo>
                    <a:pt x="141224" y="1243076"/>
                  </a:lnTo>
                  <a:lnTo>
                    <a:pt x="147574" y="1249426"/>
                  </a:lnTo>
                  <a:lnTo>
                    <a:pt x="153924" y="1249426"/>
                  </a:lnTo>
                  <a:lnTo>
                    <a:pt x="153924" y="1236726"/>
                  </a:lnTo>
                  <a:close/>
                </a:path>
                <a:path w="154304" h="2484754">
                  <a:moveTo>
                    <a:pt x="44450" y="1236726"/>
                  </a:moveTo>
                  <a:lnTo>
                    <a:pt x="38100" y="1236726"/>
                  </a:lnTo>
                  <a:lnTo>
                    <a:pt x="44450" y="1243076"/>
                  </a:lnTo>
                  <a:lnTo>
                    <a:pt x="44450" y="1236726"/>
                  </a:lnTo>
                  <a:close/>
                </a:path>
                <a:path w="154304" h="24847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54304" h="24847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11525" y="4449698"/>
              <a:ext cx="944880" cy="351155"/>
            </a:xfrm>
            <a:custGeom>
              <a:avLst/>
              <a:gdLst/>
              <a:ahLst/>
              <a:cxnLst/>
              <a:rect l="l" t="t" r="r" b="b"/>
              <a:pathLst>
                <a:path w="944879" h="351154">
                  <a:moveTo>
                    <a:pt x="931799" y="176275"/>
                  </a:moveTo>
                  <a:lnTo>
                    <a:pt x="931799" y="350900"/>
                  </a:lnTo>
                  <a:lnTo>
                    <a:pt x="944499" y="350900"/>
                  </a:lnTo>
                  <a:lnTo>
                    <a:pt x="944499" y="182625"/>
                  </a:lnTo>
                  <a:lnTo>
                    <a:pt x="938149" y="182625"/>
                  </a:lnTo>
                  <a:lnTo>
                    <a:pt x="931799" y="176275"/>
                  </a:lnTo>
                  <a:close/>
                </a:path>
                <a:path w="944879" h="3511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2625"/>
                  </a:lnTo>
                  <a:lnTo>
                    <a:pt x="931799" y="182625"/>
                  </a:lnTo>
                  <a:lnTo>
                    <a:pt x="931799" y="176275"/>
                  </a:lnTo>
                  <a:lnTo>
                    <a:pt x="44450" y="176275"/>
                  </a:lnTo>
                  <a:lnTo>
                    <a:pt x="38100" y="169925"/>
                  </a:lnTo>
                  <a:lnTo>
                    <a:pt x="44450" y="169925"/>
                  </a:lnTo>
                  <a:lnTo>
                    <a:pt x="44450" y="63500"/>
                  </a:lnTo>
                  <a:close/>
                </a:path>
                <a:path w="944879" h="351154">
                  <a:moveTo>
                    <a:pt x="944499" y="169925"/>
                  </a:moveTo>
                  <a:lnTo>
                    <a:pt x="44450" y="169925"/>
                  </a:lnTo>
                  <a:lnTo>
                    <a:pt x="44450" y="176275"/>
                  </a:lnTo>
                  <a:lnTo>
                    <a:pt x="931799" y="176275"/>
                  </a:lnTo>
                  <a:lnTo>
                    <a:pt x="938149" y="182625"/>
                  </a:lnTo>
                  <a:lnTo>
                    <a:pt x="944499" y="182625"/>
                  </a:lnTo>
                  <a:lnTo>
                    <a:pt x="944499" y="169925"/>
                  </a:lnTo>
                  <a:close/>
                </a:path>
                <a:path w="944879" h="351154">
                  <a:moveTo>
                    <a:pt x="44450" y="169925"/>
                  </a:moveTo>
                  <a:lnTo>
                    <a:pt x="38100" y="169925"/>
                  </a:lnTo>
                  <a:lnTo>
                    <a:pt x="44450" y="176275"/>
                  </a:lnTo>
                  <a:lnTo>
                    <a:pt x="44450" y="169925"/>
                  </a:lnTo>
                  <a:close/>
                </a:path>
                <a:path w="944879" h="3511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44879" h="3511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14525" y="4449698"/>
              <a:ext cx="1473200" cy="351155"/>
            </a:xfrm>
            <a:custGeom>
              <a:avLst/>
              <a:gdLst/>
              <a:ahLst/>
              <a:cxnLst/>
              <a:rect l="l" t="t" r="r" b="b"/>
              <a:pathLst>
                <a:path w="1473200" h="351154">
                  <a:moveTo>
                    <a:pt x="1428750" y="169925"/>
                  </a:moveTo>
                  <a:lnTo>
                    <a:pt x="0" y="169925"/>
                  </a:lnTo>
                  <a:lnTo>
                    <a:pt x="0" y="350900"/>
                  </a:lnTo>
                  <a:lnTo>
                    <a:pt x="12700" y="350900"/>
                  </a:lnTo>
                  <a:lnTo>
                    <a:pt x="12700" y="182625"/>
                  </a:lnTo>
                  <a:lnTo>
                    <a:pt x="6350" y="182625"/>
                  </a:lnTo>
                  <a:lnTo>
                    <a:pt x="12700" y="176275"/>
                  </a:lnTo>
                  <a:lnTo>
                    <a:pt x="1428750" y="176275"/>
                  </a:lnTo>
                  <a:lnTo>
                    <a:pt x="1428750" y="169925"/>
                  </a:lnTo>
                  <a:close/>
                </a:path>
                <a:path w="1473200" h="351154">
                  <a:moveTo>
                    <a:pt x="12700" y="176275"/>
                  </a:moveTo>
                  <a:lnTo>
                    <a:pt x="6350" y="182625"/>
                  </a:lnTo>
                  <a:lnTo>
                    <a:pt x="12700" y="182625"/>
                  </a:lnTo>
                  <a:lnTo>
                    <a:pt x="12700" y="176275"/>
                  </a:lnTo>
                  <a:close/>
                </a:path>
                <a:path w="1473200" h="351154">
                  <a:moveTo>
                    <a:pt x="1441450" y="169925"/>
                  </a:moveTo>
                  <a:lnTo>
                    <a:pt x="1435100" y="169925"/>
                  </a:lnTo>
                  <a:lnTo>
                    <a:pt x="1428750" y="176275"/>
                  </a:lnTo>
                  <a:lnTo>
                    <a:pt x="12700" y="176275"/>
                  </a:lnTo>
                  <a:lnTo>
                    <a:pt x="12700" y="182625"/>
                  </a:lnTo>
                  <a:lnTo>
                    <a:pt x="1441450" y="182625"/>
                  </a:lnTo>
                  <a:lnTo>
                    <a:pt x="1441450" y="169925"/>
                  </a:lnTo>
                  <a:close/>
                </a:path>
                <a:path w="1473200" h="351154">
                  <a:moveTo>
                    <a:pt x="1441450" y="63500"/>
                  </a:moveTo>
                  <a:lnTo>
                    <a:pt x="1428750" y="63500"/>
                  </a:lnTo>
                  <a:lnTo>
                    <a:pt x="1428750" y="176275"/>
                  </a:lnTo>
                  <a:lnTo>
                    <a:pt x="1435100" y="169925"/>
                  </a:lnTo>
                  <a:lnTo>
                    <a:pt x="1441450" y="169925"/>
                  </a:lnTo>
                  <a:lnTo>
                    <a:pt x="1441450" y="63500"/>
                  </a:lnTo>
                  <a:close/>
                </a:path>
                <a:path w="1473200" h="351154">
                  <a:moveTo>
                    <a:pt x="1435100" y="0"/>
                  </a:moveTo>
                  <a:lnTo>
                    <a:pt x="1397000" y="76200"/>
                  </a:lnTo>
                  <a:lnTo>
                    <a:pt x="1428750" y="76200"/>
                  </a:lnTo>
                  <a:lnTo>
                    <a:pt x="1428750" y="63500"/>
                  </a:lnTo>
                  <a:lnTo>
                    <a:pt x="1466850" y="63500"/>
                  </a:lnTo>
                  <a:lnTo>
                    <a:pt x="1435100" y="0"/>
                  </a:lnTo>
                  <a:close/>
                </a:path>
                <a:path w="1473200" h="351154">
                  <a:moveTo>
                    <a:pt x="1466850" y="63500"/>
                  </a:moveTo>
                  <a:lnTo>
                    <a:pt x="1441450" y="63500"/>
                  </a:lnTo>
                  <a:lnTo>
                    <a:pt x="1441450" y="76200"/>
                  </a:lnTo>
                  <a:lnTo>
                    <a:pt x="1473200" y="76200"/>
                  </a:lnTo>
                  <a:lnTo>
                    <a:pt x="1466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62150" y="3382898"/>
              <a:ext cx="1894205" cy="427355"/>
            </a:xfrm>
            <a:custGeom>
              <a:avLst/>
              <a:gdLst/>
              <a:ahLst/>
              <a:cxnLst/>
              <a:rect l="l" t="t" r="r" b="b"/>
              <a:pathLst>
                <a:path w="1894204" h="427354">
                  <a:moveTo>
                    <a:pt x="1881124" y="214375"/>
                  </a:moveTo>
                  <a:lnTo>
                    <a:pt x="1881124" y="427100"/>
                  </a:lnTo>
                  <a:lnTo>
                    <a:pt x="1893824" y="427100"/>
                  </a:lnTo>
                  <a:lnTo>
                    <a:pt x="1893824" y="220725"/>
                  </a:lnTo>
                  <a:lnTo>
                    <a:pt x="1887474" y="220725"/>
                  </a:lnTo>
                  <a:lnTo>
                    <a:pt x="1881124" y="214375"/>
                  </a:lnTo>
                  <a:close/>
                </a:path>
                <a:path w="1894204" h="427354">
                  <a:moveTo>
                    <a:pt x="44450" y="63500"/>
                  </a:moveTo>
                  <a:lnTo>
                    <a:pt x="31623" y="63500"/>
                  </a:lnTo>
                  <a:lnTo>
                    <a:pt x="31623" y="220725"/>
                  </a:lnTo>
                  <a:lnTo>
                    <a:pt x="1881124" y="220725"/>
                  </a:lnTo>
                  <a:lnTo>
                    <a:pt x="1881124" y="214375"/>
                  </a:lnTo>
                  <a:lnTo>
                    <a:pt x="44450" y="214375"/>
                  </a:lnTo>
                  <a:lnTo>
                    <a:pt x="38100" y="208025"/>
                  </a:lnTo>
                  <a:lnTo>
                    <a:pt x="44450" y="208025"/>
                  </a:lnTo>
                  <a:lnTo>
                    <a:pt x="44450" y="63500"/>
                  </a:lnTo>
                  <a:close/>
                </a:path>
                <a:path w="1894204" h="427354">
                  <a:moveTo>
                    <a:pt x="1893824" y="208025"/>
                  </a:moveTo>
                  <a:lnTo>
                    <a:pt x="44450" y="208025"/>
                  </a:lnTo>
                  <a:lnTo>
                    <a:pt x="44450" y="214375"/>
                  </a:lnTo>
                  <a:lnTo>
                    <a:pt x="1881124" y="214375"/>
                  </a:lnTo>
                  <a:lnTo>
                    <a:pt x="1887474" y="220725"/>
                  </a:lnTo>
                  <a:lnTo>
                    <a:pt x="1893824" y="220725"/>
                  </a:lnTo>
                  <a:lnTo>
                    <a:pt x="1893824" y="208025"/>
                  </a:lnTo>
                  <a:close/>
                </a:path>
                <a:path w="1894204" h="427354">
                  <a:moveTo>
                    <a:pt x="44450" y="208025"/>
                  </a:moveTo>
                  <a:lnTo>
                    <a:pt x="38100" y="208025"/>
                  </a:lnTo>
                  <a:lnTo>
                    <a:pt x="44450" y="214375"/>
                  </a:lnTo>
                  <a:lnTo>
                    <a:pt x="44450" y="208025"/>
                  </a:lnTo>
                  <a:close/>
                </a:path>
                <a:path w="1894204" h="427354">
                  <a:moveTo>
                    <a:pt x="38100" y="0"/>
                  </a:moveTo>
                  <a:lnTo>
                    <a:pt x="0" y="76200"/>
                  </a:lnTo>
                  <a:lnTo>
                    <a:pt x="31623" y="76200"/>
                  </a:lnTo>
                  <a:lnTo>
                    <a:pt x="3162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894204" h="4273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 flipH="1">
              <a:off x="3356352" y="3347276"/>
              <a:ext cx="675896" cy="462723"/>
            </a:xfrm>
            <a:custGeom>
              <a:avLst/>
              <a:gdLst/>
              <a:ahLst/>
              <a:cxnLst/>
              <a:rect l="l" t="t" r="r" b="b"/>
              <a:pathLst>
                <a:path w="360679" h="1600200">
                  <a:moveTo>
                    <a:pt x="347725" y="800100"/>
                  </a:moveTo>
                  <a:lnTo>
                    <a:pt x="347725" y="1600200"/>
                  </a:lnTo>
                  <a:lnTo>
                    <a:pt x="360425" y="1600200"/>
                  </a:lnTo>
                  <a:lnTo>
                    <a:pt x="360425" y="806450"/>
                  </a:lnTo>
                  <a:lnTo>
                    <a:pt x="354075" y="806450"/>
                  </a:lnTo>
                  <a:lnTo>
                    <a:pt x="347725" y="800100"/>
                  </a:lnTo>
                  <a:close/>
                </a:path>
                <a:path w="360679" h="16002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806450"/>
                  </a:lnTo>
                  <a:lnTo>
                    <a:pt x="347725" y="806450"/>
                  </a:lnTo>
                  <a:lnTo>
                    <a:pt x="347725" y="800100"/>
                  </a:lnTo>
                  <a:lnTo>
                    <a:pt x="44450" y="800100"/>
                  </a:lnTo>
                  <a:lnTo>
                    <a:pt x="38100" y="793750"/>
                  </a:lnTo>
                  <a:lnTo>
                    <a:pt x="44450" y="793750"/>
                  </a:lnTo>
                  <a:lnTo>
                    <a:pt x="44450" y="63500"/>
                  </a:lnTo>
                  <a:close/>
                </a:path>
                <a:path w="360679" h="1600200">
                  <a:moveTo>
                    <a:pt x="360425" y="793750"/>
                  </a:moveTo>
                  <a:lnTo>
                    <a:pt x="44450" y="793750"/>
                  </a:lnTo>
                  <a:lnTo>
                    <a:pt x="44450" y="800100"/>
                  </a:lnTo>
                  <a:lnTo>
                    <a:pt x="347725" y="800100"/>
                  </a:lnTo>
                  <a:lnTo>
                    <a:pt x="354075" y="806450"/>
                  </a:lnTo>
                  <a:lnTo>
                    <a:pt x="360425" y="806450"/>
                  </a:lnTo>
                  <a:lnTo>
                    <a:pt x="360425" y="793750"/>
                  </a:lnTo>
                  <a:close/>
                </a:path>
                <a:path w="360679" h="1600200">
                  <a:moveTo>
                    <a:pt x="44450" y="793750"/>
                  </a:moveTo>
                  <a:lnTo>
                    <a:pt x="38100" y="793750"/>
                  </a:lnTo>
                  <a:lnTo>
                    <a:pt x="44450" y="800100"/>
                  </a:lnTo>
                  <a:lnTo>
                    <a:pt x="44450" y="793750"/>
                  </a:lnTo>
                  <a:close/>
                </a:path>
                <a:path w="360679" h="16002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60679" h="16002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77912" y="2096367"/>
              <a:ext cx="301625" cy="610766"/>
            </a:xfrm>
            <a:custGeom>
              <a:avLst/>
              <a:gdLst/>
              <a:ahLst/>
              <a:cxnLst/>
              <a:rect l="l" t="t" r="r" b="b"/>
              <a:pathLst>
                <a:path w="323850" h="1616075">
                  <a:moveTo>
                    <a:pt x="311086" y="807974"/>
                  </a:moveTo>
                  <a:lnTo>
                    <a:pt x="311086" y="1616075"/>
                  </a:lnTo>
                  <a:lnTo>
                    <a:pt x="323786" y="1616075"/>
                  </a:lnTo>
                  <a:lnTo>
                    <a:pt x="323786" y="814324"/>
                  </a:lnTo>
                  <a:lnTo>
                    <a:pt x="317436" y="814324"/>
                  </a:lnTo>
                  <a:lnTo>
                    <a:pt x="311086" y="807974"/>
                  </a:lnTo>
                  <a:close/>
                </a:path>
                <a:path w="323850" h="161607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814324"/>
                  </a:lnTo>
                  <a:lnTo>
                    <a:pt x="311086" y="814324"/>
                  </a:lnTo>
                  <a:lnTo>
                    <a:pt x="311086" y="807974"/>
                  </a:lnTo>
                  <a:lnTo>
                    <a:pt x="44450" y="807974"/>
                  </a:lnTo>
                  <a:lnTo>
                    <a:pt x="38100" y="801624"/>
                  </a:lnTo>
                  <a:lnTo>
                    <a:pt x="44450" y="801624"/>
                  </a:lnTo>
                  <a:lnTo>
                    <a:pt x="44450" y="63500"/>
                  </a:lnTo>
                  <a:close/>
                </a:path>
                <a:path w="323850" h="1616075">
                  <a:moveTo>
                    <a:pt x="323786" y="801624"/>
                  </a:moveTo>
                  <a:lnTo>
                    <a:pt x="44450" y="801624"/>
                  </a:lnTo>
                  <a:lnTo>
                    <a:pt x="44450" y="807974"/>
                  </a:lnTo>
                  <a:lnTo>
                    <a:pt x="311086" y="807974"/>
                  </a:lnTo>
                  <a:lnTo>
                    <a:pt x="317436" y="814324"/>
                  </a:lnTo>
                  <a:lnTo>
                    <a:pt x="323786" y="814324"/>
                  </a:lnTo>
                  <a:lnTo>
                    <a:pt x="323786" y="801624"/>
                  </a:lnTo>
                  <a:close/>
                </a:path>
                <a:path w="323850" h="1616075">
                  <a:moveTo>
                    <a:pt x="44450" y="801624"/>
                  </a:moveTo>
                  <a:lnTo>
                    <a:pt x="38100" y="801624"/>
                  </a:lnTo>
                  <a:lnTo>
                    <a:pt x="44450" y="807974"/>
                  </a:lnTo>
                  <a:lnTo>
                    <a:pt x="44450" y="801624"/>
                  </a:lnTo>
                  <a:close/>
                </a:path>
                <a:path w="323850" h="161607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23850" h="161607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57142" y="2195894"/>
              <a:ext cx="699263" cy="563436"/>
            </a:xfrm>
            <a:custGeom>
              <a:avLst/>
              <a:gdLst/>
              <a:ahLst/>
              <a:cxnLst/>
              <a:rect l="l" t="t" r="r" b="b"/>
              <a:pathLst>
                <a:path w="662304" h="808355">
                  <a:moveTo>
                    <a:pt x="617601" y="398525"/>
                  </a:moveTo>
                  <a:lnTo>
                    <a:pt x="0" y="398525"/>
                  </a:lnTo>
                  <a:lnTo>
                    <a:pt x="0" y="808101"/>
                  </a:lnTo>
                  <a:lnTo>
                    <a:pt x="12700" y="808101"/>
                  </a:lnTo>
                  <a:lnTo>
                    <a:pt x="12700" y="411225"/>
                  </a:lnTo>
                  <a:lnTo>
                    <a:pt x="6350" y="411225"/>
                  </a:lnTo>
                  <a:lnTo>
                    <a:pt x="12700" y="404875"/>
                  </a:lnTo>
                  <a:lnTo>
                    <a:pt x="617601" y="404875"/>
                  </a:lnTo>
                  <a:lnTo>
                    <a:pt x="617601" y="398525"/>
                  </a:lnTo>
                  <a:close/>
                </a:path>
                <a:path w="662304" h="808355">
                  <a:moveTo>
                    <a:pt x="12700" y="404875"/>
                  </a:moveTo>
                  <a:lnTo>
                    <a:pt x="6350" y="411225"/>
                  </a:lnTo>
                  <a:lnTo>
                    <a:pt x="12700" y="411225"/>
                  </a:lnTo>
                  <a:lnTo>
                    <a:pt x="12700" y="404875"/>
                  </a:lnTo>
                  <a:close/>
                </a:path>
                <a:path w="662304" h="808355">
                  <a:moveTo>
                    <a:pt x="630301" y="398525"/>
                  </a:moveTo>
                  <a:lnTo>
                    <a:pt x="623951" y="398525"/>
                  </a:lnTo>
                  <a:lnTo>
                    <a:pt x="617601" y="404875"/>
                  </a:lnTo>
                  <a:lnTo>
                    <a:pt x="12700" y="404875"/>
                  </a:lnTo>
                  <a:lnTo>
                    <a:pt x="12700" y="411225"/>
                  </a:lnTo>
                  <a:lnTo>
                    <a:pt x="630301" y="411225"/>
                  </a:lnTo>
                  <a:lnTo>
                    <a:pt x="630301" y="398525"/>
                  </a:lnTo>
                  <a:close/>
                </a:path>
                <a:path w="662304" h="808355">
                  <a:moveTo>
                    <a:pt x="630301" y="63500"/>
                  </a:moveTo>
                  <a:lnTo>
                    <a:pt x="617601" y="63500"/>
                  </a:lnTo>
                  <a:lnTo>
                    <a:pt x="617601" y="404875"/>
                  </a:lnTo>
                  <a:lnTo>
                    <a:pt x="623951" y="398525"/>
                  </a:lnTo>
                  <a:lnTo>
                    <a:pt x="630301" y="398525"/>
                  </a:lnTo>
                  <a:lnTo>
                    <a:pt x="630301" y="63500"/>
                  </a:lnTo>
                  <a:close/>
                </a:path>
                <a:path w="662304" h="808355">
                  <a:moveTo>
                    <a:pt x="623951" y="0"/>
                  </a:moveTo>
                  <a:lnTo>
                    <a:pt x="585851" y="76200"/>
                  </a:lnTo>
                  <a:lnTo>
                    <a:pt x="617601" y="76200"/>
                  </a:lnTo>
                  <a:lnTo>
                    <a:pt x="617601" y="63500"/>
                  </a:lnTo>
                  <a:lnTo>
                    <a:pt x="655701" y="63500"/>
                  </a:lnTo>
                  <a:lnTo>
                    <a:pt x="623951" y="0"/>
                  </a:lnTo>
                  <a:close/>
                </a:path>
                <a:path w="662304" h="808355">
                  <a:moveTo>
                    <a:pt x="655701" y="63500"/>
                  </a:moveTo>
                  <a:lnTo>
                    <a:pt x="630301" y="63500"/>
                  </a:lnTo>
                  <a:lnTo>
                    <a:pt x="630301" y="76200"/>
                  </a:lnTo>
                  <a:lnTo>
                    <a:pt x="662051" y="76200"/>
                  </a:lnTo>
                  <a:lnTo>
                    <a:pt x="655701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11573" y="2195893"/>
              <a:ext cx="1587120" cy="334582"/>
            </a:xfrm>
            <a:custGeom>
              <a:avLst/>
              <a:gdLst/>
              <a:ahLst/>
              <a:cxnLst/>
              <a:rect l="l" t="t" r="r" b="b"/>
              <a:pathLst>
                <a:path w="2032000" h="655955">
                  <a:moveTo>
                    <a:pt x="2019300" y="328549"/>
                  </a:moveTo>
                  <a:lnTo>
                    <a:pt x="2019300" y="655574"/>
                  </a:lnTo>
                  <a:lnTo>
                    <a:pt x="2032000" y="655574"/>
                  </a:lnTo>
                  <a:lnTo>
                    <a:pt x="2032000" y="334899"/>
                  </a:lnTo>
                  <a:lnTo>
                    <a:pt x="2025650" y="334899"/>
                  </a:lnTo>
                  <a:lnTo>
                    <a:pt x="2019300" y="328549"/>
                  </a:lnTo>
                  <a:close/>
                </a:path>
                <a:path w="2032000" h="65595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34899"/>
                  </a:lnTo>
                  <a:lnTo>
                    <a:pt x="2019300" y="334899"/>
                  </a:lnTo>
                  <a:lnTo>
                    <a:pt x="2019300" y="328549"/>
                  </a:lnTo>
                  <a:lnTo>
                    <a:pt x="44450" y="328549"/>
                  </a:lnTo>
                  <a:lnTo>
                    <a:pt x="38100" y="322199"/>
                  </a:lnTo>
                  <a:lnTo>
                    <a:pt x="44450" y="322199"/>
                  </a:lnTo>
                  <a:lnTo>
                    <a:pt x="44450" y="63500"/>
                  </a:lnTo>
                  <a:close/>
                </a:path>
                <a:path w="2032000" h="655955">
                  <a:moveTo>
                    <a:pt x="2032000" y="322199"/>
                  </a:moveTo>
                  <a:lnTo>
                    <a:pt x="44450" y="322199"/>
                  </a:lnTo>
                  <a:lnTo>
                    <a:pt x="44450" y="328549"/>
                  </a:lnTo>
                  <a:lnTo>
                    <a:pt x="2019300" y="328549"/>
                  </a:lnTo>
                  <a:lnTo>
                    <a:pt x="2025650" y="334899"/>
                  </a:lnTo>
                  <a:lnTo>
                    <a:pt x="2032000" y="334899"/>
                  </a:lnTo>
                  <a:lnTo>
                    <a:pt x="2032000" y="322199"/>
                  </a:lnTo>
                  <a:close/>
                </a:path>
                <a:path w="2032000" h="655955">
                  <a:moveTo>
                    <a:pt x="44450" y="322199"/>
                  </a:moveTo>
                  <a:lnTo>
                    <a:pt x="38100" y="322199"/>
                  </a:lnTo>
                  <a:lnTo>
                    <a:pt x="44450" y="328549"/>
                  </a:lnTo>
                  <a:lnTo>
                    <a:pt x="44450" y="322199"/>
                  </a:lnTo>
                  <a:close/>
                </a:path>
                <a:path w="2032000" h="65595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032000" h="65595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11573" y="2195893"/>
              <a:ext cx="3869945" cy="350712"/>
            </a:xfrm>
            <a:custGeom>
              <a:avLst/>
              <a:gdLst/>
              <a:ahLst/>
              <a:cxnLst/>
              <a:rect l="l" t="t" r="r" b="b"/>
              <a:pathLst>
                <a:path w="4314825" h="655955">
                  <a:moveTo>
                    <a:pt x="4302125" y="328675"/>
                  </a:moveTo>
                  <a:lnTo>
                    <a:pt x="4302125" y="655701"/>
                  </a:lnTo>
                  <a:lnTo>
                    <a:pt x="4314825" y="655701"/>
                  </a:lnTo>
                  <a:lnTo>
                    <a:pt x="4314825" y="335025"/>
                  </a:lnTo>
                  <a:lnTo>
                    <a:pt x="4308475" y="335025"/>
                  </a:lnTo>
                  <a:lnTo>
                    <a:pt x="4302125" y="328675"/>
                  </a:lnTo>
                  <a:close/>
                </a:path>
                <a:path w="4314825" h="65595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35025"/>
                  </a:lnTo>
                  <a:lnTo>
                    <a:pt x="4302125" y="335025"/>
                  </a:lnTo>
                  <a:lnTo>
                    <a:pt x="4302125" y="328675"/>
                  </a:lnTo>
                  <a:lnTo>
                    <a:pt x="44450" y="328675"/>
                  </a:lnTo>
                  <a:lnTo>
                    <a:pt x="38100" y="322325"/>
                  </a:lnTo>
                  <a:lnTo>
                    <a:pt x="44450" y="322325"/>
                  </a:lnTo>
                  <a:lnTo>
                    <a:pt x="44450" y="63500"/>
                  </a:lnTo>
                  <a:close/>
                </a:path>
                <a:path w="4314825" h="655955">
                  <a:moveTo>
                    <a:pt x="4314825" y="322325"/>
                  </a:moveTo>
                  <a:lnTo>
                    <a:pt x="44450" y="322325"/>
                  </a:lnTo>
                  <a:lnTo>
                    <a:pt x="44450" y="328675"/>
                  </a:lnTo>
                  <a:lnTo>
                    <a:pt x="4302125" y="328675"/>
                  </a:lnTo>
                  <a:lnTo>
                    <a:pt x="4308475" y="335025"/>
                  </a:lnTo>
                  <a:lnTo>
                    <a:pt x="4314825" y="335025"/>
                  </a:lnTo>
                  <a:lnTo>
                    <a:pt x="4314825" y="322325"/>
                  </a:lnTo>
                  <a:close/>
                </a:path>
                <a:path w="4314825" h="655955">
                  <a:moveTo>
                    <a:pt x="44450" y="322325"/>
                  </a:moveTo>
                  <a:lnTo>
                    <a:pt x="38100" y="322325"/>
                  </a:lnTo>
                  <a:lnTo>
                    <a:pt x="44450" y="328675"/>
                  </a:lnTo>
                  <a:lnTo>
                    <a:pt x="44450" y="322325"/>
                  </a:lnTo>
                  <a:close/>
                </a:path>
                <a:path w="4314825" h="65595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314825" h="65595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5715000" y="5791200"/>
              <a:ext cx="2208530" cy="822325"/>
            </a:xfrm>
            <a:prstGeom prst="rect">
              <a:avLst/>
            </a:prstGeom>
            <a:solidFill>
              <a:srgbClr val="FFCCCC"/>
            </a:solidFill>
          </p:spPr>
          <p:txBody>
            <a:bodyPr vert="horz" wrap="square" lIns="0" tIns="45719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59"/>
                </a:spcBef>
              </a:pPr>
              <a:r>
                <a:rPr sz="1200" b="1" dirty="0">
                  <a:latin typeface="Tahoma"/>
                  <a:cs typeface="Tahoma"/>
                </a:rPr>
                <a:t>11</a:t>
              </a:r>
              <a:endParaRPr sz="1200">
                <a:latin typeface="Tahoma"/>
                <a:cs typeface="Tahoma"/>
              </a:endParaRPr>
            </a:p>
            <a:p>
              <a:pPr marL="92710" marR="86360" indent="635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DESCONOCIMIENTO DE  TECNOLOGÍAS PARA  EMPAQUE</a:t>
              </a:r>
              <a:r>
                <a:rPr sz="1200" b="1" spc="-7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SELECCIONADO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180073" y="5440298"/>
              <a:ext cx="646430" cy="351155"/>
            </a:xfrm>
            <a:custGeom>
              <a:avLst/>
              <a:gdLst/>
              <a:ahLst/>
              <a:cxnLst/>
              <a:rect l="l" t="t" r="r" b="b"/>
              <a:pathLst>
                <a:path w="646429" h="351154">
                  <a:moveTo>
                    <a:pt x="633476" y="176275"/>
                  </a:moveTo>
                  <a:lnTo>
                    <a:pt x="633476" y="350900"/>
                  </a:lnTo>
                  <a:lnTo>
                    <a:pt x="646176" y="350900"/>
                  </a:lnTo>
                  <a:lnTo>
                    <a:pt x="646176" y="182625"/>
                  </a:lnTo>
                  <a:lnTo>
                    <a:pt x="639826" y="182625"/>
                  </a:lnTo>
                  <a:lnTo>
                    <a:pt x="633476" y="176275"/>
                  </a:lnTo>
                  <a:close/>
                </a:path>
                <a:path w="646429" h="3511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2625"/>
                  </a:lnTo>
                  <a:lnTo>
                    <a:pt x="633476" y="182625"/>
                  </a:lnTo>
                  <a:lnTo>
                    <a:pt x="633476" y="176275"/>
                  </a:lnTo>
                  <a:lnTo>
                    <a:pt x="44450" y="176275"/>
                  </a:lnTo>
                  <a:lnTo>
                    <a:pt x="38100" y="169925"/>
                  </a:lnTo>
                  <a:lnTo>
                    <a:pt x="44450" y="169925"/>
                  </a:lnTo>
                  <a:lnTo>
                    <a:pt x="44450" y="63500"/>
                  </a:lnTo>
                  <a:close/>
                </a:path>
                <a:path w="646429" h="351154">
                  <a:moveTo>
                    <a:pt x="646176" y="169925"/>
                  </a:moveTo>
                  <a:lnTo>
                    <a:pt x="44450" y="169925"/>
                  </a:lnTo>
                  <a:lnTo>
                    <a:pt x="44450" y="176275"/>
                  </a:lnTo>
                  <a:lnTo>
                    <a:pt x="633476" y="176275"/>
                  </a:lnTo>
                  <a:lnTo>
                    <a:pt x="639826" y="182625"/>
                  </a:lnTo>
                  <a:lnTo>
                    <a:pt x="646176" y="182625"/>
                  </a:lnTo>
                  <a:lnTo>
                    <a:pt x="646176" y="169925"/>
                  </a:lnTo>
                  <a:close/>
                </a:path>
                <a:path w="646429" h="351154">
                  <a:moveTo>
                    <a:pt x="44450" y="169925"/>
                  </a:moveTo>
                  <a:lnTo>
                    <a:pt x="38100" y="169925"/>
                  </a:lnTo>
                  <a:lnTo>
                    <a:pt x="44450" y="176275"/>
                  </a:lnTo>
                  <a:lnTo>
                    <a:pt x="44450" y="169925"/>
                  </a:lnTo>
                  <a:close/>
                </a:path>
                <a:path w="646429" h="3511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646429" h="3511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304800" y="5791200"/>
              <a:ext cx="1552575" cy="852805"/>
            </a:xfrm>
            <a:prstGeom prst="rect">
              <a:avLst/>
            </a:prstGeom>
            <a:solidFill>
              <a:srgbClr val="FFCC00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635" algn="ctr">
                <a:lnSpc>
                  <a:spcPts val="1680"/>
                </a:lnSpc>
                <a:spcBef>
                  <a:spcPts val="360"/>
                </a:spcBef>
              </a:pPr>
              <a:r>
                <a:rPr sz="1400" b="1" spc="-10" dirty="0">
                  <a:latin typeface="Tahoma"/>
                  <a:cs typeface="Tahoma"/>
                </a:rPr>
                <a:t>13</a:t>
              </a:r>
              <a:endParaRPr sz="1400">
                <a:latin typeface="Tahoma"/>
                <a:cs typeface="Tahoma"/>
              </a:endParaRPr>
            </a:p>
            <a:p>
              <a:pPr marL="93345" marR="85725" algn="ctr">
                <a:lnSpc>
                  <a:spcPts val="1440"/>
                </a:lnSpc>
                <a:spcBef>
                  <a:spcPts val="50"/>
                </a:spcBef>
              </a:pPr>
              <a:r>
                <a:rPr sz="1200" b="1" spc="-5" dirty="0">
                  <a:latin typeface="Tahoma"/>
                  <a:cs typeface="Tahoma"/>
                </a:rPr>
                <a:t>M</a:t>
              </a:r>
              <a:r>
                <a:rPr sz="1200" b="1" spc="-10" dirty="0">
                  <a:latin typeface="Tahoma"/>
                  <a:cs typeface="Tahoma"/>
                </a:rPr>
                <a:t>A</a:t>
              </a:r>
              <a:r>
                <a:rPr sz="1200" b="1" dirty="0">
                  <a:latin typeface="Tahoma"/>
                  <a:cs typeface="Tahoma"/>
                </a:rPr>
                <a:t>N</a:t>
              </a:r>
              <a:r>
                <a:rPr sz="1200" b="1" spc="-5" dirty="0">
                  <a:latin typeface="Tahoma"/>
                  <a:cs typeface="Tahoma"/>
                </a:rPr>
                <a:t>T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r>
                <a:rPr sz="1200" b="1" spc="-5" dirty="0">
                  <a:latin typeface="Tahoma"/>
                  <a:cs typeface="Tahoma"/>
                </a:rPr>
                <a:t>IM</a:t>
              </a:r>
              <a:r>
                <a:rPr sz="1200" b="1" spc="-10" dirty="0">
                  <a:latin typeface="Tahoma"/>
                  <a:cs typeface="Tahoma"/>
                </a:rPr>
                <a:t>I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r>
                <a:rPr sz="1200" b="1" spc="-5" dirty="0">
                  <a:latin typeface="Tahoma"/>
                  <a:cs typeface="Tahoma"/>
                </a:rPr>
                <a:t>T</a:t>
              </a:r>
              <a:r>
                <a:rPr sz="1200" b="1" dirty="0">
                  <a:latin typeface="Tahoma"/>
                  <a:cs typeface="Tahoma"/>
                </a:rPr>
                <a:t>O  </a:t>
              </a:r>
              <a:r>
                <a:rPr sz="1200" b="1" spc="-5" dirty="0">
                  <a:latin typeface="Tahoma"/>
                  <a:cs typeface="Tahoma"/>
                </a:rPr>
                <a:t>DEFICIENTE DE  COSECHADORAS</a:t>
              </a:r>
              <a:endParaRPr sz="1200">
                <a:latin typeface="Tahoma"/>
                <a:cs typeface="Tahoma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059" y="1909911"/>
            <a:ext cx="339979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Un </a:t>
            </a:r>
            <a:r>
              <a:rPr sz="2800" spc="-5" dirty="0"/>
              <a:t>nodo</a:t>
            </a:r>
            <a:r>
              <a:rPr sz="2800" spc="-114" dirty="0"/>
              <a:t> </a:t>
            </a:r>
            <a:r>
              <a:rPr sz="2800" dirty="0"/>
              <a:t>crítico: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2819400"/>
            <a:ext cx="6550660" cy="10393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6270" indent="-343535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dirty="0">
                <a:latin typeface="Comic Sans MS"/>
                <a:cs typeface="Comic Sans MS"/>
              </a:rPr>
              <a:t>Es aquél al que </a:t>
            </a:r>
            <a:r>
              <a:rPr sz="2000" spc="-5" dirty="0">
                <a:latin typeface="Comic Sans MS"/>
                <a:cs typeface="Comic Sans MS"/>
              </a:rPr>
              <a:t>confluye </a:t>
            </a:r>
            <a:r>
              <a:rPr sz="2000" dirty="0">
                <a:latin typeface="Comic Sans MS"/>
                <a:cs typeface="Comic Sans MS"/>
              </a:rPr>
              <a:t>un </a:t>
            </a:r>
            <a:r>
              <a:rPr sz="2000" spc="-5" dirty="0">
                <a:latin typeface="Comic Sans MS"/>
                <a:cs typeface="Comic Sans MS"/>
              </a:rPr>
              <a:t>buen  número de </a:t>
            </a:r>
            <a:r>
              <a:rPr sz="2000" dirty="0">
                <a:latin typeface="Comic Sans MS"/>
                <a:cs typeface="Comic Sans MS"/>
              </a:rPr>
              <a:t>problemas </a:t>
            </a:r>
            <a:r>
              <a:rPr sz="2000" spc="-5" dirty="0">
                <a:latin typeface="Comic Sans MS"/>
                <a:cs typeface="Comic Sans MS"/>
              </a:rPr>
              <a:t>identificados  </a:t>
            </a:r>
            <a:r>
              <a:rPr sz="2000" dirty="0">
                <a:latin typeface="Comic Sans MS"/>
                <a:cs typeface="Comic Sans MS"/>
              </a:rPr>
              <a:t>por </a:t>
            </a:r>
            <a:r>
              <a:rPr sz="2000" spc="-5" dirty="0">
                <a:latin typeface="Comic Sans MS"/>
                <a:cs typeface="Comic Sans MS"/>
              </a:rPr>
              <a:t>los involucrados.</a:t>
            </a:r>
            <a:endParaRPr sz="2000" dirty="0">
              <a:latin typeface="Comic Sans MS"/>
              <a:cs typeface="Comic Sans MS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dirty="0">
                <a:latin typeface="Comic Sans MS"/>
                <a:cs typeface="Comic Sans MS"/>
              </a:rPr>
              <a:t>Tiene </a:t>
            </a:r>
            <a:r>
              <a:rPr sz="2000" spc="-5" dirty="0">
                <a:latin typeface="Comic Sans MS"/>
                <a:cs typeface="Comic Sans MS"/>
              </a:rPr>
              <a:t>un </a:t>
            </a:r>
            <a:r>
              <a:rPr sz="2000" dirty="0">
                <a:latin typeface="Comic Sans MS"/>
                <a:cs typeface="Comic Sans MS"/>
              </a:rPr>
              <a:t>alcance </a:t>
            </a:r>
            <a:r>
              <a:rPr sz="2000" spc="-5" dirty="0">
                <a:latin typeface="Comic Sans MS"/>
                <a:cs typeface="Comic Sans MS"/>
              </a:rPr>
              <a:t>relativamente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amplio.</a:t>
            </a:r>
          </a:p>
        </p:txBody>
      </p:sp>
      <p:grpSp>
        <p:nvGrpSpPr>
          <p:cNvPr id="15" name="Grupo 14"/>
          <p:cNvGrpSpPr/>
          <p:nvPr/>
        </p:nvGrpSpPr>
        <p:grpSpPr>
          <a:xfrm>
            <a:off x="1913698" y="4324564"/>
            <a:ext cx="4103561" cy="1973283"/>
            <a:chOff x="2561337" y="4846151"/>
            <a:chExt cx="2896107" cy="1071373"/>
          </a:xfrm>
        </p:grpSpPr>
        <p:sp>
          <p:nvSpPr>
            <p:cNvPr id="4" name="object 4"/>
            <p:cNvSpPr/>
            <p:nvPr/>
          </p:nvSpPr>
          <p:spPr>
            <a:xfrm>
              <a:off x="2561337" y="5561924"/>
              <a:ext cx="858519" cy="355600"/>
            </a:xfrm>
            <a:custGeom>
              <a:avLst/>
              <a:gdLst/>
              <a:ahLst/>
              <a:cxnLst/>
              <a:rect l="l" t="t" r="r" b="b"/>
              <a:pathLst>
                <a:path w="858520" h="355600">
                  <a:moveTo>
                    <a:pt x="0" y="355600"/>
                  </a:moveTo>
                  <a:lnTo>
                    <a:pt x="857961" y="355600"/>
                  </a:lnTo>
                  <a:lnTo>
                    <a:pt x="857961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61337" y="5561924"/>
              <a:ext cx="858519" cy="355600"/>
            </a:xfrm>
            <a:custGeom>
              <a:avLst/>
              <a:gdLst/>
              <a:ahLst/>
              <a:cxnLst/>
              <a:rect l="l" t="t" r="r" b="b"/>
              <a:pathLst>
                <a:path w="858520" h="355600">
                  <a:moveTo>
                    <a:pt x="0" y="355600"/>
                  </a:moveTo>
                  <a:lnTo>
                    <a:pt x="857961" y="355600"/>
                  </a:lnTo>
                  <a:lnTo>
                    <a:pt x="857961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74796" y="4846151"/>
              <a:ext cx="864107" cy="4754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80130" y="5561924"/>
              <a:ext cx="858519" cy="355600"/>
            </a:xfrm>
            <a:custGeom>
              <a:avLst/>
              <a:gdLst/>
              <a:ahLst/>
              <a:cxnLst/>
              <a:rect l="l" t="t" r="r" b="b"/>
              <a:pathLst>
                <a:path w="858520" h="355600">
                  <a:moveTo>
                    <a:pt x="0" y="355600"/>
                  </a:moveTo>
                  <a:lnTo>
                    <a:pt x="857961" y="355600"/>
                  </a:lnTo>
                  <a:lnTo>
                    <a:pt x="857961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80130" y="5561924"/>
              <a:ext cx="858519" cy="355600"/>
            </a:xfrm>
            <a:custGeom>
              <a:avLst/>
              <a:gdLst/>
              <a:ahLst/>
              <a:cxnLst/>
              <a:rect l="l" t="t" r="r" b="b"/>
              <a:pathLst>
                <a:path w="858520" h="355600">
                  <a:moveTo>
                    <a:pt x="0" y="355600"/>
                  </a:moveTo>
                  <a:lnTo>
                    <a:pt x="857961" y="355600"/>
                  </a:lnTo>
                  <a:lnTo>
                    <a:pt x="857961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83992" y="5206324"/>
              <a:ext cx="1063625" cy="355600"/>
            </a:xfrm>
            <a:custGeom>
              <a:avLst/>
              <a:gdLst/>
              <a:ahLst/>
              <a:cxnLst/>
              <a:rect l="l" t="t" r="r" b="b"/>
              <a:pathLst>
                <a:path w="1063625" h="355600">
                  <a:moveTo>
                    <a:pt x="1018794" y="171450"/>
                  </a:moveTo>
                  <a:lnTo>
                    <a:pt x="0" y="171450"/>
                  </a:lnTo>
                  <a:lnTo>
                    <a:pt x="0" y="355600"/>
                  </a:lnTo>
                  <a:lnTo>
                    <a:pt x="12700" y="355600"/>
                  </a:lnTo>
                  <a:lnTo>
                    <a:pt x="12700" y="184150"/>
                  </a:lnTo>
                  <a:lnTo>
                    <a:pt x="6350" y="184150"/>
                  </a:lnTo>
                  <a:lnTo>
                    <a:pt x="12700" y="177800"/>
                  </a:lnTo>
                  <a:lnTo>
                    <a:pt x="1018794" y="177800"/>
                  </a:lnTo>
                  <a:lnTo>
                    <a:pt x="1018794" y="171450"/>
                  </a:lnTo>
                  <a:close/>
                </a:path>
                <a:path w="1063625" h="355600">
                  <a:moveTo>
                    <a:pt x="12700" y="177800"/>
                  </a:moveTo>
                  <a:lnTo>
                    <a:pt x="6350" y="184150"/>
                  </a:lnTo>
                  <a:lnTo>
                    <a:pt x="12700" y="184150"/>
                  </a:lnTo>
                  <a:lnTo>
                    <a:pt x="12700" y="177800"/>
                  </a:lnTo>
                  <a:close/>
                </a:path>
                <a:path w="1063625" h="355600">
                  <a:moveTo>
                    <a:pt x="1031494" y="171450"/>
                  </a:moveTo>
                  <a:lnTo>
                    <a:pt x="1025144" y="171450"/>
                  </a:lnTo>
                  <a:lnTo>
                    <a:pt x="1018794" y="177800"/>
                  </a:lnTo>
                  <a:lnTo>
                    <a:pt x="12700" y="177800"/>
                  </a:lnTo>
                  <a:lnTo>
                    <a:pt x="12700" y="184150"/>
                  </a:lnTo>
                  <a:lnTo>
                    <a:pt x="1031494" y="184150"/>
                  </a:lnTo>
                  <a:lnTo>
                    <a:pt x="1031494" y="171450"/>
                  </a:lnTo>
                  <a:close/>
                </a:path>
                <a:path w="1063625" h="355600">
                  <a:moveTo>
                    <a:pt x="1031494" y="63500"/>
                  </a:moveTo>
                  <a:lnTo>
                    <a:pt x="1018794" y="63500"/>
                  </a:lnTo>
                  <a:lnTo>
                    <a:pt x="1018794" y="177800"/>
                  </a:lnTo>
                  <a:lnTo>
                    <a:pt x="1025144" y="171450"/>
                  </a:lnTo>
                  <a:lnTo>
                    <a:pt x="1031494" y="171450"/>
                  </a:lnTo>
                  <a:lnTo>
                    <a:pt x="1031494" y="63500"/>
                  </a:lnTo>
                  <a:close/>
                </a:path>
                <a:path w="1063625" h="355600">
                  <a:moveTo>
                    <a:pt x="1025144" y="0"/>
                  </a:moveTo>
                  <a:lnTo>
                    <a:pt x="987044" y="76200"/>
                  </a:lnTo>
                  <a:lnTo>
                    <a:pt x="1018794" y="76200"/>
                  </a:lnTo>
                  <a:lnTo>
                    <a:pt x="1018794" y="63500"/>
                  </a:lnTo>
                  <a:lnTo>
                    <a:pt x="1056894" y="63500"/>
                  </a:lnTo>
                  <a:lnTo>
                    <a:pt x="1025144" y="0"/>
                  </a:lnTo>
                  <a:close/>
                </a:path>
                <a:path w="1063625" h="355600">
                  <a:moveTo>
                    <a:pt x="1056894" y="63500"/>
                  </a:moveTo>
                  <a:lnTo>
                    <a:pt x="1031494" y="63500"/>
                  </a:lnTo>
                  <a:lnTo>
                    <a:pt x="1031494" y="76200"/>
                  </a:lnTo>
                  <a:lnTo>
                    <a:pt x="1063244" y="76200"/>
                  </a:lnTo>
                  <a:lnTo>
                    <a:pt x="1056894" y="63500"/>
                  </a:lnTo>
                  <a:close/>
                </a:path>
              </a:pathLst>
            </a:cu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71037" y="5206324"/>
              <a:ext cx="76200" cy="355600"/>
            </a:xfrm>
            <a:custGeom>
              <a:avLst/>
              <a:gdLst/>
              <a:ahLst/>
              <a:cxnLst/>
              <a:rect l="l" t="t" r="r" b="b"/>
              <a:pathLst>
                <a:path w="76200" h="3556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55600"/>
                  </a:lnTo>
                  <a:lnTo>
                    <a:pt x="44450" y="355600"/>
                  </a:lnTo>
                  <a:lnTo>
                    <a:pt x="44450" y="63500"/>
                  </a:lnTo>
                  <a:close/>
                </a:path>
                <a:path w="76200" h="3556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556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98925" y="5561924"/>
              <a:ext cx="858519" cy="355600"/>
            </a:xfrm>
            <a:custGeom>
              <a:avLst/>
              <a:gdLst/>
              <a:ahLst/>
              <a:cxnLst/>
              <a:rect l="l" t="t" r="r" b="b"/>
              <a:pathLst>
                <a:path w="858520" h="355600">
                  <a:moveTo>
                    <a:pt x="0" y="355600"/>
                  </a:moveTo>
                  <a:lnTo>
                    <a:pt x="857961" y="355600"/>
                  </a:lnTo>
                  <a:lnTo>
                    <a:pt x="857961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98925" y="5561924"/>
              <a:ext cx="858519" cy="355600"/>
            </a:xfrm>
            <a:custGeom>
              <a:avLst/>
              <a:gdLst/>
              <a:ahLst/>
              <a:cxnLst/>
              <a:rect l="l" t="t" r="r" b="b"/>
              <a:pathLst>
                <a:path w="858520" h="355600">
                  <a:moveTo>
                    <a:pt x="0" y="355600"/>
                  </a:moveTo>
                  <a:lnTo>
                    <a:pt x="857961" y="355600"/>
                  </a:lnTo>
                  <a:lnTo>
                    <a:pt x="857961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71037" y="5206324"/>
              <a:ext cx="1063625" cy="355600"/>
            </a:xfrm>
            <a:custGeom>
              <a:avLst/>
              <a:gdLst/>
              <a:ahLst/>
              <a:cxnLst/>
              <a:rect l="l" t="t" r="r" b="b"/>
              <a:pathLst>
                <a:path w="1063625" h="355600">
                  <a:moveTo>
                    <a:pt x="1050544" y="177800"/>
                  </a:moveTo>
                  <a:lnTo>
                    <a:pt x="1050544" y="355600"/>
                  </a:lnTo>
                  <a:lnTo>
                    <a:pt x="1063244" y="355600"/>
                  </a:lnTo>
                  <a:lnTo>
                    <a:pt x="1063244" y="184150"/>
                  </a:lnTo>
                  <a:lnTo>
                    <a:pt x="1056894" y="184150"/>
                  </a:lnTo>
                  <a:lnTo>
                    <a:pt x="1050544" y="177800"/>
                  </a:lnTo>
                  <a:close/>
                </a:path>
                <a:path w="1063625" h="3556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4150"/>
                  </a:lnTo>
                  <a:lnTo>
                    <a:pt x="1050544" y="184150"/>
                  </a:lnTo>
                  <a:lnTo>
                    <a:pt x="1050544" y="177800"/>
                  </a:lnTo>
                  <a:lnTo>
                    <a:pt x="44450" y="177800"/>
                  </a:lnTo>
                  <a:lnTo>
                    <a:pt x="38100" y="171450"/>
                  </a:lnTo>
                  <a:lnTo>
                    <a:pt x="44450" y="171450"/>
                  </a:lnTo>
                  <a:lnTo>
                    <a:pt x="44450" y="63500"/>
                  </a:lnTo>
                  <a:close/>
                </a:path>
                <a:path w="1063625" h="355600">
                  <a:moveTo>
                    <a:pt x="1063244" y="171450"/>
                  </a:moveTo>
                  <a:lnTo>
                    <a:pt x="44450" y="171450"/>
                  </a:lnTo>
                  <a:lnTo>
                    <a:pt x="44450" y="177800"/>
                  </a:lnTo>
                  <a:lnTo>
                    <a:pt x="1050544" y="177800"/>
                  </a:lnTo>
                  <a:lnTo>
                    <a:pt x="1056894" y="184150"/>
                  </a:lnTo>
                  <a:lnTo>
                    <a:pt x="1063244" y="184150"/>
                  </a:lnTo>
                  <a:lnTo>
                    <a:pt x="1063244" y="171450"/>
                  </a:lnTo>
                  <a:close/>
                </a:path>
                <a:path w="1063625" h="355600">
                  <a:moveTo>
                    <a:pt x="44450" y="171450"/>
                  </a:moveTo>
                  <a:lnTo>
                    <a:pt x="38100" y="171450"/>
                  </a:lnTo>
                  <a:lnTo>
                    <a:pt x="44450" y="177800"/>
                  </a:lnTo>
                  <a:lnTo>
                    <a:pt x="44450" y="171450"/>
                  </a:lnTo>
                  <a:close/>
                </a:path>
                <a:path w="1063625" h="3556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63625" h="3556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2400" y="696346"/>
            <a:ext cx="6741922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marL="12700" defTabSz="457200">
              <a:lnSpc>
                <a:spcPct val="100000"/>
              </a:lnSpc>
              <a:spcBef>
                <a:spcPts val="10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dirty="0"/>
              <a:t>c) </a:t>
            </a:r>
            <a:r>
              <a:rPr sz="3200" dirty="0"/>
              <a:t>Identificación</a:t>
            </a:r>
            <a:r>
              <a:rPr dirty="0"/>
              <a:t> de nodos críticos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3727" y="538480"/>
            <a:ext cx="5109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Arbol original y </a:t>
            </a:r>
            <a:r>
              <a:rPr sz="2800" dirty="0"/>
              <a:t>Nodos</a:t>
            </a:r>
            <a:r>
              <a:rPr sz="2800" spc="25" dirty="0"/>
              <a:t> </a:t>
            </a:r>
            <a:r>
              <a:rPr sz="2800" spc="-10" dirty="0"/>
              <a:t>Críticos</a:t>
            </a:r>
            <a:endParaRPr sz="2800"/>
          </a:p>
        </p:txBody>
      </p:sp>
      <p:grpSp>
        <p:nvGrpSpPr>
          <p:cNvPr id="54" name="Grupo 53"/>
          <p:cNvGrpSpPr/>
          <p:nvPr/>
        </p:nvGrpSpPr>
        <p:grpSpPr>
          <a:xfrm>
            <a:off x="570737" y="1905000"/>
            <a:ext cx="8001000" cy="4038600"/>
            <a:chOff x="609600" y="1600200"/>
            <a:chExt cx="8001000" cy="4038600"/>
          </a:xfrm>
        </p:grpSpPr>
        <p:sp>
          <p:nvSpPr>
            <p:cNvPr id="3" name="object 3"/>
            <p:cNvSpPr/>
            <p:nvPr/>
          </p:nvSpPr>
          <p:spPr>
            <a:xfrm>
              <a:off x="609600" y="41910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9600" y="41910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62600" y="16002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62600" y="16002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05200" y="16002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05200" y="16002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05200" y="2438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05200" y="2438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57400" y="2438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57400" y="2438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600" y="16002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600" y="16002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32766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05200" y="32766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57400" y="41910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57400" y="41910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57400" y="32766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57400" y="32766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600" y="32766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9600" y="32766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006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006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62600" y="32766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62600" y="32766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960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960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12850" y="2971800"/>
              <a:ext cx="1492250" cy="304800"/>
            </a:xfrm>
            <a:custGeom>
              <a:avLst/>
              <a:gdLst/>
              <a:ahLst/>
              <a:cxnLst/>
              <a:rect l="l" t="t" r="r" b="b"/>
              <a:pathLst>
                <a:path w="1492250" h="304800">
                  <a:moveTo>
                    <a:pt x="1447800" y="146050"/>
                  </a:moveTo>
                  <a:lnTo>
                    <a:pt x="0" y="146050"/>
                  </a:lnTo>
                  <a:lnTo>
                    <a:pt x="0" y="304800"/>
                  </a:lnTo>
                  <a:lnTo>
                    <a:pt x="12700" y="304800"/>
                  </a:lnTo>
                  <a:lnTo>
                    <a:pt x="12700" y="158750"/>
                  </a:lnTo>
                  <a:lnTo>
                    <a:pt x="6350" y="158750"/>
                  </a:lnTo>
                  <a:lnTo>
                    <a:pt x="12700" y="152400"/>
                  </a:lnTo>
                  <a:lnTo>
                    <a:pt x="1447800" y="152400"/>
                  </a:lnTo>
                  <a:lnTo>
                    <a:pt x="1447800" y="146050"/>
                  </a:lnTo>
                  <a:close/>
                </a:path>
                <a:path w="1492250" h="304800">
                  <a:moveTo>
                    <a:pt x="12700" y="152400"/>
                  </a:moveTo>
                  <a:lnTo>
                    <a:pt x="6350" y="158750"/>
                  </a:lnTo>
                  <a:lnTo>
                    <a:pt x="12700" y="158750"/>
                  </a:lnTo>
                  <a:lnTo>
                    <a:pt x="12700" y="152400"/>
                  </a:lnTo>
                  <a:close/>
                </a:path>
                <a:path w="1492250" h="304800">
                  <a:moveTo>
                    <a:pt x="1460500" y="146050"/>
                  </a:moveTo>
                  <a:lnTo>
                    <a:pt x="1454150" y="146050"/>
                  </a:lnTo>
                  <a:lnTo>
                    <a:pt x="1447800" y="152400"/>
                  </a:lnTo>
                  <a:lnTo>
                    <a:pt x="12700" y="152400"/>
                  </a:lnTo>
                  <a:lnTo>
                    <a:pt x="12700" y="158750"/>
                  </a:lnTo>
                  <a:lnTo>
                    <a:pt x="1460500" y="158750"/>
                  </a:lnTo>
                  <a:lnTo>
                    <a:pt x="1460500" y="146050"/>
                  </a:lnTo>
                  <a:close/>
                </a:path>
                <a:path w="1492250" h="304800">
                  <a:moveTo>
                    <a:pt x="1460500" y="63500"/>
                  </a:moveTo>
                  <a:lnTo>
                    <a:pt x="1447800" y="63500"/>
                  </a:lnTo>
                  <a:lnTo>
                    <a:pt x="1447800" y="152400"/>
                  </a:lnTo>
                  <a:lnTo>
                    <a:pt x="1454150" y="146050"/>
                  </a:lnTo>
                  <a:lnTo>
                    <a:pt x="1460500" y="146050"/>
                  </a:lnTo>
                  <a:lnTo>
                    <a:pt x="1460500" y="63500"/>
                  </a:lnTo>
                  <a:close/>
                </a:path>
                <a:path w="1492250" h="304800">
                  <a:moveTo>
                    <a:pt x="1454150" y="0"/>
                  </a:moveTo>
                  <a:lnTo>
                    <a:pt x="1416050" y="76200"/>
                  </a:lnTo>
                  <a:lnTo>
                    <a:pt x="1447800" y="76200"/>
                  </a:lnTo>
                  <a:lnTo>
                    <a:pt x="1447800" y="63500"/>
                  </a:lnTo>
                  <a:lnTo>
                    <a:pt x="1485900" y="63500"/>
                  </a:lnTo>
                  <a:lnTo>
                    <a:pt x="1454150" y="0"/>
                  </a:lnTo>
                  <a:close/>
                </a:path>
                <a:path w="1492250" h="304800">
                  <a:moveTo>
                    <a:pt x="1485900" y="63500"/>
                  </a:moveTo>
                  <a:lnTo>
                    <a:pt x="1460500" y="63500"/>
                  </a:lnTo>
                  <a:lnTo>
                    <a:pt x="1460500" y="76200"/>
                  </a:lnTo>
                  <a:lnTo>
                    <a:pt x="1492250" y="76200"/>
                  </a:lnTo>
                  <a:lnTo>
                    <a:pt x="148590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28900" y="297180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28900" y="2971800"/>
              <a:ext cx="1492250" cy="304800"/>
            </a:xfrm>
            <a:custGeom>
              <a:avLst/>
              <a:gdLst/>
              <a:ahLst/>
              <a:cxnLst/>
              <a:rect l="l" t="t" r="r" b="b"/>
              <a:pathLst>
                <a:path w="1492250" h="304800">
                  <a:moveTo>
                    <a:pt x="1479550" y="152400"/>
                  </a:moveTo>
                  <a:lnTo>
                    <a:pt x="1479550" y="304800"/>
                  </a:lnTo>
                  <a:lnTo>
                    <a:pt x="1492250" y="304800"/>
                  </a:lnTo>
                  <a:lnTo>
                    <a:pt x="1492250" y="158750"/>
                  </a:lnTo>
                  <a:lnTo>
                    <a:pt x="1485900" y="158750"/>
                  </a:lnTo>
                  <a:lnTo>
                    <a:pt x="1479550" y="152400"/>
                  </a:lnTo>
                  <a:close/>
                </a:path>
                <a:path w="149225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58750"/>
                  </a:lnTo>
                  <a:lnTo>
                    <a:pt x="1479550" y="158750"/>
                  </a:lnTo>
                  <a:lnTo>
                    <a:pt x="1479550" y="152400"/>
                  </a:lnTo>
                  <a:lnTo>
                    <a:pt x="44450" y="152400"/>
                  </a:lnTo>
                  <a:lnTo>
                    <a:pt x="38100" y="146050"/>
                  </a:lnTo>
                  <a:lnTo>
                    <a:pt x="44450" y="146050"/>
                  </a:lnTo>
                  <a:lnTo>
                    <a:pt x="44450" y="63500"/>
                  </a:lnTo>
                  <a:close/>
                </a:path>
                <a:path w="1492250" h="304800">
                  <a:moveTo>
                    <a:pt x="1492250" y="146050"/>
                  </a:moveTo>
                  <a:lnTo>
                    <a:pt x="44450" y="146050"/>
                  </a:lnTo>
                  <a:lnTo>
                    <a:pt x="44450" y="152400"/>
                  </a:lnTo>
                  <a:lnTo>
                    <a:pt x="1479550" y="152400"/>
                  </a:lnTo>
                  <a:lnTo>
                    <a:pt x="1485900" y="158750"/>
                  </a:lnTo>
                  <a:lnTo>
                    <a:pt x="1492250" y="158750"/>
                  </a:lnTo>
                  <a:lnTo>
                    <a:pt x="1492250" y="146050"/>
                  </a:lnTo>
                  <a:close/>
                </a:path>
                <a:path w="1492250" h="304800">
                  <a:moveTo>
                    <a:pt x="44450" y="146050"/>
                  </a:moveTo>
                  <a:lnTo>
                    <a:pt x="38100" y="146050"/>
                  </a:lnTo>
                  <a:lnTo>
                    <a:pt x="44450" y="152400"/>
                  </a:lnTo>
                  <a:lnTo>
                    <a:pt x="44450" y="146050"/>
                  </a:lnTo>
                  <a:close/>
                </a:path>
                <a:path w="149225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49225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60650" y="2133600"/>
              <a:ext cx="1492250" cy="304800"/>
            </a:xfrm>
            <a:custGeom>
              <a:avLst/>
              <a:gdLst/>
              <a:ahLst/>
              <a:cxnLst/>
              <a:rect l="l" t="t" r="r" b="b"/>
              <a:pathLst>
                <a:path w="1492250" h="304800">
                  <a:moveTo>
                    <a:pt x="1447800" y="146050"/>
                  </a:moveTo>
                  <a:lnTo>
                    <a:pt x="0" y="146050"/>
                  </a:lnTo>
                  <a:lnTo>
                    <a:pt x="0" y="304800"/>
                  </a:lnTo>
                  <a:lnTo>
                    <a:pt x="12700" y="304800"/>
                  </a:lnTo>
                  <a:lnTo>
                    <a:pt x="12700" y="158750"/>
                  </a:lnTo>
                  <a:lnTo>
                    <a:pt x="6350" y="158750"/>
                  </a:lnTo>
                  <a:lnTo>
                    <a:pt x="12700" y="152400"/>
                  </a:lnTo>
                  <a:lnTo>
                    <a:pt x="1447800" y="152400"/>
                  </a:lnTo>
                  <a:lnTo>
                    <a:pt x="1447800" y="146050"/>
                  </a:lnTo>
                  <a:close/>
                </a:path>
                <a:path w="1492250" h="304800">
                  <a:moveTo>
                    <a:pt x="12700" y="152400"/>
                  </a:moveTo>
                  <a:lnTo>
                    <a:pt x="6350" y="158750"/>
                  </a:lnTo>
                  <a:lnTo>
                    <a:pt x="12700" y="158750"/>
                  </a:lnTo>
                  <a:lnTo>
                    <a:pt x="12700" y="152400"/>
                  </a:lnTo>
                  <a:close/>
                </a:path>
                <a:path w="1492250" h="304800">
                  <a:moveTo>
                    <a:pt x="1460500" y="146050"/>
                  </a:moveTo>
                  <a:lnTo>
                    <a:pt x="1454150" y="146050"/>
                  </a:lnTo>
                  <a:lnTo>
                    <a:pt x="1447800" y="152400"/>
                  </a:lnTo>
                  <a:lnTo>
                    <a:pt x="12700" y="152400"/>
                  </a:lnTo>
                  <a:lnTo>
                    <a:pt x="12700" y="158750"/>
                  </a:lnTo>
                  <a:lnTo>
                    <a:pt x="1460500" y="158750"/>
                  </a:lnTo>
                  <a:lnTo>
                    <a:pt x="1460500" y="146050"/>
                  </a:lnTo>
                  <a:close/>
                </a:path>
                <a:path w="1492250" h="304800">
                  <a:moveTo>
                    <a:pt x="1460500" y="63500"/>
                  </a:moveTo>
                  <a:lnTo>
                    <a:pt x="1447800" y="63500"/>
                  </a:lnTo>
                  <a:lnTo>
                    <a:pt x="1447800" y="152400"/>
                  </a:lnTo>
                  <a:lnTo>
                    <a:pt x="1454150" y="146050"/>
                  </a:lnTo>
                  <a:lnTo>
                    <a:pt x="1460500" y="146050"/>
                  </a:lnTo>
                  <a:lnTo>
                    <a:pt x="1460500" y="63500"/>
                  </a:lnTo>
                  <a:close/>
                </a:path>
                <a:path w="1492250" h="304800">
                  <a:moveTo>
                    <a:pt x="1454150" y="0"/>
                  </a:moveTo>
                  <a:lnTo>
                    <a:pt x="1416050" y="76200"/>
                  </a:lnTo>
                  <a:lnTo>
                    <a:pt x="1447800" y="76200"/>
                  </a:lnTo>
                  <a:lnTo>
                    <a:pt x="1447800" y="63500"/>
                  </a:lnTo>
                  <a:lnTo>
                    <a:pt x="1485900" y="63500"/>
                  </a:lnTo>
                  <a:lnTo>
                    <a:pt x="1454150" y="0"/>
                  </a:lnTo>
                  <a:close/>
                </a:path>
                <a:path w="1492250" h="304800">
                  <a:moveTo>
                    <a:pt x="1485900" y="63500"/>
                  </a:moveTo>
                  <a:lnTo>
                    <a:pt x="1460500" y="63500"/>
                  </a:lnTo>
                  <a:lnTo>
                    <a:pt x="1460500" y="76200"/>
                  </a:lnTo>
                  <a:lnTo>
                    <a:pt x="1492250" y="76200"/>
                  </a:lnTo>
                  <a:lnTo>
                    <a:pt x="148590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76700" y="213360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28900" y="3810000"/>
              <a:ext cx="76200" cy="381000"/>
            </a:xfrm>
            <a:custGeom>
              <a:avLst/>
              <a:gdLst/>
              <a:ahLst/>
              <a:cxnLst/>
              <a:rect l="l" t="t" r="r" b="b"/>
              <a:pathLst>
                <a:path w="76200" h="3810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81000"/>
                  </a:lnTo>
                  <a:lnTo>
                    <a:pt x="44450" y="381000"/>
                  </a:lnTo>
                  <a:lnTo>
                    <a:pt x="44450" y="63500"/>
                  </a:lnTo>
                  <a:close/>
                </a:path>
                <a:path w="76200" h="3810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810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12850" y="3810000"/>
              <a:ext cx="1492250" cy="381000"/>
            </a:xfrm>
            <a:custGeom>
              <a:avLst/>
              <a:gdLst/>
              <a:ahLst/>
              <a:cxnLst/>
              <a:rect l="l" t="t" r="r" b="b"/>
              <a:pathLst>
                <a:path w="1492250" h="381000">
                  <a:moveTo>
                    <a:pt x="1447800" y="184150"/>
                  </a:moveTo>
                  <a:lnTo>
                    <a:pt x="0" y="184150"/>
                  </a:lnTo>
                  <a:lnTo>
                    <a:pt x="0" y="381000"/>
                  </a:lnTo>
                  <a:lnTo>
                    <a:pt x="12700" y="381000"/>
                  </a:lnTo>
                  <a:lnTo>
                    <a:pt x="12700" y="196850"/>
                  </a:lnTo>
                  <a:lnTo>
                    <a:pt x="6350" y="196850"/>
                  </a:lnTo>
                  <a:lnTo>
                    <a:pt x="12700" y="190500"/>
                  </a:lnTo>
                  <a:lnTo>
                    <a:pt x="1447800" y="190500"/>
                  </a:lnTo>
                  <a:lnTo>
                    <a:pt x="1447800" y="184150"/>
                  </a:lnTo>
                  <a:close/>
                </a:path>
                <a:path w="1492250" h="381000">
                  <a:moveTo>
                    <a:pt x="12700" y="190500"/>
                  </a:moveTo>
                  <a:lnTo>
                    <a:pt x="6350" y="196850"/>
                  </a:lnTo>
                  <a:lnTo>
                    <a:pt x="12700" y="196850"/>
                  </a:lnTo>
                  <a:lnTo>
                    <a:pt x="12700" y="190500"/>
                  </a:lnTo>
                  <a:close/>
                </a:path>
                <a:path w="1492250" h="381000">
                  <a:moveTo>
                    <a:pt x="1460500" y="184150"/>
                  </a:moveTo>
                  <a:lnTo>
                    <a:pt x="1454150" y="184150"/>
                  </a:lnTo>
                  <a:lnTo>
                    <a:pt x="1447800" y="190500"/>
                  </a:lnTo>
                  <a:lnTo>
                    <a:pt x="12700" y="190500"/>
                  </a:lnTo>
                  <a:lnTo>
                    <a:pt x="12700" y="196850"/>
                  </a:lnTo>
                  <a:lnTo>
                    <a:pt x="1460500" y="196850"/>
                  </a:lnTo>
                  <a:lnTo>
                    <a:pt x="1460500" y="184150"/>
                  </a:lnTo>
                  <a:close/>
                </a:path>
                <a:path w="1492250" h="381000">
                  <a:moveTo>
                    <a:pt x="1460500" y="63500"/>
                  </a:moveTo>
                  <a:lnTo>
                    <a:pt x="1447800" y="63500"/>
                  </a:lnTo>
                  <a:lnTo>
                    <a:pt x="1447800" y="190500"/>
                  </a:lnTo>
                  <a:lnTo>
                    <a:pt x="1454150" y="184150"/>
                  </a:lnTo>
                  <a:lnTo>
                    <a:pt x="1460500" y="184150"/>
                  </a:lnTo>
                  <a:lnTo>
                    <a:pt x="1460500" y="63500"/>
                  </a:lnTo>
                  <a:close/>
                </a:path>
                <a:path w="1492250" h="381000">
                  <a:moveTo>
                    <a:pt x="1454150" y="0"/>
                  </a:moveTo>
                  <a:lnTo>
                    <a:pt x="1416050" y="76200"/>
                  </a:lnTo>
                  <a:lnTo>
                    <a:pt x="1447800" y="76200"/>
                  </a:lnTo>
                  <a:lnTo>
                    <a:pt x="1447800" y="63500"/>
                  </a:lnTo>
                  <a:lnTo>
                    <a:pt x="1485900" y="63500"/>
                  </a:lnTo>
                  <a:lnTo>
                    <a:pt x="1454150" y="0"/>
                  </a:lnTo>
                  <a:close/>
                </a:path>
                <a:path w="1492250" h="381000">
                  <a:moveTo>
                    <a:pt x="1485900" y="63500"/>
                  </a:moveTo>
                  <a:lnTo>
                    <a:pt x="1460500" y="63500"/>
                  </a:lnTo>
                  <a:lnTo>
                    <a:pt x="1460500" y="76200"/>
                  </a:lnTo>
                  <a:lnTo>
                    <a:pt x="1492250" y="76200"/>
                  </a:lnTo>
                  <a:lnTo>
                    <a:pt x="148590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134100" y="2133600"/>
              <a:ext cx="76200" cy="1143000"/>
            </a:xfrm>
            <a:custGeom>
              <a:avLst/>
              <a:gdLst/>
              <a:ahLst/>
              <a:cxnLst/>
              <a:rect l="l" t="t" r="r" b="b"/>
              <a:pathLst>
                <a:path w="76200" h="11430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143000"/>
                  </a:lnTo>
                  <a:lnTo>
                    <a:pt x="44450" y="1143000"/>
                  </a:lnTo>
                  <a:lnTo>
                    <a:pt x="44450" y="63500"/>
                  </a:lnTo>
                  <a:close/>
                </a:path>
                <a:path w="76200" h="11430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1430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03850" y="3810000"/>
              <a:ext cx="806450" cy="1295400"/>
            </a:xfrm>
            <a:custGeom>
              <a:avLst/>
              <a:gdLst/>
              <a:ahLst/>
              <a:cxnLst/>
              <a:rect l="l" t="t" r="r" b="b"/>
              <a:pathLst>
                <a:path w="806450" h="1295400">
                  <a:moveTo>
                    <a:pt x="762000" y="641350"/>
                  </a:moveTo>
                  <a:lnTo>
                    <a:pt x="0" y="641350"/>
                  </a:lnTo>
                  <a:lnTo>
                    <a:pt x="0" y="1295400"/>
                  </a:lnTo>
                  <a:lnTo>
                    <a:pt x="12700" y="1295400"/>
                  </a:lnTo>
                  <a:lnTo>
                    <a:pt x="12700" y="654050"/>
                  </a:lnTo>
                  <a:lnTo>
                    <a:pt x="6350" y="654050"/>
                  </a:lnTo>
                  <a:lnTo>
                    <a:pt x="12700" y="647700"/>
                  </a:lnTo>
                  <a:lnTo>
                    <a:pt x="762000" y="647700"/>
                  </a:lnTo>
                  <a:lnTo>
                    <a:pt x="762000" y="641350"/>
                  </a:lnTo>
                  <a:close/>
                </a:path>
                <a:path w="806450" h="1295400">
                  <a:moveTo>
                    <a:pt x="12700" y="647700"/>
                  </a:moveTo>
                  <a:lnTo>
                    <a:pt x="6350" y="654050"/>
                  </a:lnTo>
                  <a:lnTo>
                    <a:pt x="12700" y="654050"/>
                  </a:lnTo>
                  <a:lnTo>
                    <a:pt x="12700" y="647700"/>
                  </a:lnTo>
                  <a:close/>
                </a:path>
                <a:path w="806450" h="1295400">
                  <a:moveTo>
                    <a:pt x="774700" y="641350"/>
                  </a:moveTo>
                  <a:lnTo>
                    <a:pt x="768350" y="641350"/>
                  </a:lnTo>
                  <a:lnTo>
                    <a:pt x="762000" y="647700"/>
                  </a:lnTo>
                  <a:lnTo>
                    <a:pt x="12700" y="647700"/>
                  </a:lnTo>
                  <a:lnTo>
                    <a:pt x="12700" y="654050"/>
                  </a:lnTo>
                  <a:lnTo>
                    <a:pt x="774700" y="654050"/>
                  </a:lnTo>
                  <a:lnTo>
                    <a:pt x="774700" y="641350"/>
                  </a:lnTo>
                  <a:close/>
                </a:path>
                <a:path w="806450" h="1295400">
                  <a:moveTo>
                    <a:pt x="774700" y="63500"/>
                  </a:moveTo>
                  <a:lnTo>
                    <a:pt x="762000" y="63500"/>
                  </a:lnTo>
                  <a:lnTo>
                    <a:pt x="762000" y="647700"/>
                  </a:lnTo>
                  <a:lnTo>
                    <a:pt x="768350" y="641350"/>
                  </a:lnTo>
                  <a:lnTo>
                    <a:pt x="774700" y="641350"/>
                  </a:lnTo>
                  <a:lnTo>
                    <a:pt x="774700" y="63500"/>
                  </a:lnTo>
                  <a:close/>
                </a:path>
                <a:path w="806450" h="1295400">
                  <a:moveTo>
                    <a:pt x="768350" y="0"/>
                  </a:moveTo>
                  <a:lnTo>
                    <a:pt x="730250" y="76200"/>
                  </a:lnTo>
                  <a:lnTo>
                    <a:pt x="762000" y="76200"/>
                  </a:lnTo>
                  <a:lnTo>
                    <a:pt x="762000" y="63500"/>
                  </a:lnTo>
                  <a:lnTo>
                    <a:pt x="800100" y="63500"/>
                  </a:lnTo>
                  <a:lnTo>
                    <a:pt x="768350" y="0"/>
                  </a:lnTo>
                  <a:close/>
                </a:path>
                <a:path w="806450" h="1295400">
                  <a:moveTo>
                    <a:pt x="800100" y="63500"/>
                  </a:moveTo>
                  <a:lnTo>
                    <a:pt x="774700" y="63500"/>
                  </a:lnTo>
                  <a:lnTo>
                    <a:pt x="774700" y="76200"/>
                  </a:lnTo>
                  <a:lnTo>
                    <a:pt x="806450" y="76200"/>
                  </a:lnTo>
                  <a:lnTo>
                    <a:pt x="80010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34100" y="3810000"/>
              <a:ext cx="577850" cy="1295400"/>
            </a:xfrm>
            <a:custGeom>
              <a:avLst/>
              <a:gdLst/>
              <a:ahLst/>
              <a:cxnLst/>
              <a:rect l="l" t="t" r="r" b="b"/>
              <a:pathLst>
                <a:path w="577850" h="1295400">
                  <a:moveTo>
                    <a:pt x="565150" y="647700"/>
                  </a:moveTo>
                  <a:lnTo>
                    <a:pt x="565150" y="1295400"/>
                  </a:lnTo>
                  <a:lnTo>
                    <a:pt x="577850" y="1295400"/>
                  </a:lnTo>
                  <a:lnTo>
                    <a:pt x="577850" y="654050"/>
                  </a:lnTo>
                  <a:lnTo>
                    <a:pt x="571500" y="654050"/>
                  </a:lnTo>
                  <a:lnTo>
                    <a:pt x="565150" y="647700"/>
                  </a:lnTo>
                  <a:close/>
                </a:path>
                <a:path w="577850" h="12954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654050"/>
                  </a:lnTo>
                  <a:lnTo>
                    <a:pt x="565150" y="654050"/>
                  </a:lnTo>
                  <a:lnTo>
                    <a:pt x="565150" y="647700"/>
                  </a:lnTo>
                  <a:lnTo>
                    <a:pt x="44450" y="647700"/>
                  </a:lnTo>
                  <a:lnTo>
                    <a:pt x="38100" y="641350"/>
                  </a:lnTo>
                  <a:lnTo>
                    <a:pt x="44450" y="641350"/>
                  </a:lnTo>
                  <a:lnTo>
                    <a:pt x="44450" y="63500"/>
                  </a:lnTo>
                  <a:close/>
                </a:path>
                <a:path w="577850" h="1295400">
                  <a:moveTo>
                    <a:pt x="577850" y="641350"/>
                  </a:moveTo>
                  <a:lnTo>
                    <a:pt x="44450" y="641350"/>
                  </a:lnTo>
                  <a:lnTo>
                    <a:pt x="44450" y="647700"/>
                  </a:lnTo>
                  <a:lnTo>
                    <a:pt x="565150" y="647700"/>
                  </a:lnTo>
                  <a:lnTo>
                    <a:pt x="571500" y="654050"/>
                  </a:lnTo>
                  <a:lnTo>
                    <a:pt x="577850" y="654050"/>
                  </a:lnTo>
                  <a:lnTo>
                    <a:pt x="577850" y="641350"/>
                  </a:lnTo>
                  <a:close/>
                </a:path>
                <a:path w="577850" h="1295400">
                  <a:moveTo>
                    <a:pt x="44450" y="641350"/>
                  </a:moveTo>
                  <a:lnTo>
                    <a:pt x="38100" y="641350"/>
                  </a:lnTo>
                  <a:lnTo>
                    <a:pt x="44450" y="647700"/>
                  </a:lnTo>
                  <a:lnTo>
                    <a:pt x="44450" y="641350"/>
                  </a:lnTo>
                  <a:close/>
                </a:path>
                <a:path w="577850" h="12954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577850" h="12954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0574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0574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96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96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28900" y="4724400"/>
              <a:ext cx="76200" cy="381000"/>
            </a:xfrm>
            <a:custGeom>
              <a:avLst/>
              <a:gdLst/>
              <a:ahLst/>
              <a:cxnLst/>
              <a:rect l="l" t="t" r="r" b="b"/>
              <a:pathLst>
                <a:path w="76200" h="3810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81000"/>
                  </a:lnTo>
                  <a:lnTo>
                    <a:pt x="44450" y="381000"/>
                  </a:lnTo>
                  <a:lnTo>
                    <a:pt x="44450" y="63500"/>
                  </a:lnTo>
                  <a:close/>
                </a:path>
                <a:path w="76200" h="3810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810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212850" y="4724400"/>
              <a:ext cx="1492250" cy="381000"/>
            </a:xfrm>
            <a:custGeom>
              <a:avLst/>
              <a:gdLst/>
              <a:ahLst/>
              <a:cxnLst/>
              <a:rect l="l" t="t" r="r" b="b"/>
              <a:pathLst>
                <a:path w="1492250" h="381000">
                  <a:moveTo>
                    <a:pt x="1447800" y="184150"/>
                  </a:moveTo>
                  <a:lnTo>
                    <a:pt x="0" y="184150"/>
                  </a:lnTo>
                  <a:lnTo>
                    <a:pt x="0" y="381000"/>
                  </a:lnTo>
                  <a:lnTo>
                    <a:pt x="12700" y="381000"/>
                  </a:lnTo>
                  <a:lnTo>
                    <a:pt x="12700" y="196850"/>
                  </a:lnTo>
                  <a:lnTo>
                    <a:pt x="6350" y="196850"/>
                  </a:lnTo>
                  <a:lnTo>
                    <a:pt x="12700" y="190500"/>
                  </a:lnTo>
                  <a:lnTo>
                    <a:pt x="1447800" y="190500"/>
                  </a:lnTo>
                  <a:lnTo>
                    <a:pt x="1447800" y="184150"/>
                  </a:lnTo>
                  <a:close/>
                </a:path>
                <a:path w="1492250" h="381000">
                  <a:moveTo>
                    <a:pt x="12700" y="190500"/>
                  </a:moveTo>
                  <a:lnTo>
                    <a:pt x="6350" y="196850"/>
                  </a:lnTo>
                  <a:lnTo>
                    <a:pt x="12700" y="196850"/>
                  </a:lnTo>
                  <a:lnTo>
                    <a:pt x="12700" y="190500"/>
                  </a:lnTo>
                  <a:close/>
                </a:path>
                <a:path w="1492250" h="381000">
                  <a:moveTo>
                    <a:pt x="1460500" y="184150"/>
                  </a:moveTo>
                  <a:lnTo>
                    <a:pt x="1454150" y="184150"/>
                  </a:lnTo>
                  <a:lnTo>
                    <a:pt x="1447800" y="190500"/>
                  </a:lnTo>
                  <a:lnTo>
                    <a:pt x="12700" y="190500"/>
                  </a:lnTo>
                  <a:lnTo>
                    <a:pt x="12700" y="196850"/>
                  </a:lnTo>
                  <a:lnTo>
                    <a:pt x="1460500" y="196850"/>
                  </a:lnTo>
                  <a:lnTo>
                    <a:pt x="1460500" y="184150"/>
                  </a:lnTo>
                  <a:close/>
                </a:path>
                <a:path w="1492250" h="381000">
                  <a:moveTo>
                    <a:pt x="1460500" y="63500"/>
                  </a:moveTo>
                  <a:lnTo>
                    <a:pt x="1447800" y="63500"/>
                  </a:lnTo>
                  <a:lnTo>
                    <a:pt x="1447800" y="190500"/>
                  </a:lnTo>
                  <a:lnTo>
                    <a:pt x="1454150" y="184150"/>
                  </a:lnTo>
                  <a:lnTo>
                    <a:pt x="1460500" y="184150"/>
                  </a:lnTo>
                  <a:lnTo>
                    <a:pt x="1460500" y="63500"/>
                  </a:lnTo>
                  <a:close/>
                </a:path>
                <a:path w="1492250" h="381000">
                  <a:moveTo>
                    <a:pt x="1454150" y="0"/>
                  </a:moveTo>
                  <a:lnTo>
                    <a:pt x="1416050" y="76200"/>
                  </a:lnTo>
                  <a:lnTo>
                    <a:pt x="1447800" y="76200"/>
                  </a:lnTo>
                  <a:lnTo>
                    <a:pt x="1447800" y="63500"/>
                  </a:lnTo>
                  <a:lnTo>
                    <a:pt x="1485900" y="63500"/>
                  </a:lnTo>
                  <a:lnTo>
                    <a:pt x="1454150" y="0"/>
                  </a:lnTo>
                  <a:close/>
                </a:path>
                <a:path w="1492250" h="381000">
                  <a:moveTo>
                    <a:pt x="1485900" y="63500"/>
                  </a:moveTo>
                  <a:lnTo>
                    <a:pt x="1460500" y="63500"/>
                  </a:lnTo>
                  <a:lnTo>
                    <a:pt x="1460500" y="76200"/>
                  </a:lnTo>
                  <a:lnTo>
                    <a:pt x="1492250" y="76200"/>
                  </a:lnTo>
                  <a:lnTo>
                    <a:pt x="148590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914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914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134100" y="3810000"/>
              <a:ext cx="1873250" cy="1295400"/>
            </a:xfrm>
            <a:custGeom>
              <a:avLst/>
              <a:gdLst/>
              <a:ahLst/>
              <a:cxnLst/>
              <a:rect l="l" t="t" r="r" b="b"/>
              <a:pathLst>
                <a:path w="1873250" h="1295400">
                  <a:moveTo>
                    <a:pt x="1860550" y="647700"/>
                  </a:moveTo>
                  <a:lnTo>
                    <a:pt x="1860550" y="1295400"/>
                  </a:lnTo>
                  <a:lnTo>
                    <a:pt x="1873250" y="1295400"/>
                  </a:lnTo>
                  <a:lnTo>
                    <a:pt x="1873250" y="654050"/>
                  </a:lnTo>
                  <a:lnTo>
                    <a:pt x="1866900" y="654050"/>
                  </a:lnTo>
                  <a:lnTo>
                    <a:pt x="1860550" y="647700"/>
                  </a:lnTo>
                  <a:close/>
                </a:path>
                <a:path w="1873250" h="12954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654050"/>
                  </a:lnTo>
                  <a:lnTo>
                    <a:pt x="1860550" y="654050"/>
                  </a:lnTo>
                  <a:lnTo>
                    <a:pt x="1860550" y="647700"/>
                  </a:lnTo>
                  <a:lnTo>
                    <a:pt x="44450" y="647700"/>
                  </a:lnTo>
                  <a:lnTo>
                    <a:pt x="38100" y="641350"/>
                  </a:lnTo>
                  <a:lnTo>
                    <a:pt x="44450" y="641350"/>
                  </a:lnTo>
                  <a:lnTo>
                    <a:pt x="44450" y="63500"/>
                  </a:lnTo>
                  <a:close/>
                </a:path>
                <a:path w="1873250" h="1295400">
                  <a:moveTo>
                    <a:pt x="1873250" y="641350"/>
                  </a:moveTo>
                  <a:lnTo>
                    <a:pt x="44450" y="641350"/>
                  </a:lnTo>
                  <a:lnTo>
                    <a:pt x="44450" y="647700"/>
                  </a:lnTo>
                  <a:lnTo>
                    <a:pt x="1860550" y="647700"/>
                  </a:lnTo>
                  <a:lnTo>
                    <a:pt x="1866900" y="654050"/>
                  </a:lnTo>
                  <a:lnTo>
                    <a:pt x="1873250" y="654050"/>
                  </a:lnTo>
                  <a:lnTo>
                    <a:pt x="1873250" y="641350"/>
                  </a:lnTo>
                  <a:close/>
                </a:path>
                <a:path w="1873250" h="1295400">
                  <a:moveTo>
                    <a:pt x="44450" y="641350"/>
                  </a:moveTo>
                  <a:lnTo>
                    <a:pt x="38100" y="641350"/>
                  </a:lnTo>
                  <a:lnTo>
                    <a:pt x="44450" y="647700"/>
                  </a:lnTo>
                  <a:lnTo>
                    <a:pt x="44450" y="641350"/>
                  </a:lnTo>
                  <a:close/>
                </a:path>
                <a:path w="1873250" h="12954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873250" h="12954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76300" y="2133600"/>
              <a:ext cx="76200" cy="1143000"/>
            </a:xfrm>
            <a:custGeom>
              <a:avLst/>
              <a:gdLst/>
              <a:ahLst/>
              <a:cxnLst/>
              <a:rect l="l" t="t" r="r" b="b"/>
              <a:pathLst>
                <a:path w="76200" h="11430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143000"/>
                  </a:lnTo>
                  <a:lnTo>
                    <a:pt x="44450" y="1143000"/>
                  </a:lnTo>
                  <a:lnTo>
                    <a:pt x="44450" y="63500"/>
                  </a:lnTo>
                  <a:close/>
                </a:path>
                <a:path w="76200" h="11430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1430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290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29000" y="5105400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533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32250" y="3810000"/>
              <a:ext cx="2178050" cy="1295400"/>
            </a:xfrm>
            <a:custGeom>
              <a:avLst/>
              <a:gdLst/>
              <a:ahLst/>
              <a:cxnLst/>
              <a:rect l="l" t="t" r="r" b="b"/>
              <a:pathLst>
                <a:path w="2178050" h="1295400">
                  <a:moveTo>
                    <a:pt x="2133600" y="641350"/>
                  </a:moveTo>
                  <a:lnTo>
                    <a:pt x="0" y="641350"/>
                  </a:lnTo>
                  <a:lnTo>
                    <a:pt x="0" y="1295400"/>
                  </a:lnTo>
                  <a:lnTo>
                    <a:pt x="12700" y="1295400"/>
                  </a:lnTo>
                  <a:lnTo>
                    <a:pt x="12700" y="654050"/>
                  </a:lnTo>
                  <a:lnTo>
                    <a:pt x="6350" y="654050"/>
                  </a:lnTo>
                  <a:lnTo>
                    <a:pt x="12700" y="647700"/>
                  </a:lnTo>
                  <a:lnTo>
                    <a:pt x="2133600" y="647700"/>
                  </a:lnTo>
                  <a:lnTo>
                    <a:pt x="2133600" y="641350"/>
                  </a:lnTo>
                  <a:close/>
                </a:path>
                <a:path w="2178050" h="1295400">
                  <a:moveTo>
                    <a:pt x="12700" y="647700"/>
                  </a:moveTo>
                  <a:lnTo>
                    <a:pt x="6350" y="654050"/>
                  </a:lnTo>
                  <a:lnTo>
                    <a:pt x="12700" y="654050"/>
                  </a:lnTo>
                  <a:lnTo>
                    <a:pt x="12700" y="647700"/>
                  </a:lnTo>
                  <a:close/>
                </a:path>
                <a:path w="2178050" h="1295400">
                  <a:moveTo>
                    <a:pt x="2146300" y="641350"/>
                  </a:moveTo>
                  <a:lnTo>
                    <a:pt x="2139950" y="641350"/>
                  </a:lnTo>
                  <a:lnTo>
                    <a:pt x="2133600" y="647700"/>
                  </a:lnTo>
                  <a:lnTo>
                    <a:pt x="12700" y="647700"/>
                  </a:lnTo>
                  <a:lnTo>
                    <a:pt x="12700" y="654050"/>
                  </a:lnTo>
                  <a:lnTo>
                    <a:pt x="2146300" y="654050"/>
                  </a:lnTo>
                  <a:lnTo>
                    <a:pt x="2146300" y="641350"/>
                  </a:lnTo>
                  <a:close/>
                </a:path>
                <a:path w="2178050" h="1295400">
                  <a:moveTo>
                    <a:pt x="2146300" y="63500"/>
                  </a:moveTo>
                  <a:lnTo>
                    <a:pt x="2133600" y="63500"/>
                  </a:lnTo>
                  <a:lnTo>
                    <a:pt x="2133600" y="647700"/>
                  </a:lnTo>
                  <a:lnTo>
                    <a:pt x="2139950" y="641350"/>
                  </a:lnTo>
                  <a:lnTo>
                    <a:pt x="2146300" y="641350"/>
                  </a:lnTo>
                  <a:lnTo>
                    <a:pt x="2146300" y="63500"/>
                  </a:lnTo>
                  <a:close/>
                </a:path>
                <a:path w="2178050" h="1295400">
                  <a:moveTo>
                    <a:pt x="2139950" y="0"/>
                  </a:moveTo>
                  <a:lnTo>
                    <a:pt x="2101850" y="76200"/>
                  </a:lnTo>
                  <a:lnTo>
                    <a:pt x="2133600" y="76200"/>
                  </a:lnTo>
                  <a:lnTo>
                    <a:pt x="2133600" y="63500"/>
                  </a:lnTo>
                  <a:lnTo>
                    <a:pt x="2171700" y="63500"/>
                  </a:lnTo>
                  <a:lnTo>
                    <a:pt x="2139950" y="0"/>
                  </a:lnTo>
                  <a:close/>
                </a:path>
                <a:path w="2178050" h="1295400">
                  <a:moveTo>
                    <a:pt x="2171700" y="63500"/>
                  </a:moveTo>
                  <a:lnTo>
                    <a:pt x="2146300" y="63500"/>
                  </a:lnTo>
                  <a:lnTo>
                    <a:pt x="2146300" y="76200"/>
                  </a:lnTo>
                  <a:lnTo>
                    <a:pt x="2178050" y="76200"/>
                  </a:lnTo>
                  <a:lnTo>
                    <a:pt x="217170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03650" y="3810000"/>
              <a:ext cx="120650" cy="1295400"/>
            </a:xfrm>
            <a:custGeom>
              <a:avLst/>
              <a:gdLst/>
              <a:ahLst/>
              <a:cxnLst/>
              <a:rect l="l" t="t" r="r" b="b"/>
              <a:pathLst>
                <a:path w="120650" h="1295400">
                  <a:moveTo>
                    <a:pt x="76200" y="641350"/>
                  </a:moveTo>
                  <a:lnTo>
                    <a:pt x="0" y="641350"/>
                  </a:lnTo>
                  <a:lnTo>
                    <a:pt x="0" y="1295400"/>
                  </a:lnTo>
                  <a:lnTo>
                    <a:pt x="12700" y="1295400"/>
                  </a:lnTo>
                  <a:lnTo>
                    <a:pt x="12700" y="654050"/>
                  </a:lnTo>
                  <a:lnTo>
                    <a:pt x="6350" y="654050"/>
                  </a:lnTo>
                  <a:lnTo>
                    <a:pt x="12700" y="647700"/>
                  </a:lnTo>
                  <a:lnTo>
                    <a:pt x="76200" y="647700"/>
                  </a:lnTo>
                  <a:lnTo>
                    <a:pt x="76200" y="641350"/>
                  </a:lnTo>
                  <a:close/>
                </a:path>
                <a:path w="120650" h="1295400">
                  <a:moveTo>
                    <a:pt x="12700" y="647700"/>
                  </a:moveTo>
                  <a:lnTo>
                    <a:pt x="6350" y="654050"/>
                  </a:lnTo>
                  <a:lnTo>
                    <a:pt x="12700" y="654050"/>
                  </a:lnTo>
                  <a:lnTo>
                    <a:pt x="12700" y="647700"/>
                  </a:lnTo>
                  <a:close/>
                </a:path>
                <a:path w="120650" h="1295400">
                  <a:moveTo>
                    <a:pt x="88900" y="641350"/>
                  </a:moveTo>
                  <a:lnTo>
                    <a:pt x="82550" y="641350"/>
                  </a:lnTo>
                  <a:lnTo>
                    <a:pt x="76200" y="647700"/>
                  </a:lnTo>
                  <a:lnTo>
                    <a:pt x="12700" y="647700"/>
                  </a:lnTo>
                  <a:lnTo>
                    <a:pt x="12700" y="654050"/>
                  </a:lnTo>
                  <a:lnTo>
                    <a:pt x="88900" y="654050"/>
                  </a:lnTo>
                  <a:lnTo>
                    <a:pt x="88900" y="641350"/>
                  </a:lnTo>
                  <a:close/>
                </a:path>
                <a:path w="120650" h="1295400">
                  <a:moveTo>
                    <a:pt x="88900" y="63500"/>
                  </a:moveTo>
                  <a:lnTo>
                    <a:pt x="76200" y="63500"/>
                  </a:lnTo>
                  <a:lnTo>
                    <a:pt x="76200" y="647700"/>
                  </a:lnTo>
                  <a:lnTo>
                    <a:pt x="82550" y="641350"/>
                  </a:lnTo>
                  <a:lnTo>
                    <a:pt x="88900" y="641350"/>
                  </a:lnTo>
                  <a:lnTo>
                    <a:pt x="88900" y="63500"/>
                  </a:lnTo>
                  <a:close/>
                </a:path>
                <a:path w="120650" h="1295400">
                  <a:moveTo>
                    <a:pt x="82550" y="0"/>
                  </a:moveTo>
                  <a:lnTo>
                    <a:pt x="44450" y="76200"/>
                  </a:lnTo>
                  <a:lnTo>
                    <a:pt x="76200" y="76200"/>
                  </a:lnTo>
                  <a:lnTo>
                    <a:pt x="76200" y="63500"/>
                  </a:lnTo>
                  <a:lnTo>
                    <a:pt x="114300" y="63500"/>
                  </a:lnTo>
                  <a:lnTo>
                    <a:pt x="82550" y="0"/>
                  </a:lnTo>
                  <a:close/>
                </a:path>
                <a:path w="120650" h="1295400">
                  <a:moveTo>
                    <a:pt x="114300" y="63500"/>
                  </a:moveTo>
                  <a:lnTo>
                    <a:pt x="88900" y="63500"/>
                  </a:lnTo>
                  <a:lnTo>
                    <a:pt x="88900" y="76200"/>
                  </a:lnTo>
                  <a:lnTo>
                    <a:pt x="120650" y="76200"/>
                  </a:lnTo>
                  <a:lnTo>
                    <a:pt x="114300" y="6350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150" y="464820"/>
            <a:ext cx="4418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Candidato </a:t>
            </a:r>
            <a:r>
              <a:rPr sz="2800" spc="-5" dirty="0"/>
              <a:t>1 a </a:t>
            </a:r>
            <a:r>
              <a:rPr sz="2800" dirty="0"/>
              <a:t>Nodo</a:t>
            </a:r>
            <a:r>
              <a:rPr sz="2800" spc="10" dirty="0"/>
              <a:t> </a:t>
            </a:r>
            <a:r>
              <a:rPr sz="2800" spc="-5" dirty="0"/>
              <a:t>Crítico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609600" y="41910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9600" y="41910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626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052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052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05200" y="2438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05200" y="2438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48255" y="2436876"/>
            <a:ext cx="1229868" cy="649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96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96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52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2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57400" y="41910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57400" y="41910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574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574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96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96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006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006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626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626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960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960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12850" y="2971800"/>
            <a:ext cx="1492250" cy="304800"/>
          </a:xfrm>
          <a:custGeom>
            <a:avLst/>
            <a:gdLst/>
            <a:ahLst/>
            <a:cxnLst/>
            <a:rect l="l" t="t" r="r" b="b"/>
            <a:pathLst>
              <a:path w="1492250" h="304800">
                <a:moveTo>
                  <a:pt x="1447800" y="146050"/>
                </a:moveTo>
                <a:lnTo>
                  <a:pt x="0" y="146050"/>
                </a:lnTo>
                <a:lnTo>
                  <a:pt x="0" y="304800"/>
                </a:lnTo>
                <a:lnTo>
                  <a:pt x="12700" y="304800"/>
                </a:lnTo>
                <a:lnTo>
                  <a:pt x="12700" y="158750"/>
                </a:lnTo>
                <a:lnTo>
                  <a:pt x="6350" y="158750"/>
                </a:lnTo>
                <a:lnTo>
                  <a:pt x="12700" y="152400"/>
                </a:lnTo>
                <a:lnTo>
                  <a:pt x="1447800" y="152400"/>
                </a:lnTo>
                <a:lnTo>
                  <a:pt x="1447800" y="146050"/>
                </a:lnTo>
                <a:close/>
              </a:path>
              <a:path w="1492250" h="304800">
                <a:moveTo>
                  <a:pt x="12700" y="152400"/>
                </a:moveTo>
                <a:lnTo>
                  <a:pt x="6350" y="158750"/>
                </a:lnTo>
                <a:lnTo>
                  <a:pt x="12700" y="158750"/>
                </a:lnTo>
                <a:lnTo>
                  <a:pt x="12700" y="152400"/>
                </a:lnTo>
                <a:close/>
              </a:path>
              <a:path w="1492250" h="304800">
                <a:moveTo>
                  <a:pt x="1460500" y="146050"/>
                </a:moveTo>
                <a:lnTo>
                  <a:pt x="1454150" y="146050"/>
                </a:lnTo>
                <a:lnTo>
                  <a:pt x="1447800" y="152400"/>
                </a:lnTo>
                <a:lnTo>
                  <a:pt x="12700" y="152400"/>
                </a:lnTo>
                <a:lnTo>
                  <a:pt x="12700" y="158750"/>
                </a:lnTo>
                <a:lnTo>
                  <a:pt x="1460500" y="158750"/>
                </a:lnTo>
                <a:lnTo>
                  <a:pt x="1460500" y="146050"/>
                </a:lnTo>
                <a:close/>
              </a:path>
              <a:path w="1492250" h="304800">
                <a:moveTo>
                  <a:pt x="1460500" y="63500"/>
                </a:moveTo>
                <a:lnTo>
                  <a:pt x="1447800" y="63500"/>
                </a:lnTo>
                <a:lnTo>
                  <a:pt x="1447800" y="152400"/>
                </a:lnTo>
                <a:lnTo>
                  <a:pt x="1454150" y="146050"/>
                </a:lnTo>
                <a:lnTo>
                  <a:pt x="1460500" y="146050"/>
                </a:lnTo>
                <a:lnTo>
                  <a:pt x="1460500" y="63500"/>
                </a:lnTo>
                <a:close/>
              </a:path>
              <a:path w="1492250" h="304800">
                <a:moveTo>
                  <a:pt x="1454150" y="0"/>
                </a:moveTo>
                <a:lnTo>
                  <a:pt x="1416050" y="76200"/>
                </a:lnTo>
                <a:lnTo>
                  <a:pt x="1447800" y="76200"/>
                </a:lnTo>
                <a:lnTo>
                  <a:pt x="1447800" y="63500"/>
                </a:lnTo>
                <a:lnTo>
                  <a:pt x="1485900" y="63500"/>
                </a:lnTo>
                <a:lnTo>
                  <a:pt x="1454150" y="0"/>
                </a:lnTo>
                <a:close/>
              </a:path>
              <a:path w="1492250" h="304800">
                <a:moveTo>
                  <a:pt x="1485900" y="63500"/>
                </a:moveTo>
                <a:lnTo>
                  <a:pt x="1460500" y="63500"/>
                </a:lnTo>
                <a:lnTo>
                  <a:pt x="1460500" y="76200"/>
                </a:lnTo>
                <a:lnTo>
                  <a:pt x="1492250" y="76200"/>
                </a:lnTo>
                <a:lnTo>
                  <a:pt x="14859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28900" y="29718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63500"/>
                </a:moveTo>
                <a:lnTo>
                  <a:pt x="31750" y="63500"/>
                </a:lnTo>
                <a:lnTo>
                  <a:pt x="31750" y="304800"/>
                </a:lnTo>
                <a:lnTo>
                  <a:pt x="44450" y="304800"/>
                </a:lnTo>
                <a:lnTo>
                  <a:pt x="44450" y="63500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48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628900" y="2971800"/>
            <a:ext cx="1492250" cy="304800"/>
          </a:xfrm>
          <a:custGeom>
            <a:avLst/>
            <a:gdLst/>
            <a:ahLst/>
            <a:cxnLst/>
            <a:rect l="l" t="t" r="r" b="b"/>
            <a:pathLst>
              <a:path w="1492250" h="304800">
                <a:moveTo>
                  <a:pt x="1479550" y="152400"/>
                </a:moveTo>
                <a:lnTo>
                  <a:pt x="1479550" y="304800"/>
                </a:lnTo>
                <a:lnTo>
                  <a:pt x="1492250" y="304800"/>
                </a:lnTo>
                <a:lnTo>
                  <a:pt x="1492250" y="158750"/>
                </a:lnTo>
                <a:lnTo>
                  <a:pt x="1485900" y="158750"/>
                </a:lnTo>
                <a:lnTo>
                  <a:pt x="1479550" y="152400"/>
                </a:lnTo>
                <a:close/>
              </a:path>
              <a:path w="1492250" h="304800">
                <a:moveTo>
                  <a:pt x="44450" y="63500"/>
                </a:moveTo>
                <a:lnTo>
                  <a:pt x="31750" y="63500"/>
                </a:lnTo>
                <a:lnTo>
                  <a:pt x="31750" y="158750"/>
                </a:lnTo>
                <a:lnTo>
                  <a:pt x="1479550" y="158750"/>
                </a:lnTo>
                <a:lnTo>
                  <a:pt x="1479550" y="152400"/>
                </a:lnTo>
                <a:lnTo>
                  <a:pt x="44450" y="152400"/>
                </a:lnTo>
                <a:lnTo>
                  <a:pt x="38100" y="146050"/>
                </a:lnTo>
                <a:lnTo>
                  <a:pt x="44450" y="146050"/>
                </a:lnTo>
                <a:lnTo>
                  <a:pt x="44450" y="63500"/>
                </a:lnTo>
                <a:close/>
              </a:path>
              <a:path w="1492250" h="304800">
                <a:moveTo>
                  <a:pt x="1492250" y="146050"/>
                </a:moveTo>
                <a:lnTo>
                  <a:pt x="44450" y="146050"/>
                </a:lnTo>
                <a:lnTo>
                  <a:pt x="44450" y="152400"/>
                </a:lnTo>
                <a:lnTo>
                  <a:pt x="1479550" y="152400"/>
                </a:lnTo>
                <a:lnTo>
                  <a:pt x="1485900" y="158750"/>
                </a:lnTo>
                <a:lnTo>
                  <a:pt x="1492250" y="158750"/>
                </a:lnTo>
                <a:lnTo>
                  <a:pt x="1492250" y="146050"/>
                </a:lnTo>
                <a:close/>
              </a:path>
              <a:path w="1492250" h="304800">
                <a:moveTo>
                  <a:pt x="44450" y="146050"/>
                </a:moveTo>
                <a:lnTo>
                  <a:pt x="38100" y="146050"/>
                </a:lnTo>
                <a:lnTo>
                  <a:pt x="44450" y="152400"/>
                </a:lnTo>
                <a:lnTo>
                  <a:pt x="44450" y="146050"/>
                </a:lnTo>
                <a:close/>
              </a:path>
              <a:path w="1492250" h="3048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492250" h="3048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660650" y="2133600"/>
            <a:ext cx="1492250" cy="304800"/>
          </a:xfrm>
          <a:custGeom>
            <a:avLst/>
            <a:gdLst/>
            <a:ahLst/>
            <a:cxnLst/>
            <a:rect l="l" t="t" r="r" b="b"/>
            <a:pathLst>
              <a:path w="1492250" h="304800">
                <a:moveTo>
                  <a:pt x="1447800" y="146050"/>
                </a:moveTo>
                <a:lnTo>
                  <a:pt x="0" y="146050"/>
                </a:lnTo>
                <a:lnTo>
                  <a:pt x="0" y="304800"/>
                </a:lnTo>
                <a:lnTo>
                  <a:pt x="12700" y="304800"/>
                </a:lnTo>
                <a:lnTo>
                  <a:pt x="12700" y="158750"/>
                </a:lnTo>
                <a:lnTo>
                  <a:pt x="6350" y="158750"/>
                </a:lnTo>
                <a:lnTo>
                  <a:pt x="12700" y="152400"/>
                </a:lnTo>
                <a:lnTo>
                  <a:pt x="1447800" y="152400"/>
                </a:lnTo>
                <a:lnTo>
                  <a:pt x="1447800" y="146050"/>
                </a:lnTo>
                <a:close/>
              </a:path>
              <a:path w="1492250" h="304800">
                <a:moveTo>
                  <a:pt x="12700" y="152400"/>
                </a:moveTo>
                <a:lnTo>
                  <a:pt x="6350" y="158750"/>
                </a:lnTo>
                <a:lnTo>
                  <a:pt x="12700" y="158750"/>
                </a:lnTo>
                <a:lnTo>
                  <a:pt x="12700" y="152400"/>
                </a:lnTo>
                <a:close/>
              </a:path>
              <a:path w="1492250" h="304800">
                <a:moveTo>
                  <a:pt x="1460500" y="146050"/>
                </a:moveTo>
                <a:lnTo>
                  <a:pt x="1454150" y="146050"/>
                </a:lnTo>
                <a:lnTo>
                  <a:pt x="1447800" y="152400"/>
                </a:lnTo>
                <a:lnTo>
                  <a:pt x="12700" y="152400"/>
                </a:lnTo>
                <a:lnTo>
                  <a:pt x="12700" y="158750"/>
                </a:lnTo>
                <a:lnTo>
                  <a:pt x="1460500" y="158750"/>
                </a:lnTo>
                <a:lnTo>
                  <a:pt x="1460500" y="146050"/>
                </a:lnTo>
                <a:close/>
              </a:path>
              <a:path w="1492250" h="304800">
                <a:moveTo>
                  <a:pt x="1460500" y="63500"/>
                </a:moveTo>
                <a:lnTo>
                  <a:pt x="1447800" y="63500"/>
                </a:lnTo>
                <a:lnTo>
                  <a:pt x="1447800" y="152400"/>
                </a:lnTo>
                <a:lnTo>
                  <a:pt x="1454150" y="146050"/>
                </a:lnTo>
                <a:lnTo>
                  <a:pt x="1460500" y="146050"/>
                </a:lnTo>
                <a:lnTo>
                  <a:pt x="1460500" y="63500"/>
                </a:lnTo>
                <a:close/>
              </a:path>
              <a:path w="1492250" h="304800">
                <a:moveTo>
                  <a:pt x="1454150" y="0"/>
                </a:moveTo>
                <a:lnTo>
                  <a:pt x="1416050" y="76200"/>
                </a:lnTo>
                <a:lnTo>
                  <a:pt x="1447800" y="76200"/>
                </a:lnTo>
                <a:lnTo>
                  <a:pt x="1447800" y="63500"/>
                </a:lnTo>
                <a:lnTo>
                  <a:pt x="1485900" y="63500"/>
                </a:lnTo>
                <a:lnTo>
                  <a:pt x="1454150" y="0"/>
                </a:lnTo>
                <a:close/>
              </a:path>
              <a:path w="1492250" h="304800">
                <a:moveTo>
                  <a:pt x="1485900" y="63500"/>
                </a:moveTo>
                <a:lnTo>
                  <a:pt x="1460500" y="63500"/>
                </a:lnTo>
                <a:lnTo>
                  <a:pt x="1460500" y="76200"/>
                </a:lnTo>
                <a:lnTo>
                  <a:pt x="1492250" y="76200"/>
                </a:lnTo>
                <a:lnTo>
                  <a:pt x="14859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076700" y="21336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63500"/>
                </a:moveTo>
                <a:lnTo>
                  <a:pt x="31750" y="63500"/>
                </a:lnTo>
                <a:lnTo>
                  <a:pt x="31750" y="304800"/>
                </a:lnTo>
                <a:lnTo>
                  <a:pt x="44450" y="304800"/>
                </a:lnTo>
                <a:lnTo>
                  <a:pt x="44450" y="63500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48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628900" y="38100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44450" y="63500"/>
                </a:moveTo>
                <a:lnTo>
                  <a:pt x="31750" y="63500"/>
                </a:lnTo>
                <a:lnTo>
                  <a:pt x="31750" y="381000"/>
                </a:lnTo>
                <a:lnTo>
                  <a:pt x="44450" y="381000"/>
                </a:lnTo>
                <a:lnTo>
                  <a:pt x="44450" y="63500"/>
                </a:lnTo>
                <a:close/>
              </a:path>
              <a:path w="76200" h="3810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81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12850" y="3810000"/>
            <a:ext cx="1492250" cy="381000"/>
          </a:xfrm>
          <a:custGeom>
            <a:avLst/>
            <a:gdLst/>
            <a:ahLst/>
            <a:cxnLst/>
            <a:rect l="l" t="t" r="r" b="b"/>
            <a:pathLst>
              <a:path w="1492250" h="381000">
                <a:moveTo>
                  <a:pt x="1447800" y="184150"/>
                </a:moveTo>
                <a:lnTo>
                  <a:pt x="0" y="184150"/>
                </a:lnTo>
                <a:lnTo>
                  <a:pt x="0" y="381000"/>
                </a:lnTo>
                <a:lnTo>
                  <a:pt x="12700" y="381000"/>
                </a:lnTo>
                <a:lnTo>
                  <a:pt x="12700" y="196850"/>
                </a:lnTo>
                <a:lnTo>
                  <a:pt x="6350" y="196850"/>
                </a:lnTo>
                <a:lnTo>
                  <a:pt x="12700" y="190500"/>
                </a:lnTo>
                <a:lnTo>
                  <a:pt x="1447800" y="190500"/>
                </a:lnTo>
                <a:lnTo>
                  <a:pt x="1447800" y="184150"/>
                </a:lnTo>
                <a:close/>
              </a:path>
              <a:path w="1492250" h="381000">
                <a:moveTo>
                  <a:pt x="12700" y="190500"/>
                </a:moveTo>
                <a:lnTo>
                  <a:pt x="6350" y="196850"/>
                </a:lnTo>
                <a:lnTo>
                  <a:pt x="12700" y="196850"/>
                </a:lnTo>
                <a:lnTo>
                  <a:pt x="12700" y="190500"/>
                </a:lnTo>
                <a:close/>
              </a:path>
              <a:path w="1492250" h="381000">
                <a:moveTo>
                  <a:pt x="1460500" y="184150"/>
                </a:moveTo>
                <a:lnTo>
                  <a:pt x="1454150" y="184150"/>
                </a:lnTo>
                <a:lnTo>
                  <a:pt x="1447800" y="190500"/>
                </a:lnTo>
                <a:lnTo>
                  <a:pt x="12700" y="190500"/>
                </a:lnTo>
                <a:lnTo>
                  <a:pt x="12700" y="196850"/>
                </a:lnTo>
                <a:lnTo>
                  <a:pt x="1460500" y="196850"/>
                </a:lnTo>
                <a:lnTo>
                  <a:pt x="1460500" y="184150"/>
                </a:lnTo>
                <a:close/>
              </a:path>
              <a:path w="1492250" h="381000">
                <a:moveTo>
                  <a:pt x="1460500" y="63500"/>
                </a:moveTo>
                <a:lnTo>
                  <a:pt x="1447800" y="63500"/>
                </a:lnTo>
                <a:lnTo>
                  <a:pt x="1447800" y="190500"/>
                </a:lnTo>
                <a:lnTo>
                  <a:pt x="1454150" y="184150"/>
                </a:lnTo>
                <a:lnTo>
                  <a:pt x="1460500" y="184150"/>
                </a:lnTo>
                <a:lnTo>
                  <a:pt x="1460500" y="63500"/>
                </a:lnTo>
                <a:close/>
              </a:path>
              <a:path w="1492250" h="381000">
                <a:moveTo>
                  <a:pt x="1454150" y="0"/>
                </a:moveTo>
                <a:lnTo>
                  <a:pt x="1416050" y="76200"/>
                </a:lnTo>
                <a:lnTo>
                  <a:pt x="1447800" y="76200"/>
                </a:lnTo>
                <a:lnTo>
                  <a:pt x="1447800" y="63500"/>
                </a:lnTo>
                <a:lnTo>
                  <a:pt x="1485900" y="63500"/>
                </a:lnTo>
                <a:lnTo>
                  <a:pt x="1454150" y="0"/>
                </a:lnTo>
                <a:close/>
              </a:path>
              <a:path w="1492250" h="381000">
                <a:moveTo>
                  <a:pt x="1485900" y="63500"/>
                </a:moveTo>
                <a:lnTo>
                  <a:pt x="1460500" y="63500"/>
                </a:lnTo>
                <a:lnTo>
                  <a:pt x="1460500" y="76200"/>
                </a:lnTo>
                <a:lnTo>
                  <a:pt x="1492250" y="76200"/>
                </a:lnTo>
                <a:lnTo>
                  <a:pt x="14859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34100" y="2133600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44450" y="63500"/>
                </a:moveTo>
                <a:lnTo>
                  <a:pt x="31750" y="63500"/>
                </a:lnTo>
                <a:lnTo>
                  <a:pt x="31750" y="1143000"/>
                </a:lnTo>
                <a:lnTo>
                  <a:pt x="44450" y="1143000"/>
                </a:lnTo>
                <a:lnTo>
                  <a:pt x="44450" y="63500"/>
                </a:lnTo>
                <a:close/>
              </a:path>
              <a:path w="76200" h="11430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143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03850" y="3810000"/>
            <a:ext cx="806450" cy="1295400"/>
          </a:xfrm>
          <a:custGeom>
            <a:avLst/>
            <a:gdLst/>
            <a:ahLst/>
            <a:cxnLst/>
            <a:rect l="l" t="t" r="r" b="b"/>
            <a:pathLst>
              <a:path w="806450" h="1295400">
                <a:moveTo>
                  <a:pt x="762000" y="641350"/>
                </a:moveTo>
                <a:lnTo>
                  <a:pt x="0" y="641350"/>
                </a:lnTo>
                <a:lnTo>
                  <a:pt x="0" y="1295400"/>
                </a:lnTo>
                <a:lnTo>
                  <a:pt x="12700" y="1295400"/>
                </a:lnTo>
                <a:lnTo>
                  <a:pt x="12700" y="654050"/>
                </a:lnTo>
                <a:lnTo>
                  <a:pt x="6350" y="654050"/>
                </a:lnTo>
                <a:lnTo>
                  <a:pt x="12700" y="647700"/>
                </a:lnTo>
                <a:lnTo>
                  <a:pt x="762000" y="647700"/>
                </a:lnTo>
                <a:lnTo>
                  <a:pt x="762000" y="641350"/>
                </a:lnTo>
                <a:close/>
              </a:path>
              <a:path w="806450" h="1295400">
                <a:moveTo>
                  <a:pt x="12700" y="647700"/>
                </a:moveTo>
                <a:lnTo>
                  <a:pt x="6350" y="654050"/>
                </a:lnTo>
                <a:lnTo>
                  <a:pt x="12700" y="654050"/>
                </a:lnTo>
                <a:lnTo>
                  <a:pt x="12700" y="647700"/>
                </a:lnTo>
                <a:close/>
              </a:path>
              <a:path w="806450" h="1295400">
                <a:moveTo>
                  <a:pt x="774700" y="641350"/>
                </a:moveTo>
                <a:lnTo>
                  <a:pt x="768350" y="641350"/>
                </a:lnTo>
                <a:lnTo>
                  <a:pt x="762000" y="647700"/>
                </a:lnTo>
                <a:lnTo>
                  <a:pt x="12700" y="647700"/>
                </a:lnTo>
                <a:lnTo>
                  <a:pt x="12700" y="654050"/>
                </a:lnTo>
                <a:lnTo>
                  <a:pt x="774700" y="654050"/>
                </a:lnTo>
                <a:lnTo>
                  <a:pt x="774700" y="641350"/>
                </a:lnTo>
                <a:close/>
              </a:path>
              <a:path w="806450" h="1295400">
                <a:moveTo>
                  <a:pt x="774700" y="63500"/>
                </a:moveTo>
                <a:lnTo>
                  <a:pt x="762000" y="63500"/>
                </a:lnTo>
                <a:lnTo>
                  <a:pt x="762000" y="647700"/>
                </a:lnTo>
                <a:lnTo>
                  <a:pt x="768350" y="641350"/>
                </a:lnTo>
                <a:lnTo>
                  <a:pt x="774700" y="641350"/>
                </a:lnTo>
                <a:lnTo>
                  <a:pt x="774700" y="63500"/>
                </a:lnTo>
                <a:close/>
              </a:path>
              <a:path w="806450" h="1295400">
                <a:moveTo>
                  <a:pt x="768350" y="0"/>
                </a:moveTo>
                <a:lnTo>
                  <a:pt x="730250" y="76200"/>
                </a:lnTo>
                <a:lnTo>
                  <a:pt x="762000" y="76200"/>
                </a:lnTo>
                <a:lnTo>
                  <a:pt x="762000" y="63500"/>
                </a:lnTo>
                <a:lnTo>
                  <a:pt x="800100" y="63500"/>
                </a:lnTo>
                <a:lnTo>
                  <a:pt x="768350" y="0"/>
                </a:lnTo>
                <a:close/>
              </a:path>
              <a:path w="806450" h="1295400">
                <a:moveTo>
                  <a:pt x="800100" y="63500"/>
                </a:moveTo>
                <a:lnTo>
                  <a:pt x="774700" y="63500"/>
                </a:lnTo>
                <a:lnTo>
                  <a:pt x="774700" y="76200"/>
                </a:lnTo>
                <a:lnTo>
                  <a:pt x="806450" y="76200"/>
                </a:lnTo>
                <a:lnTo>
                  <a:pt x="8001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134100" y="3810000"/>
            <a:ext cx="577850" cy="1295400"/>
          </a:xfrm>
          <a:custGeom>
            <a:avLst/>
            <a:gdLst/>
            <a:ahLst/>
            <a:cxnLst/>
            <a:rect l="l" t="t" r="r" b="b"/>
            <a:pathLst>
              <a:path w="577850" h="1295400">
                <a:moveTo>
                  <a:pt x="565150" y="647700"/>
                </a:moveTo>
                <a:lnTo>
                  <a:pt x="565150" y="1295400"/>
                </a:lnTo>
                <a:lnTo>
                  <a:pt x="577850" y="1295400"/>
                </a:lnTo>
                <a:lnTo>
                  <a:pt x="577850" y="654050"/>
                </a:lnTo>
                <a:lnTo>
                  <a:pt x="571500" y="654050"/>
                </a:lnTo>
                <a:lnTo>
                  <a:pt x="565150" y="647700"/>
                </a:lnTo>
                <a:close/>
              </a:path>
              <a:path w="577850" h="1295400">
                <a:moveTo>
                  <a:pt x="44450" y="63500"/>
                </a:moveTo>
                <a:lnTo>
                  <a:pt x="31750" y="63500"/>
                </a:lnTo>
                <a:lnTo>
                  <a:pt x="31750" y="654050"/>
                </a:lnTo>
                <a:lnTo>
                  <a:pt x="565150" y="654050"/>
                </a:lnTo>
                <a:lnTo>
                  <a:pt x="565150" y="647700"/>
                </a:lnTo>
                <a:lnTo>
                  <a:pt x="44450" y="647700"/>
                </a:lnTo>
                <a:lnTo>
                  <a:pt x="38100" y="641350"/>
                </a:lnTo>
                <a:lnTo>
                  <a:pt x="44450" y="641350"/>
                </a:lnTo>
                <a:lnTo>
                  <a:pt x="44450" y="63500"/>
                </a:lnTo>
                <a:close/>
              </a:path>
              <a:path w="577850" h="1295400">
                <a:moveTo>
                  <a:pt x="577850" y="641350"/>
                </a:moveTo>
                <a:lnTo>
                  <a:pt x="44450" y="641350"/>
                </a:lnTo>
                <a:lnTo>
                  <a:pt x="44450" y="647700"/>
                </a:lnTo>
                <a:lnTo>
                  <a:pt x="565150" y="647700"/>
                </a:lnTo>
                <a:lnTo>
                  <a:pt x="571500" y="654050"/>
                </a:lnTo>
                <a:lnTo>
                  <a:pt x="577850" y="654050"/>
                </a:lnTo>
                <a:lnTo>
                  <a:pt x="577850" y="641350"/>
                </a:lnTo>
                <a:close/>
              </a:path>
              <a:path w="577850" h="1295400">
                <a:moveTo>
                  <a:pt x="44450" y="641350"/>
                </a:moveTo>
                <a:lnTo>
                  <a:pt x="38100" y="641350"/>
                </a:lnTo>
                <a:lnTo>
                  <a:pt x="44450" y="647700"/>
                </a:lnTo>
                <a:lnTo>
                  <a:pt x="44450" y="641350"/>
                </a:lnTo>
                <a:close/>
              </a:path>
              <a:path w="577850" h="12954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577850" h="12954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0574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0574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96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096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628900" y="47244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44450" y="63500"/>
                </a:moveTo>
                <a:lnTo>
                  <a:pt x="31750" y="63500"/>
                </a:lnTo>
                <a:lnTo>
                  <a:pt x="31750" y="381000"/>
                </a:lnTo>
                <a:lnTo>
                  <a:pt x="44450" y="381000"/>
                </a:lnTo>
                <a:lnTo>
                  <a:pt x="44450" y="63500"/>
                </a:lnTo>
                <a:close/>
              </a:path>
              <a:path w="76200" h="3810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81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212850" y="4724400"/>
            <a:ext cx="1492250" cy="381000"/>
          </a:xfrm>
          <a:custGeom>
            <a:avLst/>
            <a:gdLst/>
            <a:ahLst/>
            <a:cxnLst/>
            <a:rect l="l" t="t" r="r" b="b"/>
            <a:pathLst>
              <a:path w="1492250" h="381000">
                <a:moveTo>
                  <a:pt x="1447800" y="184150"/>
                </a:moveTo>
                <a:lnTo>
                  <a:pt x="0" y="184150"/>
                </a:lnTo>
                <a:lnTo>
                  <a:pt x="0" y="381000"/>
                </a:lnTo>
                <a:lnTo>
                  <a:pt x="12700" y="381000"/>
                </a:lnTo>
                <a:lnTo>
                  <a:pt x="12700" y="196850"/>
                </a:lnTo>
                <a:lnTo>
                  <a:pt x="6350" y="196850"/>
                </a:lnTo>
                <a:lnTo>
                  <a:pt x="12700" y="190500"/>
                </a:lnTo>
                <a:lnTo>
                  <a:pt x="1447800" y="190500"/>
                </a:lnTo>
                <a:lnTo>
                  <a:pt x="1447800" y="184150"/>
                </a:lnTo>
                <a:close/>
              </a:path>
              <a:path w="1492250" h="381000">
                <a:moveTo>
                  <a:pt x="12700" y="190500"/>
                </a:moveTo>
                <a:lnTo>
                  <a:pt x="6350" y="196850"/>
                </a:lnTo>
                <a:lnTo>
                  <a:pt x="12700" y="196850"/>
                </a:lnTo>
                <a:lnTo>
                  <a:pt x="12700" y="190500"/>
                </a:lnTo>
                <a:close/>
              </a:path>
              <a:path w="1492250" h="381000">
                <a:moveTo>
                  <a:pt x="1460500" y="184150"/>
                </a:moveTo>
                <a:lnTo>
                  <a:pt x="1454150" y="184150"/>
                </a:lnTo>
                <a:lnTo>
                  <a:pt x="1447800" y="190500"/>
                </a:lnTo>
                <a:lnTo>
                  <a:pt x="12700" y="190500"/>
                </a:lnTo>
                <a:lnTo>
                  <a:pt x="12700" y="196850"/>
                </a:lnTo>
                <a:lnTo>
                  <a:pt x="1460500" y="196850"/>
                </a:lnTo>
                <a:lnTo>
                  <a:pt x="1460500" y="184150"/>
                </a:lnTo>
                <a:close/>
              </a:path>
              <a:path w="1492250" h="381000">
                <a:moveTo>
                  <a:pt x="1460500" y="63500"/>
                </a:moveTo>
                <a:lnTo>
                  <a:pt x="1447800" y="63500"/>
                </a:lnTo>
                <a:lnTo>
                  <a:pt x="1447800" y="190500"/>
                </a:lnTo>
                <a:lnTo>
                  <a:pt x="1454150" y="184150"/>
                </a:lnTo>
                <a:lnTo>
                  <a:pt x="1460500" y="184150"/>
                </a:lnTo>
                <a:lnTo>
                  <a:pt x="1460500" y="63500"/>
                </a:lnTo>
                <a:close/>
              </a:path>
              <a:path w="1492250" h="381000">
                <a:moveTo>
                  <a:pt x="1454150" y="0"/>
                </a:moveTo>
                <a:lnTo>
                  <a:pt x="1416050" y="76200"/>
                </a:lnTo>
                <a:lnTo>
                  <a:pt x="1447800" y="76200"/>
                </a:lnTo>
                <a:lnTo>
                  <a:pt x="1447800" y="63500"/>
                </a:lnTo>
                <a:lnTo>
                  <a:pt x="1485900" y="63500"/>
                </a:lnTo>
                <a:lnTo>
                  <a:pt x="1454150" y="0"/>
                </a:lnTo>
                <a:close/>
              </a:path>
              <a:path w="1492250" h="381000">
                <a:moveTo>
                  <a:pt x="1485900" y="63500"/>
                </a:moveTo>
                <a:lnTo>
                  <a:pt x="1460500" y="63500"/>
                </a:lnTo>
                <a:lnTo>
                  <a:pt x="1460500" y="76200"/>
                </a:lnTo>
                <a:lnTo>
                  <a:pt x="1492250" y="76200"/>
                </a:lnTo>
                <a:lnTo>
                  <a:pt x="14859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914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914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134100" y="3810000"/>
            <a:ext cx="1873250" cy="1295400"/>
          </a:xfrm>
          <a:custGeom>
            <a:avLst/>
            <a:gdLst/>
            <a:ahLst/>
            <a:cxnLst/>
            <a:rect l="l" t="t" r="r" b="b"/>
            <a:pathLst>
              <a:path w="1873250" h="1295400">
                <a:moveTo>
                  <a:pt x="1860550" y="647700"/>
                </a:moveTo>
                <a:lnTo>
                  <a:pt x="1860550" y="1295400"/>
                </a:lnTo>
                <a:lnTo>
                  <a:pt x="1873250" y="1295400"/>
                </a:lnTo>
                <a:lnTo>
                  <a:pt x="1873250" y="654050"/>
                </a:lnTo>
                <a:lnTo>
                  <a:pt x="1866900" y="654050"/>
                </a:lnTo>
                <a:lnTo>
                  <a:pt x="1860550" y="647700"/>
                </a:lnTo>
                <a:close/>
              </a:path>
              <a:path w="1873250" h="1295400">
                <a:moveTo>
                  <a:pt x="44450" y="63500"/>
                </a:moveTo>
                <a:lnTo>
                  <a:pt x="31750" y="63500"/>
                </a:lnTo>
                <a:lnTo>
                  <a:pt x="31750" y="654050"/>
                </a:lnTo>
                <a:lnTo>
                  <a:pt x="1860550" y="654050"/>
                </a:lnTo>
                <a:lnTo>
                  <a:pt x="1860550" y="647700"/>
                </a:lnTo>
                <a:lnTo>
                  <a:pt x="44450" y="647700"/>
                </a:lnTo>
                <a:lnTo>
                  <a:pt x="38100" y="641350"/>
                </a:lnTo>
                <a:lnTo>
                  <a:pt x="44450" y="641350"/>
                </a:lnTo>
                <a:lnTo>
                  <a:pt x="44450" y="63500"/>
                </a:lnTo>
                <a:close/>
              </a:path>
              <a:path w="1873250" h="1295400">
                <a:moveTo>
                  <a:pt x="1873250" y="641350"/>
                </a:moveTo>
                <a:lnTo>
                  <a:pt x="44450" y="641350"/>
                </a:lnTo>
                <a:lnTo>
                  <a:pt x="44450" y="647700"/>
                </a:lnTo>
                <a:lnTo>
                  <a:pt x="1860550" y="647700"/>
                </a:lnTo>
                <a:lnTo>
                  <a:pt x="1866900" y="654050"/>
                </a:lnTo>
                <a:lnTo>
                  <a:pt x="1873250" y="654050"/>
                </a:lnTo>
                <a:lnTo>
                  <a:pt x="1873250" y="641350"/>
                </a:lnTo>
                <a:close/>
              </a:path>
              <a:path w="1873250" h="1295400">
                <a:moveTo>
                  <a:pt x="44450" y="641350"/>
                </a:moveTo>
                <a:lnTo>
                  <a:pt x="38100" y="641350"/>
                </a:lnTo>
                <a:lnTo>
                  <a:pt x="44450" y="647700"/>
                </a:lnTo>
                <a:lnTo>
                  <a:pt x="44450" y="641350"/>
                </a:lnTo>
                <a:close/>
              </a:path>
              <a:path w="1873250" h="12954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873250" h="12954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76300" y="2133600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44450" y="63500"/>
                </a:moveTo>
                <a:lnTo>
                  <a:pt x="31750" y="63500"/>
                </a:lnTo>
                <a:lnTo>
                  <a:pt x="31750" y="1143000"/>
                </a:lnTo>
                <a:lnTo>
                  <a:pt x="44450" y="1143000"/>
                </a:lnTo>
                <a:lnTo>
                  <a:pt x="44450" y="63500"/>
                </a:lnTo>
                <a:close/>
              </a:path>
              <a:path w="76200" h="11430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143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4290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4290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032250" y="3810000"/>
            <a:ext cx="2178050" cy="1295400"/>
          </a:xfrm>
          <a:custGeom>
            <a:avLst/>
            <a:gdLst/>
            <a:ahLst/>
            <a:cxnLst/>
            <a:rect l="l" t="t" r="r" b="b"/>
            <a:pathLst>
              <a:path w="2178050" h="1295400">
                <a:moveTo>
                  <a:pt x="2133600" y="641350"/>
                </a:moveTo>
                <a:lnTo>
                  <a:pt x="0" y="641350"/>
                </a:lnTo>
                <a:lnTo>
                  <a:pt x="0" y="1295400"/>
                </a:lnTo>
                <a:lnTo>
                  <a:pt x="12700" y="1295400"/>
                </a:lnTo>
                <a:lnTo>
                  <a:pt x="12700" y="654050"/>
                </a:lnTo>
                <a:lnTo>
                  <a:pt x="6350" y="654050"/>
                </a:lnTo>
                <a:lnTo>
                  <a:pt x="12700" y="647700"/>
                </a:lnTo>
                <a:lnTo>
                  <a:pt x="2133600" y="647700"/>
                </a:lnTo>
                <a:lnTo>
                  <a:pt x="2133600" y="641350"/>
                </a:lnTo>
                <a:close/>
              </a:path>
              <a:path w="2178050" h="1295400">
                <a:moveTo>
                  <a:pt x="12700" y="647700"/>
                </a:moveTo>
                <a:lnTo>
                  <a:pt x="6350" y="654050"/>
                </a:lnTo>
                <a:lnTo>
                  <a:pt x="12700" y="654050"/>
                </a:lnTo>
                <a:lnTo>
                  <a:pt x="12700" y="647700"/>
                </a:lnTo>
                <a:close/>
              </a:path>
              <a:path w="2178050" h="1295400">
                <a:moveTo>
                  <a:pt x="2146300" y="641350"/>
                </a:moveTo>
                <a:lnTo>
                  <a:pt x="2139950" y="641350"/>
                </a:lnTo>
                <a:lnTo>
                  <a:pt x="2133600" y="647700"/>
                </a:lnTo>
                <a:lnTo>
                  <a:pt x="12700" y="647700"/>
                </a:lnTo>
                <a:lnTo>
                  <a:pt x="12700" y="654050"/>
                </a:lnTo>
                <a:lnTo>
                  <a:pt x="2146300" y="654050"/>
                </a:lnTo>
                <a:lnTo>
                  <a:pt x="2146300" y="641350"/>
                </a:lnTo>
                <a:close/>
              </a:path>
              <a:path w="2178050" h="1295400">
                <a:moveTo>
                  <a:pt x="2146300" y="63500"/>
                </a:moveTo>
                <a:lnTo>
                  <a:pt x="2133600" y="63500"/>
                </a:lnTo>
                <a:lnTo>
                  <a:pt x="2133600" y="647700"/>
                </a:lnTo>
                <a:lnTo>
                  <a:pt x="2139950" y="641350"/>
                </a:lnTo>
                <a:lnTo>
                  <a:pt x="2146300" y="641350"/>
                </a:lnTo>
                <a:lnTo>
                  <a:pt x="2146300" y="63500"/>
                </a:lnTo>
                <a:close/>
              </a:path>
              <a:path w="2178050" h="1295400">
                <a:moveTo>
                  <a:pt x="2139950" y="0"/>
                </a:moveTo>
                <a:lnTo>
                  <a:pt x="2101850" y="76200"/>
                </a:lnTo>
                <a:lnTo>
                  <a:pt x="2133600" y="76200"/>
                </a:lnTo>
                <a:lnTo>
                  <a:pt x="2133600" y="63500"/>
                </a:lnTo>
                <a:lnTo>
                  <a:pt x="2171700" y="63500"/>
                </a:lnTo>
                <a:lnTo>
                  <a:pt x="2139950" y="0"/>
                </a:lnTo>
                <a:close/>
              </a:path>
              <a:path w="2178050" h="1295400">
                <a:moveTo>
                  <a:pt x="2171700" y="63500"/>
                </a:moveTo>
                <a:lnTo>
                  <a:pt x="2146300" y="63500"/>
                </a:lnTo>
                <a:lnTo>
                  <a:pt x="2146300" y="76200"/>
                </a:lnTo>
                <a:lnTo>
                  <a:pt x="2178050" y="76200"/>
                </a:lnTo>
                <a:lnTo>
                  <a:pt x="21717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03650" y="3810000"/>
            <a:ext cx="120650" cy="1295400"/>
          </a:xfrm>
          <a:custGeom>
            <a:avLst/>
            <a:gdLst/>
            <a:ahLst/>
            <a:cxnLst/>
            <a:rect l="l" t="t" r="r" b="b"/>
            <a:pathLst>
              <a:path w="120650" h="1295400">
                <a:moveTo>
                  <a:pt x="76200" y="641350"/>
                </a:moveTo>
                <a:lnTo>
                  <a:pt x="0" y="641350"/>
                </a:lnTo>
                <a:lnTo>
                  <a:pt x="0" y="1295400"/>
                </a:lnTo>
                <a:lnTo>
                  <a:pt x="12700" y="1295400"/>
                </a:lnTo>
                <a:lnTo>
                  <a:pt x="12700" y="654050"/>
                </a:lnTo>
                <a:lnTo>
                  <a:pt x="6350" y="654050"/>
                </a:lnTo>
                <a:lnTo>
                  <a:pt x="12700" y="647700"/>
                </a:lnTo>
                <a:lnTo>
                  <a:pt x="76200" y="647700"/>
                </a:lnTo>
                <a:lnTo>
                  <a:pt x="76200" y="641350"/>
                </a:lnTo>
                <a:close/>
              </a:path>
              <a:path w="120650" h="1295400">
                <a:moveTo>
                  <a:pt x="12700" y="647700"/>
                </a:moveTo>
                <a:lnTo>
                  <a:pt x="6350" y="654050"/>
                </a:lnTo>
                <a:lnTo>
                  <a:pt x="12700" y="654050"/>
                </a:lnTo>
                <a:lnTo>
                  <a:pt x="12700" y="647700"/>
                </a:lnTo>
                <a:close/>
              </a:path>
              <a:path w="120650" h="1295400">
                <a:moveTo>
                  <a:pt x="88900" y="641350"/>
                </a:moveTo>
                <a:lnTo>
                  <a:pt x="82550" y="641350"/>
                </a:lnTo>
                <a:lnTo>
                  <a:pt x="76200" y="647700"/>
                </a:lnTo>
                <a:lnTo>
                  <a:pt x="12700" y="647700"/>
                </a:lnTo>
                <a:lnTo>
                  <a:pt x="12700" y="654050"/>
                </a:lnTo>
                <a:lnTo>
                  <a:pt x="88900" y="654050"/>
                </a:lnTo>
                <a:lnTo>
                  <a:pt x="88900" y="641350"/>
                </a:lnTo>
                <a:close/>
              </a:path>
              <a:path w="120650" h="1295400">
                <a:moveTo>
                  <a:pt x="88900" y="63500"/>
                </a:moveTo>
                <a:lnTo>
                  <a:pt x="76200" y="63500"/>
                </a:lnTo>
                <a:lnTo>
                  <a:pt x="76200" y="647700"/>
                </a:lnTo>
                <a:lnTo>
                  <a:pt x="82550" y="641350"/>
                </a:lnTo>
                <a:lnTo>
                  <a:pt x="88900" y="641350"/>
                </a:lnTo>
                <a:lnTo>
                  <a:pt x="88900" y="63500"/>
                </a:lnTo>
                <a:close/>
              </a:path>
              <a:path w="120650" h="1295400">
                <a:moveTo>
                  <a:pt x="82550" y="0"/>
                </a:moveTo>
                <a:lnTo>
                  <a:pt x="44450" y="76200"/>
                </a:lnTo>
                <a:lnTo>
                  <a:pt x="76200" y="76200"/>
                </a:lnTo>
                <a:lnTo>
                  <a:pt x="76200" y="63500"/>
                </a:lnTo>
                <a:lnTo>
                  <a:pt x="114300" y="63500"/>
                </a:lnTo>
                <a:lnTo>
                  <a:pt x="82550" y="0"/>
                </a:lnTo>
                <a:close/>
              </a:path>
              <a:path w="120650" h="1295400">
                <a:moveTo>
                  <a:pt x="114300" y="63500"/>
                </a:moveTo>
                <a:lnTo>
                  <a:pt x="88900" y="63500"/>
                </a:lnTo>
                <a:lnTo>
                  <a:pt x="88900" y="76200"/>
                </a:lnTo>
                <a:lnTo>
                  <a:pt x="120650" y="76200"/>
                </a:lnTo>
                <a:lnTo>
                  <a:pt x="1143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57200" y="22860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0" y="952500"/>
                </a:moveTo>
                <a:lnTo>
                  <a:pt x="3816" y="896535"/>
                </a:lnTo>
                <a:lnTo>
                  <a:pt x="15124" y="841421"/>
                </a:lnTo>
                <a:lnTo>
                  <a:pt x="33712" y="787248"/>
                </a:lnTo>
                <a:lnTo>
                  <a:pt x="59371" y="734105"/>
                </a:lnTo>
                <a:lnTo>
                  <a:pt x="91889" y="682082"/>
                </a:lnTo>
                <a:lnTo>
                  <a:pt x="131055" y="631267"/>
                </a:lnTo>
                <a:lnTo>
                  <a:pt x="176658" y="581751"/>
                </a:lnTo>
                <a:lnTo>
                  <a:pt x="228488" y="533622"/>
                </a:lnTo>
                <a:lnTo>
                  <a:pt x="286334" y="486969"/>
                </a:lnTo>
                <a:lnTo>
                  <a:pt x="317447" y="464225"/>
                </a:lnTo>
                <a:lnTo>
                  <a:pt x="349984" y="441883"/>
                </a:lnTo>
                <a:lnTo>
                  <a:pt x="383920" y="419955"/>
                </a:lnTo>
                <a:lnTo>
                  <a:pt x="419228" y="398452"/>
                </a:lnTo>
                <a:lnTo>
                  <a:pt x="455882" y="377386"/>
                </a:lnTo>
                <a:lnTo>
                  <a:pt x="493855" y="356767"/>
                </a:lnTo>
                <a:lnTo>
                  <a:pt x="533122" y="336606"/>
                </a:lnTo>
                <a:lnTo>
                  <a:pt x="573655" y="316915"/>
                </a:lnTo>
                <a:lnTo>
                  <a:pt x="615428" y="297705"/>
                </a:lnTo>
                <a:lnTo>
                  <a:pt x="658415" y="278987"/>
                </a:lnTo>
                <a:lnTo>
                  <a:pt x="702590" y="260772"/>
                </a:lnTo>
                <a:lnTo>
                  <a:pt x="747926" y="243071"/>
                </a:lnTo>
                <a:lnTo>
                  <a:pt x="794397" y="225897"/>
                </a:lnTo>
                <a:lnTo>
                  <a:pt x="841976" y="209258"/>
                </a:lnTo>
                <a:lnTo>
                  <a:pt x="890638" y="193168"/>
                </a:lnTo>
                <a:lnTo>
                  <a:pt x="940355" y="177637"/>
                </a:lnTo>
                <a:lnTo>
                  <a:pt x="991102" y="162676"/>
                </a:lnTo>
                <a:lnTo>
                  <a:pt x="1042852" y="148297"/>
                </a:lnTo>
                <a:lnTo>
                  <a:pt x="1095578" y="134510"/>
                </a:lnTo>
                <a:lnTo>
                  <a:pt x="1149255" y="121326"/>
                </a:lnTo>
                <a:lnTo>
                  <a:pt x="1203856" y="108758"/>
                </a:lnTo>
                <a:lnTo>
                  <a:pt x="1259354" y="96816"/>
                </a:lnTo>
                <a:lnTo>
                  <a:pt x="1315724" y="85511"/>
                </a:lnTo>
                <a:lnTo>
                  <a:pt x="1372939" y="74854"/>
                </a:lnTo>
                <a:lnTo>
                  <a:pt x="1430972" y="64857"/>
                </a:lnTo>
                <a:lnTo>
                  <a:pt x="1489798" y="55531"/>
                </a:lnTo>
                <a:lnTo>
                  <a:pt x="1549389" y="46886"/>
                </a:lnTo>
                <a:lnTo>
                  <a:pt x="1609720" y="38935"/>
                </a:lnTo>
                <a:lnTo>
                  <a:pt x="1670764" y="31688"/>
                </a:lnTo>
                <a:lnTo>
                  <a:pt x="1732494" y="25157"/>
                </a:lnTo>
                <a:lnTo>
                  <a:pt x="1794885" y="19352"/>
                </a:lnTo>
                <a:lnTo>
                  <a:pt x="1857910" y="14284"/>
                </a:lnTo>
                <a:lnTo>
                  <a:pt x="1921543" y="9966"/>
                </a:lnTo>
                <a:lnTo>
                  <a:pt x="1985757" y="6408"/>
                </a:lnTo>
                <a:lnTo>
                  <a:pt x="2050526" y="3621"/>
                </a:lnTo>
                <a:lnTo>
                  <a:pt x="2115824" y="1616"/>
                </a:lnTo>
                <a:lnTo>
                  <a:pt x="2181624" y="406"/>
                </a:lnTo>
                <a:lnTo>
                  <a:pt x="2247900" y="0"/>
                </a:lnTo>
                <a:lnTo>
                  <a:pt x="2314175" y="406"/>
                </a:lnTo>
                <a:lnTo>
                  <a:pt x="2379975" y="1616"/>
                </a:lnTo>
                <a:lnTo>
                  <a:pt x="2445273" y="3621"/>
                </a:lnTo>
                <a:lnTo>
                  <a:pt x="2510042" y="6408"/>
                </a:lnTo>
                <a:lnTo>
                  <a:pt x="2574256" y="9966"/>
                </a:lnTo>
                <a:lnTo>
                  <a:pt x="2637889" y="14284"/>
                </a:lnTo>
                <a:lnTo>
                  <a:pt x="2700914" y="19352"/>
                </a:lnTo>
                <a:lnTo>
                  <a:pt x="2763305" y="25157"/>
                </a:lnTo>
                <a:lnTo>
                  <a:pt x="2825035" y="31688"/>
                </a:lnTo>
                <a:lnTo>
                  <a:pt x="2886079" y="38935"/>
                </a:lnTo>
                <a:lnTo>
                  <a:pt x="2946410" y="46886"/>
                </a:lnTo>
                <a:lnTo>
                  <a:pt x="3006001" y="55531"/>
                </a:lnTo>
                <a:lnTo>
                  <a:pt x="3064827" y="64857"/>
                </a:lnTo>
                <a:lnTo>
                  <a:pt x="3122860" y="74854"/>
                </a:lnTo>
                <a:lnTo>
                  <a:pt x="3180075" y="85511"/>
                </a:lnTo>
                <a:lnTo>
                  <a:pt x="3236445" y="96816"/>
                </a:lnTo>
                <a:lnTo>
                  <a:pt x="3291943" y="108758"/>
                </a:lnTo>
                <a:lnTo>
                  <a:pt x="3346544" y="121326"/>
                </a:lnTo>
                <a:lnTo>
                  <a:pt x="3400221" y="134510"/>
                </a:lnTo>
                <a:lnTo>
                  <a:pt x="3452947" y="148297"/>
                </a:lnTo>
                <a:lnTo>
                  <a:pt x="3504697" y="162676"/>
                </a:lnTo>
                <a:lnTo>
                  <a:pt x="3555444" y="177637"/>
                </a:lnTo>
                <a:lnTo>
                  <a:pt x="3605161" y="193168"/>
                </a:lnTo>
                <a:lnTo>
                  <a:pt x="3653823" y="209258"/>
                </a:lnTo>
                <a:lnTo>
                  <a:pt x="3701402" y="225897"/>
                </a:lnTo>
                <a:lnTo>
                  <a:pt x="3747873" y="243071"/>
                </a:lnTo>
                <a:lnTo>
                  <a:pt x="3793209" y="260772"/>
                </a:lnTo>
                <a:lnTo>
                  <a:pt x="3837384" y="278987"/>
                </a:lnTo>
                <a:lnTo>
                  <a:pt x="3880371" y="297705"/>
                </a:lnTo>
                <a:lnTo>
                  <a:pt x="3922144" y="316915"/>
                </a:lnTo>
                <a:lnTo>
                  <a:pt x="3962677" y="336606"/>
                </a:lnTo>
                <a:lnTo>
                  <a:pt x="4001944" y="356767"/>
                </a:lnTo>
                <a:lnTo>
                  <a:pt x="4039917" y="377386"/>
                </a:lnTo>
                <a:lnTo>
                  <a:pt x="4076571" y="398452"/>
                </a:lnTo>
                <a:lnTo>
                  <a:pt x="4111879" y="419955"/>
                </a:lnTo>
                <a:lnTo>
                  <a:pt x="4145815" y="441883"/>
                </a:lnTo>
                <a:lnTo>
                  <a:pt x="4178352" y="464225"/>
                </a:lnTo>
                <a:lnTo>
                  <a:pt x="4209465" y="486969"/>
                </a:lnTo>
                <a:lnTo>
                  <a:pt x="4267311" y="533622"/>
                </a:lnTo>
                <a:lnTo>
                  <a:pt x="4319141" y="581751"/>
                </a:lnTo>
                <a:lnTo>
                  <a:pt x="4364744" y="631267"/>
                </a:lnTo>
                <a:lnTo>
                  <a:pt x="4403910" y="682082"/>
                </a:lnTo>
                <a:lnTo>
                  <a:pt x="4436428" y="734105"/>
                </a:lnTo>
                <a:lnTo>
                  <a:pt x="4462087" y="787248"/>
                </a:lnTo>
                <a:lnTo>
                  <a:pt x="4480675" y="841421"/>
                </a:lnTo>
                <a:lnTo>
                  <a:pt x="4491983" y="896535"/>
                </a:lnTo>
                <a:lnTo>
                  <a:pt x="4495800" y="952500"/>
                </a:lnTo>
                <a:lnTo>
                  <a:pt x="4494841" y="980583"/>
                </a:lnTo>
                <a:lnTo>
                  <a:pt x="4491983" y="1008464"/>
                </a:lnTo>
                <a:lnTo>
                  <a:pt x="4480675" y="1063578"/>
                </a:lnTo>
                <a:lnTo>
                  <a:pt x="4462087" y="1117751"/>
                </a:lnTo>
                <a:lnTo>
                  <a:pt x="4436428" y="1170894"/>
                </a:lnTo>
                <a:lnTo>
                  <a:pt x="4403910" y="1222917"/>
                </a:lnTo>
                <a:lnTo>
                  <a:pt x="4364744" y="1273732"/>
                </a:lnTo>
                <a:lnTo>
                  <a:pt x="4319141" y="1323248"/>
                </a:lnTo>
                <a:lnTo>
                  <a:pt x="4267311" y="1371377"/>
                </a:lnTo>
                <a:lnTo>
                  <a:pt x="4209465" y="1418030"/>
                </a:lnTo>
                <a:lnTo>
                  <a:pt x="4178352" y="1440774"/>
                </a:lnTo>
                <a:lnTo>
                  <a:pt x="4145815" y="1463116"/>
                </a:lnTo>
                <a:lnTo>
                  <a:pt x="4111879" y="1485044"/>
                </a:lnTo>
                <a:lnTo>
                  <a:pt x="4076571" y="1506547"/>
                </a:lnTo>
                <a:lnTo>
                  <a:pt x="4039917" y="1527613"/>
                </a:lnTo>
                <a:lnTo>
                  <a:pt x="4001944" y="1548232"/>
                </a:lnTo>
                <a:lnTo>
                  <a:pt x="3962677" y="1568393"/>
                </a:lnTo>
                <a:lnTo>
                  <a:pt x="3922144" y="1588084"/>
                </a:lnTo>
                <a:lnTo>
                  <a:pt x="3880371" y="1607294"/>
                </a:lnTo>
                <a:lnTo>
                  <a:pt x="3837384" y="1626012"/>
                </a:lnTo>
                <a:lnTo>
                  <a:pt x="3793209" y="1644227"/>
                </a:lnTo>
                <a:lnTo>
                  <a:pt x="3747873" y="1661928"/>
                </a:lnTo>
                <a:lnTo>
                  <a:pt x="3701402" y="1679102"/>
                </a:lnTo>
                <a:lnTo>
                  <a:pt x="3653823" y="1695741"/>
                </a:lnTo>
                <a:lnTo>
                  <a:pt x="3605161" y="1711831"/>
                </a:lnTo>
                <a:lnTo>
                  <a:pt x="3555444" y="1727362"/>
                </a:lnTo>
                <a:lnTo>
                  <a:pt x="3504697" y="1742323"/>
                </a:lnTo>
                <a:lnTo>
                  <a:pt x="3452947" y="1756702"/>
                </a:lnTo>
                <a:lnTo>
                  <a:pt x="3400221" y="1770489"/>
                </a:lnTo>
                <a:lnTo>
                  <a:pt x="3346544" y="1783673"/>
                </a:lnTo>
                <a:lnTo>
                  <a:pt x="3291943" y="1796241"/>
                </a:lnTo>
                <a:lnTo>
                  <a:pt x="3236445" y="1808183"/>
                </a:lnTo>
                <a:lnTo>
                  <a:pt x="3180075" y="1819488"/>
                </a:lnTo>
                <a:lnTo>
                  <a:pt x="3122860" y="1830145"/>
                </a:lnTo>
                <a:lnTo>
                  <a:pt x="3064827" y="1840142"/>
                </a:lnTo>
                <a:lnTo>
                  <a:pt x="3006001" y="1849468"/>
                </a:lnTo>
                <a:lnTo>
                  <a:pt x="2946410" y="1858113"/>
                </a:lnTo>
                <a:lnTo>
                  <a:pt x="2886079" y="1866064"/>
                </a:lnTo>
                <a:lnTo>
                  <a:pt x="2825035" y="1873311"/>
                </a:lnTo>
                <a:lnTo>
                  <a:pt x="2763305" y="1879842"/>
                </a:lnTo>
                <a:lnTo>
                  <a:pt x="2700914" y="1885647"/>
                </a:lnTo>
                <a:lnTo>
                  <a:pt x="2637889" y="1890715"/>
                </a:lnTo>
                <a:lnTo>
                  <a:pt x="2574256" y="1895033"/>
                </a:lnTo>
                <a:lnTo>
                  <a:pt x="2510042" y="1898591"/>
                </a:lnTo>
                <a:lnTo>
                  <a:pt x="2445273" y="1901378"/>
                </a:lnTo>
                <a:lnTo>
                  <a:pt x="2379975" y="1903383"/>
                </a:lnTo>
                <a:lnTo>
                  <a:pt x="2314175" y="1904593"/>
                </a:lnTo>
                <a:lnTo>
                  <a:pt x="2247900" y="1905000"/>
                </a:lnTo>
                <a:lnTo>
                  <a:pt x="2181624" y="1904593"/>
                </a:lnTo>
                <a:lnTo>
                  <a:pt x="2115824" y="1903383"/>
                </a:lnTo>
                <a:lnTo>
                  <a:pt x="2050526" y="1901378"/>
                </a:lnTo>
                <a:lnTo>
                  <a:pt x="1985757" y="1898591"/>
                </a:lnTo>
                <a:lnTo>
                  <a:pt x="1921543" y="1895033"/>
                </a:lnTo>
                <a:lnTo>
                  <a:pt x="1857910" y="1890715"/>
                </a:lnTo>
                <a:lnTo>
                  <a:pt x="1794885" y="1885647"/>
                </a:lnTo>
                <a:lnTo>
                  <a:pt x="1732494" y="1879842"/>
                </a:lnTo>
                <a:lnTo>
                  <a:pt x="1670764" y="1873311"/>
                </a:lnTo>
                <a:lnTo>
                  <a:pt x="1609720" y="1866064"/>
                </a:lnTo>
                <a:lnTo>
                  <a:pt x="1549389" y="1858113"/>
                </a:lnTo>
                <a:lnTo>
                  <a:pt x="1489798" y="1849468"/>
                </a:lnTo>
                <a:lnTo>
                  <a:pt x="1430972" y="1840142"/>
                </a:lnTo>
                <a:lnTo>
                  <a:pt x="1372939" y="1830145"/>
                </a:lnTo>
                <a:lnTo>
                  <a:pt x="1315724" y="1819488"/>
                </a:lnTo>
                <a:lnTo>
                  <a:pt x="1259354" y="1808183"/>
                </a:lnTo>
                <a:lnTo>
                  <a:pt x="1203856" y="1796241"/>
                </a:lnTo>
                <a:lnTo>
                  <a:pt x="1149255" y="1783673"/>
                </a:lnTo>
                <a:lnTo>
                  <a:pt x="1095578" y="1770489"/>
                </a:lnTo>
                <a:lnTo>
                  <a:pt x="1042852" y="1756702"/>
                </a:lnTo>
                <a:lnTo>
                  <a:pt x="991102" y="1742323"/>
                </a:lnTo>
                <a:lnTo>
                  <a:pt x="940355" y="1727362"/>
                </a:lnTo>
                <a:lnTo>
                  <a:pt x="890638" y="1711831"/>
                </a:lnTo>
                <a:lnTo>
                  <a:pt x="841976" y="1695741"/>
                </a:lnTo>
                <a:lnTo>
                  <a:pt x="794397" y="1679102"/>
                </a:lnTo>
                <a:lnTo>
                  <a:pt x="747926" y="1661928"/>
                </a:lnTo>
                <a:lnTo>
                  <a:pt x="702590" y="1644227"/>
                </a:lnTo>
                <a:lnTo>
                  <a:pt x="658415" y="1626012"/>
                </a:lnTo>
                <a:lnTo>
                  <a:pt x="615428" y="1607294"/>
                </a:lnTo>
                <a:lnTo>
                  <a:pt x="573655" y="1588084"/>
                </a:lnTo>
                <a:lnTo>
                  <a:pt x="533122" y="1568393"/>
                </a:lnTo>
                <a:lnTo>
                  <a:pt x="493855" y="1548232"/>
                </a:lnTo>
                <a:lnTo>
                  <a:pt x="455882" y="1527613"/>
                </a:lnTo>
                <a:lnTo>
                  <a:pt x="419228" y="1506547"/>
                </a:lnTo>
                <a:lnTo>
                  <a:pt x="383920" y="1485044"/>
                </a:lnTo>
                <a:lnTo>
                  <a:pt x="349984" y="1463116"/>
                </a:lnTo>
                <a:lnTo>
                  <a:pt x="317447" y="1440774"/>
                </a:lnTo>
                <a:lnTo>
                  <a:pt x="286334" y="1418030"/>
                </a:lnTo>
                <a:lnTo>
                  <a:pt x="228488" y="1371377"/>
                </a:lnTo>
                <a:lnTo>
                  <a:pt x="176658" y="1323248"/>
                </a:lnTo>
                <a:lnTo>
                  <a:pt x="131055" y="1273732"/>
                </a:lnTo>
                <a:lnTo>
                  <a:pt x="91889" y="1222917"/>
                </a:lnTo>
                <a:lnTo>
                  <a:pt x="59371" y="1170894"/>
                </a:lnTo>
                <a:lnTo>
                  <a:pt x="33712" y="1117751"/>
                </a:lnTo>
                <a:lnTo>
                  <a:pt x="15124" y="1063578"/>
                </a:lnTo>
                <a:lnTo>
                  <a:pt x="3816" y="1008464"/>
                </a:lnTo>
                <a:lnTo>
                  <a:pt x="0" y="952500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41910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600" y="41910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626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052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052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05200" y="2438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05200" y="2438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57400" y="2438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57400" y="2438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96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9600" y="16002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52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2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57400" y="41910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57400" y="41910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574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574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96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9600" y="32766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006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006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54979" y="3273552"/>
            <a:ext cx="1229867" cy="649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960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960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12850" y="2971800"/>
            <a:ext cx="1492250" cy="304800"/>
          </a:xfrm>
          <a:custGeom>
            <a:avLst/>
            <a:gdLst/>
            <a:ahLst/>
            <a:cxnLst/>
            <a:rect l="l" t="t" r="r" b="b"/>
            <a:pathLst>
              <a:path w="1492250" h="304800">
                <a:moveTo>
                  <a:pt x="1447800" y="146050"/>
                </a:moveTo>
                <a:lnTo>
                  <a:pt x="0" y="146050"/>
                </a:lnTo>
                <a:lnTo>
                  <a:pt x="0" y="304800"/>
                </a:lnTo>
                <a:lnTo>
                  <a:pt x="12700" y="304800"/>
                </a:lnTo>
                <a:lnTo>
                  <a:pt x="12700" y="158750"/>
                </a:lnTo>
                <a:lnTo>
                  <a:pt x="6350" y="158750"/>
                </a:lnTo>
                <a:lnTo>
                  <a:pt x="12700" y="152400"/>
                </a:lnTo>
                <a:lnTo>
                  <a:pt x="1447800" y="152400"/>
                </a:lnTo>
                <a:lnTo>
                  <a:pt x="1447800" y="146050"/>
                </a:lnTo>
                <a:close/>
              </a:path>
              <a:path w="1492250" h="304800">
                <a:moveTo>
                  <a:pt x="12700" y="152400"/>
                </a:moveTo>
                <a:lnTo>
                  <a:pt x="6350" y="158750"/>
                </a:lnTo>
                <a:lnTo>
                  <a:pt x="12700" y="158750"/>
                </a:lnTo>
                <a:lnTo>
                  <a:pt x="12700" y="152400"/>
                </a:lnTo>
                <a:close/>
              </a:path>
              <a:path w="1492250" h="304800">
                <a:moveTo>
                  <a:pt x="1460500" y="146050"/>
                </a:moveTo>
                <a:lnTo>
                  <a:pt x="1454150" y="146050"/>
                </a:lnTo>
                <a:lnTo>
                  <a:pt x="1447800" y="152400"/>
                </a:lnTo>
                <a:lnTo>
                  <a:pt x="12700" y="152400"/>
                </a:lnTo>
                <a:lnTo>
                  <a:pt x="12700" y="158750"/>
                </a:lnTo>
                <a:lnTo>
                  <a:pt x="1460500" y="158750"/>
                </a:lnTo>
                <a:lnTo>
                  <a:pt x="1460500" y="146050"/>
                </a:lnTo>
                <a:close/>
              </a:path>
              <a:path w="1492250" h="304800">
                <a:moveTo>
                  <a:pt x="1460500" y="63500"/>
                </a:moveTo>
                <a:lnTo>
                  <a:pt x="1447800" y="63500"/>
                </a:lnTo>
                <a:lnTo>
                  <a:pt x="1447800" y="152400"/>
                </a:lnTo>
                <a:lnTo>
                  <a:pt x="1454150" y="146050"/>
                </a:lnTo>
                <a:lnTo>
                  <a:pt x="1460500" y="146050"/>
                </a:lnTo>
                <a:lnTo>
                  <a:pt x="1460500" y="63500"/>
                </a:lnTo>
                <a:close/>
              </a:path>
              <a:path w="1492250" h="304800">
                <a:moveTo>
                  <a:pt x="1454150" y="0"/>
                </a:moveTo>
                <a:lnTo>
                  <a:pt x="1416050" y="76200"/>
                </a:lnTo>
                <a:lnTo>
                  <a:pt x="1447800" y="76200"/>
                </a:lnTo>
                <a:lnTo>
                  <a:pt x="1447800" y="63500"/>
                </a:lnTo>
                <a:lnTo>
                  <a:pt x="1485900" y="63500"/>
                </a:lnTo>
                <a:lnTo>
                  <a:pt x="1454150" y="0"/>
                </a:lnTo>
                <a:close/>
              </a:path>
              <a:path w="1492250" h="304800">
                <a:moveTo>
                  <a:pt x="1485900" y="63500"/>
                </a:moveTo>
                <a:lnTo>
                  <a:pt x="1460500" y="63500"/>
                </a:lnTo>
                <a:lnTo>
                  <a:pt x="1460500" y="76200"/>
                </a:lnTo>
                <a:lnTo>
                  <a:pt x="1492250" y="76200"/>
                </a:lnTo>
                <a:lnTo>
                  <a:pt x="14859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28900" y="29718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63500"/>
                </a:moveTo>
                <a:lnTo>
                  <a:pt x="31750" y="63500"/>
                </a:lnTo>
                <a:lnTo>
                  <a:pt x="31750" y="304800"/>
                </a:lnTo>
                <a:lnTo>
                  <a:pt x="44450" y="304800"/>
                </a:lnTo>
                <a:lnTo>
                  <a:pt x="44450" y="63500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48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28900" y="2971800"/>
            <a:ext cx="1492250" cy="304800"/>
          </a:xfrm>
          <a:custGeom>
            <a:avLst/>
            <a:gdLst/>
            <a:ahLst/>
            <a:cxnLst/>
            <a:rect l="l" t="t" r="r" b="b"/>
            <a:pathLst>
              <a:path w="1492250" h="304800">
                <a:moveTo>
                  <a:pt x="1479550" y="152400"/>
                </a:moveTo>
                <a:lnTo>
                  <a:pt x="1479550" y="304800"/>
                </a:lnTo>
                <a:lnTo>
                  <a:pt x="1492250" y="304800"/>
                </a:lnTo>
                <a:lnTo>
                  <a:pt x="1492250" y="158750"/>
                </a:lnTo>
                <a:lnTo>
                  <a:pt x="1485900" y="158750"/>
                </a:lnTo>
                <a:lnTo>
                  <a:pt x="1479550" y="152400"/>
                </a:lnTo>
                <a:close/>
              </a:path>
              <a:path w="1492250" h="304800">
                <a:moveTo>
                  <a:pt x="44450" y="63500"/>
                </a:moveTo>
                <a:lnTo>
                  <a:pt x="31750" y="63500"/>
                </a:lnTo>
                <a:lnTo>
                  <a:pt x="31750" y="158750"/>
                </a:lnTo>
                <a:lnTo>
                  <a:pt x="1479550" y="158750"/>
                </a:lnTo>
                <a:lnTo>
                  <a:pt x="1479550" y="152400"/>
                </a:lnTo>
                <a:lnTo>
                  <a:pt x="44450" y="152400"/>
                </a:lnTo>
                <a:lnTo>
                  <a:pt x="38100" y="146050"/>
                </a:lnTo>
                <a:lnTo>
                  <a:pt x="44450" y="146050"/>
                </a:lnTo>
                <a:lnTo>
                  <a:pt x="44450" y="63500"/>
                </a:lnTo>
                <a:close/>
              </a:path>
              <a:path w="1492250" h="304800">
                <a:moveTo>
                  <a:pt x="1492250" y="146050"/>
                </a:moveTo>
                <a:lnTo>
                  <a:pt x="44450" y="146050"/>
                </a:lnTo>
                <a:lnTo>
                  <a:pt x="44450" y="152400"/>
                </a:lnTo>
                <a:lnTo>
                  <a:pt x="1479550" y="152400"/>
                </a:lnTo>
                <a:lnTo>
                  <a:pt x="1485900" y="158750"/>
                </a:lnTo>
                <a:lnTo>
                  <a:pt x="1492250" y="158750"/>
                </a:lnTo>
                <a:lnTo>
                  <a:pt x="1492250" y="146050"/>
                </a:lnTo>
                <a:close/>
              </a:path>
              <a:path w="1492250" h="304800">
                <a:moveTo>
                  <a:pt x="44450" y="146050"/>
                </a:moveTo>
                <a:lnTo>
                  <a:pt x="38100" y="146050"/>
                </a:lnTo>
                <a:lnTo>
                  <a:pt x="44450" y="152400"/>
                </a:lnTo>
                <a:lnTo>
                  <a:pt x="44450" y="146050"/>
                </a:lnTo>
                <a:close/>
              </a:path>
              <a:path w="1492250" h="3048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492250" h="3048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660650" y="2133600"/>
            <a:ext cx="1492250" cy="304800"/>
          </a:xfrm>
          <a:custGeom>
            <a:avLst/>
            <a:gdLst/>
            <a:ahLst/>
            <a:cxnLst/>
            <a:rect l="l" t="t" r="r" b="b"/>
            <a:pathLst>
              <a:path w="1492250" h="304800">
                <a:moveTo>
                  <a:pt x="1447800" y="146050"/>
                </a:moveTo>
                <a:lnTo>
                  <a:pt x="0" y="146050"/>
                </a:lnTo>
                <a:lnTo>
                  <a:pt x="0" y="304800"/>
                </a:lnTo>
                <a:lnTo>
                  <a:pt x="12700" y="304800"/>
                </a:lnTo>
                <a:lnTo>
                  <a:pt x="12700" y="158750"/>
                </a:lnTo>
                <a:lnTo>
                  <a:pt x="6350" y="158750"/>
                </a:lnTo>
                <a:lnTo>
                  <a:pt x="12700" y="152400"/>
                </a:lnTo>
                <a:lnTo>
                  <a:pt x="1447800" y="152400"/>
                </a:lnTo>
                <a:lnTo>
                  <a:pt x="1447800" y="146050"/>
                </a:lnTo>
                <a:close/>
              </a:path>
              <a:path w="1492250" h="304800">
                <a:moveTo>
                  <a:pt x="12700" y="152400"/>
                </a:moveTo>
                <a:lnTo>
                  <a:pt x="6350" y="158750"/>
                </a:lnTo>
                <a:lnTo>
                  <a:pt x="12700" y="158750"/>
                </a:lnTo>
                <a:lnTo>
                  <a:pt x="12700" y="152400"/>
                </a:lnTo>
                <a:close/>
              </a:path>
              <a:path w="1492250" h="304800">
                <a:moveTo>
                  <a:pt x="1460500" y="146050"/>
                </a:moveTo>
                <a:lnTo>
                  <a:pt x="1454150" y="146050"/>
                </a:lnTo>
                <a:lnTo>
                  <a:pt x="1447800" y="152400"/>
                </a:lnTo>
                <a:lnTo>
                  <a:pt x="12700" y="152400"/>
                </a:lnTo>
                <a:lnTo>
                  <a:pt x="12700" y="158750"/>
                </a:lnTo>
                <a:lnTo>
                  <a:pt x="1460500" y="158750"/>
                </a:lnTo>
                <a:lnTo>
                  <a:pt x="1460500" y="146050"/>
                </a:lnTo>
                <a:close/>
              </a:path>
              <a:path w="1492250" h="304800">
                <a:moveTo>
                  <a:pt x="1460500" y="63500"/>
                </a:moveTo>
                <a:lnTo>
                  <a:pt x="1447800" y="63500"/>
                </a:lnTo>
                <a:lnTo>
                  <a:pt x="1447800" y="152400"/>
                </a:lnTo>
                <a:lnTo>
                  <a:pt x="1454150" y="146050"/>
                </a:lnTo>
                <a:lnTo>
                  <a:pt x="1460500" y="146050"/>
                </a:lnTo>
                <a:lnTo>
                  <a:pt x="1460500" y="63500"/>
                </a:lnTo>
                <a:close/>
              </a:path>
              <a:path w="1492250" h="304800">
                <a:moveTo>
                  <a:pt x="1454150" y="0"/>
                </a:moveTo>
                <a:lnTo>
                  <a:pt x="1416050" y="76200"/>
                </a:lnTo>
                <a:lnTo>
                  <a:pt x="1447800" y="76200"/>
                </a:lnTo>
                <a:lnTo>
                  <a:pt x="1447800" y="63500"/>
                </a:lnTo>
                <a:lnTo>
                  <a:pt x="1485900" y="63500"/>
                </a:lnTo>
                <a:lnTo>
                  <a:pt x="1454150" y="0"/>
                </a:lnTo>
                <a:close/>
              </a:path>
              <a:path w="1492250" h="304800">
                <a:moveTo>
                  <a:pt x="1485900" y="63500"/>
                </a:moveTo>
                <a:lnTo>
                  <a:pt x="1460500" y="63500"/>
                </a:lnTo>
                <a:lnTo>
                  <a:pt x="1460500" y="76200"/>
                </a:lnTo>
                <a:lnTo>
                  <a:pt x="1492250" y="76200"/>
                </a:lnTo>
                <a:lnTo>
                  <a:pt x="14859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076700" y="21336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63500"/>
                </a:moveTo>
                <a:lnTo>
                  <a:pt x="31750" y="63500"/>
                </a:lnTo>
                <a:lnTo>
                  <a:pt x="31750" y="304800"/>
                </a:lnTo>
                <a:lnTo>
                  <a:pt x="44450" y="304800"/>
                </a:lnTo>
                <a:lnTo>
                  <a:pt x="44450" y="63500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48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628900" y="38100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44450" y="63500"/>
                </a:moveTo>
                <a:lnTo>
                  <a:pt x="31750" y="63500"/>
                </a:lnTo>
                <a:lnTo>
                  <a:pt x="31750" y="381000"/>
                </a:lnTo>
                <a:lnTo>
                  <a:pt x="44450" y="381000"/>
                </a:lnTo>
                <a:lnTo>
                  <a:pt x="44450" y="63500"/>
                </a:lnTo>
                <a:close/>
              </a:path>
              <a:path w="76200" h="3810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81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212850" y="3810000"/>
            <a:ext cx="1492250" cy="381000"/>
          </a:xfrm>
          <a:custGeom>
            <a:avLst/>
            <a:gdLst/>
            <a:ahLst/>
            <a:cxnLst/>
            <a:rect l="l" t="t" r="r" b="b"/>
            <a:pathLst>
              <a:path w="1492250" h="381000">
                <a:moveTo>
                  <a:pt x="1447800" y="184150"/>
                </a:moveTo>
                <a:lnTo>
                  <a:pt x="0" y="184150"/>
                </a:lnTo>
                <a:lnTo>
                  <a:pt x="0" y="381000"/>
                </a:lnTo>
                <a:lnTo>
                  <a:pt x="12700" y="381000"/>
                </a:lnTo>
                <a:lnTo>
                  <a:pt x="12700" y="196850"/>
                </a:lnTo>
                <a:lnTo>
                  <a:pt x="6350" y="196850"/>
                </a:lnTo>
                <a:lnTo>
                  <a:pt x="12700" y="190500"/>
                </a:lnTo>
                <a:lnTo>
                  <a:pt x="1447800" y="190500"/>
                </a:lnTo>
                <a:lnTo>
                  <a:pt x="1447800" y="184150"/>
                </a:lnTo>
                <a:close/>
              </a:path>
              <a:path w="1492250" h="381000">
                <a:moveTo>
                  <a:pt x="12700" y="190500"/>
                </a:moveTo>
                <a:lnTo>
                  <a:pt x="6350" y="196850"/>
                </a:lnTo>
                <a:lnTo>
                  <a:pt x="12700" y="196850"/>
                </a:lnTo>
                <a:lnTo>
                  <a:pt x="12700" y="190500"/>
                </a:lnTo>
                <a:close/>
              </a:path>
              <a:path w="1492250" h="381000">
                <a:moveTo>
                  <a:pt x="1460500" y="184150"/>
                </a:moveTo>
                <a:lnTo>
                  <a:pt x="1454150" y="184150"/>
                </a:lnTo>
                <a:lnTo>
                  <a:pt x="1447800" y="190500"/>
                </a:lnTo>
                <a:lnTo>
                  <a:pt x="12700" y="190500"/>
                </a:lnTo>
                <a:lnTo>
                  <a:pt x="12700" y="196850"/>
                </a:lnTo>
                <a:lnTo>
                  <a:pt x="1460500" y="196850"/>
                </a:lnTo>
                <a:lnTo>
                  <a:pt x="1460500" y="184150"/>
                </a:lnTo>
                <a:close/>
              </a:path>
              <a:path w="1492250" h="381000">
                <a:moveTo>
                  <a:pt x="1460500" y="63500"/>
                </a:moveTo>
                <a:lnTo>
                  <a:pt x="1447800" y="63500"/>
                </a:lnTo>
                <a:lnTo>
                  <a:pt x="1447800" y="190500"/>
                </a:lnTo>
                <a:lnTo>
                  <a:pt x="1454150" y="184150"/>
                </a:lnTo>
                <a:lnTo>
                  <a:pt x="1460500" y="184150"/>
                </a:lnTo>
                <a:lnTo>
                  <a:pt x="1460500" y="63500"/>
                </a:lnTo>
                <a:close/>
              </a:path>
              <a:path w="1492250" h="381000">
                <a:moveTo>
                  <a:pt x="1454150" y="0"/>
                </a:moveTo>
                <a:lnTo>
                  <a:pt x="1416050" y="76200"/>
                </a:lnTo>
                <a:lnTo>
                  <a:pt x="1447800" y="76200"/>
                </a:lnTo>
                <a:lnTo>
                  <a:pt x="1447800" y="63500"/>
                </a:lnTo>
                <a:lnTo>
                  <a:pt x="1485900" y="63500"/>
                </a:lnTo>
                <a:lnTo>
                  <a:pt x="1454150" y="0"/>
                </a:lnTo>
                <a:close/>
              </a:path>
              <a:path w="1492250" h="381000">
                <a:moveTo>
                  <a:pt x="1485900" y="63500"/>
                </a:moveTo>
                <a:lnTo>
                  <a:pt x="1460500" y="63500"/>
                </a:lnTo>
                <a:lnTo>
                  <a:pt x="1460500" y="76200"/>
                </a:lnTo>
                <a:lnTo>
                  <a:pt x="1492250" y="76200"/>
                </a:lnTo>
                <a:lnTo>
                  <a:pt x="14859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34100" y="2133600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44450" y="63500"/>
                </a:moveTo>
                <a:lnTo>
                  <a:pt x="31750" y="63500"/>
                </a:lnTo>
                <a:lnTo>
                  <a:pt x="31750" y="1143000"/>
                </a:lnTo>
                <a:lnTo>
                  <a:pt x="44450" y="1143000"/>
                </a:lnTo>
                <a:lnTo>
                  <a:pt x="44450" y="63500"/>
                </a:lnTo>
                <a:close/>
              </a:path>
              <a:path w="76200" h="11430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143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403850" y="3810000"/>
            <a:ext cx="806450" cy="1295400"/>
          </a:xfrm>
          <a:custGeom>
            <a:avLst/>
            <a:gdLst/>
            <a:ahLst/>
            <a:cxnLst/>
            <a:rect l="l" t="t" r="r" b="b"/>
            <a:pathLst>
              <a:path w="806450" h="1295400">
                <a:moveTo>
                  <a:pt x="762000" y="641350"/>
                </a:moveTo>
                <a:lnTo>
                  <a:pt x="0" y="641350"/>
                </a:lnTo>
                <a:lnTo>
                  <a:pt x="0" y="1295400"/>
                </a:lnTo>
                <a:lnTo>
                  <a:pt x="12700" y="1295400"/>
                </a:lnTo>
                <a:lnTo>
                  <a:pt x="12700" y="654050"/>
                </a:lnTo>
                <a:lnTo>
                  <a:pt x="6350" y="654050"/>
                </a:lnTo>
                <a:lnTo>
                  <a:pt x="12700" y="647700"/>
                </a:lnTo>
                <a:lnTo>
                  <a:pt x="762000" y="647700"/>
                </a:lnTo>
                <a:lnTo>
                  <a:pt x="762000" y="641350"/>
                </a:lnTo>
                <a:close/>
              </a:path>
              <a:path w="806450" h="1295400">
                <a:moveTo>
                  <a:pt x="12700" y="647700"/>
                </a:moveTo>
                <a:lnTo>
                  <a:pt x="6350" y="654050"/>
                </a:lnTo>
                <a:lnTo>
                  <a:pt x="12700" y="654050"/>
                </a:lnTo>
                <a:lnTo>
                  <a:pt x="12700" y="647700"/>
                </a:lnTo>
                <a:close/>
              </a:path>
              <a:path w="806450" h="1295400">
                <a:moveTo>
                  <a:pt x="774700" y="641350"/>
                </a:moveTo>
                <a:lnTo>
                  <a:pt x="768350" y="641350"/>
                </a:lnTo>
                <a:lnTo>
                  <a:pt x="762000" y="647700"/>
                </a:lnTo>
                <a:lnTo>
                  <a:pt x="12700" y="647700"/>
                </a:lnTo>
                <a:lnTo>
                  <a:pt x="12700" y="654050"/>
                </a:lnTo>
                <a:lnTo>
                  <a:pt x="774700" y="654050"/>
                </a:lnTo>
                <a:lnTo>
                  <a:pt x="774700" y="641350"/>
                </a:lnTo>
                <a:close/>
              </a:path>
              <a:path w="806450" h="1295400">
                <a:moveTo>
                  <a:pt x="774700" y="63500"/>
                </a:moveTo>
                <a:lnTo>
                  <a:pt x="762000" y="63500"/>
                </a:lnTo>
                <a:lnTo>
                  <a:pt x="762000" y="647700"/>
                </a:lnTo>
                <a:lnTo>
                  <a:pt x="768350" y="641350"/>
                </a:lnTo>
                <a:lnTo>
                  <a:pt x="774700" y="641350"/>
                </a:lnTo>
                <a:lnTo>
                  <a:pt x="774700" y="63500"/>
                </a:lnTo>
                <a:close/>
              </a:path>
              <a:path w="806450" h="1295400">
                <a:moveTo>
                  <a:pt x="768350" y="0"/>
                </a:moveTo>
                <a:lnTo>
                  <a:pt x="730250" y="76200"/>
                </a:lnTo>
                <a:lnTo>
                  <a:pt x="762000" y="76200"/>
                </a:lnTo>
                <a:lnTo>
                  <a:pt x="762000" y="63500"/>
                </a:lnTo>
                <a:lnTo>
                  <a:pt x="800100" y="63500"/>
                </a:lnTo>
                <a:lnTo>
                  <a:pt x="768350" y="0"/>
                </a:lnTo>
                <a:close/>
              </a:path>
              <a:path w="806450" h="1295400">
                <a:moveTo>
                  <a:pt x="800100" y="63500"/>
                </a:moveTo>
                <a:lnTo>
                  <a:pt x="774700" y="63500"/>
                </a:lnTo>
                <a:lnTo>
                  <a:pt x="774700" y="76200"/>
                </a:lnTo>
                <a:lnTo>
                  <a:pt x="806450" y="76200"/>
                </a:lnTo>
                <a:lnTo>
                  <a:pt x="8001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34100" y="3810000"/>
            <a:ext cx="577850" cy="1295400"/>
          </a:xfrm>
          <a:custGeom>
            <a:avLst/>
            <a:gdLst/>
            <a:ahLst/>
            <a:cxnLst/>
            <a:rect l="l" t="t" r="r" b="b"/>
            <a:pathLst>
              <a:path w="577850" h="1295400">
                <a:moveTo>
                  <a:pt x="565150" y="647700"/>
                </a:moveTo>
                <a:lnTo>
                  <a:pt x="565150" y="1295400"/>
                </a:lnTo>
                <a:lnTo>
                  <a:pt x="577850" y="1295400"/>
                </a:lnTo>
                <a:lnTo>
                  <a:pt x="577850" y="654050"/>
                </a:lnTo>
                <a:lnTo>
                  <a:pt x="571500" y="654050"/>
                </a:lnTo>
                <a:lnTo>
                  <a:pt x="565150" y="647700"/>
                </a:lnTo>
                <a:close/>
              </a:path>
              <a:path w="577850" h="1295400">
                <a:moveTo>
                  <a:pt x="44450" y="63500"/>
                </a:moveTo>
                <a:lnTo>
                  <a:pt x="31750" y="63500"/>
                </a:lnTo>
                <a:lnTo>
                  <a:pt x="31750" y="654050"/>
                </a:lnTo>
                <a:lnTo>
                  <a:pt x="565150" y="654050"/>
                </a:lnTo>
                <a:lnTo>
                  <a:pt x="565150" y="647700"/>
                </a:lnTo>
                <a:lnTo>
                  <a:pt x="44450" y="647700"/>
                </a:lnTo>
                <a:lnTo>
                  <a:pt x="38100" y="641350"/>
                </a:lnTo>
                <a:lnTo>
                  <a:pt x="44450" y="641350"/>
                </a:lnTo>
                <a:lnTo>
                  <a:pt x="44450" y="63500"/>
                </a:lnTo>
                <a:close/>
              </a:path>
              <a:path w="577850" h="1295400">
                <a:moveTo>
                  <a:pt x="577850" y="641350"/>
                </a:moveTo>
                <a:lnTo>
                  <a:pt x="44450" y="641350"/>
                </a:lnTo>
                <a:lnTo>
                  <a:pt x="44450" y="647700"/>
                </a:lnTo>
                <a:lnTo>
                  <a:pt x="565150" y="647700"/>
                </a:lnTo>
                <a:lnTo>
                  <a:pt x="571500" y="654050"/>
                </a:lnTo>
                <a:lnTo>
                  <a:pt x="577850" y="654050"/>
                </a:lnTo>
                <a:lnTo>
                  <a:pt x="577850" y="641350"/>
                </a:lnTo>
                <a:close/>
              </a:path>
              <a:path w="577850" h="1295400">
                <a:moveTo>
                  <a:pt x="44450" y="641350"/>
                </a:moveTo>
                <a:lnTo>
                  <a:pt x="38100" y="641350"/>
                </a:lnTo>
                <a:lnTo>
                  <a:pt x="44450" y="647700"/>
                </a:lnTo>
                <a:lnTo>
                  <a:pt x="44450" y="641350"/>
                </a:lnTo>
                <a:close/>
              </a:path>
              <a:path w="577850" h="12954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577850" h="12954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0574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0574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96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96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628900" y="47244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44450" y="63500"/>
                </a:moveTo>
                <a:lnTo>
                  <a:pt x="31750" y="63500"/>
                </a:lnTo>
                <a:lnTo>
                  <a:pt x="31750" y="381000"/>
                </a:lnTo>
                <a:lnTo>
                  <a:pt x="44450" y="381000"/>
                </a:lnTo>
                <a:lnTo>
                  <a:pt x="44450" y="63500"/>
                </a:lnTo>
                <a:close/>
              </a:path>
              <a:path w="76200" h="3810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81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212850" y="4724400"/>
            <a:ext cx="1492250" cy="381000"/>
          </a:xfrm>
          <a:custGeom>
            <a:avLst/>
            <a:gdLst/>
            <a:ahLst/>
            <a:cxnLst/>
            <a:rect l="l" t="t" r="r" b="b"/>
            <a:pathLst>
              <a:path w="1492250" h="381000">
                <a:moveTo>
                  <a:pt x="1447800" y="184150"/>
                </a:moveTo>
                <a:lnTo>
                  <a:pt x="0" y="184150"/>
                </a:lnTo>
                <a:lnTo>
                  <a:pt x="0" y="381000"/>
                </a:lnTo>
                <a:lnTo>
                  <a:pt x="12700" y="381000"/>
                </a:lnTo>
                <a:lnTo>
                  <a:pt x="12700" y="196850"/>
                </a:lnTo>
                <a:lnTo>
                  <a:pt x="6350" y="196850"/>
                </a:lnTo>
                <a:lnTo>
                  <a:pt x="12700" y="190500"/>
                </a:lnTo>
                <a:lnTo>
                  <a:pt x="1447800" y="190500"/>
                </a:lnTo>
                <a:lnTo>
                  <a:pt x="1447800" y="184150"/>
                </a:lnTo>
                <a:close/>
              </a:path>
              <a:path w="1492250" h="381000">
                <a:moveTo>
                  <a:pt x="12700" y="190500"/>
                </a:moveTo>
                <a:lnTo>
                  <a:pt x="6350" y="196850"/>
                </a:lnTo>
                <a:lnTo>
                  <a:pt x="12700" y="196850"/>
                </a:lnTo>
                <a:lnTo>
                  <a:pt x="12700" y="190500"/>
                </a:lnTo>
                <a:close/>
              </a:path>
              <a:path w="1492250" h="381000">
                <a:moveTo>
                  <a:pt x="1460500" y="184150"/>
                </a:moveTo>
                <a:lnTo>
                  <a:pt x="1454150" y="184150"/>
                </a:lnTo>
                <a:lnTo>
                  <a:pt x="1447800" y="190500"/>
                </a:lnTo>
                <a:lnTo>
                  <a:pt x="12700" y="190500"/>
                </a:lnTo>
                <a:lnTo>
                  <a:pt x="12700" y="196850"/>
                </a:lnTo>
                <a:lnTo>
                  <a:pt x="1460500" y="196850"/>
                </a:lnTo>
                <a:lnTo>
                  <a:pt x="1460500" y="184150"/>
                </a:lnTo>
                <a:close/>
              </a:path>
              <a:path w="1492250" h="381000">
                <a:moveTo>
                  <a:pt x="1460500" y="63500"/>
                </a:moveTo>
                <a:lnTo>
                  <a:pt x="1447800" y="63500"/>
                </a:lnTo>
                <a:lnTo>
                  <a:pt x="1447800" y="190500"/>
                </a:lnTo>
                <a:lnTo>
                  <a:pt x="1454150" y="184150"/>
                </a:lnTo>
                <a:lnTo>
                  <a:pt x="1460500" y="184150"/>
                </a:lnTo>
                <a:lnTo>
                  <a:pt x="1460500" y="63500"/>
                </a:lnTo>
                <a:close/>
              </a:path>
              <a:path w="1492250" h="381000">
                <a:moveTo>
                  <a:pt x="1454150" y="0"/>
                </a:moveTo>
                <a:lnTo>
                  <a:pt x="1416050" y="76200"/>
                </a:lnTo>
                <a:lnTo>
                  <a:pt x="1447800" y="76200"/>
                </a:lnTo>
                <a:lnTo>
                  <a:pt x="1447800" y="63500"/>
                </a:lnTo>
                <a:lnTo>
                  <a:pt x="1485900" y="63500"/>
                </a:lnTo>
                <a:lnTo>
                  <a:pt x="1454150" y="0"/>
                </a:lnTo>
                <a:close/>
              </a:path>
              <a:path w="1492250" h="381000">
                <a:moveTo>
                  <a:pt x="1485900" y="63500"/>
                </a:moveTo>
                <a:lnTo>
                  <a:pt x="1460500" y="63500"/>
                </a:lnTo>
                <a:lnTo>
                  <a:pt x="1460500" y="76200"/>
                </a:lnTo>
                <a:lnTo>
                  <a:pt x="1492250" y="76200"/>
                </a:lnTo>
                <a:lnTo>
                  <a:pt x="14859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3914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914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34100" y="3810000"/>
            <a:ext cx="1873250" cy="1295400"/>
          </a:xfrm>
          <a:custGeom>
            <a:avLst/>
            <a:gdLst/>
            <a:ahLst/>
            <a:cxnLst/>
            <a:rect l="l" t="t" r="r" b="b"/>
            <a:pathLst>
              <a:path w="1873250" h="1295400">
                <a:moveTo>
                  <a:pt x="1860550" y="647700"/>
                </a:moveTo>
                <a:lnTo>
                  <a:pt x="1860550" y="1295400"/>
                </a:lnTo>
                <a:lnTo>
                  <a:pt x="1873250" y="1295400"/>
                </a:lnTo>
                <a:lnTo>
                  <a:pt x="1873250" y="654050"/>
                </a:lnTo>
                <a:lnTo>
                  <a:pt x="1866900" y="654050"/>
                </a:lnTo>
                <a:lnTo>
                  <a:pt x="1860550" y="647700"/>
                </a:lnTo>
                <a:close/>
              </a:path>
              <a:path w="1873250" h="1295400">
                <a:moveTo>
                  <a:pt x="44450" y="63500"/>
                </a:moveTo>
                <a:lnTo>
                  <a:pt x="31750" y="63500"/>
                </a:lnTo>
                <a:lnTo>
                  <a:pt x="31750" y="654050"/>
                </a:lnTo>
                <a:lnTo>
                  <a:pt x="1860550" y="654050"/>
                </a:lnTo>
                <a:lnTo>
                  <a:pt x="1860550" y="647700"/>
                </a:lnTo>
                <a:lnTo>
                  <a:pt x="44450" y="647700"/>
                </a:lnTo>
                <a:lnTo>
                  <a:pt x="38100" y="641350"/>
                </a:lnTo>
                <a:lnTo>
                  <a:pt x="44450" y="641350"/>
                </a:lnTo>
                <a:lnTo>
                  <a:pt x="44450" y="63500"/>
                </a:lnTo>
                <a:close/>
              </a:path>
              <a:path w="1873250" h="1295400">
                <a:moveTo>
                  <a:pt x="1873250" y="641350"/>
                </a:moveTo>
                <a:lnTo>
                  <a:pt x="44450" y="641350"/>
                </a:lnTo>
                <a:lnTo>
                  <a:pt x="44450" y="647700"/>
                </a:lnTo>
                <a:lnTo>
                  <a:pt x="1860550" y="647700"/>
                </a:lnTo>
                <a:lnTo>
                  <a:pt x="1866900" y="654050"/>
                </a:lnTo>
                <a:lnTo>
                  <a:pt x="1873250" y="654050"/>
                </a:lnTo>
                <a:lnTo>
                  <a:pt x="1873250" y="641350"/>
                </a:lnTo>
                <a:close/>
              </a:path>
              <a:path w="1873250" h="1295400">
                <a:moveTo>
                  <a:pt x="44450" y="641350"/>
                </a:moveTo>
                <a:lnTo>
                  <a:pt x="38100" y="641350"/>
                </a:lnTo>
                <a:lnTo>
                  <a:pt x="44450" y="647700"/>
                </a:lnTo>
                <a:lnTo>
                  <a:pt x="44450" y="641350"/>
                </a:lnTo>
                <a:close/>
              </a:path>
              <a:path w="1873250" h="12954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873250" h="12954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76300" y="2133600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44450" y="63500"/>
                </a:moveTo>
                <a:lnTo>
                  <a:pt x="31750" y="63500"/>
                </a:lnTo>
                <a:lnTo>
                  <a:pt x="31750" y="1143000"/>
                </a:lnTo>
                <a:lnTo>
                  <a:pt x="44450" y="1143000"/>
                </a:lnTo>
                <a:lnTo>
                  <a:pt x="44450" y="63500"/>
                </a:lnTo>
                <a:close/>
              </a:path>
              <a:path w="76200" h="11430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143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4290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429000" y="5105400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032250" y="3810000"/>
            <a:ext cx="2178050" cy="1295400"/>
          </a:xfrm>
          <a:custGeom>
            <a:avLst/>
            <a:gdLst/>
            <a:ahLst/>
            <a:cxnLst/>
            <a:rect l="l" t="t" r="r" b="b"/>
            <a:pathLst>
              <a:path w="2178050" h="1295400">
                <a:moveTo>
                  <a:pt x="2133600" y="641350"/>
                </a:moveTo>
                <a:lnTo>
                  <a:pt x="0" y="641350"/>
                </a:lnTo>
                <a:lnTo>
                  <a:pt x="0" y="1295400"/>
                </a:lnTo>
                <a:lnTo>
                  <a:pt x="12700" y="1295400"/>
                </a:lnTo>
                <a:lnTo>
                  <a:pt x="12700" y="654050"/>
                </a:lnTo>
                <a:lnTo>
                  <a:pt x="6350" y="654050"/>
                </a:lnTo>
                <a:lnTo>
                  <a:pt x="12700" y="647700"/>
                </a:lnTo>
                <a:lnTo>
                  <a:pt x="2133600" y="647700"/>
                </a:lnTo>
                <a:lnTo>
                  <a:pt x="2133600" y="641350"/>
                </a:lnTo>
                <a:close/>
              </a:path>
              <a:path w="2178050" h="1295400">
                <a:moveTo>
                  <a:pt x="12700" y="647700"/>
                </a:moveTo>
                <a:lnTo>
                  <a:pt x="6350" y="654050"/>
                </a:lnTo>
                <a:lnTo>
                  <a:pt x="12700" y="654050"/>
                </a:lnTo>
                <a:lnTo>
                  <a:pt x="12700" y="647700"/>
                </a:lnTo>
                <a:close/>
              </a:path>
              <a:path w="2178050" h="1295400">
                <a:moveTo>
                  <a:pt x="2146300" y="641350"/>
                </a:moveTo>
                <a:lnTo>
                  <a:pt x="2139950" y="641350"/>
                </a:lnTo>
                <a:lnTo>
                  <a:pt x="2133600" y="647700"/>
                </a:lnTo>
                <a:lnTo>
                  <a:pt x="12700" y="647700"/>
                </a:lnTo>
                <a:lnTo>
                  <a:pt x="12700" y="654050"/>
                </a:lnTo>
                <a:lnTo>
                  <a:pt x="2146300" y="654050"/>
                </a:lnTo>
                <a:lnTo>
                  <a:pt x="2146300" y="641350"/>
                </a:lnTo>
                <a:close/>
              </a:path>
              <a:path w="2178050" h="1295400">
                <a:moveTo>
                  <a:pt x="2146300" y="63500"/>
                </a:moveTo>
                <a:lnTo>
                  <a:pt x="2133600" y="63500"/>
                </a:lnTo>
                <a:lnTo>
                  <a:pt x="2133600" y="647700"/>
                </a:lnTo>
                <a:lnTo>
                  <a:pt x="2139950" y="641350"/>
                </a:lnTo>
                <a:lnTo>
                  <a:pt x="2146300" y="641350"/>
                </a:lnTo>
                <a:lnTo>
                  <a:pt x="2146300" y="63500"/>
                </a:lnTo>
                <a:close/>
              </a:path>
              <a:path w="2178050" h="1295400">
                <a:moveTo>
                  <a:pt x="2139950" y="0"/>
                </a:moveTo>
                <a:lnTo>
                  <a:pt x="2101850" y="76200"/>
                </a:lnTo>
                <a:lnTo>
                  <a:pt x="2133600" y="76200"/>
                </a:lnTo>
                <a:lnTo>
                  <a:pt x="2133600" y="63500"/>
                </a:lnTo>
                <a:lnTo>
                  <a:pt x="2171700" y="63500"/>
                </a:lnTo>
                <a:lnTo>
                  <a:pt x="2139950" y="0"/>
                </a:lnTo>
                <a:close/>
              </a:path>
              <a:path w="2178050" h="1295400">
                <a:moveTo>
                  <a:pt x="2171700" y="63500"/>
                </a:moveTo>
                <a:lnTo>
                  <a:pt x="2146300" y="63500"/>
                </a:lnTo>
                <a:lnTo>
                  <a:pt x="2146300" y="76200"/>
                </a:lnTo>
                <a:lnTo>
                  <a:pt x="2178050" y="76200"/>
                </a:lnTo>
                <a:lnTo>
                  <a:pt x="21717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03650" y="3810000"/>
            <a:ext cx="120650" cy="1295400"/>
          </a:xfrm>
          <a:custGeom>
            <a:avLst/>
            <a:gdLst/>
            <a:ahLst/>
            <a:cxnLst/>
            <a:rect l="l" t="t" r="r" b="b"/>
            <a:pathLst>
              <a:path w="120650" h="1295400">
                <a:moveTo>
                  <a:pt x="76200" y="641350"/>
                </a:moveTo>
                <a:lnTo>
                  <a:pt x="0" y="641350"/>
                </a:lnTo>
                <a:lnTo>
                  <a:pt x="0" y="1295400"/>
                </a:lnTo>
                <a:lnTo>
                  <a:pt x="12700" y="1295400"/>
                </a:lnTo>
                <a:lnTo>
                  <a:pt x="12700" y="654050"/>
                </a:lnTo>
                <a:lnTo>
                  <a:pt x="6350" y="654050"/>
                </a:lnTo>
                <a:lnTo>
                  <a:pt x="12700" y="647700"/>
                </a:lnTo>
                <a:lnTo>
                  <a:pt x="76200" y="647700"/>
                </a:lnTo>
                <a:lnTo>
                  <a:pt x="76200" y="641350"/>
                </a:lnTo>
                <a:close/>
              </a:path>
              <a:path w="120650" h="1295400">
                <a:moveTo>
                  <a:pt x="12700" y="647700"/>
                </a:moveTo>
                <a:lnTo>
                  <a:pt x="6350" y="654050"/>
                </a:lnTo>
                <a:lnTo>
                  <a:pt x="12700" y="654050"/>
                </a:lnTo>
                <a:lnTo>
                  <a:pt x="12700" y="647700"/>
                </a:lnTo>
                <a:close/>
              </a:path>
              <a:path w="120650" h="1295400">
                <a:moveTo>
                  <a:pt x="88900" y="641350"/>
                </a:moveTo>
                <a:lnTo>
                  <a:pt x="82550" y="641350"/>
                </a:lnTo>
                <a:lnTo>
                  <a:pt x="76200" y="647700"/>
                </a:lnTo>
                <a:lnTo>
                  <a:pt x="12700" y="647700"/>
                </a:lnTo>
                <a:lnTo>
                  <a:pt x="12700" y="654050"/>
                </a:lnTo>
                <a:lnTo>
                  <a:pt x="88900" y="654050"/>
                </a:lnTo>
                <a:lnTo>
                  <a:pt x="88900" y="641350"/>
                </a:lnTo>
                <a:close/>
              </a:path>
              <a:path w="120650" h="1295400">
                <a:moveTo>
                  <a:pt x="88900" y="63500"/>
                </a:moveTo>
                <a:lnTo>
                  <a:pt x="76200" y="63500"/>
                </a:lnTo>
                <a:lnTo>
                  <a:pt x="76200" y="647700"/>
                </a:lnTo>
                <a:lnTo>
                  <a:pt x="82550" y="641350"/>
                </a:lnTo>
                <a:lnTo>
                  <a:pt x="88900" y="641350"/>
                </a:lnTo>
                <a:lnTo>
                  <a:pt x="88900" y="63500"/>
                </a:lnTo>
                <a:close/>
              </a:path>
              <a:path w="120650" h="1295400">
                <a:moveTo>
                  <a:pt x="82550" y="0"/>
                </a:moveTo>
                <a:lnTo>
                  <a:pt x="44450" y="76200"/>
                </a:lnTo>
                <a:lnTo>
                  <a:pt x="76200" y="76200"/>
                </a:lnTo>
                <a:lnTo>
                  <a:pt x="76200" y="63500"/>
                </a:lnTo>
                <a:lnTo>
                  <a:pt x="114300" y="63500"/>
                </a:lnTo>
                <a:lnTo>
                  <a:pt x="82550" y="0"/>
                </a:lnTo>
                <a:close/>
              </a:path>
              <a:path w="120650" h="1295400">
                <a:moveTo>
                  <a:pt x="114300" y="63500"/>
                </a:moveTo>
                <a:lnTo>
                  <a:pt x="88900" y="63500"/>
                </a:lnTo>
                <a:lnTo>
                  <a:pt x="88900" y="76200"/>
                </a:lnTo>
                <a:lnTo>
                  <a:pt x="120650" y="76200"/>
                </a:lnTo>
                <a:lnTo>
                  <a:pt x="1143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1565910" y="456565"/>
            <a:ext cx="44754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Candidato </a:t>
            </a:r>
            <a:r>
              <a:rPr sz="2800" spc="-5" dirty="0"/>
              <a:t>2 a Nodo</a:t>
            </a:r>
            <a:r>
              <a:rPr sz="2800" spc="35" dirty="0"/>
              <a:t> </a:t>
            </a:r>
            <a:r>
              <a:rPr sz="2800" spc="-5" dirty="0"/>
              <a:t>Crítico</a:t>
            </a:r>
            <a:endParaRPr sz="2800"/>
          </a:p>
        </p:txBody>
      </p:sp>
      <p:sp>
        <p:nvSpPr>
          <p:cNvPr id="52" name="object 52"/>
          <p:cNvSpPr/>
          <p:nvPr/>
        </p:nvSpPr>
        <p:spPr>
          <a:xfrm>
            <a:off x="3124200" y="3429000"/>
            <a:ext cx="5791200" cy="2820035"/>
          </a:xfrm>
          <a:custGeom>
            <a:avLst/>
            <a:gdLst/>
            <a:ahLst/>
            <a:cxnLst/>
            <a:rect l="l" t="t" r="r" b="b"/>
            <a:pathLst>
              <a:path w="5791200" h="2820035">
                <a:moveTo>
                  <a:pt x="0" y="1409700"/>
                </a:moveTo>
                <a:lnTo>
                  <a:pt x="2746" y="1347742"/>
                </a:lnTo>
                <a:lnTo>
                  <a:pt x="10912" y="1286468"/>
                </a:lnTo>
                <a:lnTo>
                  <a:pt x="24382" y="1225933"/>
                </a:lnTo>
                <a:lnTo>
                  <a:pt x="43045" y="1166192"/>
                </a:lnTo>
                <a:lnTo>
                  <a:pt x="66786" y="1107300"/>
                </a:lnTo>
                <a:lnTo>
                  <a:pt x="95494" y="1049311"/>
                </a:lnTo>
                <a:lnTo>
                  <a:pt x="129055" y="992281"/>
                </a:lnTo>
                <a:lnTo>
                  <a:pt x="167356" y="936265"/>
                </a:lnTo>
                <a:lnTo>
                  <a:pt x="210284" y="881318"/>
                </a:lnTo>
                <a:lnTo>
                  <a:pt x="257726" y="827495"/>
                </a:lnTo>
                <a:lnTo>
                  <a:pt x="309568" y="774852"/>
                </a:lnTo>
                <a:lnTo>
                  <a:pt x="365699" y="723442"/>
                </a:lnTo>
                <a:lnTo>
                  <a:pt x="395336" y="698217"/>
                </a:lnTo>
                <a:lnTo>
                  <a:pt x="426004" y="673322"/>
                </a:lnTo>
                <a:lnTo>
                  <a:pt x="457686" y="648762"/>
                </a:lnTo>
                <a:lnTo>
                  <a:pt x="490370" y="624546"/>
                </a:lnTo>
                <a:lnTo>
                  <a:pt x="524042" y="600679"/>
                </a:lnTo>
                <a:lnTo>
                  <a:pt x="558686" y="577169"/>
                </a:lnTo>
                <a:lnTo>
                  <a:pt x="594289" y="554022"/>
                </a:lnTo>
                <a:lnTo>
                  <a:pt x="630837" y="531246"/>
                </a:lnTo>
                <a:lnTo>
                  <a:pt x="668315" y="508848"/>
                </a:lnTo>
                <a:lnTo>
                  <a:pt x="706710" y="486833"/>
                </a:lnTo>
                <a:lnTo>
                  <a:pt x="746007" y="465210"/>
                </a:lnTo>
                <a:lnTo>
                  <a:pt x="786193" y="443985"/>
                </a:lnTo>
                <a:lnTo>
                  <a:pt x="827252" y="423164"/>
                </a:lnTo>
                <a:lnTo>
                  <a:pt x="869172" y="402756"/>
                </a:lnTo>
                <a:lnTo>
                  <a:pt x="911937" y="382766"/>
                </a:lnTo>
                <a:lnTo>
                  <a:pt x="955534" y="363201"/>
                </a:lnTo>
                <a:lnTo>
                  <a:pt x="999949" y="344069"/>
                </a:lnTo>
                <a:lnTo>
                  <a:pt x="1045167" y="325377"/>
                </a:lnTo>
                <a:lnTo>
                  <a:pt x="1091175" y="307130"/>
                </a:lnTo>
                <a:lnTo>
                  <a:pt x="1137957" y="289337"/>
                </a:lnTo>
                <a:lnTo>
                  <a:pt x="1185501" y="272003"/>
                </a:lnTo>
                <a:lnTo>
                  <a:pt x="1233791" y="255136"/>
                </a:lnTo>
                <a:lnTo>
                  <a:pt x="1282815" y="238743"/>
                </a:lnTo>
                <a:lnTo>
                  <a:pt x="1332557" y="222831"/>
                </a:lnTo>
                <a:lnTo>
                  <a:pt x="1383003" y="207406"/>
                </a:lnTo>
                <a:lnTo>
                  <a:pt x="1434140" y="192475"/>
                </a:lnTo>
                <a:lnTo>
                  <a:pt x="1485953" y="178046"/>
                </a:lnTo>
                <a:lnTo>
                  <a:pt x="1538428" y="164124"/>
                </a:lnTo>
                <a:lnTo>
                  <a:pt x="1591551" y="150718"/>
                </a:lnTo>
                <a:lnTo>
                  <a:pt x="1645309" y="137833"/>
                </a:lnTo>
                <a:lnTo>
                  <a:pt x="1699685" y="125478"/>
                </a:lnTo>
                <a:lnTo>
                  <a:pt x="1754668" y="113658"/>
                </a:lnTo>
                <a:lnTo>
                  <a:pt x="1810242" y="102380"/>
                </a:lnTo>
                <a:lnTo>
                  <a:pt x="1866393" y="91652"/>
                </a:lnTo>
                <a:lnTo>
                  <a:pt x="1923107" y="81480"/>
                </a:lnTo>
                <a:lnTo>
                  <a:pt x="1980370" y="71871"/>
                </a:lnTo>
                <a:lnTo>
                  <a:pt x="2038169" y="62833"/>
                </a:lnTo>
                <a:lnTo>
                  <a:pt x="2096488" y="54371"/>
                </a:lnTo>
                <a:lnTo>
                  <a:pt x="2155314" y="46493"/>
                </a:lnTo>
                <a:lnTo>
                  <a:pt x="2214632" y="39206"/>
                </a:lnTo>
                <a:lnTo>
                  <a:pt x="2274429" y="32516"/>
                </a:lnTo>
                <a:lnTo>
                  <a:pt x="2334690" y="26431"/>
                </a:lnTo>
                <a:lnTo>
                  <a:pt x="2395401" y="20957"/>
                </a:lnTo>
                <a:lnTo>
                  <a:pt x="2456548" y="16101"/>
                </a:lnTo>
                <a:lnTo>
                  <a:pt x="2518117" y="11871"/>
                </a:lnTo>
                <a:lnTo>
                  <a:pt x="2580094" y="8272"/>
                </a:lnTo>
                <a:lnTo>
                  <a:pt x="2642464" y="5312"/>
                </a:lnTo>
                <a:lnTo>
                  <a:pt x="2705214" y="2998"/>
                </a:lnTo>
                <a:lnTo>
                  <a:pt x="2768330" y="1337"/>
                </a:lnTo>
                <a:lnTo>
                  <a:pt x="2831796" y="335"/>
                </a:lnTo>
                <a:lnTo>
                  <a:pt x="2895600" y="0"/>
                </a:lnTo>
                <a:lnTo>
                  <a:pt x="2959403" y="335"/>
                </a:lnTo>
                <a:lnTo>
                  <a:pt x="3022869" y="1337"/>
                </a:lnTo>
                <a:lnTo>
                  <a:pt x="3085985" y="2998"/>
                </a:lnTo>
                <a:lnTo>
                  <a:pt x="3148735" y="5312"/>
                </a:lnTo>
                <a:lnTo>
                  <a:pt x="3211105" y="8272"/>
                </a:lnTo>
                <a:lnTo>
                  <a:pt x="3273082" y="11871"/>
                </a:lnTo>
                <a:lnTo>
                  <a:pt x="3334651" y="16101"/>
                </a:lnTo>
                <a:lnTo>
                  <a:pt x="3395798" y="20957"/>
                </a:lnTo>
                <a:lnTo>
                  <a:pt x="3456509" y="26431"/>
                </a:lnTo>
                <a:lnTo>
                  <a:pt x="3516770" y="32516"/>
                </a:lnTo>
                <a:lnTo>
                  <a:pt x="3576567" y="39206"/>
                </a:lnTo>
                <a:lnTo>
                  <a:pt x="3635885" y="46493"/>
                </a:lnTo>
                <a:lnTo>
                  <a:pt x="3694711" y="54371"/>
                </a:lnTo>
                <a:lnTo>
                  <a:pt x="3753030" y="62833"/>
                </a:lnTo>
                <a:lnTo>
                  <a:pt x="3810829" y="71871"/>
                </a:lnTo>
                <a:lnTo>
                  <a:pt x="3868092" y="81480"/>
                </a:lnTo>
                <a:lnTo>
                  <a:pt x="3924806" y="91652"/>
                </a:lnTo>
                <a:lnTo>
                  <a:pt x="3980957" y="102380"/>
                </a:lnTo>
                <a:lnTo>
                  <a:pt x="4036531" y="113658"/>
                </a:lnTo>
                <a:lnTo>
                  <a:pt x="4091514" y="125478"/>
                </a:lnTo>
                <a:lnTo>
                  <a:pt x="4145890" y="137833"/>
                </a:lnTo>
                <a:lnTo>
                  <a:pt x="4199648" y="150718"/>
                </a:lnTo>
                <a:lnTo>
                  <a:pt x="4252771" y="164124"/>
                </a:lnTo>
                <a:lnTo>
                  <a:pt x="4305246" y="178046"/>
                </a:lnTo>
                <a:lnTo>
                  <a:pt x="4357059" y="192475"/>
                </a:lnTo>
                <a:lnTo>
                  <a:pt x="4408196" y="207406"/>
                </a:lnTo>
                <a:lnTo>
                  <a:pt x="4458642" y="222831"/>
                </a:lnTo>
                <a:lnTo>
                  <a:pt x="4508384" y="238743"/>
                </a:lnTo>
                <a:lnTo>
                  <a:pt x="4557408" y="255136"/>
                </a:lnTo>
                <a:lnTo>
                  <a:pt x="4605698" y="272003"/>
                </a:lnTo>
                <a:lnTo>
                  <a:pt x="4653242" y="289337"/>
                </a:lnTo>
                <a:lnTo>
                  <a:pt x="4700024" y="307130"/>
                </a:lnTo>
                <a:lnTo>
                  <a:pt x="4746032" y="325377"/>
                </a:lnTo>
                <a:lnTo>
                  <a:pt x="4791250" y="344069"/>
                </a:lnTo>
                <a:lnTo>
                  <a:pt x="4835665" y="363201"/>
                </a:lnTo>
                <a:lnTo>
                  <a:pt x="4879262" y="382766"/>
                </a:lnTo>
                <a:lnTo>
                  <a:pt x="4922027" y="402756"/>
                </a:lnTo>
                <a:lnTo>
                  <a:pt x="4963947" y="423164"/>
                </a:lnTo>
                <a:lnTo>
                  <a:pt x="5005006" y="443985"/>
                </a:lnTo>
                <a:lnTo>
                  <a:pt x="5045192" y="465210"/>
                </a:lnTo>
                <a:lnTo>
                  <a:pt x="5084489" y="486833"/>
                </a:lnTo>
                <a:lnTo>
                  <a:pt x="5122884" y="508848"/>
                </a:lnTo>
                <a:lnTo>
                  <a:pt x="5160362" y="531246"/>
                </a:lnTo>
                <a:lnTo>
                  <a:pt x="5196910" y="554022"/>
                </a:lnTo>
                <a:lnTo>
                  <a:pt x="5232513" y="577169"/>
                </a:lnTo>
                <a:lnTo>
                  <a:pt x="5267157" y="600679"/>
                </a:lnTo>
                <a:lnTo>
                  <a:pt x="5300829" y="624546"/>
                </a:lnTo>
                <a:lnTo>
                  <a:pt x="5333513" y="648762"/>
                </a:lnTo>
                <a:lnTo>
                  <a:pt x="5365195" y="673322"/>
                </a:lnTo>
                <a:lnTo>
                  <a:pt x="5395863" y="698217"/>
                </a:lnTo>
                <a:lnTo>
                  <a:pt x="5425500" y="723442"/>
                </a:lnTo>
                <a:lnTo>
                  <a:pt x="5454094" y="748989"/>
                </a:lnTo>
                <a:lnTo>
                  <a:pt x="5508095" y="801023"/>
                </a:lnTo>
                <a:lnTo>
                  <a:pt x="5557751" y="854263"/>
                </a:lnTo>
                <a:lnTo>
                  <a:pt x="5602950" y="908655"/>
                </a:lnTo>
                <a:lnTo>
                  <a:pt x="5643579" y="964143"/>
                </a:lnTo>
                <a:lnTo>
                  <a:pt x="5679524" y="1020673"/>
                </a:lnTo>
                <a:lnTo>
                  <a:pt x="5710672" y="1078189"/>
                </a:lnTo>
                <a:lnTo>
                  <a:pt x="5736911" y="1136636"/>
                </a:lnTo>
                <a:lnTo>
                  <a:pt x="5758128" y="1195960"/>
                </a:lnTo>
                <a:lnTo>
                  <a:pt x="5774208" y="1256105"/>
                </a:lnTo>
                <a:lnTo>
                  <a:pt x="5785040" y="1317016"/>
                </a:lnTo>
                <a:lnTo>
                  <a:pt x="5790510" y="1378639"/>
                </a:lnTo>
                <a:lnTo>
                  <a:pt x="5791200" y="1409700"/>
                </a:lnTo>
                <a:lnTo>
                  <a:pt x="5790510" y="1440762"/>
                </a:lnTo>
                <a:lnTo>
                  <a:pt x="5788453" y="1471661"/>
                </a:lnTo>
                <a:lnTo>
                  <a:pt x="5780287" y="1532938"/>
                </a:lnTo>
                <a:lnTo>
                  <a:pt x="5766817" y="1593476"/>
                </a:lnTo>
                <a:lnTo>
                  <a:pt x="5748154" y="1653220"/>
                </a:lnTo>
                <a:lnTo>
                  <a:pt x="5724413" y="1712115"/>
                </a:lnTo>
                <a:lnTo>
                  <a:pt x="5695705" y="1770106"/>
                </a:lnTo>
                <a:lnTo>
                  <a:pt x="5662144" y="1827138"/>
                </a:lnTo>
                <a:lnTo>
                  <a:pt x="5623843" y="1883156"/>
                </a:lnTo>
                <a:lnTo>
                  <a:pt x="5580915" y="1938104"/>
                </a:lnTo>
                <a:lnTo>
                  <a:pt x="5533473" y="1991928"/>
                </a:lnTo>
                <a:lnTo>
                  <a:pt x="5481631" y="2044572"/>
                </a:lnTo>
                <a:lnTo>
                  <a:pt x="5425500" y="2095983"/>
                </a:lnTo>
                <a:lnTo>
                  <a:pt x="5395863" y="2121208"/>
                </a:lnTo>
                <a:lnTo>
                  <a:pt x="5365195" y="2146103"/>
                </a:lnTo>
                <a:lnTo>
                  <a:pt x="5333513" y="2170663"/>
                </a:lnTo>
                <a:lnTo>
                  <a:pt x="5300829" y="2194880"/>
                </a:lnTo>
                <a:lnTo>
                  <a:pt x="5267157" y="2218747"/>
                </a:lnTo>
                <a:lnTo>
                  <a:pt x="5232513" y="2242257"/>
                </a:lnTo>
                <a:lnTo>
                  <a:pt x="5196910" y="2265403"/>
                </a:lnTo>
                <a:lnTo>
                  <a:pt x="5160362" y="2288179"/>
                </a:lnTo>
                <a:lnTo>
                  <a:pt x="5122884" y="2310578"/>
                </a:lnTo>
                <a:lnTo>
                  <a:pt x="5084489" y="2332592"/>
                </a:lnTo>
                <a:lnTo>
                  <a:pt x="5045192" y="2354215"/>
                </a:lnTo>
                <a:lnTo>
                  <a:pt x="5005006" y="2375440"/>
                </a:lnTo>
                <a:lnTo>
                  <a:pt x="4963947" y="2396260"/>
                </a:lnTo>
                <a:lnTo>
                  <a:pt x="4922027" y="2416668"/>
                </a:lnTo>
                <a:lnTo>
                  <a:pt x="4879262" y="2436658"/>
                </a:lnTo>
                <a:lnTo>
                  <a:pt x="4835665" y="2456222"/>
                </a:lnTo>
                <a:lnTo>
                  <a:pt x="4791250" y="2475354"/>
                </a:lnTo>
                <a:lnTo>
                  <a:pt x="4746032" y="2494046"/>
                </a:lnTo>
                <a:lnTo>
                  <a:pt x="4700024" y="2512293"/>
                </a:lnTo>
                <a:lnTo>
                  <a:pt x="4653242" y="2530086"/>
                </a:lnTo>
                <a:lnTo>
                  <a:pt x="4605698" y="2547419"/>
                </a:lnTo>
                <a:lnTo>
                  <a:pt x="4557408" y="2564285"/>
                </a:lnTo>
                <a:lnTo>
                  <a:pt x="4508384" y="2580678"/>
                </a:lnTo>
                <a:lnTo>
                  <a:pt x="4458642" y="2596590"/>
                </a:lnTo>
                <a:lnTo>
                  <a:pt x="4408196" y="2612014"/>
                </a:lnTo>
                <a:lnTo>
                  <a:pt x="4357059" y="2626945"/>
                </a:lnTo>
                <a:lnTo>
                  <a:pt x="4305246" y="2641374"/>
                </a:lnTo>
                <a:lnTo>
                  <a:pt x="4252771" y="2655295"/>
                </a:lnTo>
                <a:lnTo>
                  <a:pt x="4199648" y="2668700"/>
                </a:lnTo>
                <a:lnTo>
                  <a:pt x="4145890" y="2681584"/>
                </a:lnTo>
                <a:lnTo>
                  <a:pt x="4091514" y="2693940"/>
                </a:lnTo>
                <a:lnTo>
                  <a:pt x="4036531" y="2705759"/>
                </a:lnTo>
                <a:lnTo>
                  <a:pt x="3980957" y="2717036"/>
                </a:lnTo>
                <a:lnTo>
                  <a:pt x="3924806" y="2727764"/>
                </a:lnTo>
                <a:lnTo>
                  <a:pt x="3868092" y="2737936"/>
                </a:lnTo>
                <a:lnTo>
                  <a:pt x="3810829" y="2747544"/>
                </a:lnTo>
                <a:lnTo>
                  <a:pt x="3753030" y="2756582"/>
                </a:lnTo>
                <a:lnTo>
                  <a:pt x="3694711" y="2765044"/>
                </a:lnTo>
                <a:lnTo>
                  <a:pt x="3635885" y="2772921"/>
                </a:lnTo>
                <a:lnTo>
                  <a:pt x="3576567" y="2780208"/>
                </a:lnTo>
                <a:lnTo>
                  <a:pt x="3516770" y="2786897"/>
                </a:lnTo>
                <a:lnTo>
                  <a:pt x="3456509" y="2792982"/>
                </a:lnTo>
                <a:lnTo>
                  <a:pt x="3395798" y="2798456"/>
                </a:lnTo>
                <a:lnTo>
                  <a:pt x="3334651" y="2803311"/>
                </a:lnTo>
                <a:lnTo>
                  <a:pt x="3273082" y="2807542"/>
                </a:lnTo>
                <a:lnTo>
                  <a:pt x="3211105" y="2811140"/>
                </a:lnTo>
                <a:lnTo>
                  <a:pt x="3148735" y="2814100"/>
                </a:lnTo>
                <a:lnTo>
                  <a:pt x="3085985" y="2816414"/>
                </a:lnTo>
                <a:lnTo>
                  <a:pt x="3022869" y="2818075"/>
                </a:lnTo>
                <a:lnTo>
                  <a:pt x="2959403" y="2819077"/>
                </a:lnTo>
                <a:lnTo>
                  <a:pt x="2895600" y="2819412"/>
                </a:lnTo>
                <a:lnTo>
                  <a:pt x="2831796" y="2819077"/>
                </a:lnTo>
                <a:lnTo>
                  <a:pt x="2768330" y="2818075"/>
                </a:lnTo>
                <a:lnTo>
                  <a:pt x="2705214" y="2816414"/>
                </a:lnTo>
                <a:lnTo>
                  <a:pt x="2642464" y="2814100"/>
                </a:lnTo>
                <a:lnTo>
                  <a:pt x="2580094" y="2811140"/>
                </a:lnTo>
                <a:lnTo>
                  <a:pt x="2518117" y="2807542"/>
                </a:lnTo>
                <a:lnTo>
                  <a:pt x="2456548" y="2803311"/>
                </a:lnTo>
                <a:lnTo>
                  <a:pt x="2395401" y="2798456"/>
                </a:lnTo>
                <a:lnTo>
                  <a:pt x="2334690" y="2792982"/>
                </a:lnTo>
                <a:lnTo>
                  <a:pt x="2274429" y="2786897"/>
                </a:lnTo>
                <a:lnTo>
                  <a:pt x="2214632" y="2780208"/>
                </a:lnTo>
                <a:lnTo>
                  <a:pt x="2155314" y="2772921"/>
                </a:lnTo>
                <a:lnTo>
                  <a:pt x="2096488" y="2765044"/>
                </a:lnTo>
                <a:lnTo>
                  <a:pt x="2038169" y="2756582"/>
                </a:lnTo>
                <a:lnTo>
                  <a:pt x="1980370" y="2747544"/>
                </a:lnTo>
                <a:lnTo>
                  <a:pt x="1923107" y="2737936"/>
                </a:lnTo>
                <a:lnTo>
                  <a:pt x="1866393" y="2727764"/>
                </a:lnTo>
                <a:lnTo>
                  <a:pt x="1810242" y="2717036"/>
                </a:lnTo>
                <a:lnTo>
                  <a:pt x="1754668" y="2705759"/>
                </a:lnTo>
                <a:lnTo>
                  <a:pt x="1699685" y="2693940"/>
                </a:lnTo>
                <a:lnTo>
                  <a:pt x="1645309" y="2681584"/>
                </a:lnTo>
                <a:lnTo>
                  <a:pt x="1591551" y="2668700"/>
                </a:lnTo>
                <a:lnTo>
                  <a:pt x="1538428" y="2655295"/>
                </a:lnTo>
                <a:lnTo>
                  <a:pt x="1485953" y="2641374"/>
                </a:lnTo>
                <a:lnTo>
                  <a:pt x="1434140" y="2626945"/>
                </a:lnTo>
                <a:lnTo>
                  <a:pt x="1383003" y="2612014"/>
                </a:lnTo>
                <a:lnTo>
                  <a:pt x="1332557" y="2596590"/>
                </a:lnTo>
                <a:lnTo>
                  <a:pt x="1282815" y="2580678"/>
                </a:lnTo>
                <a:lnTo>
                  <a:pt x="1233791" y="2564285"/>
                </a:lnTo>
                <a:lnTo>
                  <a:pt x="1185501" y="2547419"/>
                </a:lnTo>
                <a:lnTo>
                  <a:pt x="1137957" y="2530086"/>
                </a:lnTo>
                <a:lnTo>
                  <a:pt x="1091175" y="2512293"/>
                </a:lnTo>
                <a:lnTo>
                  <a:pt x="1045167" y="2494046"/>
                </a:lnTo>
                <a:lnTo>
                  <a:pt x="999949" y="2475354"/>
                </a:lnTo>
                <a:lnTo>
                  <a:pt x="955534" y="2456222"/>
                </a:lnTo>
                <a:lnTo>
                  <a:pt x="911937" y="2436658"/>
                </a:lnTo>
                <a:lnTo>
                  <a:pt x="869172" y="2416668"/>
                </a:lnTo>
                <a:lnTo>
                  <a:pt x="827252" y="2396260"/>
                </a:lnTo>
                <a:lnTo>
                  <a:pt x="786193" y="2375440"/>
                </a:lnTo>
                <a:lnTo>
                  <a:pt x="746007" y="2354215"/>
                </a:lnTo>
                <a:lnTo>
                  <a:pt x="706710" y="2332592"/>
                </a:lnTo>
                <a:lnTo>
                  <a:pt x="668315" y="2310578"/>
                </a:lnTo>
                <a:lnTo>
                  <a:pt x="630837" y="2288179"/>
                </a:lnTo>
                <a:lnTo>
                  <a:pt x="594289" y="2265403"/>
                </a:lnTo>
                <a:lnTo>
                  <a:pt x="558686" y="2242257"/>
                </a:lnTo>
                <a:lnTo>
                  <a:pt x="524042" y="2218747"/>
                </a:lnTo>
                <a:lnTo>
                  <a:pt x="490370" y="2194880"/>
                </a:lnTo>
                <a:lnTo>
                  <a:pt x="457686" y="2170663"/>
                </a:lnTo>
                <a:lnTo>
                  <a:pt x="426004" y="2146103"/>
                </a:lnTo>
                <a:lnTo>
                  <a:pt x="395336" y="2121208"/>
                </a:lnTo>
                <a:lnTo>
                  <a:pt x="365699" y="2095983"/>
                </a:lnTo>
                <a:lnTo>
                  <a:pt x="337105" y="2070435"/>
                </a:lnTo>
                <a:lnTo>
                  <a:pt x="283104" y="2018401"/>
                </a:lnTo>
                <a:lnTo>
                  <a:pt x="233448" y="1965160"/>
                </a:lnTo>
                <a:lnTo>
                  <a:pt x="188249" y="1910767"/>
                </a:lnTo>
                <a:lnTo>
                  <a:pt x="147620" y="1855277"/>
                </a:lnTo>
                <a:lnTo>
                  <a:pt x="111675" y="1798745"/>
                </a:lnTo>
                <a:lnTo>
                  <a:pt x="80527" y="1741227"/>
                </a:lnTo>
                <a:lnTo>
                  <a:pt x="54288" y="1682777"/>
                </a:lnTo>
                <a:lnTo>
                  <a:pt x="33071" y="1623451"/>
                </a:lnTo>
                <a:lnTo>
                  <a:pt x="16991" y="1563303"/>
                </a:lnTo>
                <a:lnTo>
                  <a:pt x="6159" y="1502388"/>
                </a:lnTo>
                <a:lnTo>
                  <a:pt x="689" y="1440762"/>
                </a:lnTo>
                <a:lnTo>
                  <a:pt x="0" y="1409700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upo 31"/>
          <p:cNvGrpSpPr/>
          <p:nvPr/>
        </p:nvGrpSpPr>
        <p:grpSpPr>
          <a:xfrm>
            <a:off x="304800" y="1219200"/>
            <a:ext cx="8635873" cy="5424805"/>
            <a:chOff x="304800" y="1219200"/>
            <a:chExt cx="8635873" cy="5424805"/>
          </a:xfrm>
        </p:grpSpPr>
        <p:sp>
          <p:nvSpPr>
            <p:cNvPr id="2" name="object 2"/>
            <p:cNvSpPr txBox="1"/>
            <p:nvPr/>
          </p:nvSpPr>
          <p:spPr>
            <a:xfrm>
              <a:off x="2286000" y="3809936"/>
              <a:ext cx="2125980" cy="640080"/>
            </a:xfrm>
            <a:prstGeom prst="rect">
              <a:avLst/>
            </a:prstGeom>
            <a:solidFill>
              <a:srgbClr val="009999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1</a:t>
              </a:r>
              <a:endParaRPr sz="1200">
                <a:latin typeface="Tahoma"/>
                <a:cs typeface="Tahoma"/>
              </a:endParaRPr>
            </a:p>
            <a:p>
              <a:pPr marL="92075" marR="85725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LA FRUTA SE</a:t>
              </a:r>
              <a:r>
                <a:rPr sz="1200" b="1" spc="-3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DETERIORA  </a:t>
              </a:r>
              <a:r>
                <a:rPr sz="1200" b="1" dirty="0">
                  <a:latin typeface="Tahoma"/>
                  <a:cs typeface="Tahoma"/>
                </a:rPr>
                <a:t>EN </a:t>
              </a:r>
              <a:r>
                <a:rPr sz="1200" b="1" spc="-5" dirty="0">
                  <a:latin typeface="Tahoma"/>
                  <a:cs typeface="Tahoma"/>
                </a:rPr>
                <a:t>LA</a:t>
              </a:r>
              <a:r>
                <a:rPr sz="1200" b="1" spc="-4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RECOLECCIÓN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179445" y="1509395"/>
              <a:ext cx="2002155" cy="640080"/>
            </a:xfrm>
            <a:prstGeom prst="rect">
              <a:avLst/>
            </a:prstGeom>
            <a:solidFill>
              <a:srgbClr val="FFCCFF"/>
            </a:solidFill>
          </p:spPr>
          <p:txBody>
            <a:bodyPr vert="horz" wrap="square" lIns="0" tIns="4381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45"/>
                </a:spcBef>
              </a:pPr>
              <a:r>
                <a:rPr sz="1200" b="1" dirty="0">
                  <a:latin typeface="Tahoma"/>
                  <a:cs typeface="Tahoma"/>
                </a:rPr>
                <a:t>2</a:t>
              </a:r>
              <a:endParaRPr sz="1200">
                <a:latin typeface="Tahoma"/>
                <a:cs typeface="Tahoma"/>
              </a:endParaRPr>
            </a:p>
            <a:p>
              <a:pPr marL="1270" algn="ctr">
                <a:lnSpc>
                  <a:spcPct val="100000"/>
                </a:lnSpc>
                <a:spcBef>
                  <a:spcPts val="5"/>
                </a:spcBef>
              </a:pPr>
              <a:r>
                <a:rPr sz="1200" b="1" spc="-5" dirty="0">
                  <a:latin typeface="Tahoma"/>
                  <a:cs typeface="Tahoma"/>
                </a:rPr>
                <a:t>MENORES</a:t>
              </a:r>
              <a:r>
                <a:rPr sz="1200" b="1" spc="-3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INGRESOS</a:t>
              </a:r>
              <a:endParaRPr sz="12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DE LOS</a:t>
              </a:r>
              <a:r>
                <a:rPr sz="1200" b="1" spc="-4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AGRICULTORES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2549144" y="2819400"/>
              <a:ext cx="2027555" cy="457200"/>
            </a:xfrm>
            <a:prstGeom prst="rect">
              <a:avLst/>
            </a:prstGeom>
            <a:solidFill>
              <a:srgbClr val="FFFFCC"/>
            </a:solidFill>
          </p:spPr>
          <p:txBody>
            <a:bodyPr vert="horz" wrap="square" lIns="0" tIns="4445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50"/>
                </a:spcBef>
              </a:pPr>
              <a:r>
                <a:rPr sz="1200" b="1" dirty="0">
                  <a:latin typeface="Tahoma"/>
                  <a:cs typeface="Tahoma"/>
                </a:rPr>
                <a:t>5</a:t>
              </a:r>
              <a:endParaRPr sz="1200" dirty="0">
                <a:latin typeface="Tahoma"/>
                <a:cs typeface="Tahoma"/>
              </a:endParaRPr>
            </a:p>
            <a:p>
              <a:pPr marL="635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PÉRDIDAS 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r>
                <a:rPr sz="1200" b="1" spc="-5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COSECHA</a:t>
              </a:r>
              <a:endParaRPr sz="1200" dirty="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003425" y="5765800"/>
              <a:ext cx="1414780" cy="822325"/>
            </a:xfrm>
            <a:prstGeom prst="rect">
              <a:avLst/>
            </a:prstGeom>
            <a:solidFill>
              <a:srgbClr val="CCFFCC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8</a:t>
              </a:r>
              <a:endParaRPr sz="1200">
                <a:latin typeface="Tahoma"/>
                <a:cs typeface="Tahoma"/>
              </a:endParaRPr>
            </a:p>
            <a:p>
              <a:pPr marL="92075" marR="84455" indent="1905" algn="ctr">
                <a:lnSpc>
                  <a:spcPct val="100000"/>
                </a:lnSpc>
                <a:spcBef>
                  <a:spcPts val="5"/>
                </a:spcBef>
              </a:pPr>
              <a:r>
                <a:rPr sz="1200" b="1" spc="-5" dirty="0">
                  <a:latin typeface="Tahoma"/>
                  <a:cs typeface="Tahoma"/>
                </a:rPr>
                <a:t>MAQUINAS  </a:t>
              </a:r>
              <a:r>
                <a:rPr sz="1200" b="1" dirty="0">
                  <a:latin typeface="Tahoma"/>
                  <a:cs typeface="Tahoma"/>
                </a:rPr>
                <a:t>RECOLEC</a:t>
              </a:r>
              <a:r>
                <a:rPr sz="1200" b="1" spc="-5" dirty="0">
                  <a:latin typeface="Tahoma"/>
                  <a:cs typeface="Tahoma"/>
                </a:rPr>
                <a:t>TORAS  OBSOLETAS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58825" y="4800663"/>
              <a:ext cx="2322830" cy="640080"/>
            </a:xfrm>
            <a:prstGeom prst="rect">
              <a:avLst/>
            </a:prstGeom>
            <a:solidFill>
              <a:srgbClr val="33CCCC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7</a:t>
              </a:r>
              <a:endParaRPr sz="1200">
                <a:latin typeface="Tahoma"/>
                <a:cs typeface="Tahoma"/>
              </a:endParaRPr>
            </a:p>
            <a:p>
              <a:pPr marL="92075" marR="86360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MAQUINAS</a:t>
              </a:r>
              <a:r>
                <a:rPr sz="1200" b="1" spc="-4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RECOLECTORAS  DEFICIENTES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3175000" y="4800663"/>
              <a:ext cx="2148205" cy="640080"/>
            </a:xfrm>
            <a:prstGeom prst="rect">
              <a:avLst/>
            </a:prstGeom>
            <a:solidFill>
              <a:srgbClr val="00FF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9</a:t>
              </a:r>
              <a:endParaRPr sz="1200">
                <a:latin typeface="Tahoma"/>
                <a:cs typeface="Tahoma"/>
              </a:endParaRPr>
            </a:p>
            <a:p>
              <a:pPr marL="92075" marR="85090" indent="-635" algn="ctr">
                <a:lnSpc>
                  <a:spcPct val="100000"/>
                </a:lnSpc>
              </a:pPr>
              <a:r>
                <a:rPr sz="1200" b="1" dirty="0">
                  <a:latin typeface="Tahoma"/>
                  <a:cs typeface="Tahoma"/>
                </a:rPr>
                <a:t>OBREROS </a:t>
              </a:r>
              <a:r>
                <a:rPr sz="1200" b="1" spc="-10" dirty="0">
                  <a:latin typeface="Tahoma"/>
                  <a:cs typeface="Tahoma"/>
                </a:rPr>
                <a:t>MALTRATAN  </a:t>
              </a:r>
              <a:r>
                <a:rPr sz="1200" b="1" spc="-5" dirty="0">
                  <a:latin typeface="Tahoma"/>
                  <a:cs typeface="Tahoma"/>
                </a:rPr>
                <a:t>LA FRUTA AL</a:t>
              </a:r>
              <a:r>
                <a:rPr sz="1200" b="1" spc="-3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RECOGERLA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733800" y="5791200"/>
              <a:ext cx="1808480" cy="822325"/>
            </a:xfrm>
            <a:prstGeom prst="rect">
              <a:avLst/>
            </a:prstGeom>
            <a:solidFill>
              <a:srgbClr val="CCFFFF"/>
            </a:solidFill>
          </p:spPr>
          <p:txBody>
            <a:bodyPr vert="horz" wrap="square" lIns="0" tIns="45719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59"/>
                </a:spcBef>
              </a:pPr>
              <a:r>
                <a:rPr sz="1200" b="1" dirty="0">
                  <a:latin typeface="Tahoma"/>
                  <a:cs typeface="Tahoma"/>
                </a:rPr>
                <a:t>3</a:t>
              </a:r>
              <a:endParaRPr sz="1200">
                <a:latin typeface="Tahoma"/>
                <a:cs typeface="Tahoma"/>
              </a:endParaRPr>
            </a:p>
            <a:p>
              <a:pPr marL="92075" marR="132080" indent="48895" algn="ctr">
                <a:lnSpc>
                  <a:spcPct val="100000"/>
                </a:lnSpc>
              </a:pPr>
              <a:r>
                <a:rPr sz="1200" b="1" dirty="0">
                  <a:latin typeface="Tahoma"/>
                  <a:cs typeface="Tahoma"/>
                </a:rPr>
                <a:t>OBREROS </a:t>
              </a:r>
              <a:r>
                <a:rPr sz="1200" b="1" spc="-5" dirty="0">
                  <a:latin typeface="Tahoma"/>
                  <a:cs typeface="Tahoma"/>
                </a:rPr>
                <a:t>MAL  CAPACITADOS</a:t>
              </a:r>
              <a:r>
                <a:rPr sz="1200" b="1" spc="-8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PARA  RECOLECCIÓN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7208393" y="2606738"/>
              <a:ext cx="1732280" cy="640080"/>
            </a:xfrm>
            <a:prstGeom prst="rect">
              <a:avLst/>
            </a:prstGeom>
            <a:solidFill>
              <a:srgbClr val="CCFF99"/>
            </a:solidFill>
          </p:spPr>
          <p:txBody>
            <a:bodyPr vert="horz" wrap="square" lIns="0" tIns="44450" rIns="0" bIns="0" rtlCol="0">
              <a:spAutoFit/>
            </a:bodyPr>
            <a:lstStyle/>
            <a:p>
              <a:pPr marL="2540" algn="ctr">
                <a:lnSpc>
                  <a:spcPct val="100000"/>
                </a:lnSpc>
                <a:spcBef>
                  <a:spcPts val="350"/>
                </a:spcBef>
              </a:pPr>
              <a:r>
                <a:rPr sz="1200" b="1" dirty="0">
                  <a:latin typeface="Tahoma"/>
                  <a:cs typeface="Tahoma"/>
                </a:rPr>
                <a:t>10</a:t>
              </a:r>
              <a:endParaRPr sz="1200">
                <a:latin typeface="Tahoma"/>
                <a:cs typeface="Tahoma"/>
              </a:endParaRPr>
            </a:p>
            <a:p>
              <a:pPr marL="1270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BAJOS PRECIOS</a:t>
              </a:r>
              <a:r>
                <a:rPr sz="1200" b="1" spc="-45" dirty="0">
                  <a:latin typeface="Tahoma"/>
                  <a:cs typeface="Tahoma"/>
                </a:rPr>
                <a:t> 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endParaRPr sz="1200">
                <a:latin typeface="Tahoma"/>
                <a:cs typeface="Tahoma"/>
              </a:endParaRPr>
            </a:p>
            <a:p>
              <a:pPr marL="1905" algn="ctr">
                <a:lnSpc>
                  <a:spcPct val="100000"/>
                </a:lnSpc>
              </a:pPr>
              <a:r>
                <a:rPr sz="1200" b="1" dirty="0">
                  <a:latin typeface="Tahoma"/>
                  <a:cs typeface="Tahoma"/>
                </a:rPr>
                <a:t>EPOCA </a:t>
              </a:r>
              <a:r>
                <a:rPr sz="1200" b="1" spc="-5" dirty="0">
                  <a:latin typeface="Tahoma"/>
                  <a:cs typeface="Tahoma"/>
                </a:rPr>
                <a:t>DE</a:t>
              </a:r>
              <a:r>
                <a:rPr sz="1200" b="1" spc="-6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COSECHA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5410200" y="4800663"/>
              <a:ext cx="1616075" cy="640080"/>
            </a:xfrm>
            <a:prstGeom prst="rect">
              <a:avLst/>
            </a:prstGeom>
            <a:solidFill>
              <a:srgbClr val="FFFF99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14</a:t>
              </a:r>
              <a:endParaRPr sz="1200">
                <a:latin typeface="Tahoma"/>
                <a:cs typeface="Tahoma"/>
              </a:endParaRPr>
            </a:p>
            <a:p>
              <a:pPr marL="93980" marR="84455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FRUTA SE</a:t>
              </a:r>
              <a:r>
                <a:rPr sz="1200" b="1" spc="-6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EMPACA  SIN</a:t>
              </a:r>
              <a:r>
                <a:rPr sz="1200" b="1" spc="-3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SELECCIÓN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7164451" y="4724400"/>
              <a:ext cx="1732280" cy="822325"/>
            </a:xfrm>
            <a:prstGeom prst="rect">
              <a:avLst/>
            </a:prstGeom>
            <a:solidFill>
              <a:srgbClr val="66FFCC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55"/>
                </a:spcBef>
              </a:pPr>
              <a:r>
                <a:rPr sz="1200" b="1" dirty="0">
                  <a:latin typeface="Tahoma"/>
                  <a:cs typeface="Tahoma"/>
                </a:rPr>
                <a:t>4</a:t>
              </a:r>
              <a:endParaRPr sz="1200">
                <a:latin typeface="Tahoma"/>
                <a:cs typeface="Tahoma"/>
              </a:endParaRPr>
            </a:p>
            <a:p>
              <a:pPr marL="307340" marR="298450" indent="-44450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ABUNDANCIA  DE OFERTA</a:t>
              </a:r>
              <a:r>
                <a:rPr sz="1200" b="1" spc="-80" dirty="0">
                  <a:latin typeface="Tahoma"/>
                  <a:cs typeface="Tahoma"/>
                </a:rPr>
                <a:t> 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endParaRPr sz="1200">
                <a:latin typeface="Tahoma"/>
                <a:cs typeface="Tahoma"/>
              </a:endParaRPr>
            </a:p>
            <a:p>
              <a:pPr marL="1905" algn="ctr">
                <a:lnSpc>
                  <a:spcPct val="100000"/>
                </a:lnSpc>
              </a:pPr>
              <a:r>
                <a:rPr sz="1200" b="1" dirty="0">
                  <a:latin typeface="Tahoma"/>
                  <a:cs typeface="Tahoma"/>
                </a:rPr>
                <a:t>EPOCA </a:t>
              </a:r>
              <a:r>
                <a:rPr sz="1200" b="1" spc="-5" dirty="0">
                  <a:latin typeface="Tahoma"/>
                  <a:cs typeface="Tahoma"/>
                </a:rPr>
                <a:t>DE</a:t>
              </a:r>
              <a:r>
                <a:rPr sz="1200" b="1" spc="-6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COSECHA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649343" y="2606675"/>
              <a:ext cx="2286000" cy="822325"/>
            </a:xfrm>
            <a:prstGeom prst="rect">
              <a:avLst/>
            </a:prstGeom>
            <a:solidFill>
              <a:srgbClr val="99CCFF"/>
            </a:solidFill>
          </p:spPr>
          <p:txBody>
            <a:bodyPr vert="horz" wrap="square" lIns="0" tIns="4445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</a:pPr>
              <a:r>
                <a:rPr sz="1200" b="1" dirty="0">
                  <a:latin typeface="Tahoma"/>
                  <a:cs typeface="Tahoma"/>
                </a:rPr>
                <a:t>12</a:t>
              </a:r>
              <a:endParaRPr sz="1200">
                <a:latin typeface="Tahoma"/>
                <a:cs typeface="Tahoma"/>
              </a:endParaRPr>
            </a:p>
            <a:p>
              <a:pPr marL="92710" marR="132715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COMPRADORES</a:t>
              </a:r>
              <a:r>
                <a:rPr sz="1200" b="1" spc="-7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CASTIGAN  PRECIOS </a:t>
              </a:r>
              <a:r>
                <a:rPr sz="1200" b="1" dirty="0">
                  <a:latin typeface="Tahoma"/>
                  <a:cs typeface="Tahoma"/>
                </a:rPr>
                <a:t>POR NO  </a:t>
              </a:r>
              <a:r>
                <a:rPr sz="1200" b="1" spc="-5" dirty="0">
                  <a:latin typeface="Tahoma"/>
                  <a:cs typeface="Tahoma"/>
                </a:rPr>
                <a:t>SELECCIÓN 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r>
                <a:rPr sz="1200" b="1" spc="-75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EMPAQUE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28625" y="2707196"/>
              <a:ext cx="1933575" cy="640080"/>
            </a:xfrm>
            <a:prstGeom prst="rect">
              <a:avLst/>
            </a:prstGeom>
            <a:solidFill>
              <a:srgbClr val="EAEAEA"/>
            </a:solidFill>
          </p:spPr>
          <p:txBody>
            <a:bodyPr vert="horz" wrap="square" lIns="0" tIns="4445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50"/>
                </a:spcBef>
              </a:pPr>
              <a:r>
                <a:rPr sz="1200" b="1" dirty="0">
                  <a:latin typeface="Tahoma"/>
                  <a:cs typeface="Tahoma"/>
                </a:rPr>
                <a:t>15</a:t>
              </a:r>
              <a:endParaRPr sz="1200" dirty="0">
                <a:latin typeface="Tahoma"/>
                <a:cs typeface="Tahoma"/>
              </a:endParaRPr>
            </a:p>
            <a:p>
              <a:pPr marL="91440" marR="86360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CONTAMINACIÓN</a:t>
              </a:r>
              <a:r>
                <a:rPr sz="1200" b="1" spc="-70" dirty="0">
                  <a:latin typeface="Tahoma"/>
                  <a:cs typeface="Tahoma"/>
                </a:rPr>
                <a:t> </a:t>
              </a:r>
              <a:r>
                <a:rPr sz="1200" b="1" dirty="0">
                  <a:latin typeface="Tahoma"/>
                  <a:cs typeface="Tahoma"/>
                </a:rPr>
                <a:t>POR  </a:t>
              </a:r>
              <a:r>
                <a:rPr sz="1200" b="1" spc="-5" dirty="0">
                  <a:latin typeface="Tahoma"/>
                  <a:cs typeface="Tahoma"/>
                </a:rPr>
                <a:t>FRUTAS</a:t>
              </a:r>
              <a:r>
                <a:rPr sz="1200" b="1" spc="-15" dirty="0">
                  <a:latin typeface="Tahoma"/>
                  <a:cs typeface="Tahoma"/>
                </a:rPr>
                <a:t> </a:t>
              </a:r>
              <a:r>
                <a:rPr sz="1200" b="1" spc="-10" dirty="0">
                  <a:latin typeface="Tahoma"/>
                  <a:cs typeface="Tahoma"/>
                </a:rPr>
                <a:t>DAÑADAS</a:t>
              </a:r>
              <a:endParaRPr sz="1200" dirty="0">
                <a:latin typeface="Tahoma"/>
                <a:cs typeface="Tahoma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68300" y="1219200"/>
              <a:ext cx="1525905" cy="822325"/>
            </a:xfrm>
            <a:prstGeom prst="rect">
              <a:avLst/>
            </a:prstGeom>
            <a:solidFill>
              <a:srgbClr val="FF99CC"/>
            </a:solidFill>
          </p:spPr>
          <p:txBody>
            <a:bodyPr vert="horz" wrap="square" lIns="0" tIns="4381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45"/>
                </a:spcBef>
              </a:pPr>
              <a:r>
                <a:rPr sz="1200" b="1" dirty="0">
                  <a:latin typeface="Tahoma"/>
                  <a:cs typeface="Tahoma"/>
                </a:rPr>
                <a:t>6</a:t>
              </a:r>
              <a:endParaRPr sz="1200" dirty="0">
                <a:latin typeface="Tahoma"/>
                <a:cs typeface="Tahoma"/>
              </a:endParaRPr>
            </a:p>
            <a:p>
              <a:pPr marL="91440" marR="128905" algn="ctr">
                <a:lnSpc>
                  <a:spcPct val="100000"/>
                </a:lnSpc>
                <a:spcBef>
                  <a:spcPts val="5"/>
                </a:spcBef>
              </a:pPr>
              <a:r>
                <a:rPr sz="1200" b="1" spc="-5" dirty="0">
                  <a:latin typeface="Tahoma"/>
                  <a:cs typeface="Tahoma"/>
                </a:rPr>
                <a:t>P</a:t>
              </a:r>
              <a:r>
                <a:rPr sz="1200" b="1" dirty="0">
                  <a:latin typeface="Tahoma"/>
                  <a:cs typeface="Tahoma"/>
                </a:rPr>
                <a:t>RO</a:t>
              </a:r>
              <a:r>
                <a:rPr sz="1200" b="1" spc="-10" dirty="0">
                  <a:latin typeface="Tahoma"/>
                  <a:cs typeface="Tahoma"/>
                </a:rPr>
                <a:t>LI</a:t>
              </a:r>
              <a:r>
                <a:rPr sz="1200" b="1" spc="-5" dirty="0">
                  <a:latin typeface="Tahoma"/>
                  <a:cs typeface="Tahoma"/>
                </a:rPr>
                <a:t>FE</a:t>
              </a:r>
              <a:r>
                <a:rPr sz="1200" b="1" dirty="0">
                  <a:latin typeface="Tahoma"/>
                  <a:cs typeface="Tahoma"/>
                </a:rPr>
                <a:t>R</a:t>
              </a:r>
              <a:r>
                <a:rPr sz="1200" b="1" spc="-10" dirty="0">
                  <a:latin typeface="Tahoma"/>
                  <a:cs typeface="Tahoma"/>
                </a:rPr>
                <a:t>A</a:t>
              </a:r>
              <a:r>
                <a:rPr sz="1200" b="1" spc="-5" dirty="0">
                  <a:latin typeface="Tahoma"/>
                  <a:cs typeface="Tahoma"/>
                </a:rPr>
                <a:t>CI</a:t>
              </a:r>
              <a:r>
                <a:rPr sz="1200" b="1" spc="-10" dirty="0">
                  <a:latin typeface="Tahoma"/>
                  <a:cs typeface="Tahoma"/>
                </a:rPr>
                <a:t>Ó</a:t>
              </a:r>
              <a:r>
                <a:rPr sz="1200" b="1" dirty="0">
                  <a:latin typeface="Tahoma"/>
                  <a:cs typeface="Tahoma"/>
                </a:rPr>
                <a:t>N  </a:t>
              </a:r>
              <a:r>
                <a:rPr sz="1200" b="1" spc="-5" dirty="0">
                  <a:latin typeface="Tahoma"/>
                  <a:cs typeface="Tahoma"/>
                </a:rPr>
                <a:t>DE PLAGAS </a:t>
              </a:r>
              <a:r>
                <a:rPr sz="1200" b="1" dirty="0">
                  <a:latin typeface="Tahoma"/>
                  <a:cs typeface="Tahoma"/>
                </a:rPr>
                <a:t>Y  </a:t>
              </a:r>
              <a:r>
                <a:rPr sz="1200" b="1" spc="-5" dirty="0">
                  <a:latin typeface="Tahoma"/>
                  <a:cs typeface="Tahoma"/>
                </a:rPr>
                <a:t>MALOS</a:t>
              </a:r>
              <a:r>
                <a:rPr sz="1200" b="1" spc="-50" dirty="0">
                  <a:latin typeface="Tahoma"/>
                  <a:cs typeface="Tahoma"/>
                </a:rPr>
                <a:t> </a:t>
              </a:r>
              <a:r>
                <a:rPr sz="1200" b="1" dirty="0">
                  <a:latin typeface="Tahoma"/>
                  <a:cs typeface="Tahoma"/>
                </a:rPr>
                <a:t>OLORES</a:t>
              </a:r>
              <a:endParaRPr sz="1200" dirty="0">
                <a:latin typeface="Tahoma"/>
                <a:cs typeface="Tahoma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074737" y="5440298"/>
              <a:ext cx="884555" cy="351155"/>
            </a:xfrm>
            <a:custGeom>
              <a:avLst/>
              <a:gdLst/>
              <a:ahLst/>
              <a:cxnLst/>
              <a:rect l="l" t="t" r="r" b="b"/>
              <a:pathLst>
                <a:path w="884555" h="351154">
                  <a:moveTo>
                    <a:pt x="839787" y="169925"/>
                  </a:moveTo>
                  <a:lnTo>
                    <a:pt x="0" y="169925"/>
                  </a:lnTo>
                  <a:lnTo>
                    <a:pt x="0" y="350900"/>
                  </a:lnTo>
                  <a:lnTo>
                    <a:pt x="12700" y="350900"/>
                  </a:lnTo>
                  <a:lnTo>
                    <a:pt x="12700" y="182625"/>
                  </a:lnTo>
                  <a:lnTo>
                    <a:pt x="6350" y="182625"/>
                  </a:lnTo>
                  <a:lnTo>
                    <a:pt x="12700" y="176275"/>
                  </a:lnTo>
                  <a:lnTo>
                    <a:pt x="839787" y="176275"/>
                  </a:lnTo>
                  <a:lnTo>
                    <a:pt x="839787" y="169925"/>
                  </a:lnTo>
                  <a:close/>
                </a:path>
                <a:path w="884555" h="351154">
                  <a:moveTo>
                    <a:pt x="12700" y="176275"/>
                  </a:moveTo>
                  <a:lnTo>
                    <a:pt x="6350" y="182625"/>
                  </a:lnTo>
                  <a:lnTo>
                    <a:pt x="12700" y="182625"/>
                  </a:lnTo>
                  <a:lnTo>
                    <a:pt x="12700" y="176275"/>
                  </a:lnTo>
                  <a:close/>
                </a:path>
                <a:path w="884555" h="351154">
                  <a:moveTo>
                    <a:pt x="852487" y="169925"/>
                  </a:moveTo>
                  <a:lnTo>
                    <a:pt x="846137" y="169925"/>
                  </a:lnTo>
                  <a:lnTo>
                    <a:pt x="839787" y="176275"/>
                  </a:lnTo>
                  <a:lnTo>
                    <a:pt x="12700" y="176275"/>
                  </a:lnTo>
                  <a:lnTo>
                    <a:pt x="12700" y="182625"/>
                  </a:lnTo>
                  <a:lnTo>
                    <a:pt x="852487" y="182625"/>
                  </a:lnTo>
                  <a:lnTo>
                    <a:pt x="852487" y="169925"/>
                  </a:lnTo>
                  <a:close/>
                </a:path>
                <a:path w="884555" h="351154">
                  <a:moveTo>
                    <a:pt x="852487" y="63500"/>
                  </a:moveTo>
                  <a:lnTo>
                    <a:pt x="839787" y="63500"/>
                  </a:lnTo>
                  <a:lnTo>
                    <a:pt x="839787" y="176275"/>
                  </a:lnTo>
                  <a:lnTo>
                    <a:pt x="846137" y="169925"/>
                  </a:lnTo>
                  <a:lnTo>
                    <a:pt x="852487" y="169925"/>
                  </a:lnTo>
                  <a:lnTo>
                    <a:pt x="852487" y="63500"/>
                  </a:lnTo>
                  <a:close/>
                </a:path>
                <a:path w="884555" h="351154">
                  <a:moveTo>
                    <a:pt x="846137" y="0"/>
                  </a:moveTo>
                  <a:lnTo>
                    <a:pt x="808037" y="76200"/>
                  </a:lnTo>
                  <a:lnTo>
                    <a:pt x="839787" y="76200"/>
                  </a:lnTo>
                  <a:lnTo>
                    <a:pt x="839787" y="63500"/>
                  </a:lnTo>
                  <a:lnTo>
                    <a:pt x="877887" y="63500"/>
                  </a:lnTo>
                  <a:lnTo>
                    <a:pt x="846137" y="0"/>
                  </a:lnTo>
                  <a:close/>
                </a:path>
                <a:path w="884555" h="351154">
                  <a:moveTo>
                    <a:pt x="877887" y="63500"/>
                  </a:moveTo>
                  <a:lnTo>
                    <a:pt x="852487" y="63500"/>
                  </a:lnTo>
                  <a:lnTo>
                    <a:pt x="852487" y="76200"/>
                  </a:lnTo>
                  <a:lnTo>
                    <a:pt x="884237" y="76200"/>
                  </a:lnTo>
                  <a:lnTo>
                    <a:pt x="877887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82775" y="5440298"/>
              <a:ext cx="835025" cy="325755"/>
            </a:xfrm>
            <a:custGeom>
              <a:avLst/>
              <a:gdLst/>
              <a:ahLst/>
              <a:cxnLst/>
              <a:rect l="l" t="t" r="r" b="b"/>
              <a:pathLst>
                <a:path w="835025" h="325754">
                  <a:moveTo>
                    <a:pt x="822325" y="163575"/>
                  </a:moveTo>
                  <a:lnTo>
                    <a:pt x="822325" y="325500"/>
                  </a:lnTo>
                  <a:lnTo>
                    <a:pt x="835025" y="325500"/>
                  </a:lnTo>
                  <a:lnTo>
                    <a:pt x="835025" y="169925"/>
                  </a:lnTo>
                  <a:lnTo>
                    <a:pt x="828675" y="169925"/>
                  </a:lnTo>
                  <a:lnTo>
                    <a:pt x="822325" y="163575"/>
                  </a:lnTo>
                  <a:close/>
                </a:path>
                <a:path w="835025" h="3257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69925"/>
                  </a:lnTo>
                  <a:lnTo>
                    <a:pt x="822325" y="169925"/>
                  </a:lnTo>
                  <a:lnTo>
                    <a:pt x="822325" y="163575"/>
                  </a:lnTo>
                  <a:lnTo>
                    <a:pt x="44450" y="163575"/>
                  </a:lnTo>
                  <a:lnTo>
                    <a:pt x="38100" y="157225"/>
                  </a:lnTo>
                  <a:lnTo>
                    <a:pt x="44450" y="157225"/>
                  </a:lnTo>
                  <a:lnTo>
                    <a:pt x="44450" y="63500"/>
                  </a:lnTo>
                  <a:close/>
                </a:path>
                <a:path w="835025" h="325754">
                  <a:moveTo>
                    <a:pt x="835025" y="157225"/>
                  </a:moveTo>
                  <a:lnTo>
                    <a:pt x="44450" y="157225"/>
                  </a:lnTo>
                  <a:lnTo>
                    <a:pt x="44450" y="163575"/>
                  </a:lnTo>
                  <a:lnTo>
                    <a:pt x="822325" y="163575"/>
                  </a:lnTo>
                  <a:lnTo>
                    <a:pt x="828675" y="169925"/>
                  </a:lnTo>
                  <a:lnTo>
                    <a:pt x="835025" y="169925"/>
                  </a:lnTo>
                  <a:lnTo>
                    <a:pt x="835025" y="157225"/>
                  </a:lnTo>
                  <a:close/>
                </a:path>
                <a:path w="835025" h="325754">
                  <a:moveTo>
                    <a:pt x="44450" y="157225"/>
                  </a:moveTo>
                  <a:lnTo>
                    <a:pt x="38100" y="157225"/>
                  </a:lnTo>
                  <a:lnTo>
                    <a:pt x="44450" y="163575"/>
                  </a:lnTo>
                  <a:lnTo>
                    <a:pt x="44450" y="157225"/>
                  </a:lnTo>
                  <a:close/>
                </a:path>
                <a:path w="835025" h="3257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835025" h="3257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11573" y="5440298"/>
              <a:ext cx="433705" cy="351155"/>
            </a:xfrm>
            <a:custGeom>
              <a:avLst/>
              <a:gdLst/>
              <a:ahLst/>
              <a:cxnLst/>
              <a:rect l="l" t="t" r="r" b="b"/>
              <a:pathLst>
                <a:path w="433704" h="351154">
                  <a:moveTo>
                    <a:pt x="420750" y="176275"/>
                  </a:moveTo>
                  <a:lnTo>
                    <a:pt x="420750" y="350900"/>
                  </a:lnTo>
                  <a:lnTo>
                    <a:pt x="433450" y="350900"/>
                  </a:lnTo>
                  <a:lnTo>
                    <a:pt x="433450" y="182625"/>
                  </a:lnTo>
                  <a:lnTo>
                    <a:pt x="427100" y="182625"/>
                  </a:lnTo>
                  <a:lnTo>
                    <a:pt x="420750" y="176275"/>
                  </a:lnTo>
                  <a:close/>
                </a:path>
                <a:path w="433704" h="3511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2625"/>
                  </a:lnTo>
                  <a:lnTo>
                    <a:pt x="420750" y="182625"/>
                  </a:lnTo>
                  <a:lnTo>
                    <a:pt x="420750" y="176275"/>
                  </a:lnTo>
                  <a:lnTo>
                    <a:pt x="44450" y="176275"/>
                  </a:lnTo>
                  <a:lnTo>
                    <a:pt x="38100" y="169925"/>
                  </a:lnTo>
                  <a:lnTo>
                    <a:pt x="44450" y="169925"/>
                  </a:lnTo>
                  <a:lnTo>
                    <a:pt x="44450" y="63500"/>
                  </a:lnTo>
                  <a:close/>
                </a:path>
                <a:path w="433704" h="351154">
                  <a:moveTo>
                    <a:pt x="433450" y="169925"/>
                  </a:moveTo>
                  <a:lnTo>
                    <a:pt x="44450" y="169925"/>
                  </a:lnTo>
                  <a:lnTo>
                    <a:pt x="44450" y="176275"/>
                  </a:lnTo>
                  <a:lnTo>
                    <a:pt x="420750" y="176275"/>
                  </a:lnTo>
                  <a:lnTo>
                    <a:pt x="427100" y="182625"/>
                  </a:lnTo>
                  <a:lnTo>
                    <a:pt x="433450" y="182625"/>
                  </a:lnTo>
                  <a:lnTo>
                    <a:pt x="433450" y="169925"/>
                  </a:lnTo>
                  <a:close/>
                </a:path>
                <a:path w="433704" h="351154">
                  <a:moveTo>
                    <a:pt x="44450" y="169925"/>
                  </a:moveTo>
                  <a:lnTo>
                    <a:pt x="38100" y="169925"/>
                  </a:lnTo>
                  <a:lnTo>
                    <a:pt x="44450" y="176275"/>
                  </a:lnTo>
                  <a:lnTo>
                    <a:pt x="44450" y="169925"/>
                  </a:lnTo>
                  <a:close/>
                </a:path>
                <a:path w="433704" h="3511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33704" h="3511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00700" y="3474656"/>
              <a:ext cx="579373" cy="1325943"/>
            </a:xfrm>
            <a:custGeom>
              <a:avLst/>
              <a:gdLst/>
              <a:ahLst/>
              <a:cxnLst/>
              <a:rect l="l" t="t" r="r" b="b"/>
              <a:pathLst>
                <a:path w="624204" h="2378075">
                  <a:moveTo>
                    <a:pt x="611124" y="1188974"/>
                  </a:moveTo>
                  <a:lnTo>
                    <a:pt x="611124" y="2378075"/>
                  </a:lnTo>
                  <a:lnTo>
                    <a:pt x="623824" y="2378075"/>
                  </a:lnTo>
                  <a:lnTo>
                    <a:pt x="623824" y="1195324"/>
                  </a:lnTo>
                  <a:lnTo>
                    <a:pt x="617474" y="1195324"/>
                  </a:lnTo>
                  <a:lnTo>
                    <a:pt x="611124" y="1188974"/>
                  </a:lnTo>
                  <a:close/>
                </a:path>
                <a:path w="624204" h="237807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195324"/>
                  </a:lnTo>
                  <a:lnTo>
                    <a:pt x="611124" y="1195324"/>
                  </a:lnTo>
                  <a:lnTo>
                    <a:pt x="611124" y="1188974"/>
                  </a:lnTo>
                  <a:lnTo>
                    <a:pt x="44450" y="1188974"/>
                  </a:lnTo>
                  <a:lnTo>
                    <a:pt x="38100" y="1182624"/>
                  </a:lnTo>
                  <a:lnTo>
                    <a:pt x="44450" y="1182624"/>
                  </a:lnTo>
                  <a:lnTo>
                    <a:pt x="44450" y="63500"/>
                  </a:lnTo>
                  <a:close/>
                </a:path>
                <a:path w="624204" h="2378075">
                  <a:moveTo>
                    <a:pt x="623824" y="1182624"/>
                  </a:moveTo>
                  <a:lnTo>
                    <a:pt x="44450" y="1182624"/>
                  </a:lnTo>
                  <a:lnTo>
                    <a:pt x="44450" y="1188974"/>
                  </a:lnTo>
                  <a:lnTo>
                    <a:pt x="611124" y="1188974"/>
                  </a:lnTo>
                  <a:lnTo>
                    <a:pt x="617474" y="1195324"/>
                  </a:lnTo>
                  <a:lnTo>
                    <a:pt x="623824" y="1195324"/>
                  </a:lnTo>
                  <a:lnTo>
                    <a:pt x="623824" y="1182624"/>
                  </a:lnTo>
                  <a:close/>
                </a:path>
                <a:path w="624204" h="2378075">
                  <a:moveTo>
                    <a:pt x="44450" y="1182624"/>
                  </a:moveTo>
                  <a:lnTo>
                    <a:pt x="38100" y="1182624"/>
                  </a:lnTo>
                  <a:lnTo>
                    <a:pt x="44450" y="1188974"/>
                  </a:lnTo>
                  <a:lnTo>
                    <a:pt x="44450" y="1182624"/>
                  </a:lnTo>
                  <a:close/>
                </a:path>
                <a:path w="624204" h="237807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624204" h="237807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 flipH="1">
              <a:off x="8037827" y="3382898"/>
              <a:ext cx="241810" cy="1341756"/>
            </a:xfrm>
            <a:custGeom>
              <a:avLst/>
              <a:gdLst/>
              <a:ahLst/>
              <a:cxnLst/>
              <a:rect l="l" t="t" r="r" b="b"/>
              <a:pathLst>
                <a:path w="154304" h="2484754">
                  <a:moveTo>
                    <a:pt x="141224" y="1243076"/>
                  </a:moveTo>
                  <a:lnTo>
                    <a:pt x="141224" y="2484501"/>
                  </a:lnTo>
                  <a:lnTo>
                    <a:pt x="153924" y="2484501"/>
                  </a:lnTo>
                  <a:lnTo>
                    <a:pt x="153924" y="1249426"/>
                  </a:lnTo>
                  <a:lnTo>
                    <a:pt x="147574" y="1249426"/>
                  </a:lnTo>
                  <a:lnTo>
                    <a:pt x="141224" y="1243076"/>
                  </a:lnTo>
                  <a:close/>
                </a:path>
                <a:path w="154304" h="24847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249426"/>
                  </a:lnTo>
                  <a:lnTo>
                    <a:pt x="141224" y="1249426"/>
                  </a:lnTo>
                  <a:lnTo>
                    <a:pt x="141224" y="1243076"/>
                  </a:lnTo>
                  <a:lnTo>
                    <a:pt x="44450" y="1243076"/>
                  </a:lnTo>
                  <a:lnTo>
                    <a:pt x="38100" y="1236726"/>
                  </a:lnTo>
                  <a:lnTo>
                    <a:pt x="44450" y="1236726"/>
                  </a:lnTo>
                  <a:lnTo>
                    <a:pt x="44450" y="63500"/>
                  </a:lnTo>
                  <a:close/>
                </a:path>
                <a:path w="154304" h="2484754">
                  <a:moveTo>
                    <a:pt x="153924" y="1236726"/>
                  </a:moveTo>
                  <a:lnTo>
                    <a:pt x="44450" y="1236726"/>
                  </a:lnTo>
                  <a:lnTo>
                    <a:pt x="44450" y="1243076"/>
                  </a:lnTo>
                  <a:lnTo>
                    <a:pt x="141224" y="1243076"/>
                  </a:lnTo>
                  <a:lnTo>
                    <a:pt x="147574" y="1249426"/>
                  </a:lnTo>
                  <a:lnTo>
                    <a:pt x="153924" y="1249426"/>
                  </a:lnTo>
                  <a:lnTo>
                    <a:pt x="153924" y="1236726"/>
                  </a:lnTo>
                  <a:close/>
                </a:path>
                <a:path w="154304" h="2484754">
                  <a:moveTo>
                    <a:pt x="44450" y="1236726"/>
                  </a:moveTo>
                  <a:lnTo>
                    <a:pt x="38100" y="1236726"/>
                  </a:lnTo>
                  <a:lnTo>
                    <a:pt x="44450" y="1243076"/>
                  </a:lnTo>
                  <a:lnTo>
                    <a:pt x="44450" y="1236726"/>
                  </a:lnTo>
                  <a:close/>
                </a:path>
                <a:path w="154304" h="24847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54304" h="24847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11525" y="4449698"/>
              <a:ext cx="944880" cy="351155"/>
            </a:xfrm>
            <a:custGeom>
              <a:avLst/>
              <a:gdLst/>
              <a:ahLst/>
              <a:cxnLst/>
              <a:rect l="l" t="t" r="r" b="b"/>
              <a:pathLst>
                <a:path w="944879" h="351154">
                  <a:moveTo>
                    <a:pt x="931799" y="176275"/>
                  </a:moveTo>
                  <a:lnTo>
                    <a:pt x="931799" y="350900"/>
                  </a:lnTo>
                  <a:lnTo>
                    <a:pt x="944499" y="350900"/>
                  </a:lnTo>
                  <a:lnTo>
                    <a:pt x="944499" y="182625"/>
                  </a:lnTo>
                  <a:lnTo>
                    <a:pt x="938149" y="182625"/>
                  </a:lnTo>
                  <a:lnTo>
                    <a:pt x="931799" y="176275"/>
                  </a:lnTo>
                  <a:close/>
                </a:path>
                <a:path w="944879" h="3511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2625"/>
                  </a:lnTo>
                  <a:lnTo>
                    <a:pt x="931799" y="182625"/>
                  </a:lnTo>
                  <a:lnTo>
                    <a:pt x="931799" y="176275"/>
                  </a:lnTo>
                  <a:lnTo>
                    <a:pt x="44450" y="176275"/>
                  </a:lnTo>
                  <a:lnTo>
                    <a:pt x="38100" y="169925"/>
                  </a:lnTo>
                  <a:lnTo>
                    <a:pt x="44450" y="169925"/>
                  </a:lnTo>
                  <a:lnTo>
                    <a:pt x="44450" y="63500"/>
                  </a:lnTo>
                  <a:close/>
                </a:path>
                <a:path w="944879" h="351154">
                  <a:moveTo>
                    <a:pt x="944499" y="169925"/>
                  </a:moveTo>
                  <a:lnTo>
                    <a:pt x="44450" y="169925"/>
                  </a:lnTo>
                  <a:lnTo>
                    <a:pt x="44450" y="176275"/>
                  </a:lnTo>
                  <a:lnTo>
                    <a:pt x="931799" y="176275"/>
                  </a:lnTo>
                  <a:lnTo>
                    <a:pt x="938149" y="182625"/>
                  </a:lnTo>
                  <a:lnTo>
                    <a:pt x="944499" y="182625"/>
                  </a:lnTo>
                  <a:lnTo>
                    <a:pt x="944499" y="169925"/>
                  </a:lnTo>
                  <a:close/>
                </a:path>
                <a:path w="944879" h="351154">
                  <a:moveTo>
                    <a:pt x="44450" y="169925"/>
                  </a:moveTo>
                  <a:lnTo>
                    <a:pt x="38100" y="169925"/>
                  </a:lnTo>
                  <a:lnTo>
                    <a:pt x="44450" y="176275"/>
                  </a:lnTo>
                  <a:lnTo>
                    <a:pt x="44450" y="169925"/>
                  </a:lnTo>
                  <a:close/>
                </a:path>
                <a:path w="944879" h="3511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44879" h="3511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14525" y="4449698"/>
              <a:ext cx="1473200" cy="351155"/>
            </a:xfrm>
            <a:custGeom>
              <a:avLst/>
              <a:gdLst/>
              <a:ahLst/>
              <a:cxnLst/>
              <a:rect l="l" t="t" r="r" b="b"/>
              <a:pathLst>
                <a:path w="1473200" h="351154">
                  <a:moveTo>
                    <a:pt x="1428750" y="169925"/>
                  </a:moveTo>
                  <a:lnTo>
                    <a:pt x="0" y="169925"/>
                  </a:lnTo>
                  <a:lnTo>
                    <a:pt x="0" y="350900"/>
                  </a:lnTo>
                  <a:lnTo>
                    <a:pt x="12700" y="350900"/>
                  </a:lnTo>
                  <a:lnTo>
                    <a:pt x="12700" y="182625"/>
                  </a:lnTo>
                  <a:lnTo>
                    <a:pt x="6350" y="182625"/>
                  </a:lnTo>
                  <a:lnTo>
                    <a:pt x="12700" y="176275"/>
                  </a:lnTo>
                  <a:lnTo>
                    <a:pt x="1428750" y="176275"/>
                  </a:lnTo>
                  <a:lnTo>
                    <a:pt x="1428750" y="169925"/>
                  </a:lnTo>
                  <a:close/>
                </a:path>
                <a:path w="1473200" h="351154">
                  <a:moveTo>
                    <a:pt x="12700" y="176275"/>
                  </a:moveTo>
                  <a:lnTo>
                    <a:pt x="6350" y="182625"/>
                  </a:lnTo>
                  <a:lnTo>
                    <a:pt x="12700" y="182625"/>
                  </a:lnTo>
                  <a:lnTo>
                    <a:pt x="12700" y="176275"/>
                  </a:lnTo>
                  <a:close/>
                </a:path>
                <a:path w="1473200" h="351154">
                  <a:moveTo>
                    <a:pt x="1441450" y="169925"/>
                  </a:moveTo>
                  <a:lnTo>
                    <a:pt x="1435100" y="169925"/>
                  </a:lnTo>
                  <a:lnTo>
                    <a:pt x="1428750" y="176275"/>
                  </a:lnTo>
                  <a:lnTo>
                    <a:pt x="12700" y="176275"/>
                  </a:lnTo>
                  <a:lnTo>
                    <a:pt x="12700" y="182625"/>
                  </a:lnTo>
                  <a:lnTo>
                    <a:pt x="1441450" y="182625"/>
                  </a:lnTo>
                  <a:lnTo>
                    <a:pt x="1441450" y="169925"/>
                  </a:lnTo>
                  <a:close/>
                </a:path>
                <a:path w="1473200" h="351154">
                  <a:moveTo>
                    <a:pt x="1441450" y="63500"/>
                  </a:moveTo>
                  <a:lnTo>
                    <a:pt x="1428750" y="63500"/>
                  </a:lnTo>
                  <a:lnTo>
                    <a:pt x="1428750" y="176275"/>
                  </a:lnTo>
                  <a:lnTo>
                    <a:pt x="1435100" y="169925"/>
                  </a:lnTo>
                  <a:lnTo>
                    <a:pt x="1441450" y="169925"/>
                  </a:lnTo>
                  <a:lnTo>
                    <a:pt x="1441450" y="63500"/>
                  </a:lnTo>
                  <a:close/>
                </a:path>
                <a:path w="1473200" h="351154">
                  <a:moveTo>
                    <a:pt x="1435100" y="0"/>
                  </a:moveTo>
                  <a:lnTo>
                    <a:pt x="1397000" y="76200"/>
                  </a:lnTo>
                  <a:lnTo>
                    <a:pt x="1428750" y="76200"/>
                  </a:lnTo>
                  <a:lnTo>
                    <a:pt x="1428750" y="63500"/>
                  </a:lnTo>
                  <a:lnTo>
                    <a:pt x="1466850" y="63500"/>
                  </a:lnTo>
                  <a:lnTo>
                    <a:pt x="1435100" y="0"/>
                  </a:lnTo>
                  <a:close/>
                </a:path>
                <a:path w="1473200" h="351154">
                  <a:moveTo>
                    <a:pt x="1466850" y="63500"/>
                  </a:moveTo>
                  <a:lnTo>
                    <a:pt x="1441450" y="63500"/>
                  </a:lnTo>
                  <a:lnTo>
                    <a:pt x="1441450" y="76200"/>
                  </a:lnTo>
                  <a:lnTo>
                    <a:pt x="1473200" y="76200"/>
                  </a:lnTo>
                  <a:lnTo>
                    <a:pt x="1466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62150" y="3382898"/>
              <a:ext cx="1894205" cy="427355"/>
            </a:xfrm>
            <a:custGeom>
              <a:avLst/>
              <a:gdLst/>
              <a:ahLst/>
              <a:cxnLst/>
              <a:rect l="l" t="t" r="r" b="b"/>
              <a:pathLst>
                <a:path w="1894204" h="427354">
                  <a:moveTo>
                    <a:pt x="1881124" y="214375"/>
                  </a:moveTo>
                  <a:lnTo>
                    <a:pt x="1881124" y="427100"/>
                  </a:lnTo>
                  <a:lnTo>
                    <a:pt x="1893824" y="427100"/>
                  </a:lnTo>
                  <a:lnTo>
                    <a:pt x="1893824" y="220725"/>
                  </a:lnTo>
                  <a:lnTo>
                    <a:pt x="1887474" y="220725"/>
                  </a:lnTo>
                  <a:lnTo>
                    <a:pt x="1881124" y="214375"/>
                  </a:lnTo>
                  <a:close/>
                </a:path>
                <a:path w="1894204" h="427354">
                  <a:moveTo>
                    <a:pt x="44450" y="63500"/>
                  </a:moveTo>
                  <a:lnTo>
                    <a:pt x="31623" y="63500"/>
                  </a:lnTo>
                  <a:lnTo>
                    <a:pt x="31623" y="220725"/>
                  </a:lnTo>
                  <a:lnTo>
                    <a:pt x="1881124" y="220725"/>
                  </a:lnTo>
                  <a:lnTo>
                    <a:pt x="1881124" y="214375"/>
                  </a:lnTo>
                  <a:lnTo>
                    <a:pt x="44450" y="214375"/>
                  </a:lnTo>
                  <a:lnTo>
                    <a:pt x="38100" y="208025"/>
                  </a:lnTo>
                  <a:lnTo>
                    <a:pt x="44450" y="208025"/>
                  </a:lnTo>
                  <a:lnTo>
                    <a:pt x="44450" y="63500"/>
                  </a:lnTo>
                  <a:close/>
                </a:path>
                <a:path w="1894204" h="427354">
                  <a:moveTo>
                    <a:pt x="1893824" y="208025"/>
                  </a:moveTo>
                  <a:lnTo>
                    <a:pt x="44450" y="208025"/>
                  </a:lnTo>
                  <a:lnTo>
                    <a:pt x="44450" y="214375"/>
                  </a:lnTo>
                  <a:lnTo>
                    <a:pt x="1881124" y="214375"/>
                  </a:lnTo>
                  <a:lnTo>
                    <a:pt x="1887474" y="220725"/>
                  </a:lnTo>
                  <a:lnTo>
                    <a:pt x="1893824" y="220725"/>
                  </a:lnTo>
                  <a:lnTo>
                    <a:pt x="1893824" y="208025"/>
                  </a:lnTo>
                  <a:close/>
                </a:path>
                <a:path w="1894204" h="427354">
                  <a:moveTo>
                    <a:pt x="44450" y="208025"/>
                  </a:moveTo>
                  <a:lnTo>
                    <a:pt x="38100" y="208025"/>
                  </a:lnTo>
                  <a:lnTo>
                    <a:pt x="44450" y="214375"/>
                  </a:lnTo>
                  <a:lnTo>
                    <a:pt x="44450" y="208025"/>
                  </a:lnTo>
                  <a:close/>
                </a:path>
                <a:path w="1894204" h="427354">
                  <a:moveTo>
                    <a:pt x="38100" y="0"/>
                  </a:moveTo>
                  <a:lnTo>
                    <a:pt x="0" y="76200"/>
                  </a:lnTo>
                  <a:lnTo>
                    <a:pt x="31623" y="76200"/>
                  </a:lnTo>
                  <a:lnTo>
                    <a:pt x="3162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894204" h="4273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 flipH="1">
              <a:off x="3356352" y="3347276"/>
              <a:ext cx="675896" cy="462723"/>
            </a:xfrm>
            <a:custGeom>
              <a:avLst/>
              <a:gdLst/>
              <a:ahLst/>
              <a:cxnLst/>
              <a:rect l="l" t="t" r="r" b="b"/>
              <a:pathLst>
                <a:path w="360679" h="1600200">
                  <a:moveTo>
                    <a:pt x="347725" y="800100"/>
                  </a:moveTo>
                  <a:lnTo>
                    <a:pt x="347725" y="1600200"/>
                  </a:lnTo>
                  <a:lnTo>
                    <a:pt x="360425" y="1600200"/>
                  </a:lnTo>
                  <a:lnTo>
                    <a:pt x="360425" y="806450"/>
                  </a:lnTo>
                  <a:lnTo>
                    <a:pt x="354075" y="806450"/>
                  </a:lnTo>
                  <a:lnTo>
                    <a:pt x="347725" y="800100"/>
                  </a:lnTo>
                  <a:close/>
                </a:path>
                <a:path w="360679" h="16002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806450"/>
                  </a:lnTo>
                  <a:lnTo>
                    <a:pt x="347725" y="806450"/>
                  </a:lnTo>
                  <a:lnTo>
                    <a:pt x="347725" y="800100"/>
                  </a:lnTo>
                  <a:lnTo>
                    <a:pt x="44450" y="800100"/>
                  </a:lnTo>
                  <a:lnTo>
                    <a:pt x="38100" y="793750"/>
                  </a:lnTo>
                  <a:lnTo>
                    <a:pt x="44450" y="793750"/>
                  </a:lnTo>
                  <a:lnTo>
                    <a:pt x="44450" y="63500"/>
                  </a:lnTo>
                  <a:close/>
                </a:path>
                <a:path w="360679" h="1600200">
                  <a:moveTo>
                    <a:pt x="360425" y="793750"/>
                  </a:moveTo>
                  <a:lnTo>
                    <a:pt x="44450" y="793750"/>
                  </a:lnTo>
                  <a:lnTo>
                    <a:pt x="44450" y="800100"/>
                  </a:lnTo>
                  <a:lnTo>
                    <a:pt x="347725" y="800100"/>
                  </a:lnTo>
                  <a:lnTo>
                    <a:pt x="354075" y="806450"/>
                  </a:lnTo>
                  <a:lnTo>
                    <a:pt x="360425" y="806450"/>
                  </a:lnTo>
                  <a:lnTo>
                    <a:pt x="360425" y="793750"/>
                  </a:lnTo>
                  <a:close/>
                </a:path>
                <a:path w="360679" h="1600200">
                  <a:moveTo>
                    <a:pt x="44450" y="793750"/>
                  </a:moveTo>
                  <a:lnTo>
                    <a:pt x="38100" y="793750"/>
                  </a:lnTo>
                  <a:lnTo>
                    <a:pt x="44450" y="800100"/>
                  </a:lnTo>
                  <a:lnTo>
                    <a:pt x="44450" y="793750"/>
                  </a:lnTo>
                  <a:close/>
                </a:path>
                <a:path w="360679" h="16002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60679" h="16002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77912" y="2096367"/>
              <a:ext cx="301625" cy="610766"/>
            </a:xfrm>
            <a:custGeom>
              <a:avLst/>
              <a:gdLst/>
              <a:ahLst/>
              <a:cxnLst/>
              <a:rect l="l" t="t" r="r" b="b"/>
              <a:pathLst>
                <a:path w="323850" h="1616075">
                  <a:moveTo>
                    <a:pt x="311086" y="807974"/>
                  </a:moveTo>
                  <a:lnTo>
                    <a:pt x="311086" y="1616075"/>
                  </a:lnTo>
                  <a:lnTo>
                    <a:pt x="323786" y="1616075"/>
                  </a:lnTo>
                  <a:lnTo>
                    <a:pt x="323786" y="814324"/>
                  </a:lnTo>
                  <a:lnTo>
                    <a:pt x="317436" y="814324"/>
                  </a:lnTo>
                  <a:lnTo>
                    <a:pt x="311086" y="807974"/>
                  </a:lnTo>
                  <a:close/>
                </a:path>
                <a:path w="323850" h="161607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814324"/>
                  </a:lnTo>
                  <a:lnTo>
                    <a:pt x="311086" y="814324"/>
                  </a:lnTo>
                  <a:lnTo>
                    <a:pt x="311086" y="807974"/>
                  </a:lnTo>
                  <a:lnTo>
                    <a:pt x="44450" y="807974"/>
                  </a:lnTo>
                  <a:lnTo>
                    <a:pt x="38100" y="801624"/>
                  </a:lnTo>
                  <a:lnTo>
                    <a:pt x="44450" y="801624"/>
                  </a:lnTo>
                  <a:lnTo>
                    <a:pt x="44450" y="63500"/>
                  </a:lnTo>
                  <a:close/>
                </a:path>
                <a:path w="323850" h="1616075">
                  <a:moveTo>
                    <a:pt x="323786" y="801624"/>
                  </a:moveTo>
                  <a:lnTo>
                    <a:pt x="44450" y="801624"/>
                  </a:lnTo>
                  <a:lnTo>
                    <a:pt x="44450" y="807974"/>
                  </a:lnTo>
                  <a:lnTo>
                    <a:pt x="311086" y="807974"/>
                  </a:lnTo>
                  <a:lnTo>
                    <a:pt x="317436" y="814324"/>
                  </a:lnTo>
                  <a:lnTo>
                    <a:pt x="323786" y="814324"/>
                  </a:lnTo>
                  <a:lnTo>
                    <a:pt x="323786" y="801624"/>
                  </a:lnTo>
                  <a:close/>
                </a:path>
                <a:path w="323850" h="1616075">
                  <a:moveTo>
                    <a:pt x="44450" y="801624"/>
                  </a:moveTo>
                  <a:lnTo>
                    <a:pt x="38100" y="801624"/>
                  </a:lnTo>
                  <a:lnTo>
                    <a:pt x="44450" y="807974"/>
                  </a:lnTo>
                  <a:lnTo>
                    <a:pt x="44450" y="801624"/>
                  </a:lnTo>
                  <a:close/>
                </a:path>
                <a:path w="323850" h="161607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23850" h="161607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57142" y="2195894"/>
              <a:ext cx="699263" cy="563436"/>
            </a:xfrm>
            <a:custGeom>
              <a:avLst/>
              <a:gdLst/>
              <a:ahLst/>
              <a:cxnLst/>
              <a:rect l="l" t="t" r="r" b="b"/>
              <a:pathLst>
                <a:path w="662304" h="808355">
                  <a:moveTo>
                    <a:pt x="617601" y="398525"/>
                  </a:moveTo>
                  <a:lnTo>
                    <a:pt x="0" y="398525"/>
                  </a:lnTo>
                  <a:lnTo>
                    <a:pt x="0" y="808101"/>
                  </a:lnTo>
                  <a:lnTo>
                    <a:pt x="12700" y="808101"/>
                  </a:lnTo>
                  <a:lnTo>
                    <a:pt x="12700" y="411225"/>
                  </a:lnTo>
                  <a:lnTo>
                    <a:pt x="6350" y="411225"/>
                  </a:lnTo>
                  <a:lnTo>
                    <a:pt x="12700" y="404875"/>
                  </a:lnTo>
                  <a:lnTo>
                    <a:pt x="617601" y="404875"/>
                  </a:lnTo>
                  <a:lnTo>
                    <a:pt x="617601" y="398525"/>
                  </a:lnTo>
                  <a:close/>
                </a:path>
                <a:path w="662304" h="808355">
                  <a:moveTo>
                    <a:pt x="12700" y="404875"/>
                  </a:moveTo>
                  <a:lnTo>
                    <a:pt x="6350" y="411225"/>
                  </a:lnTo>
                  <a:lnTo>
                    <a:pt x="12700" y="411225"/>
                  </a:lnTo>
                  <a:lnTo>
                    <a:pt x="12700" y="404875"/>
                  </a:lnTo>
                  <a:close/>
                </a:path>
                <a:path w="662304" h="808355">
                  <a:moveTo>
                    <a:pt x="630301" y="398525"/>
                  </a:moveTo>
                  <a:lnTo>
                    <a:pt x="623951" y="398525"/>
                  </a:lnTo>
                  <a:lnTo>
                    <a:pt x="617601" y="404875"/>
                  </a:lnTo>
                  <a:lnTo>
                    <a:pt x="12700" y="404875"/>
                  </a:lnTo>
                  <a:lnTo>
                    <a:pt x="12700" y="411225"/>
                  </a:lnTo>
                  <a:lnTo>
                    <a:pt x="630301" y="411225"/>
                  </a:lnTo>
                  <a:lnTo>
                    <a:pt x="630301" y="398525"/>
                  </a:lnTo>
                  <a:close/>
                </a:path>
                <a:path w="662304" h="808355">
                  <a:moveTo>
                    <a:pt x="630301" y="63500"/>
                  </a:moveTo>
                  <a:lnTo>
                    <a:pt x="617601" y="63500"/>
                  </a:lnTo>
                  <a:lnTo>
                    <a:pt x="617601" y="404875"/>
                  </a:lnTo>
                  <a:lnTo>
                    <a:pt x="623951" y="398525"/>
                  </a:lnTo>
                  <a:lnTo>
                    <a:pt x="630301" y="398525"/>
                  </a:lnTo>
                  <a:lnTo>
                    <a:pt x="630301" y="63500"/>
                  </a:lnTo>
                  <a:close/>
                </a:path>
                <a:path w="662304" h="808355">
                  <a:moveTo>
                    <a:pt x="623951" y="0"/>
                  </a:moveTo>
                  <a:lnTo>
                    <a:pt x="585851" y="76200"/>
                  </a:lnTo>
                  <a:lnTo>
                    <a:pt x="617601" y="76200"/>
                  </a:lnTo>
                  <a:lnTo>
                    <a:pt x="617601" y="63500"/>
                  </a:lnTo>
                  <a:lnTo>
                    <a:pt x="655701" y="63500"/>
                  </a:lnTo>
                  <a:lnTo>
                    <a:pt x="623951" y="0"/>
                  </a:lnTo>
                  <a:close/>
                </a:path>
                <a:path w="662304" h="808355">
                  <a:moveTo>
                    <a:pt x="655701" y="63500"/>
                  </a:moveTo>
                  <a:lnTo>
                    <a:pt x="630301" y="63500"/>
                  </a:lnTo>
                  <a:lnTo>
                    <a:pt x="630301" y="76200"/>
                  </a:lnTo>
                  <a:lnTo>
                    <a:pt x="662051" y="76200"/>
                  </a:lnTo>
                  <a:lnTo>
                    <a:pt x="655701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11573" y="2195893"/>
              <a:ext cx="1587120" cy="334582"/>
            </a:xfrm>
            <a:custGeom>
              <a:avLst/>
              <a:gdLst/>
              <a:ahLst/>
              <a:cxnLst/>
              <a:rect l="l" t="t" r="r" b="b"/>
              <a:pathLst>
                <a:path w="2032000" h="655955">
                  <a:moveTo>
                    <a:pt x="2019300" y="328549"/>
                  </a:moveTo>
                  <a:lnTo>
                    <a:pt x="2019300" y="655574"/>
                  </a:lnTo>
                  <a:lnTo>
                    <a:pt x="2032000" y="655574"/>
                  </a:lnTo>
                  <a:lnTo>
                    <a:pt x="2032000" y="334899"/>
                  </a:lnTo>
                  <a:lnTo>
                    <a:pt x="2025650" y="334899"/>
                  </a:lnTo>
                  <a:lnTo>
                    <a:pt x="2019300" y="328549"/>
                  </a:lnTo>
                  <a:close/>
                </a:path>
                <a:path w="2032000" h="65595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34899"/>
                  </a:lnTo>
                  <a:lnTo>
                    <a:pt x="2019300" y="334899"/>
                  </a:lnTo>
                  <a:lnTo>
                    <a:pt x="2019300" y="328549"/>
                  </a:lnTo>
                  <a:lnTo>
                    <a:pt x="44450" y="328549"/>
                  </a:lnTo>
                  <a:lnTo>
                    <a:pt x="38100" y="322199"/>
                  </a:lnTo>
                  <a:lnTo>
                    <a:pt x="44450" y="322199"/>
                  </a:lnTo>
                  <a:lnTo>
                    <a:pt x="44450" y="63500"/>
                  </a:lnTo>
                  <a:close/>
                </a:path>
                <a:path w="2032000" h="655955">
                  <a:moveTo>
                    <a:pt x="2032000" y="322199"/>
                  </a:moveTo>
                  <a:lnTo>
                    <a:pt x="44450" y="322199"/>
                  </a:lnTo>
                  <a:lnTo>
                    <a:pt x="44450" y="328549"/>
                  </a:lnTo>
                  <a:lnTo>
                    <a:pt x="2019300" y="328549"/>
                  </a:lnTo>
                  <a:lnTo>
                    <a:pt x="2025650" y="334899"/>
                  </a:lnTo>
                  <a:lnTo>
                    <a:pt x="2032000" y="334899"/>
                  </a:lnTo>
                  <a:lnTo>
                    <a:pt x="2032000" y="322199"/>
                  </a:lnTo>
                  <a:close/>
                </a:path>
                <a:path w="2032000" h="655955">
                  <a:moveTo>
                    <a:pt x="44450" y="322199"/>
                  </a:moveTo>
                  <a:lnTo>
                    <a:pt x="38100" y="322199"/>
                  </a:lnTo>
                  <a:lnTo>
                    <a:pt x="44450" y="328549"/>
                  </a:lnTo>
                  <a:lnTo>
                    <a:pt x="44450" y="322199"/>
                  </a:lnTo>
                  <a:close/>
                </a:path>
                <a:path w="2032000" h="65595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032000" h="65595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11573" y="2195893"/>
              <a:ext cx="3869945" cy="350712"/>
            </a:xfrm>
            <a:custGeom>
              <a:avLst/>
              <a:gdLst/>
              <a:ahLst/>
              <a:cxnLst/>
              <a:rect l="l" t="t" r="r" b="b"/>
              <a:pathLst>
                <a:path w="4314825" h="655955">
                  <a:moveTo>
                    <a:pt x="4302125" y="328675"/>
                  </a:moveTo>
                  <a:lnTo>
                    <a:pt x="4302125" y="655701"/>
                  </a:lnTo>
                  <a:lnTo>
                    <a:pt x="4314825" y="655701"/>
                  </a:lnTo>
                  <a:lnTo>
                    <a:pt x="4314825" y="335025"/>
                  </a:lnTo>
                  <a:lnTo>
                    <a:pt x="4308475" y="335025"/>
                  </a:lnTo>
                  <a:lnTo>
                    <a:pt x="4302125" y="328675"/>
                  </a:lnTo>
                  <a:close/>
                </a:path>
                <a:path w="4314825" h="65595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35025"/>
                  </a:lnTo>
                  <a:lnTo>
                    <a:pt x="4302125" y="335025"/>
                  </a:lnTo>
                  <a:lnTo>
                    <a:pt x="4302125" y="328675"/>
                  </a:lnTo>
                  <a:lnTo>
                    <a:pt x="44450" y="328675"/>
                  </a:lnTo>
                  <a:lnTo>
                    <a:pt x="38100" y="322325"/>
                  </a:lnTo>
                  <a:lnTo>
                    <a:pt x="44450" y="322325"/>
                  </a:lnTo>
                  <a:lnTo>
                    <a:pt x="44450" y="63500"/>
                  </a:lnTo>
                  <a:close/>
                </a:path>
                <a:path w="4314825" h="655955">
                  <a:moveTo>
                    <a:pt x="4314825" y="322325"/>
                  </a:moveTo>
                  <a:lnTo>
                    <a:pt x="44450" y="322325"/>
                  </a:lnTo>
                  <a:lnTo>
                    <a:pt x="44450" y="328675"/>
                  </a:lnTo>
                  <a:lnTo>
                    <a:pt x="4302125" y="328675"/>
                  </a:lnTo>
                  <a:lnTo>
                    <a:pt x="4308475" y="335025"/>
                  </a:lnTo>
                  <a:lnTo>
                    <a:pt x="4314825" y="335025"/>
                  </a:lnTo>
                  <a:lnTo>
                    <a:pt x="4314825" y="322325"/>
                  </a:lnTo>
                  <a:close/>
                </a:path>
                <a:path w="4314825" h="655955">
                  <a:moveTo>
                    <a:pt x="44450" y="322325"/>
                  </a:moveTo>
                  <a:lnTo>
                    <a:pt x="38100" y="322325"/>
                  </a:lnTo>
                  <a:lnTo>
                    <a:pt x="44450" y="328675"/>
                  </a:lnTo>
                  <a:lnTo>
                    <a:pt x="44450" y="322325"/>
                  </a:lnTo>
                  <a:close/>
                </a:path>
                <a:path w="4314825" h="65595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314825" h="65595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5715000" y="5791200"/>
              <a:ext cx="2208530" cy="822325"/>
            </a:xfrm>
            <a:prstGeom prst="rect">
              <a:avLst/>
            </a:prstGeom>
            <a:solidFill>
              <a:srgbClr val="FFCCCC"/>
            </a:solidFill>
          </p:spPr>
          <p:txBody>
            <a:bodyPr vert="horz" wrap="square" lIns="0" tIns="45719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59"/>
                </a:spcBef>
              </a:pPr>
              <a:r>
                <a:rPr sz="1200" b="1" dirty="0">
                  <a:latin typeface="Tahoma"/>
                  <a:cs typeface="Tahoma"/>
                </a:rPr>
                <a:t>11</a:t>
              </a:r>
              <a:endParaRPr sz="1200">
                <a:latin typeface="Tahoma"/>
                <a:cs typeface="Tahoma"/>
              </a:endParaRPr>
            </a:p>
            <a:p>
              <a:pPr marL="92710" marR="86360" indent="635" algn="ctr">
                <a:lnSpc>
                  <a:spcPct val="100000"/>
                </a:lnSpc>
              </a:pPr>
              <a:r>
                <a:rPr sz="1200" b="1" spc="-5" dirty="0">
                  <a:latin typeface="Tahoma"/>
                  <a:cs typeface="Tahoma"/>
                </a:rPr>
                <a:t>DESCONOCIMIENTO DE  TECNOLOGÍAS PARA  EMPAQUE</a:t>
              </a:r>
              <a:r>
                <a:rPr sz="1200" b="1" spc="-70" dirty="0">
                  <a:latin typeface="Tahoma"/>
                  <a:cs typeface="Tahoma"/>
                </a:rPr>
                <a:t> </a:t>
              </a:r>
              <a:r>
                <a:rPr sz="1200" b="1" spc="-5" dirty="0">
                  <a:latin typeface="Tahoma"/>
                  <a:cs typeface="Tahoma"/>
                </a:rPr>
                <a:t>SELECCIONADO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180073" y="5440298"/>
              <a:ext cx="646430" cy="351155"/>
            </a:xfrm>
            <a:custGeom>
              <a:avLst/>
              <a:gdLst/>
              <a:ahLst/>
              <a:cxnLst/>
              <a:rect l="l" t="t" r="r" b="b"/>
              <a:pathLst>
                <a:path w="646429" h="351154">
                  <a:moveTo>
                    <a:pt x="633476" y="176275"/>
                  </a:moveTo>
                  <a:lnTo>
                    <a:pt x="633476" y="350900"/>
                  </a:lnTo>
                  <a:lnTo>
                    <a:pt x="646176" y="350900"/>
                  </a:lnTo>
                  <a:lnTo>
                    <a:pt x="646176" y="182625"/>
                  </a:lnTo>
                  <a:lnTo>
                    <a:pt x="639826" y="182625"/>
                  </a:lnTo>
                  <a:lnTo>
                    <a:pt x="633476" y="176275"/>
                  </a:lnTo>
                  <a:close/>
                </a:path>
                <a:path w="646429" h="3511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2625"/>
                  </a:lnTo>
                  <a:lnTo>
                    <a:pt x="633476" y="182625"/>
                  </a:lnTo>
                  <a:lnTo>
                    <a:pt x="633476" y="176275"/>
                  </a:lnTo>
                  <a:lnTo>
                    <a:pt x="44450" y="176275"/>
                  </a:lnTo>
                  <a:lnTo>
                    <a:pt x="38100" y="169925"/>
                  </a:lnTo>
                  <a:lnTo>
                    <a:pt x="44450" y="169925"/>
                  </a:lnTo>
                  <a:lnTo>
                    <a:pt x="44450" y="63500"/>
                  </a:lnTo>
                  <a:close/>
                </a:path>
                <a:path w="646429" h="351154">
                  <a:moveTo>
                    <a:pt x="646176" y="169925"/>
                  </a:moveTo>
                  <a:lnTo>
                    <a:pt x="44450" y="169925"/>
                  </a:lnTo>
                  <a:lnTo>
                    <a:pt x="44450" y="176275"/>
                  </a:lnTo>
                  <a:lnTo>
                    <a:pt x="633476" y="176275"/>
                  </a:lnTo>
                  <a:lnTo>
                    <a:pt x="639826" y="182625"/>
                  </a:lnTo>
                  <a:lnTo>
                    <a:pt x="646176" y="182625"/>
                  </a:lnTo>
                  <a:lnTo>
                    <a:pt x="646176" y="169925"/>
                  </a:lnTo>
                  <a:close/>
                </a:path>
                <a:path w="646429" h="351154">
                  <a:moveTo>
                    <a:pt x="44450" y="169925"/>
                  </a:moveTo>
                  <a:lnTo>
                    <a:pt x="38100" y="169925"/>
                  </a:lnTo>
                  <a:lnTo>
                    <a:pt x="44450" y="176275"/>
                  </a:lnTo>
                  <a:lnTo>
                    <a:pt x="44450" y="169925"/>
                  </a:lnTo>
                  <a:close/>
                </a:path>
                <a:path w="646429" h="3511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646429" h="3511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304800" y="5791200"/>
              <a:ext cx="1552575" cy="852805"/>
            </a:xfrm>
            <a:prstGeom prst="rect">
              <a:avLst/>
            </a:prstGeom>
            <a:solidFill>
              <a:srgbClr val="FFCC00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635" algn="ctr">
                <a:lnSpc>
                  <a:spcPts val="1680"/>
                </a:lnSpc>
                <a:spcBef>
                  <a:spcPts val="360"/>
                </a:spcBef>
              </a:pPr>
              <a:r>
                <a:rPr sz="1400" b="1" spc="-10" dirty="0">
                  <a:latin typeface="Tahoma"/>
                  <a:cs typeface="Tahoma"/>
                </a:rPr>
                <a:t>13</a:t>
              </a:r>
              <a:endParaRPr sz="1400">
                <a:latin typeface="Tahoma"/>
                <a:cs typeface="Tahoma"/>
              </a:endParaRPr>
            </a:p>
            <a:p>
              <a:pPr marL="93345" marR="85725" algn="ctr">
                <a:lnSpc>
                  <a:spcPts val="1440"/>
                </a:lnSpc>
                <a:spcBef>
                  <a:spcPts val="50"/>
                </a:spcBef>
              </a:pPr>
              <a:r>
                <a:rPr sz="1200" b="1" spc="-5" dirty="0">
                  <a:latin typeface="Tahoma"/>
                  <a:cs typeface="Tahoma"/>
                </a:rPr>
                <a:t>M</a:t>
              </a:r>
              <a:r>
                <a:rPr sz="1200" b="1" spc="-10" dirty="0">
                  <a:latin typeface="Tahoma"/>
                  <a:cs typeface="Tahoma"/>
                </a:rPr>
                <a:t>A</a:t>
              </a:r>
              <a:r>
                <a:rPr sz="1200" b="1" dirty="0">
                  <a:latin typeface="Tahoma"/>
                  <a:cs typeface="Tahoma"/>
                </a:rPr>
                <a:t>N</a:t>
              </a:r>
              <a:r>
                <a:rPr sz="1200" b="1" spc="-5" dirty="0">
                  <a:latin typeface="Tahoma"/>
                  <a:cs typeface="Tahoma"/>
                </a:rPr>
                <a:t>T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r>
                <a:rPr sz="1200" b="1" spc="-5" dirty="0">
                  <a:latin typeface="Tahoma"/>
                  <a:cs typeface="Tahoma"/>
                </a:rPr>
                <a:t>IM</a:t>
              </a:r>
              <a:r>
                <a:rPr sz="1200" b="1" spc="-10" dirty="0">
                  <a:latin typeface="Tahoma"/>
                  <a:cs typeface="Tahoma"/>
                </a:rPr>
                <a:t>I</a:t>
              </a:r>
              <a:r>
                <a:rPr sz="1200" b="1" dirty="0">
                  <a:latin typeface="Tahoma"/>
                  <a:cs typeface="Tahoma"/>
                </a:rPr>
                <a:t>EN</a:t>
              </a:r>
              <a:r>
                <a:rPr sz="1200" b="1" spc="-5" dirty="0">
                  <a:latin typeface="Tahoma"/>
                  <a:cs typeface="Tahoma"/>
                </a:rPr>
                <a:t>T</a:t>
              </a:r>
              <a:r>
                <a:rPr sz="1200" b="1" dirty="0">
                  <a:latin typeface="Tahoma"/>
                  <a:cs typeface="Tahoma"/>
                </a:rPr>
                <a:t>O  </a:t>
              </a:r>
              <a:r>
                <a:rPr sz="1200" b="1" spc="-5" dirty="0">
                  <a:latin typeface="Tahoma"/>
                  <a:cs typeface="Tahoma"/>
                </a:rPr>
                <a:t>DEFICIENTE DE  COSECHADORAS</a:t>
              </a:r>
              <a:endParaRPr sz="1200">
                <a:latin typeface="Tahoma"/>
                <a:cs typeface="Tahoma"/>
              </a:endParaRPr>
            </a:p>
          </p:txBody>
        </p:sp>
      </p:grpSp>
      <p:sp>
        <p:nvSpPr>
          <p:cNvPr id="33" name="object 31"/>
          <p:cNvSpPr txBox="1">
            <a:spLocks/>
          </p:cNvSpPr>
          <p:nvPr/>
        </p:nvSpPr>
        <p:spPr>
          <a:xfrm>
            <a:off x="-785308" y="342548"/>
            <a:ext cx="8283320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marR="5080" indent="388620" algn="ctr">
              <a:spcBef>
                <a:spcPts val="100"/>
              </a:spcBef>
            </a:pPr>
            <a:r>
              <a:rPr lang="es-419" sz="2400" b="1" spc="-5" dirty="0">
                <a:solidFill>
                  <a:srgbClr val="FF3300"/>
                </a:solidFill>
                <a:latin typeface="Arial"/>
                <a:cs typeface="Arial"/>
              </a:rPr>
              <a:t>¿Dónde podemos ubicar Nodos</a:t>
            </a:r>
            <a:r>
              <a:rPr lang="es-419" sz="2400" b="1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lang="es-419" sz="2400" b="1" spc="-5" dirty="0">
                <a:solidFill>
                  <a:srgbClr val="FF3300"/>
                </a:solidFill>
                <a:latin typeface="Arial"/>
                <a:cs typeface="Arial"/>
              </a:rPr>
              <a:t>Críticos?</a:t>
            </a:r>
          </a:p>
        </p:txBody>
      </p:sp>
    </p:spTree>
    <p:extLst>
      <p:ext uri="{BB962C8B-B14F-4D97-AF65-F5344CB8AC3E}">
        <p14:creationId xmlns:p14="http://schemas.microsoft.com/office/powerpoint/2010/main" val="4147543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0" y="3809936"/>
            <a:ext cx="2125980" cy="64008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  <a:p>
            <a:pPr marL="92075" marR="8572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LA FRUTA SE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DETERIORA  </a:t>
            </a:r>
            <a:r>
              <a:rPr sz="1200" b="1" dirty="0">
                <a:latin typeface="Tahoma"/>
                <a:cs typeface="Tahoma"/>
              </a:rPr>
              <a:t>EN </a:t>
            </a:r>
            <a:r>
              <a:rPr sz="1200" b="1" spc="-5" dirty="0">
                <a:latin typeface="Tahoma"/>
                <a:cs typeface="Tahoma"/>
              </a:rPr>
              <a:t>LA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RECOLECCIÓN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24327" y="283463"/>
            <a:ext cx="2048256" cy="795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9864" y="317372"/>
            <a:ext cx="1840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ahoma"/>
                <a:cs typeface="Tahoma"/>
              </a:rPr>
              <a:t>2</a:t>
            </a:r>
            <a:endParaRPr sz="1200">
              <a:latin typeface="Tahoma"/>
              <a:cs typeface="Tahoma"/>
            </a:endParaRPr>
          </a:p>
          <a:p>
            <a:pPr marL="12065" marR="508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MENORES INGRESOS  DE LOS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AGRICULTORES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9300" y="1752600"/>
            <a:ext cx="2027555" cy="45720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5</a:t>
            </a:r>
            <a:endParaRPr sz="1200">
              <a:latin typeface="Tahoma"/>
              <a:cs typeface="Tahoma"/>
            </a:endParaRPr>
          </a:p>
          <a:p>
            <a:pPr marL="63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PÉRDIDAS 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COSECHA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3425" y="5765800"/>
            <a:ext cx="1414780" cy="82232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8</a:t>
            </a:r>
            <a:endParaRPr sz="1200">
              <a:latin typeface="Tahoma"/>
              <a:cs typeface="Tahoma"/>
            </a:endParaRPr>
          </a:p>
          <a:p>
            <a:pPr marL="92075" marR="84455" indent="1905" algn="ctr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Tahoma"/>
                <a:cs typeface="Tahoma"/>
              </a:rPr>
              <a:t>MAQUINAS  </a:t>
            </a:r>
            <a:r>
              <a:rPr sz="1200" b="1" dirty="0">
                <a:latin typeface="Tahoma"/>
                <a:cs typeface="Tahoma"/>
              </a:rPr>
              <a:t>RECOLEC</a:t>
            </a:r>
            <a:r>
              <a:rPr sz="1200" b="1" spc="-5" dirty="0">
                <a:latin typeface="Tahoma"/>
                <a:cs typeface="Tahoma"/>
              </a:rPr>
              <a:t>TORAS  OBSOLETAS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825" y="4800663"/>
            <a:ext cx="2322830" cy="64008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7</a:t>
            </a:r>
            <a:endParaRPr sz="1200">
              <a:latin typeface="Tahoma"/>
              <a:cs typeface="Tahoma"/>
            </a:endParaRPr>
          </a:p>
          <a:p>
            <a:pPr marL="92075" marR="8636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MAQUINAS</a:t>
            </a:r>
            <a:r>
              <a:rPr sz="1200" b="1" spc="-4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RECOLECTORAS  DEFICIENTES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5000" y="4800663"/>
            <a:ext cx="2148205" cy="64008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9</a:t>
            </a:r>
            <a:endParaRPr sz="1200">
              <a:latin typeface="Tahoma"/>
              <a:cs typeface="Tahoma"/>
            </a:endParaRPr>
          </a:p>
          <a:p>
            <a:pPr marL="92075" marR="85090" indent="-635"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OBREROS </a:t>
            </a:r>
            <a:r>
              <a:rPr sz="1200" b="1" spc="-10" dirty="0">
                <a:latin typeface="Tahoma"/>
                <a:cs typeface="Tahoma"/>
              </a:rPr>
              <a:t>MALTRATAN  </a:t>
            </a:r>
            <a:r>
              <a:rPr sz="1200" b="1" spc="-5" dirty="0">
                <a:latin typeface="Tahoma"/>
                <a:cs typeface="Tahoma"/>
              </a:rPr>
              <a:t>LA FRUTA AL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RECOGERLA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3800" y="5791200"/>
            <a:ext cx="1808480" cy="82232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5719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59"/>
              </a:spcBef>
            </a:pPr>
            <a:r>
              <a:rPr sz="1200" b="1" dirty="0">
                <a:latin typeface="Tahoma"/>
                <a:cs typeface="Tahoma"/>
              </a:rPr>
              <a:t>3</a:t>
            </a:r>
            <a:endParaRPr sz="1200">
              <a:latin typeface="Tahoma"/>
              <a:cs typeface="Tahoma"/>
            </a:endParaRPr>
          </a:p>
          <a:p>
            <a:pPr marL="92075" marR="132080" indent="48895"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OBREROS </a:t>
            </a:r>
            <a:r>
              <a:rPr sz="1200" b="1" spc="-5" dirty="0">
                <a:latin typeface="Tahoma"/>
                <a:cs typeface="Tahoma"/>
              </a:rPr>
              <a:t>MAL  CAPACITADOS</a:t>
            </a:r>
            <a:r>
              <a:rPr sz="1200" b="1" spc="-8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PARA  RECOLECCIÓN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54850" y="1600263"/>
            <a:ext cx="1732280" cy="64008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10</a:t>
            </a:r>
            <a:endParaRPr sz="12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BAJOS PRECIOS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EN</a:t>
            </a:r>
            <a:endParaRPr sz="12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EPOCA </a:t>
            </a:r>
            <a:r>
              <a:rPr sz="1200" b="1" spc="-5" dirty="0">
                <a:latin typeface="Tahoma"/>
                <a:cs typeface="Tahoma"/>
              </a:rPr>
              <a:t>DE</a:t>
            </a:r>
            <a:r>
              <a:rPr sz="1200" b="1" spc="-6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COSECHA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0200" y="4800663"/>
            <a:ext cx="1616075" cy="64008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14</a:t>
            </a:r>
            <a:endParaRPr sz="1200">
              <a:latin typeface="Tahoma"/>
              <a:cs typeface="Tahoma"/>
            </a:endParaRPr>
          </a:p>
          <a:p>
            <a:pPr marL="93980" marR="8445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FRUTA SE</a:t>
            </a:r>
            <a:r>
              <a:rPr sz="1200" b="1" spc="-6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EMPACA  SIN</a:t>
            </a:r>
            <a:r>
              <a:rPr sz="1200" b="1" spc="-3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SELECCIÓN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64451" y="4724400"/>
            <a:ext cx="1732280" cy="82232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4</a:t>
            </a:r>
            <a:endParaRPr sz="1200">
              <a:latin typeface="Tahoma"/>
              <a:cs typeface="Tahoma"/>
            </a:endParaRPr>
          </a:p>
          <a:p>
            <a:pPr marL="307340" marR="298450" indent="-4445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ABUNDANCIA  DE OFERTA</a:t>
            </a:r>
            <a:r>
              <a:rPr sz="1200" b="1" spc="-80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EN</a:t>
            </a:r>
            <a:endParaRPr sz="12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EPOCA </a:t>
            </a:r>
            <a:r>
              <a:rPr sz="1200" b="1" spc="-5" dirty="0">
                <a:latin typeface="Tahoma"/>
                <a:cs typeface="Tahoma"/>
              </a:rPr>
              <a:t>DE</a:t>
            </a:r>
            <a:r>
              <a:rPr sz="1200" b="1" spc="-6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COSECHA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95800" y="1600200"/>
            <a:ext cx="2286000" cy="82232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12</a:t>
            </a:r>
            <a:endParaRPr sz="1200">
              <a:latin typeface="Tahoma"/>
              <a:cs typeface="Tahoma"/>
            </a:endParaRPr>
          </a:p>
          <a:p>
            <a:pPr marL="92710" marR="13271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COMPRADORES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CASTIGAN  PRECIOS </a:t>
            </a:r>
            <a:r>
              <a:rPr sz="1200" b="1" dirty="0">
                <a:latin typeface="Tahoma"/>
                <a:cs typeface="Tahoma"/>
              </a:rPr>
              <a:t>POR NO  </a:t>
            </a:r>
            <a:r>
              <a:rPr sz="1200" b="1" spc="-5" dirty="0">
                <a:latin typeface="Tahoma"/>
                <a:cs typeface="Tahoma"/>
              </a:rPr>
              <a:t>SELECCIÓN 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EMPAQUE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3400" y="2743263"/>
            <a:ext cx="1933575" cy="64008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444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15</a:t>
            </a:r>
            <a:endParaRPr sz="1200">
              <a:latin typeface="Tahoma"/>
              <a:cs typeface="Tahoma"/>
            </a:endParaRPr>
          </a:p>
          <a:p>
            <a:pPr marL="91440" marR="8636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CONTAMINACIÓN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POR  </a:t>
            </a:r>
            <a:r>
              <a:rPr sz="1200" b="1" spc="-5" dirty="0">
                <a:latin typeface="Tahoma"/>
                <a:cs typeface="Tahoma"/>
              </a:rPr>
              <a:t>FRUTAS</a:t>
            </a:r>
            <a:r>
              <a:rPr sz="1200" b="1" spc="-1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DAÑADAS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7200" y="304800"/>
            <a:ext cx="1525905" cy="822325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1200" b="1" dirty="0">
                <a:latin typeface="Tahoma"/>
                <a:cs typeface="Tahoma"/>
              </a:rPr>
              <a:t>6</a:t>
            </a:r>
            <a:endParaRPr sz="1200">
              <a:latin typeface="Tahoma"/>
              <a:cs typeface="Tahoma"/>
            </a:endParaRPr>
          </a:p>
          <a:p>
            <a:pPr marL="91440" marR="128905" algn="ctr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Tahoma"/>
                <a:cs typeface="Tahoma"/>
              </a:rPr>
              <a:t>P</a:t>
            </a:r>
            <a:r>
              <a:rPr sz="1200" b="1" dirty="0">
                <a:latin typeface="Tahoma"/>
                <a:cs typeface="Tahoma"/>
              </a:rPr>
              <a:t>RO</a:t>
            </a:r>
            <a:r>
              <a:rPr sz="1200" b="1" spc="-10" dirty="0">
                <a:latin typeface="Tahoma"/>
                <a:cs typeface="Tahoma"/>
              </a:rPr>
              <a:t>LI</a:t>
            </a:r>
            <a:r>
              <a:rPr sz="1200" b="1" spc="-5" dirty="0">
                <a:latin typeface="Tahoma"/>
                <a:cs typeface="Tahoma"/>
              </a:rPr>
              <a:t>FE</a:t>
            </a:r>
            <a:r>
              <a:rPr sz="1200" b="1" dirty="0">
                <a:latin typeface="Tahoma"/>
                <a:cs typeface="Tahoma"/>
              </a:rPr>
              <a:t>R</a:t>
            </a:r>
            <a:r>
              <a:rPr sz="1200" b="1" spc="-10" dirty="0">
                <a:latin typeface="Tahoma"/>
                <a:cs typeface="Tahoma"/>
              </a:rPr>
              <a:t>A</a:t>
            </a:r>
            <a:r>
              <a:rPr sz="1200" b="1" spc="-5" dirty="0">
                <a:latin typeface="Tahoma"/>
                <a:cs typeface="Tahoma"/>
              </a:rPr>
              <a:t>CI</a:t>
            </a:r>
            <a:r>
              <a:rPr sz="1200" b="1" spc="-10" dirty="0">
                <a:latin typeface="Tahoma"/>
                <a:cs typeface="Tahoma"/>
              </a:rPr>
              <a:t>Ó</a:t>
            </a:r>
            <a:r>
              <a:rPr sz="1200" b="1" dirty="0">
                <a:latin typeface="Tahoma"/>
                <a:cs typeface="Tahoma"/>
              </a:rPr>
              <a:t>N  </a:t>
            </a:r>
            <a:r>
              <a:rPr sz="1200" b="1" spc="-5" dirty="0">
                <a:latin typeface="Tahoma"/>
                <a:cs typeface="Tahoma"/>
              </a:rPr>
              <a:t>DE PLAGAS </a:t>
            </a:r>
            <a:r>
              <a:rPr sz="1200" b="1" dirty="0">
                <a:latin typeface="Tahoma"/>
                <a:cs typeface="Tahoma"/>
              </a:rPr>
              <a:t>Y  </a:t>
            </a:r>
            <a:r>
              <a:rPr sz="1200" b="1" spc="-5" dirty="0">
                <a:latin typeface="Tahoma"/>
                <a:cs typeface="Tahoma"/>
              </a:rPr>
              <a:t>MALOS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OLORES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74737" y="5440298"/>
            <a:ext cx="884555" cy="300355"/>
          </a:xfrm>
          <a:custGeom>
            <a:avLst/>
            <a:gdLst/>
            <a:ahLst/>
            <a:cxnLst/>
            <a:rect l="l" t="t" r="r" b="b"/>
            <a:pathLst>
              <a:path w="884555" h="300354">
                <a:moveTo>
                  <a:pt x="839787" y="144525"/>
                </a:moveTo>
                <a:lnTo>
                  <a:pt x="0" y="144525"/>
                </a:lnTo>
                <a:lnTo>
                  <a:pt x="0" y="300100"/>
                </a:lnTo>
                <a:lnTo>
                  <a:pt x="12700" y="300100"/>
                </a:lnTo>
                <a:lnTo>
                  <a:pt x="12700" y="157225"/>
                </a:lnTo>
                <a:lnTo>
                  <a:pt x="6350" y="157225"/>
                </a:lnTo>
                <a:lnTo>
                  <a:pt x="12700" y="150875"/>
                </a:lnTo>
                <a:lnTo>
                  <a:pt x="839787" y="150875"/>
                </a:lnTo>
                <a:lnTo>
                  <a:pt x="839787" y="144525"/>
                </a:lnTo>
                <a:close/>
              </a:path>
              <a:path w="884555" h="300354">
                <a:moveTo>
                  <a:pt x="12700" y="150875"/>
                </a:moveTo>
                <a:lnTo>
                  <a:pt x="6350" y="157225"/>
                </a:lnTo>
                <a:lnTo>
                  <a:pt x="12700" y="157225"/>
                </a:lnTo>
                <a:lnTo>
                  <a:pt x="12700" y="150875"/>
                </a:lnTo>
                <a:close/>
              </a:path>
              <a:path w="884555" h="300354">
                <a:moveTo>
                  <a:pt x="852487" y="144525"/>
                </a:moveTo>
                <a:lnTo>
                  <a:pt x="846137" y="144525"/>
                </a:lnTo>
                <a:lnTo>
                  <a:pt x="839787" y="150875"/>
                </a:lnTo>
                <a:lnTo>
                  <a:pt x="12700" y="150875"/>
                </a:lnTo>
                <a:lnTo>
                  <a:pt x="12700" y="157225"/>
                </a:lnTo>
                <a:lnTo>
                  <a:pt x="852487" y="157225"/>
                </a:lnTo>
                <a:lnTo>
                  <a:pt x="852487" y="144525"/>
                </a:lnTo>
                <a:close/>
              </a:path>
              <a:path w="884555" h="300354">
                <a:moveTo>
                  <a:pt x="852487" y="63500"/>
                </a:moveTo>
                <a:lnTo>
                  <a:pt x="839787" y="63500"/>
                </a:lnTo>
                <a:lnTo>
                  <a:pt x="839787" y="150875"/>
                </a:lnTo>
                <a:lnTo>
                  <a:pt x="846137" y="144525"/>
                </a:lnTo>
                <a:lnTo>
                  <a:pt x="852487" y="144525"/>
                </a:lnTo>
                <a:lnTo>
                  <a:pt x="852487" y="63500"/>
                </a:lnTo>
                <a:close/>
              </a:path>
              <a:path w="884555" h="300354">
                <a:moveTo>
                  <a:pt x="846137" y="0"/>
                </a:moveTo>
                <a:lnTo>
                  <a:pt x="808037" y="76200"/>
                </a:lnTo>
                <a:lnTo>
                  <a:pt x="839787" y="76200"/>
                </a:lnTo>
                <a:lnTo>
                  <a:pt x="839787" y="63500"/>
                </a:lnTo>
                <a:lnTo>
                  <a:pt x="877887" y="63500"/>
                </a:lnTo>
                <a:lnTo>
                  <a:pt x="846137" y="0"/>
                </a:lnTo>
                <a:close/>
              </a:path>
              <a:path w="884555" h="300354">
                <a:moveTo>
                  <a:pt x="877887" y="63500"/>
                </a:moveTo>
                <a:lnTo>
                  <a:pt x="852487" y="63500"/>
                </a:lnTo>
                <a:lnTo>
                  <a:pt x="852487" y="76200"/>
                </a:lnTo>
                <a:lnTo>
                  <a:pt x="884237" y="76200"/>
                </a:lnTo>
                <a:lnTo>
                  <a:pt x="877887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82775" y="5440298"/>
            <a:ext cx="835025" cy="325755"/>
          </a:xfrm>
          <a:custGeom>
            <a:avLst/>
            <a:gdLst/>
            <a:ahLst/>
            <a:cxnLst/>
            <a:rect l="l" t="t" r="r" b="b"/>
            <a:pathLst>
              <a:path w="835025" h="325754">
                <a:moveTo>
                  <a:pt x="822325" y="163575"/>
                </a:moveTo>
                <a:lnTo>
                  <a:pt x="822325" y="325500"/>
                </a:lnTo>
                <a:lnTo>
                  <a:pt x="835025" y="325500"/>
                </a:lnTo>
                <a:lnTo>
                  <a:pt x="835025" y="169925"/>
                </a:lnTo>
                <a:lnTo>
                  <a:pt x="828675" y="169925"/>
                </a:lnTo>
                <a:lnTo>
                  <a:pt x="822325" y="163575"/>
                </a:lnTo>
                <a:close/>
              </a:path>
              <a:path w="835025" h="325754">
                <a:moveTo>
                  <a:pt x="44450" y="63500"/>
                </a:moveTo>
                <a:lnTo>
                  <a:pt x="31750" y="63500"/>
                </a:lnTo>
                <a:lnTo>
                  <a:pt x="31750" y="169925"/>
                </a:lnTo>
                <a:lnTo>
                  <a:pt x="822325" y="169925"/>
                </a:lnTo>
                <a:lnTo>
                  <a:pt x="822325" y="163575"/>
                </a:lnTo>
                <a:lnTo>
                  <a:pt x="44450" y="163575"/>
                </a:lnTo>
                <a:lnTo>
                  <a:pt x="38100" y="157225"/>
                </a:lnTo>
                <a:lnTo>
                  <a:pt x="44450" y="157225"/>
                </a:lnTo>
                <a:lnTo>
                  <a:pt x="44450" y="63500"/>
                </a:lnTo>
                <a:close/>
              </a:path>
              <a:path w="835025" h="325754">
                <a:moveTo>
                  <a:pt x="835025" y="157225"/>
                </a:moveTo>
                <a:lnTo>
                  <a:pt x="44450" y="157225"/>
                </a:lnTo>
                <a:lnTo>
                  <a:pt x="44450" y="163575"/>
                </a:lnTo>
                <a:lnTo>
                  <a:pt x="822325" y="163575"/>
                </a:lnTo>
                <a:lnTo>
                  <a:pt x="828675" y="169925"/>
                </a:lnTo>
                <a:lnTo>
                  <a:pt x="835025" y="169925"/>
                </a:lnTo>
                <a:lnTo>
                  <a:pt x="835025" y="157225"/>
                </a:lnTo>
                <a:close/>
              </a:path>
              <a:path w="835025" h="325754">
                <a:moveTo>
                  <a:pt x="44450" y="157225"/>
                </a:moveTo>
                <a:lnTo>
                  <a:pt x="38100" y="157225"/>
                </a:lnTo>
                <a:lnTo>
                  <a:pt x="44450" y="163575"/>
                </a:lnTo>
                <a:lnTo>
                  <a:pt x="44450" y="157225"/>
                </a:lnTo>
                <a:close/>
              </a:path>
              <a:path w="835025" h="3257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835025" h="3257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11573" y="5440298"/>
            <a:ext cx="433705" cy="351155"/>
          </a:xfrm>
          <a:custGeom>
            <a:avLst/>
            <a:gdLst/>
            <a:ahLst/>
            <a:cxnLst/>
            <a:rect l="l" t="t" r="r" b="b"/>
            <a:pathLst>
              <a:path w="433704" h="351154">
                <a:moveTo>
                  <a:pt x="420750" y="176275"/>
                </a:moveTo>
                <a:lnTo>
                  <a:pt x="420750" y="350900"/>
                </a:lnTo>
                <a:lnTo>
                  <a:pt x="433450" y="350900"/>
                </a:lnTo>
                <a:lnTo>
                  <a:pt x="433450" y="182625"/>
                </a:lnTo>
                <a:lnTo>
                  <a:pt x="427100" y="182625"/>
                </a:lnTo>
                <a:lnTo>
                  <a:pt x="420750" y="176275"/>
                </a:lnTo>
                <a:close/>
              </a:path>
              <a:path w="433704" h="351154">
                <a:moveTo>
                  <a:pt x="44450" y="63500"/>
                </a:moveTo>
                <a:lnTo>
                  <a:pt x="31750" y="63500"/>
                </a:lnTo>
                <a:lnTo>
                  <a:pt x="31750" y="182625"/>
                </a:lnTo>
                <a:lnTo>
                  <a:pt x="420750" y="182625"/>
                </a:lnTo>
                <a:lnTo>
                  <a:pt x="420750" y="176275"/>
                </a:lnTo>
                <a:lnTo>
                  <a:pt x="44450" y="176275"/>
                </a:lnTo>
                <a:lnTo>
                  <a:pt x="38100" y="169925"/>
                </a:lnTo>
                <a:lnTo>
                  <a:pt x="44450" y="169925"/>
                </a:lnTo>
                <a:lnTo>
                  <a:pt x="44450" y="63500"/>
                </a:lnTo>
                <a:close/>
              </a:path>
              <a:path w="433704" h="351154">
                <a:moveTo>
                  <a:pt x="433450" y="169925"/>
                </a:moveTo>
                <a:lnTo>
                  <a:pt x="44450" y="169925"/>
                </a:lnTo>
                <a:lnTo>
                  <a:pt x="44450" y="176275"/>
                </a:lnTo>
                <a:lnTo>
                  <a:pt x="420750" y="176275"/>
                </a:lnTo>
                <a:lnTo>
                  <a:pt x="427100" y="182625"/>
                </a:lnTo>
                <a:lnTo>
                  <a:pt x="433450" y="182625"/>
                </a:lnTo>
                <a:lnTo>
                  <a:pt x="433450" y="169925"/>
                </a:lnTo>
                <a:close/>
              </a:path>
              <a:path w="433704" h="351154">
                <a:moveTo>
                  <a:pt x="44450" y="169925"/>
                </a:moveTo>
                <a:lnTo>
                  <a:pt x="38100" y="169925"/>
                </a:lnTo>
                <a:lnTo>
                  <a:pt x="44450" y="176275"/>
                </a:lnTo>
                <a:lnTo>
                  <a:pt x="44450" y="169925"/>
                </a:lnTo>
                <a:close/>
              </a:path>
              <a:path w="433704" h="3511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433704" h="3511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00700" y="2422525"/>
            <a:ext cx="624205" cy="2378075"/>
          </a:xfrm>
          <a:custGeom>
            <a:avLst/>
            <a:gdLst/>
            <a:ahLst/>
            <a:cxnLst/>
            <a:rect l="l" t="t" r="r" b="b"/>
            <a:pathLst>
              <a:path w="624204" h="2378075">
                <a:moveTo>
                  <a:pt x="611124" y="1188974"/>
                </a:moveTo>
                <a:lnTo>
                  <a:pt x="611124" y="2378075"/>
                </a:lnTo>
                <a:lnTo>
                  <a:pt x="623824" y="2378075"/>
                </a:lnTo>
                <a:lnTo>
                  <a:pt x="623824" y="1195324"/>
                </a:lnTo>
                <a:lnTo>
                  <a:pt x="617474" y="1195324"/>
                </a:lnTo>
                <a:lnTo>
                  <a:pt x="611124" y="1188974"/>
                </a:lnTo>
                <a:close/>
              </a:path>
              <a:path w="624204" h="2378075">
                <a:moveTo>
                  <a:pt x="44450" y="63500"/>
                </a:moveTo>
                <a:lnTo>
                  <a:pt x="31750" y="63500"/>
                </a:lnTo>
                <a:lnTo>
                  <a:pt x="31750" y="1195324"/>
                </a:lnTo>
                <a:lnTo>
                  <a:pt x="611124" y="1195324"/>
                </a:lnTo>
                <a:lnTo>
                  <a:pt x="611124" y="1188974"/>
                </a:lnTo>
                <a:lnTo>
                  <a:pt x="44450" y="1188974"/>
                </a:lnTo>
                <a:lnTo>
                  <a:pt x="38100" y="1182624"/>
                </a:lnTo>
                <a:lnTo>
                  <a:pt x="44450" y="1182624"/>
                </a:lnTo>
                <a:lnTo>
                  <a:pt x="44450" y="63500"/>
                </a:lnTo>
                <a:close/>
              </a:path>
              <a:path w="624204" h="2378075">
                <a:moveTo>
                  <a:pt x="623824" y="1182624"/>
                </a:moveTo>
                <a:lnTo>
                  <a:pt x="44450" y="1182624"/>
                </a:lnTo>
                <a:lnTo>
                  <a:pt x="44450" y="1188974"/>
                </a:lnTo>
                <a:lnTo>
                  <a:pt x="611124" y="1188974"/>
                </a:lnTo>
                <a:lnTo>
                  <a:pt x="617474" y="1195324"/>
                </a:lnTo>
                <a:lnTo>
                  <a:pt x="623824" y="1195324"/>
                </a:lnTo>
                <a:lnTo>
                  <a:pt x="623824" y="1182624"/>
                </a:lnTo>
                <a:close/>
              </a:path>
              <a:path w="624204" h="2378075">
                <a:moveTo>
                  <a:pt x="44450" y="1182624"/>
                </a:moveTo>
                <a:lnTo>
                  <a:pt x="38100" y="1182624"/>
                </a:lnTo>
                <a:lnTo>
                  <a:pt x="44450" y="1188974"/>
                </a:lnTo>
                <a:lnTo>
                  <a:pt x="44450" y="1182624"/>
                </a:lnTo>
                <a:close/>
              </a:path>
              <a:path w="624204" h="237807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624204" h="237807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83525" y="2239898"/>
            <a:ext cx="154305" cy="2484755"/>
          </a:xfrm>
          <a:custGeom>
            <a:avLst/>
            <a:gdLst/>
            <a:ahLst/>
            <a:cxnLst/>
            <a:rect l="l" t="t" r="r" b="b"/>
            <a:pathLst>
              <a:path w="154304" h="2484754">
                <a:moveTo>
                  <a:pt x="141224" y="1243076"/>
                </a:moveTo>
                <a:lnTo>
                  <a:pt x="141224" y="2484501"/>
                </a:lnTo>
                <a:lnTo>
                  <a:pt x="153924" y="2484501"/>
                </a:lnTo>
                <a:lnTo>
                  <a:pt x="153924" y="1249426"/>
                </a:lnTo>
                <a:lnTo>
                  <a:pt x="147574" y="1249426"/>
                </a:lnTo>
                <a:lnTo>
                  <a:pt x="141224" y="1243076"/>
                </a:lnTo>
                <a:close/>
              </a:path>
              <a:path w="154304" h="2484754">
                <a:moveTo>
                  <a:pt x="44450" y="63500"/>
                </a:moveTo>
                <a:lnTo>
                  <a:pt x="31750" y="63500"/>
                </a:lnTo>
                <a:lnTo>
                  <a:pt x="31750" y="1249426"/>
                </a:lnTo>
                <a:lnTo>
                  <a:pt x="141224" y="1249426"/>
                </a:lnTo>
                <a:lnTo>
                  <a:pt x="141224" y="1243076"/>
                </a:lnTo>
                <a:lnTo>
                  <a:pt x="44450" y="1243076"/>
                </a:lnTo>
                <a:lnTo>
                  <a:pt x="38100" y="1236726"/>
                </a:lnTo>
                <a:lnTo>
                  <a:pt x="44450" y="1236726"/>
                </a:lnTo>
                <a:lnTo>
                  <a:pt x="44450" y="63500"/>
                </a:lnTo>
                <a:close/>
              </a:path>
              <a:path w="154304" h="2484754">
                <a:moveTo>
                  <a:pt x="153924" y="1236726"/>
                </a:moveTo>
                <a:lnTo>
                  <a:pt x="44450" y="1236726"/>
                </a:lnTo>
                <a:lnTo>
                  <a:pt x="44450" y="1243076"/>
                </a:lnTo>
                <a:lnTo>
                  <a:pt x="141224" y="1243076"/>
                </a:lnTo>
                <a:lnTo>
                  <a:pt x="147574" y="1249426"/>
                </a:lnTo>
                <a:lnTo>
                  <a:pt x="153924" y="1249426"/>
                </a:lnTo>
                <a:lnTo>
                  <a:pt x="153924" y="1236726"/>
                </a:lnTo>
                <a:close/>
              </a:path>
              <a:path w="154304" h="2484754">
                <a:moveTo>
                  <a:pt x="44450" y="1236726"/>
                </a:moveTo>
                <a:lnTo>
                  <a:pt x="38100" y="1236726"/>
                </a:lnTo>
                <a:lnTo>
                  <a:pt x="44450" y="1243076"/>
                </a:lnTo>
                <a:lnTo>
                  <a:pt x="44450" y="1236726"/>
                </a:lnTo>
                <a:close/>
              </a:path>
              <a:path w="154304" h="24847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54304" h="24847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11525" y="4449698"/>
            <a:ext cx="944880" cy="351155"/>
          </a:xfrm>
          <a:custGeom>
            <a:avLst/>
            <a:gdLst/>
            <a:ahLst/>
            <a:cxnLst/>
            <a:rect l="l" t="t" r="r" b="b"/>
            <a:pathLst>
              <a:path w="944879" h="351154">
                <a:moveTo>
                  <a:pt x="931799" y="176275"/>
                </a:moveTo>
                <a:lnTo>
                  <a:pt x="931799" y="350900"/>
                </a:lnTo>
                <a:lnTo>
                  <a:pt x="944499" y="350900"/>
                </a:lnTo>
                <a:lnTo>
                  <a:pt x="944499" y="182625"/>
                </a:lnTo>
                <a:lnTo>
                  <a:pt x="938149" y="182625"/>
                </a:lnTo>
                <a:lnTo>
                  <a:pt x="931799" y="176275"/>
                </a:lnTo>
                <a:close/>
              </a:path>
              <a:path w="944879" h="351154">
                <a:moveTo>
                  <a:pt x="44450" y="63500"/>
                </a:moveTo>
                <a:lnTo>
                  <a:pt x="31750" y="63500"/>
                </a:lnTo>
                <a:lnTo>
                  <a:pt x="31750" y="182625"/>
                </a:lnTo>
                <a:lnTo>
                  <a:pt x="931799" y="182625"/>
                </a:lnTo>
                <a:lnTo>
                  <a:pt x="931799" y="176275"/>
                </a:lnTo>
                <a:lnTo>
                  <a:pt x="44450" y="176275"/>
                </a:lnTo>
                <a:lnTo>
                  <a:pt x="38100" y="169925"/>
                </a:lnTo>
                <a:lnTo>
                  <a:pt x="44450" y="169925"/>
                </a:lnTo>
                <a:lnTo>
                  <a:pt x="44450" y="63500"/>
                </a:lnTo>
                <a:close/>
              </a:path>
              <a:path w="944879" h="351154">
                <a:moveTo>
                  <a:pt x="944499" y="169925"/>
                </a:moveTo>
                <a:lnTo>
                  <a:pt x="44450" y="169925"/>
                </a:lnTo>
                <a:lnTo>
                  <a:pt x="44450" y="176275"/>
                </a:lnTo>
                <a:lnTo>
                  <a:pt x="931799" y="176275"/>
                </a:lnTo>
                <a:lnTo>
                  <a:pt x="938149" y="182625"/>
                </a:lnTo>
                <a:lnTo>
                  <a:pt x="944499" y="182625"/>
                </a:lnTo>
                <a:lnTo>
                  <a:pt x="944499" y="169925"/>
                </a:lnTo>
                <a:close/>
              </a:path>
              <a:path w="944879" h="351154">
                <a:moveTo>
                  <a:pt x="44450" y="169925"/>
                </a:moveTo>
                <a:lnTo>
                  <a:pt x="38100" y="169925"/>
                </a:lnTo>
                <a:lnTo>
                  <a:pt x="44450" y="176275"/>
                </a:lnTo>
                <a:lnTo>
                  <a:pt x="44450" y="169925"/>
                </a:lnTo>
                <a:close/>
              </a:path>
              <a:path w="944879" h="3511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944879" h="3511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14525" y="4449698"/>
            <a:ext cx="1473200" cy="351155"/>
          </a:xfrm>
          <a:custGeom>
            <a:avLst/>
            <a:gdLst/>
            <a:ahLst/>
            <a:cxnLst/>
            <a:rect l="l" t="t" r="r" b="b"/>
            <a:pathLst>
              <a:path w="1473200" h="351154">
                <a:moveTo>
                  <a:pt x="1428750" y="169925"/>
                </a:moveTo>
                <a:lnTo>
                  <a:pt x="0" y="169925"/>
                </a:lnTo>
                <a:lnTo>
                  <a:pt x="0" y="350900"/>
                </a:lnTo>
                <a:lnTo>
                  <a:pt x="12700" y="350900"/>
                </a:lnTo>
                <a:lnTo>
                  <a:pt x="12700" y="182625"/>
                </a:lnTo>
                <a:lnTo>
                  <a:pt x="6350" y="182625"/>
                </a:lnTo>
                <a:lnTo>
                  <a:pt x="12700" y="176275"/>
                </a:lnTo>
                <a:lnTo>
                  <a:pt x="1428750" y="176275"/>
                </a:lnTo>
                <a:lnTo>
                  <a:pt x="1428750" y="169925"/>
                </a:lnTo>
                <a:close/>
              </a:path>
              <a:path w="1473200" h="351154">
                <a:moveTo>
                  <a:pt x="12700" y="176275"/>
                </a:moveTo>
                <a:lnTo>
                  <a:pt x="6350" y="182625"/>
                </a:lnTo>
                <a:lnTo>
                  <a:pt x="12700" y="182625"/>
                </a:lnTo>
                <a:lnTo>
                  <a:pt x="12700" y="176275"/>
                </a:lnTo>
                <a:close/>
              </a:path>
              <a:path w="1473200" h="351154">
                <a:moveTo>
                  <a:pt x="1441450" y="169925"/>
                </a:moveTo>
                <a:lnTo>
                  <a:pt x="1435100" y="169925"/>
                </a:lnTo>
                <a:lnTo>
                  <a:pt x="1428750" y="176275"/>
                </a:lnTo>
                <a:lnTo>
                  <a:pt x="12700" y="176275"/>
                </a:lnTo>
                <a:lnTo>
                  <a:pt x="12700" y="182625"/>
                </a:lnTo>
                <a:lnTo>
                  <a:pt x="1441450" y="182625"/>
                </a:lnTo>
                <a:lnTo>
                  <a:pt x="1441450" y="169925"/>
                </a:lnTo>
                <a:close/>
              </a:path>
              <a:path w="1473200" h="351154">
                <a:moveTo>
                  <a:pt x="1441450" y="63500"/>
                </a:moveTo>
                <a:lnTo>
                  <a:pt x="1428750" y="63500"/>
                </a:lnTo>
                <a:lnTo>
                  <a:pt x="1428750" y="176275"/>
                </a:lnTo>
                <a:lnTo>
                  <a:pt x="1435100" y="169925"/>
                </a:lnTo>
                <a:lnTo>
                  <a:pt x="1441450" y="169925"/>
                </a:lnTo>
                <a:lnTo>
                  <a:pt x="1441450" y="63500"/>
                </a:lnTo>
                <a:close/>
              </a:path>
              <a:path w="1473200" h="351154">
                <a:moveTo>
                  <a:pt x="1435100" y="0"/>
                </a:moveTo>
                <a:lnTo>
                  <a:pt x="1397000" y="76200"/>
                </a:lnTo>
                <a:lnTo>
                  <a:pt x="1428750" y="76200"/>
                </a:lnTo>
                <a:lnTo>
                  <a:pt x="1428750" y="63500"/>
                </a:lnTo>
                <a:lnTo>
                  <a:pt x="1466850" y="63500"/>
                </a:lnTo>
                <a:lnTo>
                  <a:pt x="1435100" y="0"/>
                </a:lnTo>
                <a:close/>
              </a:path>
              <a:path w="1473200" h="351154">
                <a:moveTo>
                  <a:pt x="1466850" y="63500"/>
                </a:moveTo>
                <a:lnTo>
                  <a:pt x="1441450" y="63500"/>
                </a:lnTo>
                <a:lnTo>
                  <a:pt x="1441450" y="76200"/>
                </a:lnTo>
                <a:lnTo>
                  <a:pt x="1473200" y="76200"/>
                </a:lnTo>
                <a:lnTo>
                  <a:pt x="1466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62150" y="3382898"/>
            <a:ext cx="1894205" cy="427355"/>
          </a:xfrm>
          <a:custGeom>
            <a:avLst/>
            <a:gdLst/>
            <a:ahLst/>
            <a:cxnLst/>
            <a:rect l="l" t="t" r="r" b="b"/>
            <a:pathLst>
              <a:path w="1894204" h="427354">
                <a:moveTo>
                  <a:pt x="1881124" y="214375"/>
                </a:moveTo>
                <a:lnTo>
                  <a:pt x="1881124" y="427100"/>
                </a:lnTo>
                <a:lnTo>
                  <a:pt x="1893824" y="427100"/>
                </a:lnTo>
                <a:lnTo>
                  <a:pt x="1893824" y="220725"/>
                </a:lnTo>
                <a:lnTo>
                  <a:pt x="1887474" y="220725"/>
                </a:lnTo>
                <a:lnTo>
                  <a:pt x="1881124" y="214375"/>
                </a:lnTo>
                <a:close/>
              </a:path>
              <a:path w="1894204" h="427354">
                <a:moveTo>
                  <a:pt x="44450" y="63500"/>
                </a:moveTo>
                <a:lnTo>
                  <a:pt x="31623" y="63500"/>
                </a:lnTo>
                <a:lnTo>
                  <a:pt x="31623" y="220725"/>
                </a:lnTo>
                <a:lnTo>
                  <a:pt x="1881124" y="220725"/>
                </a:lnTo>
                <a:lnTo>
                  <a:pt x="1881124" y="214375"/>
                </a:lnTo>
                <a:lnTo>
                  <a:pt x="44450" y="214375"/>
                </a:lnTo>
                <a:lnTo>
                  <a:pt x="38100" y="208025"/>
                </a:lnTo>
                <a:lnTo>
                  <a:pt x="44450" y="208025"/>
                </a:lnTo>
                <a:lnTo>
                  <a:pt x="44450" y="63500"/>
                </a:lnTo>
                <a:close/>
              </a:path>
              <a:path w="1894204" h="427354">
                <a:moveTo>
                  <a:pt x="1893824" y="208025"/>
                </a:moveTo>
                <a:lnTo>
                  <a:pt x="44450" y="208025"/>
                </a:lnTo>
                <a:lnTo>
                  <a:pt x="44450" y="214375"/>
                </a:lnTo>
                <a:lnTo>
                  <a:pt x="1881124" y="214375"/>
                </a:lnTo>
                <a:lnTo>
                  <a:pt x="1887474" y="220725"/>
                </a:lnTo>
                <a:lnTo>
                  <a:pt x="1893824" y="220725"/>
                </a:lnTo>
                <a:lnTo>
                  <a:pt x="1893824" y="208025"/>
                </a:lnTo>
                <a:close/>
              </a:path>
              <a:path w="1894204" h="427354">
                <a:moveTo>
                  <a:pt x="44450" y="208025"/>
                </a:moveTo>
                <a:lnTo>
                  <a:pt x="38100" y="208025"/>
                </a:lnTo>
                <a:lnTo>
                  <a:pt x="44450" y="214375"/>
                </a:lnTo>
                <a:lnTo>
                  <a:pt x="44450" y="208025"/>
                </a:lnTo>
                <a:close/>
              </a:path>
              <a:path w="1894204" h="427354">
                <a:moveTo>
                  <a:pt x="38100" y="0"/>
                </a:moveTo>
                <a:lnTo>
                  <a:pt x="0" y="76200"/>
                </a:lnTo>
                <a:lnTo>
                  <a:pt x="31623" y="76200"/>
                </a:lnTo>
                <a:lnTo>
                  <a:pt x="3162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894204" h="4273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95548" y="2209800"/>
            <a:ext cx="360680" cy="1600200"/>
          </a:xfrm>
          <a:custGeom>
            <a:avLst/>
            <a:gdLst/>
            <a:ahLst/>
            <a:cxnLst/>
            <a:rect l="l" t="t" r="r" b="b"/>
            <a:pathLst>
              <a:path w="360679" h="1600200">
                <a:moveTo>
                  <a:pt x="347725" y="800100"/>
                </a:moveTo>
                <a:lnTo>
                  <a:pt x="347725" y="1600200"/>
                </a:lnTo>
                <a:lnTo>
                  <a:pt x="360425" y="1600200"/>
                </a:lnTo>
                <a:lnTo>
                  <a:pt x="360425" y="806450"/>
                </a:lnTo>
                <a:lnTo>
                  <a:pt x="354075" y="806450"/>
                </a:lnTo>
                <a:lnTo>
                  <a:pt x="347725" y="800100"/>
                </a:lnTo>
                <a:close/>
              </a:path>
              <a:path w="360679" h="1600200">
                <a:moveTo>
                  <a:pt x="44450" y="63500"/>
                </a:moveTo>
                <a:lnTo>
                  <a:pt x="31750" y="63500"/>
                </a:lnTo>
                <a:lnTo>
                  <a:pt x="31750" y="806450"/>
                </a:lnTo>
                <a:lnTo>
                  <a:pt x="347725" y="806450"/>
                </a:lnTo>
                <a:lnTo>
                  <a:pt x="347725" y="800100"/>
                </a:lnTo>
                <a:lnTo>
                  <a:pt x="44450" y="800100"/>
                </a:lnTo>
                <a:lnTo>
                  <a:pt x="38100" y="793750"/>
                </a:lnTo>
                <a:lnTo>
                  <a:pt x="44450" y="793750"/>
                </a:lnTo>
                <a:lnTo>
                  <a:pt x="44450" y="63500"/>
                </a:lnTo>
                <a:close/>
              </a:path>
              <a:path w="360679" h="1600200">
                <a:moveTo>
                  <a:pt x="360425" y="793750"/>
                </a:moveTo>
                <a:lnTo>
                  <a:pt x="44450" y="793750"/>
                </a:lnTo>
                <a:lnTo>
                  <a:pt x="44450" y="800100"/>
                </a:lnTo>
                <a:lnTo>
                  <a:pt x="347725" y="800100"/>
                </a:lnTo>
                <a:lnTo>
                  <a:pt x="354075" y="806450"/>
                </a:lnTo>
                <a:lnTo>
                  <a:pt x="360425" y="806450"/>
                </a:lnTo>
                <a:lnTo>
                  <a:pt x="360425" y="793750"/>
                </a:lnTo>
                <a:close/>
              </a:path>
              <a:path w="360679" h="1600200">
                <a:moveTo>
                  <a:pt x="44450" y="793750"/>
                </a:moveTo>
                <a:lnTo>
                  <a:pt x="38100" y="793750"/>
                </a:lnTo>
                <a:lnTo>
                  <a:pt x="44450" y="800100"/>
                </a:lnTo>
                <a:lnTo>
                  <a:pt x="44450" y="793750"/>
                </a:lnTo>
                <a:close/>
              </a:path>
              <a:path w="360679" h="16002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360679" h="16002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82687" y="1127125"/>
            <a:ext cx="323850" cy="1616075"/>
          </a:xfrm>
          <a:custGeom>
            <a:avLst/>
            <a:gdLst/>
            <a:ahLst/>
            <a:cxnLst/>
            <a:rect l="l" t="t" r="r" b="b"/>
            <a:pathLst>
              <a:path w="323850" h="1616075">
                <a:moveTo>
                  <a:pt x="311086" y="807974"/>
                </a:moveTo>
                <a:lnTo>
                  <a:pt x="311086" y="1616075"/>
                </a:lnTo>
                <a:lnTo>
                  <a:pt x="323786" y="1616075"/>
                </a:lnTo>
                <a:lnTo>
                  <a:pt x="323786" y="814324"/>
                </a:lnTo>
                <a:lnTo>
                  <a:pt x="317436" y="814324"/>
                </a:lnTo>
                <a:lnTo>
                  <a:pt x="311086" y="807974"/>
                </a:lnTo>
                <a:close/>
              </a:path>
              <a:path w="323850" h="1616075">
                <a:moveTo>
                  <a:pt x="44450" y="63500"/>
                </a:moveTo>
                <a:lnTo>
                  <a:pt x="31750" y="63500"/>
                </a:lnTo>
                <a:lnTo>
                  <a:pt x="31750" y="814324"/>
                </a:lnTo>
                <a:lnTo>
                  <a:pt x="311086" y="814324"/>
                </a:lnTo>
                <a:lnTo>
                  <a:pt x="311086" y="807974"/>
                </a:lnTo>
                <a:lnTo>
                  <a:pt x="44450" y="807974"/>
                </a:lnTo>
                <a:lnTo>
                  <a:pt x="38100" y="801624"/>
                </a:lnTo>
                <a:lnTo>
                  <a:pt x="44450" y="801624"/>
                </a:lnTo>
                <a:lnTo>
                  <a:pt x="44450" y="63500"/>
                </a:lnTo>
                <a:close/>
              </a:path>
              <a:path w="323850" h="1616075">
                <a:moveTo>
                  <a:pt x="323786" y="801624"/>
                </a:moveTo>
                <a:lnTo>
                  <a:pt x="44450" y="801624"/>
                </a:lnTo>
                <a:lnTo>
                  <a:pt x="44450" y="807974"/>
                </a:lnTo>
                <a:lnTo>
                  <a:pt x="311086" y="807974"/>
                </a:lnTo>
                <a:lnTo>
                  <a:pt x="317436" y="814324"/>
                </a:lnTo>
                <a:lnTo>
                  <a:pt x="323786" y="814324"/>
                </a:lnTo>
                <a:lnTo>
                  <a:pt x="323786" y="801624"/>
                </a:lnTo>
                <a:close/>
              </a:path>
              <a:path w="323850" h="1616075">
                <a:moveTo>
                  <a:pt x="44450" y="801624"/>
                </a:moveTo>
                <a:lnTo>
                  <a:pt x="38100" y="801624"/>
                </a:lnTo>
                <a:lnTo>
                  <a:pt x="44450" y="807974"/>
                </a:lnTo>
                <a:lnTo>
                  <a:pt x="44450" y="801624"/>
                </a:lnTo>
                <a:close/>
              </a:path>
              <a:path w="323850" h="161607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323850" h="161607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19425" y="963549"/>
            <a:ext cx="675005" cy="789305"/>
          </a:xfrm>
          <a:custGeom>
            <a:avLst/>
            <a:gdLst/>
            <a:ahLst/>
            <a:cxnLst/>
            <a:rect l="l" t="t" r="r" b="b"/>
            <a:pathLst>
              <a:path w="675004" h="789305">
                <a:moveTo>
                  <a:pt x="617474" y="381126"/>
                </a:moveTo>
                <a:lnTo>
                  <a:pt x="0" y="381126"/>
                </a:lnTo>
                <a:lnTo>
                  <a:pt x="0" y="789051"/>
                </a:lnTo>
                <a:lnTo>
                  <a:pt x="28575" y="789051"/>
                </a:lnTo>
                <a:lnTo>
                  <a:pt x="28575" y="409701"/>
                </a:lnTo>
                <a:lnTo>
                  <a:pt x="14224" y="409701"/>
                </a:lnTo>
                <a:lnTo>
                  <a:pt x="28575" y="395350"/>
                </a:lnTo>
                <a:lnTo>
                  <a:pt x="617474" y="395350"/>
                </a:lnTo>
                <a:lnTo>
                  <a:pt x="617474" y="381126"/>
                </a:lnTo>
                <a:close/>
              </a:path>
              <a:path w="675004" h="789305">
                <a:moveTo>
                  <a:pt x="28575" y="395350"/>
                </a:moveTo>
                <a:lnTo>
                  <a:pt x="14224" y="409701"/>
                </a:lnTo>
                <a:lnTo>
                  <a:pt x="28575" y="409701"/>
                </a:lnTo>
                <a:lnTo>
                  <a:pt x="28575" y="395350"/>
                </a:lnTo>
                <a:close/>
              </a:path>
              <a:path w="675004" h="789305">
                <a:moveTo>
                  <a:pt x="646049" y="381126"/>
                </a:moveTo>
                <a:lnTo>
                  <a:pt x="631825" y="381126"/>
                </a:lnTo>
                <a:lnTo>
                  <a:pt x="617474" y="395350"/>
                </a:lnTo>
                <a:lnTo>
                  <a:pt x="28575" y="395350"/>
                </a:lnTo>
                <a:lnTo>
                  <a:pt x="28575" y="409701"/>
                </a:lnTo>
                <a:lnTo>
                  <a:pt x="646049" y="409701"/>
                </a:lnTo>
                <a:lnTo>
                  <a:pt x="646049" y="381126"/>
                </a:lnTo>
                <a:close/>
              </a:path>
              <a:path w="675004" h="789305">
                <a:moveTo>
                  <a:pt x="646049" y="71500"/>
                </a:moveTo>
                <a:lnTo>
                  <a:pt x="617474" y="71500"/>
                </a:lnTo>
                <a:lnTo>
                  <a:pt x="617474" y="395350"/>
                </a:lnTo>
                <a:lnTo>
                  <a:pt x="631825" y="381126"/>
                </a:lnTo>
                <a:lnTo>
                  <a:pt x="646049" y="381126"/>
                </a:lnTo>
                <a:lnTo>
                  <a:pt x="646049" y="71500"/>
                </a:lnTo>
                <a:close/>
              </a:path>
              <a:path w="675004" h="789305">
                <a:moveTo>
                  <a:pt x="631825" y="0"/>
                </a:moveTo>
                <a:lnTo>
                  <a:pt x="588899" y="85725"/>
                </a:lnTo>
                <a:lnTo>
                  <a:pt x="617474" y="85725"/>
                </a:lnTo>
                <a:lnTo>
                  <a:pt x="617474" y="71500"/>
                </a:lnTo>
                <a:lnTo>
                  <a:pt x="667522" y="71500"/>
                </a:lnTo>
                <a:lnTo>
                  <a:pt x="631825" y="0"/>
                </a:lnTo>
                <a:close/>
              </a:path>
              <a:path w="675004" h="789305">
                <a:moveTo>
                  <a:pt x="667522" y="71500"/>
                </a:moveTo>
                <a:lnTo>
                  <a:pt x="646049" y="71500"/>
                </a:lnTo>
                <a:lnTo>
                  <a:pt x="646049" y="85725"/>
                </a:lnTo>
                <a:lnTo>
                  <a:pt x="674624" y="85725"/>
                </a:lnTo>
                <a:lnTo>
                  <a:pt x="667522" y="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608323" y="982725"/>
            <a:ext cx="2044700" cy="617855"/>
          </a:xfrm>
          <a:custGeom>
            <a:avLst/>
            <a:gdLst/>
            <a:ahLst/>
            <a:cxnLst/>
            <a:rect l="l" t="t" r="r" b="b"/>
            <a:pathLst>
              <a:path w="2044700" h="617855">
                <a:moveTo>
                  <a:pt x="2016125" y="299974"/>
                </a:moveTo>
                <a:lnTo>
                  <a:pt x="2016125" y="617474"/>
                </a:lnTo>
                <a:lnTo>
                  <a:pt x="2044700" y="617474"/>
                </a:lnTo>
                <a:lnTo>
                  <a:pt x="2044700" y="314325"/>
                </a:lnTo>
                <a:lnTo>
                  <a:pt x="2030476" y="314325"/>
                </a:lnTo>
                <a:lnTo>
                  <a:pt x="2016125" y="299974"/>
                </a:lnTo>
                <a:close/>
              </a:path>
              <a:path w="2044700" h="617855">
                <a:moveTo>
                  <a:pt x="57150" y="71374"/>
                </a:moveTo>
                <a:lnTo>
                  <a:pt x="28575" y="71374"/>
                </a:lnTo>
                <a:lnTo>
                  <a:pt x="28575" y="314325"/>
                </a:lnTo>
                <a:lnTo>
                  <a:pt x="2016125" y="314325"/>
                </a:lnTo>
                <a:lnTo>
                  <a:pt x="2016125" y="299974"/>
                </a:lnTo>
                <a:lnTo>
                  <a:pt x="57150" y="299974"/>
                </a:lnTo>
                <a:lnTo>
                  <a:pt x="42925" y="285750"/>
                </a:lnTo>
                <a:lnTo>
                  <a:pt x="57150" y="285750"/>
                </a:lnTo>
                <a:lnTo>
                  <a:pt x="57150" y="71374"/>
                </a:lnTo>
                <a:close/>
              </a:path>
              <a:path w="2044700" h="617855">
                <a:moveTo>
                  <a:pt x="2044700" y="285750"/>
                </a:moveTo>
                <a:lnTo>
                  <a:pt x="57150" y="285750"/>
                </a:lnTo>
                <a:lnTo>
                  <a:pt x="57150" y="299974"/>
                </a:lnTo>
                <a:lnTo>
                  <a:pt x="2016125" y="299974"/>
                </a:lnTo>
                <a:lnTo>
                  <a:pt x="2030476" y="314325"/>
                </a:lnTo>
                <a:lnTo>
                  <a:pt x="2044700" y="314325"/>
                </a:lnTo>
                <a:lnTo>
                  <a:pt x="2044700" y="285750"/>
                </a:lnTo>
                <a:close/>
              </a:path>
              <a:path w="2044700" h="617855">
                <a:moveTo>
                  <a:pt x="57150" y="285750"/>
                </a:moveTo>
                <a:lnTo>
                  <a:pt x="42925" y="285750"/>
                </a:lnTo>
                <a:lnTo>
                  <a:pt x="57150" y="299974"/>
                </a:lnTo>
                <a:lnTo>
                  <a:pt x="57150" y="285750"/>
                </a:lnTo>
                <a:close/>
              </a:path>
              <a:path w="2044700" h="61785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374"/>
                </a:lnTo>
                <a:lnTo>
                  <a:pt x="78560" y="71374"/>
                </a:lnTo>
                <a:lnTo>
                  <a:pt x="42925" y="0"/>
                </a:lnTo>
                <a:close/>
              </a:path>
              <a:path w="2044700" h="617855">
                <a:moveTo>
                  <a:pt x="78560" y="71374"/>
                </a:moveTo>
                <a:lnTo>
                  <a:pt x="57150" y="71374"/>
                </a:lnTo>
                <a:lnTo>
                  <a:pt x="57150" y="85725"/>
                </a:lnTo>
                <a:lnTo>
                  <a:pt x="85725" y="85725"/>
                </a:lnTo>
                <a:lnTo>
                  <a:pt x="78560" y="713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608323" y="982599"/>
            <a:ext cx="4327525" cy="617855"/>
          </a:xfrm>
          <a:custGeom>
            <a:avLst/>
            <a:gdLst/>
            <a:ahLst/>
            <a:cxnLst/>
            <a:rect l="l" t="t" r="r" b="b"/>
            <a:pathLst>
              <a:path w="4327525" h="617855">
                <a:moveTo>
                  <a:pt x="4298950" y="300100"/>
                </a:moveTo>
                <a:lnTo>
                  <a:pt x="4298950" y="617601"/>
                </a:lnTo>
                <a:lnTo>
                  <a:pt x="4327525" y="617601"/>
                </a:lnTo>
                <a:lnTo>
                  <a:pt x="4327525" y="314451"/>
                </a:lnTo>
                <a:lnTo>
                  <a:pt x="4313301" y="314451"/>
                </a:lnTo>
                <a:lnTo>
                  <a:pt x="4298950" y="300100"/>
                </a:lnTo>
                <a:close/>
              </a:path>
              <a:path w="4327525" h="617855">
                <a:moveTo>
                  <a:pt x="57150" y="71500"/>
                </a:moveTo>
                <a:lnTo>
                  <a:pt x="28575" y="71500"/>
                </a:lnTo>
                <a:lnTo>
                  <a:pt x="28575" y="314451"/>
                </a:lnTo>
                <a:lnTo>
                  <a:pt x="4298950" y="314451"/>
                </a:lnTo>
                <a:lnTo>
                  <a:pt x="4298950" y="300100"/>
                </a:lnTo>
                <a:lnTo>
                  <a:pt x="57150" y="300100"/>
                </a:lnTo>
                <a:lnTo>
                  <a:pt x="42925" y="285876"/>
                </a:lnTo>
                <a:lnTo>
                  <a:pt x="57150" y="285876"/>
                </a:lnTo>
                <a:lnTo>
                  <a:pt x="57150" y="71500"/>
                </a:lnTo>
                <a:close/>
              </a:path>
              <a:path w="4327525" h="617855">
                <a:moveTo>
                  <a:pt x="4327525" y="285876"/>
                </a:moveTo>
                <a:lnTo>
                  <a:pt x="57150" y="285876"/>
                </a:lnTo>
                <a:lnTo>
                  <a:pt x="57150" y="300100"/>
                </a:lnTo>
                <a:lnTo>
                  <a:pt x="4298950" y="300100"/>
                </a:lnTo>
                <a:lnTo>
                  <a:pt x="4313301" y="314451"/>
                </a:lnTo>
                <a:lnTo>
                  <a:pt x="4327525" y="314451"/>
                </a:lnTo>
                <a:lnTo>
                  <a:pt x="4327525" y="285876"/>
                </a:lnTo>
                <a:close/>
              </a:path>
              <a:path w="4327525" h="617855">
                <a:moveTo>
                  <a:pt x="57150" y="285876"/>
                </a:moveTo>
                <a:lnTo>
                  <a:pt x="42925" y="285876"/>
                </a:lnTo>
                <a:lnTo>
                  <a:pt x="57150" y="300100"/>
                </a:lnTo>
                <a:lnTo>
                  <a:pt x="57150" y="285876"/>
                </a:lnTo>
                <a:close/>
              </a:path>
              <a:path w="4327525" h="61785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500"/>
                </a:lnTo>
                <a:lnTo>
                  <a:pt x="78623" y="71500"/>
                </a:lnTo>
                <a:lnTo>
                  <a:pt x="42925" y="0"/>
                </a:lnTo>
                <a:close/>
              </a:path>
              <a:path w="4327525" h="617855">
                <a:moveTo>
                  <a:pt x="78623" y="71500"/>
                </a:moveTo>
                <a:lnTo>
                  <a:pt x="57150" y="71500"/>
                </a:lnTo>
                <a:lnTo>
                  <a:pt x="57150" y="85725"/>
                </a:lnTo>
                <a:lnTo>
                  <a:pt x="85725" y="85725"/>
                </a:lnTo>
                <a:lnTo>
                  <a:pt x="78623" y="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715000" y="5791200"/>
            <a:ext cx="2208530" cy="82232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5719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59"/>
              </a:spcBef>
            </a:pPr>
            <a:r>
              <a:rPr sz="1200" b="1" dirty="0">
                <a:latin typeface="Tahoma"/>
                <a:cs typeface="Tahoma"/>
              </a:rPr>
              <a:t>11</a:t>
            </a:r>
            <a:endParaRPr sz="1200">
              <a:latin typeface="Tahoma"/>
              <a:cs typeface="Tahoma"/>
            </a:endParaRPr>
          </a:p>
          <a:p>
            <a:pPr marL="92710" marR="86360" indent="63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DESCONOCIMIENTO DE  TECNOLOGÍAS PARA  EMPAQUE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SELECCIONADO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180073" y="5440298"/>
            <a:ext cx="646430" cy="351155"/>
          </a:xfrm>
          <a:custGeom>
            <a:avLst/>
            <a:gdLst/>
            <a:ahLst/>
            <a:cxnLst/>
            <a:rect l="l" t="t" r="r" b="b"/>
            <a:pathLst>
              <a:path w="646429" h="351154">
                <a:moveTo>
                  <a:pt x="633476" y="176275"/>
                </a:moveTo>
                <a:lnTo>
                  <a:pt x="633476" y="350900"/>
                </a:lnTo>
                <a:lnTo>
                  <a:pt x="646176" y="350900"/>
                </a:lnTo>
                <a:lnTo>
                  <a:pt x="646176" y="182625"/>
                </a:lnTo>
                <a:lnTo>
                  <a:pt x="639826" y="182625"/>
                </a:lnTo>
                <a:lnTo>
                  <a:pt x="633476" y="176275"/>
                </a:lnTo>
                <a:close/>
              </a:path>
              <a:path w="646429" h="351154">
                <a:moveTo>
                  <a:pt x="44450" y="63500"/>
                </a:moveTo>
                <a:lnTo>
                  <a:pt x="31750" y="63500"/>
                </a:lnTo>
                <a:lnTo>
                  <a:pt x="31750" y="182625"/>
                </a:lnTo>
                <a:lnTo>
                  <a:pt x="633476" y="182625"/>
                </a:lnTo>
                <a:lnTo>
                  <a:pt x="633476" y="176275"/>
                </a:lnTo>
                <a:lnTo>
                  <a:pt x="44450" y="176275"/>
                </a:lnTo>
                <a:lnTo>
                  <a:pt x="38100" y="169925"/>
                </a:lnTo>
                <a:lnTo>
                  <a:pt x="44450" y="169925"/>
                </a:lnTo>
                <a:lnTo>
                  <a:pt x="44450" y="63500"/>
                </a:lnTo>
                <a:close/>
              </a:path>
              <a:path w="646429" h="351154">
                <a:moveTo>
                  <a:pt x="646176" y="169925"/>
                </a:moveTo>
                <a:lnTo>
                  <a:pt x="44450" y="169925"/>
                </a:lnTo>
                <a:lnTo>
                  <a:pt x="44450" y="176275"/>
                </a:lnTo>
                <a:lnTo>
                  <a:pt x="633476" y="176275"/>
                </a:lnTo>
                <a:lnTo>
                  <a:pt x="639826" y="182625"/>
                </a:lnTo>
                <a:lnTo>
                  <a:pt x="646176" y="182625"/>
                </a:lnTo>
                <a:lnTo>
                  <a:pt x="646176" y="169925"/>
                </a:lnTo>
                <a:close/>
              </a:path>
              <a:path w="646429" h="351154">
                <a:moveTo>
                  <a:pt x="44450" y="169925"/>
                </a:moveTo>
                <a:lnTo>
                  <a:pt x="38100" y="169925"/>
                </a:lnTo>
                <a:lnTo>
                  <a:pt x="44450" y="176275"/>
                </a:lnTo>
                <a:lnTo>
                  <a:pt x="44450" y="169925"/>
                </a:lnTo>
                <a:close/>
              </a:path>
              <a:path w="646429" h="3511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646429" h="3511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76800" y="228600"/>
            <a:ext cx="2209800" cy="914400"/>
          </a:xfrm>
          <a:custGeom>
            <a:avLst/>
            <a:gdLst/>
            <a:ahLst/>
            <a:cxnLst/>
            <a:rect l="l" t="t" r="r" b="b"/>
            <a:pathLst>
              <a:path w="2209800" h="914400">
                <a:moveTo>
                  <a:pt x="2209800" y="571500"/>
                </a:moveTo>
                <a:lnTo>
                  <a:pt x="736600" y="571500"/>
                </a:lnTo>
                <a:lnTo>
                  <a:pt x="736600" y="914400"/>
                </a:lnTo>
                <a:lnTo>
                  <a:pt x="2209800" y="914400"/>
                </a:lnTo>
                <a:lnTo>
                  <a:pt x="2209800" y="571500"/>
                </a:lnTo>
                <a:close/>
              </a:path>
              <a:path w="2209800" h="914400">
                <a:moveTo>
                  <a:pt x="368300" y="228600"/>
                </a:moveTo>
                <a:lnTo>
                  <a:pt x="0" y="457200"/>
                </a:lnTo>
                <a:lnTo>
                  <a:pt x="368300" y="685800"/>
                </a:lnTo>
                <a:lnTo>
                  <a:pt x="368300" y="571500"/>
                </a:lnTo>
                <a:lnTo>
                  <a:pt x="2209800" y="571500"/>
                </a:lnTo>
                <a:lnTo>
                  <a:pt x="2209800" y="342900"/>
                </a:lnTo>
                <a:lnTo>
                  <a:pt x="368300" y="342900"/>
                </a:lnTo>
                <a:lnTo>
                  <a:pt x="368300" y="228600"/>
                </a:lnTo>
                <a:close/>
              </a:path>
              <a:path w="2209800" h="914400">
                <a:moveTo>
                  <a:pt x="2209800" y="0"/>
                </a:moveTo>
                <a:lnTo>
                  <a:pt x="736600" y="0"/>
                </a:lnTo>
                <a:lnTo>
                  <a:pt x="736600" y="342900"/>
                </a:lnTo>
                <a:lnTo>
                  <a:pt x="2209800" y="342900"/>
                </a:lnTo>
                <a:lnTo>
                  <a:pt x="22098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876800" y="228600"/>
            <a:ext cx="2209800" cy="914400"/>
          </a:xfrm>
          <a:custGeom>
            <a:avLst/>
            <a:gdLst/>
            <a:ahLst/>
            <a:cxnLst/>
            <a:rect l="l" t="t" r="r" b="b"/>
            <a:pathLst>
              <a:path w="2209800" h="914400">
                <a:moveTo>
                  <a:pt x="0" y="457200"/>
                </a:moveTo>
                <a:lnTo>
                  <a:pt x="368300" y="228600"/>
                </a:lnTo>
                <a:lnTo>
                  <a:pt x="368300" y="342900"/>
                </a:lnTo>
                <a:lnTo>
                  <a:pt x="736600" y="342900"/>
                </a:lnTo>
                <a:lnTo>
                  <a:pt x="736600" y="0"/>
                </a:lnTo>
                <a:lnTo>
                  <a:pt x="2209800" y="0"/>
                </a:lnTo>
                <a:lnTo>
                  <a:pt x="2209800" y="914400"/>
                </a:lnTo>
                <a:lnTo>
                  <a:pt x="736600" y="914400"/>
                </a:lnTo>
                <a:lnTo>
                  <a:pt x="736600" y="571500"/>
                </a:lnTo>
                <a:lnTo>
                  <a:pt x="368300" y="571500"/>
                </a:lnTo>
                <a:lnTo>
                  <a:pt x="368300" y="68580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704459" y="346963"/>
            <a:ext cx="134048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165" marR="5080" indent="-1651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NODO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CRÍTICO  DE </a:t>
            </a:r>
            <a:r>
              <a:rPr sz="1400" b="1" spc="-30" dirty="0">
                <a:latin typeface="Arial"/>
                <a:cs typeface="Arial"/>
              </a:rPr>
              <a:t>MAYOR  </a:t>
            </a:r>
            <a:r>
              <a:rPr sz="1400" b="1" spc="-15" dirty="0">
                <a:latin typeface="Arial"/>
                <a:cs typeface="Arial"/>
              </a:rPr>
              <a:t>ALCANCE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4800" y="5740400"/>
            <a:ext cx="1552575" cy="82232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45719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9"/>
              </a:spcBef>
            </a:pPr>
            <a:r>
              <a:rPr sz="1200" b="1" dirty="0">
                <a:latin typeface="Tahoma"/>
                <a:cs typeface="Tahoma"/>
              </a:rPr>
              <a:t>13</a:t>
            </a:r>
            <a:endParaRPr sz="1200">
              <a:latin typeface="Tahoma"/>
              <a:cs typeface="Tahoma"/>
            </a:endParaRPr>
          </a:p>
          <a:p>
            <a:pPr marL="93345" marR="8572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M</a:t>
            </a:r>
            <a:r>
              <a:rPr sz="1200" b="1" spc="-10" dirty="0">
                <a:latin typeface="Tahoma"/>
                <a:cs typeface="Tahoma"/>
              </a:rPr>
              <a:t>A</a:t>
            </a:r>
            <a:r>
              <a:rPr sz="1200" b="1" dirty="0">
                <a:latin typeface="Tahoma"/>
                <a:cs typeface="Tahoma"/>
              </a:rPr>
              <a:t>N</a:t>
            </a:r>
            <a:r>
              <a:rPr sz="1200" b="1" spc="-5" dirty="0">
                <a:latin typeface="Tahoma"/>
                <a:cs typeface="Tahoma"/>
              </a:rPr>
              <a:t>T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5" dirty="0">
                <a:latin typeface="Tahoma"/>
                <a:cs typeface="Tahoma"/>
              </a:rPr>
              <a:t>IM</a:t>
            </a:r>
            <a:r>
              <a:rPr sz="1200" b="1" spc="-10" dirty="0">
                <a:latin typeface="Tahoma"/>
                <a:cs typeface="Tahoma"/>
              </a:rPr>
              <a:t>I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5" dirty="0">
                <a:latin typeface="Tahoma"/>
                <a:cs typeface="Tahoma"/>
              </a:rPr>
              <a:t>T</a:t>
            </a:r>
            <a:r>
              <a:rPr sz="1200" b="1" dirty="0">
                <a:latin typeface="Tahoma"/>
                <a:cs typeface="Tahoma"/>
              </a:rPr>
              <a:t>O  </a:t>
            </a:r>
            <a:r>
              <a:rPr sz="1200" b="1" spc="-5" dirty="0">
                <a:latin typeface="Tahoma"/>
                <a:cs typeface="Tahoma"/>
              </a:rPr>
              <a:t>DEFICIENTE DE  COSECHADORAS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1427" y="3730752"/>
            <a:ext cx="2139696" cy="7680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70201" y="3766184"/>
            <a:ext cx="19653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  <a:p>
            <a:pPr marL="12700" marR="508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LA FRUTA SE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DETERIORA  </a:t>
            </a:r>
            <a:r>
              <a:rPr sz="1200" b="1" dirty="0">
                <a:latin typeface="Tahoma"/>
                <a:cs typeface="Tahoma"/>
              </a:rPr>
              <a:t>EN </a:t>
            </a:r>
            <a:r>
              <a:rPr sz="1200" b="1" spc="-5" dirty="0">
                <a:latin typeface="Tahoma"/>
                <a:cs typeface="Tahoma"/>
              </a:rPr>
              <a:t>LA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RECOLECCIÓN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9601" y="304863"/>
            <a:ext cx="2002155" cy="640080"/>
          </a:xfrm>
          <a:prstGeom prst="rect">
            <a:avLst/>
          </a:prstGeom>
          <a:solidFill>
            <a:srgbClr val="CCEBFF"/>
          </a:solidFill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1200" b="1" dirty="0">
                <a:latin typeface="Tahoma"/>
                <a:cs typeface="Tahoma"/>
              </a:rPr>
              <a:t>2</a:t>
            </a:r>
            <a:endParaRPr sz="12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Tahoma"/>
                <a:cs typeface="Tahoma"/>
              </a:rPr>
              <a:t>MENORES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INGRESOS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DE LOS</a:t>
            </a:r>
            <a:r>
              <a:rPr sz="1200" b="1" spc="-4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AGRICULTORES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9300" y="1752600"/>
            <a:ext cx="2027555" cy="457200"/>
          </a:xfrm>
          <a:prstGeom prst="rect">
            <a:avLst/>
          </a:prstGeom>
          <a:solidFill>
            <a:srgbClr val="CCEB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5</a:t>
            </a:r>
            <a:endParaRPr sz="1200">
              <a:latin typeface="Tahoma"/>
              <a:cs typeface="Tahoma"/>
            </a:endParaRPr>
          </a:p>
          <a:p>
            <a:pPr marL="63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PÉRDIDAS 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COSECHA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3425" y="5765800"/>
            <a:ext cx="1414780" cy="822325"/>
          </a:xfrm>
          <a:prstGeom prst="rect">
            <a:avLst/>
          </a:prstGeom>
          <a:solidFill>
            <a:srgbClr val="CCCC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8</a:t>
            </a:r>
            <a:endParaRPr sz="1200">
              <a:latin typeface="Tahoma"/>
              <a:cs typeface="Tahoma"/>
            </a:endParaRPr>
          </a:p>
          <a:p>
            <a:pPr marL="92075" marR="84455" indent="1905" algn="ctr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Tahoma"/>
                <a:cs typeface="Tahoma"/>
              </a:rPr>
              <a:t>MAQUINAS  </a:t>
            </a:r>
            <a:r>
              <a:rPr sz="1200" b="1" dirty="0">
                <a:latin typeface="Tahoma"/>
                <a:cs typeface="Tahoma"/>
              </a:rPr>
              <a:t>RECOLEC</a:t>
            </a:r>
            <a:r>
              <a:rPr sz="1200" b="1" spc="-5" dirty="0">
                <a:latin typeface="Tahoma"/>
                <a:cs typeface="Tahoma"/>
              </a:rPr>
              <a:t>TORAS  OBSOLETAS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825" y="4800663"/>
            <a:ext cx="2322830" cy="640080"/>
          </a:xfrm>
          <a:prstGeom prst="rect">
            <a:avLst/>
          </a:prstGeom>
          <a:solidFill>
            <a:srgbClr val="CCCCFF"/>
          </a:solidFill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7</a:t>
            </a:r>
            <a:endParaRPr sz="1200">
              <a:latin typeface="Tahoma"/>
              <a:cs typeface="Tahoma"/>
            </a:endParaRPr>
          </a:p>
          <a:p>
            <a:pPr marL="92075" marR="8636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MAQUINAS</a:t>
            </a:r>
            <a:r>
              <a:rPr sz="1200" b="1" spc="-4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RECOLECTORAS  DEFICIENTES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5000" y="4800663"/>
            <a:ext cx="2148205" cy="640080"/>
          </a:xfrm>
          <a:prstGeom prst="rect">
            <a:avLst/>
          </a:prstGeom>
          <a:solidFill>
            <a:srgbClr val="CCCCFF"/>
          </a:solidFill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9</a:t>
            </a:r>
            <a:endParaRPr sz="1200">
              <a:latin typeface="Tahoma"/>
              <a:cs typeface="Tahoma"/>
            </a:endParaRPr>
          </a:p>
          <a:p>
            <a:pPr marL="92075" marR="85090" indent="-635"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OBREROS </a:t>
            </a:r>
            <a:r>
              <a:rPr sz="1200" b="1" spc="-10" dirty="0">
                <a:latin typeface="Tahoma"/>
                <a:cs typeface="Tahoma"/>
              </a:rPr>
              <a:t>MALTRATAN  </a:t>
            </a:r>
            <a:r>
              <a:rPr sz="1200" b="1" spc="-5" dirty="0">
                <a:latin typeface="Tahoma"/>
                <a:cs typeface="Tahoma"/>
              </a:rPr>
              <a:t>LA FRUTA AL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RECOGERLA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3800" y="5791200"/>
            <a:ext cx="1808480" cy="822325"/>
          </a:xfrm>
          <a:prstGeom prst="rect">
            <a:avLst/>
          </a:prstGeom>
          <a:solidFill>
            <a:srgbClr val="CCCCFF"/>
          </a:solidFill>
        </p:spPr>
        <p:txBody>
          <a:bodyPr vert="horz" wrap="square" lIns="0" tIns="45719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59"/>
              </a:spcBef>
            </a:pPr>
            <a:r>
              <a:rPr sz="1200" b="1" dirty="0">
                <a:latin typeface="Tahoma"/>
                <a:cs typeface="Tahoma"/>
              </a:rPr>
              <a:t>3</a:t>
            </a:r>
            <a:endParaRPr sz="1200">
              <a:latin typeface="Tahoma"/>
              <a:cs typeface="Tahoma"/>
            </a:endParaRPr>
          </a:p>
          <a:p>
            <a:pPr marL="92075" marR="132080" indent="48895"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OBREROS </a:t>
            </a:r>
            <a:r>
              <a:rPr sz="1200" b="1" spc="-5" dirty="0">
                <a:latin typeface="Tahoma"/>
                <a:cs typeface="Tahoma"/>
              </a:rPr>
              <a:t>MAL  CAPACITADOS</a:t>
            </a:r>
            <a:r>
              <a:rPr sz="1200" b="1" spc="-8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PARA  RECOLECCIÓN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54850" y="1600263"/>
            <a:ext cx="1732280" cy="64008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4445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10</a:t>
            </a:r>
            <a:endParaRPr sz="12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BAJOS PRECIOS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EN</a:t>
            </a:r>
            <a:endParaRPr sz="12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EPOCA </a:t>
            </a:r>
            <a:r>
              <a:rPr sz="1200" b="1" spc="-5" dirty="0">
                <a:latin typeface="Tahoma"/>
                <a:cs typeface="Tahoma"/>
              </a:rPr>
              <a:t>DE</a:t>
            </a:r>
            <a:r>
              <a:rPr sz="1200" b="1" spc="-6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COSECHA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0200" y="4800663"/>
            <a:ext cx="1616075" cy="64008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4508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14</a:t>
            </a:r>
            <a:endParaRPr sz="1200">
              <a:latin typeface="Tahoma"/>
              <a:cs typeface="Tahoma"/>
            </a:endParaRPr>
          </a:p>
          <a:p>
            <a:pPr marL="93980" marR="8445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FRUTA SE</a:t>
            </a:r>
            <a:r>
              <a:rPr sz="1200" b="1" spc="-6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EMPACA  SIN</a:t>
            </a:r>
            <a:r>
              <a:rPr sz="1200" b="1" spc="-3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SELECCIÓN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64451" y="4724400"/>
            <a:ext cx="1732280" cy="822325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4508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4</a:t>
            </a:r>
            <a:endParaRPr sz="1200">
              <a:latin typeface="Tahoma"/>
              <a:cs typeface="Tahoma"/>
            </a:endParaRPr>
          </a:p>
          <a:p>
            <a:pPr marL="307340" marR="298450" indent="-4445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ABUNDANCIA  DE OFERTA</a:t>
            </a:r>
            <a:r>
              <a:rPr sz="1200" b="1" spc="-80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EN</a:t>
            </a:r>
            <a:endParaRPr sz="12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EPOCA </a:t>
            </a:r>
            <a:r>
              <a:rPr sz="1200" b="1" spc="-5" dirty="0">
                <a:latin typeface="Tahoma"/>
                <a:cs typeface="Tahoma"/>
              </a:rPr>
              <a:t>DE</a:t>
            </a:r>
            <a:r>
              <a:rPr sz="1200" b="1" spc="-6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COSECHA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95800" y="1600200"/>
            <a:ext cx="2286000" cy="822325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12</a:t>
            </a:r>
            <a:endParaRPr sz="1200">
              <a:latin typeface="Tahoma"/>
              <a:cs typeface="Tahoma"/>
            </a:endParaRPr>
          </a:p>
          <a:p>
            <a:pPr marL="92710" marR="13271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COMPRADORES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CASTIGAN  PRECIOS </a:t>
            </a:r>
            <a:r>
              <a:rPr sz="1200" b="1" dirty="0">
                <a:latin typeface="Tahoma"/>
                <a:cs typeface="Tahoma"/>
              </a:rPr>
              <a:t>POR NO  </a:t>
            </a:r>
            <a:r>
              <a:rPr sz="1200" b="1" spc="-5" dirty="0">
                <a:latin typeface="Tahoma"/>
                <a:cs typeface="Tahoma"/>
              </a:rPr>
              <a:t>SELECCIÓN 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EMPAQUE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3400" y="2743263"/>
            <a:ext cx="1933575" cy="640080"/>
          </a:xfrm>
          <a:prstGeom prst="rect">
            <a:avLst/>
          </a:prstGeom>
          <a:solidFill>
            <a:srgbClr val="CCEB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15</a:t>
            </a:r>
            <a:endParaRPr sz="1200">
              <a:latin typeface="Tahoma"/>
              <a:cs typeface="Tahoma"/>
            </a:endParaRPr>
          </a:p>
          <a:p>
            <a:pPr marL="91440" marR="8636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CONTAMINACIÓN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POR  </a:t>
            </a:r>
            <a:r>
              <a:rPr sz="1200" b="1" spc="-5" dirty="0">
                <a:latin typeface="Tahoma"/>
                <a:cs typeface="Tahoma"/>
              </a:rPr>
              <a:t>FRUTAS</a:t>
            </a:r>
            <a:r>
              <a:rPr sz="1200" b="1" spc="-1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DAÑADAS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7200" y="304800"/>
            <a:ext cx="1525905" cy="822325"/>
          </a:xfrm>
          <a:prstGeom prst="rect">
            <a:avLst/>
          </a:prstGeom>
          <a:solidFill>
            <a:srgbClr val="CCEBFF"/>
          </a:solidFill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1200" b="1" dirty="0">
                <a:latin typeface="Tahoma"/>
                <a:cs typeface="Tahoma"/>
              </a:rPr>
              <a:t>6</a:t>
            </a:r>
            <a:endParaRPr sz="1200">
              <a:latin typeface="Tahoma"/>
              <a:cs typeface="Tahoma"/>
            </a:endParaRPr>
          </a:p>
          <a:p>
            <a:pPr marL="91440" marR="128905" algn="ctr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Tahoma"/>
                <a:cs typeface="Tahoma"/>
              </a:rPr>
              <a:t>P</a:t>
            </a:r>
            <a:r>
              <a:rPr sz="1200" b="1" dirty="0">
                <a:latin typeface="Tahoma"/>
                <a:cs typeface="Tahoma"/>
              </a:rPr>
              <a:t>RO</a:t>
            </a:r>
            <a:r>
              <a:rPr sz="1200" b="1" spc="-10" dirty="0">
                <a:latin typeface="Tahoma"/>
                <a:cs typeface="Tahoma"/>
              </a:rPr>
              <a:t>LI</a:t>
            </a:r>
            <a:r>
              <a:rPr sz="1200" b="1" spc="-5" dirty="0">
                <a:latin typeface="Tahoma"/>
                <a:cs typeface="Tahoma"/>
              </a:rPr>
              <a:t>FE</a:t>
            </a:r>
            <a:r>
              <a:rPr sz="1200" b="1" dirty="0">
                <a:latin typeface="Tahoma"/>
                <a:cs typeface="Tahoma"/>
              </a:rPr>
              <a:t>R</a:t>
            </a:r>
            <a:r>
              <a:rPr sz="1200" b="1" spc="-10" dirty="0">
                <a:latin typeface="Tahoma"/>
                <a:cs typeface="Tahoma"/>
              </a:rPr>
              <a:t>A</a:t>
            </a:r>
            <a:r>
              <a:rPr sz="1200" b="1" spc="-5" dirty="0">
                <a:latin typeface="Tahoma"/>
                <a:cs typeface="Tahoma"/>
              </a:rPr>
              <a:t>CI</a:t>
            </a:r>
            <a:r>
              <a:rPr sz="1200" b="1" spc="-10" dirty="0">
                <a:latin typeface="Tahoma"/>
                <a:cs typeface="Tahoma"/>
              </a:rPr>
              <a:t>Ó</a:t>
            </a:r>
            <a:r>
              <a:rPr sz="1200" b="1" dirty="0">
                <a:latin typeface="Tahoma"/>
                <a:cs typeface="Tahoma"/>
              </a:rPr>
              <a:t>N  </a:t>
            </a:r>
            <a:r>
              <a:rPr sz="1200" b="1" spc="-5" dirty="0">
                <a:latin typeface="Tahoma"/>
                <a:cs typeface="Tahoma"/>
              </a:rPr>
              <a:t>DE PLAGAS </a:t>
            </a:r>
            <a:r>
              <a:rPr sz="1200" b="1" dirty="0">
                <a:latin typeface="Tahoma"/>
                <a:cs typeface="Tahoma"/>
              </a:rPr>
              <a:t>Y  </a:t>
            </a:r>
            <a:r>
              <a:rPr sz="1200" b="1" spc="-5" dirty="0">
                <a:latin typeface="Tahoma"/>
                <a:cs typeface="Tahoma"/>
              </a:rPr>
              <a:t>MALOS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OLORES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74737" y="5440298"/>
            <a:ext cx="884555" cy="300355"/>
          </a:xfrm>
          <a:custGeom>
            <a:avLst/>
            <a:gdLst/>
            <a:ahLst/>
            <a:cxnLst/>
            <a:rect l="l" t="t" r="r" b="b"/>
            <a:pathLst>
              <a:path w="884555" h="300354">
                <a:moveTo>
                  <a:pt x="839787" y="144525"/>
                </a:moveTo>
                <a:lnTo>
                  <a:pt x="0" y="144525"/>
                </a:lnTo>
                <a:lnTo>
                  <a:pt x="0" y="300100"/>
                </a:lnTo>
                <a:lnTo>
                  <a:pt x="12700" y="300100"/>
                </a:lnTo>
                <a:lnTo>
                  <a:pt x="12700" y="157225"/>
                </a:lnTo>
                <a:lnTo>
                  <a:pt x="6350" y="157225"/>
                </a:lnTo>
                <a:lnTo>
                  <a:pt x="12700" y="150875"/>
                </a:lnTo>
                <a:lnTo>
                  <a:pt x="839787" y="150875"/>
                </a:lnTo>
                <a:lnTo>
                  <a:pt x="839787" y="144525"/>
                </a:lnTo>
                <a:close/>
              </a:path>
              <a:path w="884555" h="300354">
                <a:moveTo>
                  <a:pt x="12700" y="150875"/>
                </a:moveTo>
                <a:lnTo>
                  <a:pt x="6350" y="157225"/>
                </a:lnTo>
                <a:lnTo>
                  <a:pt x="12700" y="157225"/>
                </a:lnTo>
                <a:lnTo>
                  <a:pt x="12700" y="150875"/>
                </a:lnTo>
                <a:close/>
              </a:path>
              <a:path w="884555" h="300354">
                <a:moveTo>
                  <a:pt x="852487" y="144525"/>
                </a:moveTo>
                <a:lnTo>
                  <a:pt x="846137" y="144525"/>
                </a:lnTo>
                <a:lnTo>
                  <a:pt x="839787" y="150875"/>
                </a:lnTo>
                <a:lnTo>
                  <a:pt x="12700" y="150875"/>
                </a:lnTo>
                <a:lnTo>
                  <a:pt x="12700" y="157225"/>
                </a:lnTo>
                <a:lnTo>
                  <a:pt x="852487" y="157225"/>
                </a:lnTo>
                <a:lnTo>
                  <a:pt x="852487" y="144525"/>
                </a:lnTo>
                <a:close/>
              </a:path>
              <a:path w="884555" h="300354">
                <a:moveTo>
                  <a:pt x="852487" y="63500"/>
                </a:moveTo>
                <a:lnTo>
                  <a:pt x="839787" y="63500"/>
                </a:lnTo>
                <a:lnTo>
                  <a:pt x="839787" y="150875"/>
                </a:lnTo>
                <a:lnTo>
                  <a:pt x="846137" y="144525"/>
                </a:lnTo>
                <a:lnTo>
                  <a:pt x="852487" y="144525"/>
                </a:lnTo>
                <a:lnTo>
                  <a:pt x="852487" y="63500"/>
                </a:lnTo>
                <a:close/>
              </a:path>
              <a:path w="884555" h="300354">
                <a:moveTo>
                  <a:pt x="846137" y="0"/>
                </a:moveTo>
                <a:lnTo>
                  <a:pt x="808037" y="76200"/>
                </a:lnTo>
                <a:lnTo>
                  <a:pt x="839787" y="76200"/>
                </a:lnTo>
                <a:lnTo>
                  <a:pt x="839787" y="63500"/>
                </a:lnTo>
                <a:lnTo>
                  <a:pt x="877887" y="63500"/>
                </a:lnTo>
                <a:lnTo>
                  <a:pt x="846137" y="0"/>
                </a:lnTo>
                <a:close/>
              </a:path>
              <a:path w="884555" h="300354">
                <a:moveTo>
                  <a:pt x="877887" y="63500"/>
                </a:moveTo>
                <a:lnTo>
                  <a:pt x="852487" y="63500"/>
                </a:lnTo>
                <a:lnTo>
                  <a:pt x="852487" y="76200"/>
                </a:lnTo>
                <a:lnTo>
                  <a:pt x="884237" y="76200"/>
                </a:lnTo>
                <a:lnTo>
                  <a:pt x="877887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82775" y="5440298"/>
            <a:ext cx="835025" cy="325755"/>
          </a:xfrm>
          <a:custGeom>
            <a:avLst/>
            <a:gdLst/>
            <a:ahLst/>
            <a:cxnLst/>
            <a:rect l="l" t="t" r="r" b="b"/>
            <a:pathLst>
              <a:path w="835025" h="325754">
                <a:moveTo>
                  <a:pt x="822325" y="163575"/>
                </a:moveTo>
                <a:lnTo>
                  <a:pt x="822325" y="325500"/>
                </a:lnTo>
                <a:lnTo>
                  <a:pt x="835025" y="325500"/>
                </a:lnTo>
                <a:lnTo>
                  <a:pt x="835025" y="169925"/>
                </a:lnTo>
                <a:lnTo>
                  <a:pt x="828675" y="169925"/>
                </a:lnTo>
                <a:lnTo>
                  <a:pt x="822325" y="163575"/>
                </a:lnTo>
                <a:close/>
              </a:path>
              <a:path w="835025" h="325754">
                <a:moveTo>
                  <a:pt x="44450" y="63500"/>
                </a:moveTo>
                <a:lnTo>
                  <a:pt x="31750" y="63500"/>
                </a:lnTo>
                <a:lnTo>
                  <a:pt x="31750" y="169925"/>
                </a:lnTo>
                <a:lnTo>
                  <a:pt x="822325" y="169925"/>
                </a:lnTo>
                <a:lnTo>
                  <a:pt x="822325" y="163575"/>
                </a:lnTo>
                <a:lnTo>
                  <a:pt x="44450" y="163575"/>
                </a:lnTo>
                <a:lnTo>
                  <a:pt x="38100" y="157225"/>
                </a:lnTo>
                <a:lnTo>
                  <a:pt x="44450" y="157225"/>
                </a:lnTo>
                <a:lnTo>
                  <a:pt x="44450" y="63500"/>
                </a:lnTo>
                <a:close/>
              </a:path>
              <a:path w="835025" h="325754">
                <a:moveTo>
                  <a:pt x="835025" y="157225"/>
                </a:moveTo>
                <a:lnTo>
                  <a:pt x="44450" y="157225"/>
                </a:lnTo>
                <a:lnTo>
                  <a:pt x="44450" y="163575"/>
                </a:lnTo>
                <a:lnTo>
                  <a:pt x="822325" y="163575"/>
                </a:lnTo>
                <a:lnTo>
                  <a:pt x="828675" y="169925"/>
                </a:lnTo>
                <a:lnTo>
                  <a:pt x="835025" y="169925"/>
                </a:lnTo>
                <a:lnTo>
                  <a:pt x="835025" y="157225"/>
                </a:lnTo>
                <a:close/>
              </a:path>
              <a:path w="835025" h="325754">
                <a:moveTo>
                  <a:pt x="44450" y="157225"/>
                </a:moveTo>
                <a:lnTo>
                  <a:pt x="38100" y="157225"/>
                </a:lnTo>
                <a:lnTo>
                  <a:pt x="44450" y="163575"/>
                </a:lnTo>
                <a:lnTo>
                  <a:pt x="44450" y="157225"/>
                </a:lnTo>
                <a:close/>
              </a:path>
              <a:path w="835025" h="3257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835025" h="3257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11573" y="5440298"/>
            <a:ext cx="433705" cy="351155"/>
          </a:xfrm>
          <a:custGeom>
            <a:avLst/>
            <a:gdLst/>
            <a:ahLst/>
            <a:cxnLst/>
            <a:rect l="l" t="t" r="r" b="b"/>
            <a:pathLst>
              <a:path w="433704" h="351154">
                <a:moveTo>
                  <a:pt x="420750" y="176275"/>
                </a:moveTo>
                <a:lnTo>
                  <a:pt x="420750" y="350900"/>
                </a:lnTo>
                <a:lnTo>
                  <a:pt x="433450" y="350900"/>
                </a:lnTo>
                <a:lnTo>
                  <a:pt x="433450" y="182625"/>
                </a:lnTo>
                <a:lnTo>
                  <a:pt x="427100" y="182625"/>
                </a:lnTo>
                <a:lnTo>
                  <a:pt x="420750" y="176275"/>
                </a:lnTo>
                <a:close/>
              </a:path>
              <a:path w="433704" h="351154">
                <a:moveTo>
                  <a:pt x="44450" y="63500"/>
                </a:moveTo>
                <a:lnTo>
                  <a:pt x="31750" y="63500"/>
                </a:lnTo>
                <a:lnTo>
                  <a:pt x="31750" y="182625"/>
                </a:lnTo>
                <a:lnTo>
                  <a:pt x="420750" y="182625"/>
                </a:lnTo>
                <a:lnTo>
                  <a:pt x="420750" y="176275"/>
                </a:lnTo>
                <a:lnTo>
                  <a:pt x="44450" y="176275"/>
                </a:lnTo>
                <a:lnTo>
                  <a:pt x="38100" y="169925"/>
                </a:lnTo>
                <a:lnTo>
                  <a:pt x="44450" y="169925"/>
                </a:lnTo>
                <a:lnTo>
                  <a:pt x="44450" y="63500"/>
                </a:lnTo>
                <a:close/>
              </a:path>
              <a:path w="433704" h="351154">
                <a:moveTo>
                  <a:pt x="433450" y="169925"/>
                </a:moveTo>
                <a:lnTo>
                  <a:pt x="44450" y="169925"/>
                </a:lnTo>
                <a:lnTo>
                  <a:pt x="44450" y="176275"/>
                </a:lnTo>
                <a:lnTo>
                  <a:pt x="420750" y="176275"/>
                </a:lnTo>
                <a:lnTo>
                  <a:pt x="427100" y="182625"/>
                </a:lnTo>
                <a:lnTo>
                  <a:pt x="433450" y="182625"/>
                </a:lnTo>
                <a:lnTo>
                  <a:pt x="433450" y="169925"/>
                </a:lnTo>
                <a:close/>
              </a:path>
              <a:path w="433704" h="351154">
                <a:moveTo>
                  <a:pt x="44450" y="169925"/>
                </a:moveTo>
                <a:lnTo>
                  <a:pt x="38100" y="169925"/>
                </a:lnTo>
                <a:lnTo>
                  <a:pt x="44450" y="176275"/>
                </a:lnTo>
                <a:lnTo>
                  <a:pt x="44450" y="169925"/>
                </a:lnTo>
                <a:close/>
              </a:path>
              <a:path w="433704" h="3511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433704" h="3511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00700" y="2422525"/>
            <a:ext cx="624205" cy="2378075"/>
          </a:xfrm>
          <a:custGeom>
            <a:avLst/>
            <a:gdLst/>
            <a:ahLst/>
            <a:cxnLst/>
            <a:rect l="l" t="t" r="r" b="b"/>
            <a:pathLst>
              <a:path w="624204" h="2378075">
                <a:moveTo>
                  <a:pt x="611124" y="1188974"/>
                </a:moveTo>
                <a:lnTo>
                  <a:pt x="611124" y="2378075"/>
                </a:lnTo>
                <a:lnTo>
                  <a:pt x="623824" y="2378075"/>
                </a:lnTo>
                <a:lnTo>
                  <a:pt x="623824" y="1195324"/>
                </a:lnTo>
                <a:lnTo>
                  <a:pt x="617474" y="1195324"/>
                </a:lnTo>
                <a:lnTo>
                  <a:pt x="611124" y="1188974"/>
                </a:lnTo>
                <a:close/>
              </a:path>
              <a:path w="624204" h="2378075">
                <a:moveTo>
                  <a:pt x="44450" y="63500"/>
                </a:moveTo>
                <a:lnTo>
                  <a:pt x="31750" y="63500"/>
                </a:lnTo>
                <a:lnTo>
                  <a:pt x="31750" y="1195324"/>
                </a:lnTo>
                <a:lnTo>
                  <a:pt x="611124" y="1195324"/>
                </a:lnTo>
                <a:lnTo>
                  <a:pt x="611124" y="1188974"/>
                </a:lnTo>
                <a:lnTo>
                  <a:pt x="44450" y="1188974"/>
                </a:lnTo>
                <a:lnTo>
                  <a:pt x="38100" y="1182624"/>
                </a:lnTo>
                <a:lnTo>
                  <a:pt x="44450" y="1182624"/>
                </a:lnTo>
                <a:lnTo>
                  <a:pt x="44450" y="63500"/>
                </a:lnTo>
                <a:close/>
              </a:path>
              <a:path w="624204" h="2378075">
                <a:moveTo>
                  <a:pt x="623824" y="1182624"/>
                </a:moveTo>
                <a:lnTo>
                  <a:pt x="44450" y="1182624"/>
                </a:lnTo>
                <a:lnTo>
                  <a:pt x="44450" y="1188974"/>
                </a:lnTo>
                <a:lnTo>
                  <a:pt x="611124" y="1188974"/>
                </a:lnTo>
                <a:lnTo>
                  <a:pt x="617474" y="1195324"/>
                </a:lnTo>
                <a:lnTo>
                  <a:pt x="623824" y="1195324"/>
                </a:lnTo>
                <a:lnTo>
                  <a:pt x="623824" y="1182624"/>
                </a:lnTo>
                <a:close/>
              </a:path>
              <a:path w="624204" h="2378075">
                <a:moveTo>
                  <a:pt x="44450" y="1182624"/>
                </a:moveTo>
                <a:lnTo>
                  <a:pt x="38100" y="1182624"/>
                </a:lnTo>
                <a:lnTo>
                  <a:pt x="44450" y="1188974"/>
                </a:lnTo>
                <a:lnTo>
                  <a:pt x="44450" y="1182624"/>
                </a:lnTo>
                <a:close/>
              </a:path>
              <a:path w="624204" h="237807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624204" h="237807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83525" y="2239898"/>
            <a:ext cx="154305" cy="2484755"/>
          </a:xfrm>
          <a:custGeom>
            <a:avLst/>
            <a:gdLst/>
            <a:ahLst/>
            <a:cxnLst/>
            <a:rect l="l" t="t" r="r" b="b"/>
            <a:pathLst>
              <a:path w="154304" h="2484754">
                <a:moveTo>
                  <a:pt x="141224" y="1243076"/>
                </a:moveTo>
                <a:lnTo>
                  <a:pt x="141224" y="2484501"/>
                </a:lnTo>
                <a:lnTo>
                  <a:pt x="153924" y="2484501"/>
                </a:lnTo>
                <a:lnTo>
                  <a:pt x="153924" y="1249426"/>
                </a:lnTo>
                <a:lnTo>
                  <a:pt x="147574" y="1249426"/>
                </a:lnTo>
                <a:lnTo>
                  <a:pt x="141224" y="1243076"/>
                </a:lnTo>
                <a:close/>
              </a:path>
              <a:path w="154304" h="2484754">
                <a:moveTo>
                  <a:pt x="44450" y="63500"/>
                </a:moveTo>
                <a:lnTo>
                  <a:pt x="31750" y="63500"/>
                </a:lnTo>
                <a:lnTo>
                  <a:pt x="31750" y="1249426"/>
                </a:lnTo>
                <a:lnTo>
                  <a:pt x="141224" y="1249426"/>
                </a:lnTo>
                <a:lnTo>
                  <a:pt x="141224" y="1243076"/>
                </a:lnTo>
                <a:lnTo>
                  <a:pt x="44450" y="1243076"/>
                </a:lnTo>
                <a:lnTo>
                  <a:pt x="38100" y="1236726"/>
                </a:lnTo>
                <a:lnTo>
                  <a:pt x="44450" y="1236726"/>
                </a:lnTo>
                <a:lnTo>
                  <a:pt x="44450" y="63500"/>
                </a:lnTo>
                <a:close/>
              </a:path>
              <a:path w="154304" h="2484754">
                <a:moveTo>
                  <a:pt x="153924" y="1236726"/>
                </a:moveTo>
                <a:lnTo>
                  <a:pt x="44450" y="1236726"/>
                </a:lnTo>
                <a:lnTo>
                  <a:pt x="44450" y="1243076"/>
                </a:lnTo>
                <a:lnTo>
                  <a:pt x="141224" y="1243076"/>
                </a:lnTo>
                <a:lnTo>
                  <a:pt x="147574" y="1249426"/>
                </a:lnTo>
                <a:lnTo>
                  <a:pt x="153924" y="1249426"/>
                </a:lnTo>
                <a:lnTo>
                  <a:pt x="153924" y="1236726"/>
                </a:lnTo>
                <a:close/>
              </a:path>
              <a:path w="154304" h="2484754">
                <a:moveTo>
                  <a:pt x="44450" y="1236726"/>
                </a:moveTo>
                <a:lnTo>
                  <a:pt x="38100" y="1236726"/>
                </a:lnTo>
                <a:lnTo>
                  <a:pt x="44450" y="1243076"/>
                </a:lnTo>
                <a:lnTo>
                  <a:pt x="44450" y="1236726"/>
                </a:lnTo>
                <a:close/>
              </a:path>
              <a:path w="154304" h="24847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54304" h="24847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11525" y="4383023"/>
            <a:ext cx="952500" cy="417830"/>
          </a:xfrm>
          <a:custGeom>
            <a:avLst/>
            <a:gdLst/>
            <a:ahLst/>
            <a:cxnLst/>
            <a:rect l="l" t="t" r="r" b="b"/>
            <a:pathLst>
              <a:path w="952500" h="417829">
                <a:moveTo>
                  <a:pt x="923925" y="209550"/>
                </a:moveTo>
                <a:lnTo>
                  <a:pt x="923925" y="417575"/>
                </a:lnTo>
                <a:lnTo>
                  <a:pt x="952500" y="417575"/>
                </a:lnTo>
                <a:lnTo>
                  <a:pt x="952500" y="223900"/>
                </a:lnTo>
                <a:lnTo>
                  <a:pt x="938149" y="223900"/>
                </a:lnTo>
                <a:lnTo>
                  <a:pt x="923925" y="209550"/>
                </a:lnTo>
                <a:close/>
              </a:path>
              <a:path w="952500" h="417829">
                <a:moveTo>
                  <a:pt x="57150" y="71500"/>
                </a:moveTo>
                <a:lnTo>
                  <a:pt x="28575" y="71500"/>
                </a:lnTo>
                <a:lnTo>
                  <a:pt x="28575" y="223900"/>
                </a:lnTo>
                <a:lnTo>
                  <a:pt x="923925" y="223900"/>
                </a:lnTo>
                <a:lnTo>
                  <a:pt x="923925" y="209550"/>
                </a:lnTo>
                <a:lnTo>
                  <a:pt x="57150" y="209550"/>
                </a:lnTo>
                <a:lnTo>
                  <a:pt x="42799" y="195325"/>
                </a:lnTo>
                <a:lnTo>
                  <a:pt x="57150" y="195325"/>
                </a:lnTo>
                <a:lnTo>
                  <a:pt x="57150" y="71500"/>
                </a:lnTo>
                <a:close/>
              </a:path>
              <a:path w="952500" h="417829">
                <a:moveTo>
                  <a:pt x="952500" y="195325"/>
                </a:moveTo>
                <a:lnTo>
                  <a:pt x="57150" y="195325"/>
                </a:lnTo>
                <a:lnTo>
                  <a:pt x="57150" y="209550"/>
                </a:lnTo>
                <a:lnTo>
                  <a:pt x="923925" y="209550"/>
                </a:lnTo>
                <a:lnTo>
                  <a:pt x="938149" y="223900"/>
                </a:lnTo>
                <a:lnTo>
                  <a:pt x="952500" y="223900"/>
                </a:lnTo>
                <a:lnTo>
                  <a:pt x="952500" y="195325"/>
                </a:lnTo>
                <a:close/>
              </a:path>
              <a:path w="952500" h="417829">
                <a:moveTo>
                  <a:pt x="57150" y="195325"/>
                </a:moveTo>
                <a:lnTo>
                  <a:pt x="42799" y="195325"/>
                </a:lnTo>
                <a:lnTo>
                  <a:pt x="57150" y="209550"/>
                </a:lnTo>
                <a:lnTo>
                  <a:pt x="57150" y="195325"/>
                </a:lnTo>
                <a:close/>
              </a:path>
              <a:path w="952500" h="417829">
                <a:moveTo>
                  <a:pt x="42799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500"/>
                </a:lnTo>
                <a:lnTo>
                  <a:pt x="78602" y="71500"/>
                </a:lnTo>
                <a:lnTo>
                  <a:pt x="42799" y="0"/>
                </a:lnTo>
                <a:close/>
              </a:path>
              <a:path w="952500" h="417829">
                <a:moveTo>
                  <a:pt x="78602" y="71500"/>
                </a:moveTo>
                <a:lnTo>
                  <a:pt x="57150" y="71500"/>
                </a:lnTo>
                <a:lnTo>
                  <a:pt x="57150" y="85725"/>
                </a:lnTo>
                <a:lnTo>
                  <a:pt x="85725" y="85725"/>
                </a:lnTo>
                <a:lnTo>
                  <a:pt x="78602" y="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6523" y="4383023"/>
            <a:ext cx="1490980" cy="417830"/>
          </a:xfrm>
          <a:custGeom>
            <a:avLst/>
            <a:gdLst/>
            <a:ahLst/>
            <a:cxnLst/>
            <a:rect l="l" t="t" r="r" b="b"/>
            <a:pathLst>
              <a:path w="1490979" h="417829">
                <a:moveTo>
                  <a:pt x="1433576" y="195325"/>
                </a:moveTo>
                <a:lnTo>
                  <a:pt x="0" y="195325"/>
                </a:lnTo>
                <a:lnTo>
                  <a:pt x="0" y="417575"/>
                </a:lnTo>
                <a:lnTo>
                  <a:pt x="28575" y="417575"/>
                </a:lnTo>
                <a:lnTo>
                  <a:pt x="28575" y="223900"/>
                </a:lnTo>
                <a:lnTo>
                  <a:pt x="14350" y="223900"/>
                </a:lnTo>
                <a:lnTo>
                  <a:pt x="28575" y="209550"/>
                </a:lnTo>
                <a:lnTo>
                  <a:pt x="1433576" y="209550"/>
                </a:lnTo>
                <a:lnTo>
                  <a:pt x="1433576" y="195325"/>
                </a:lnTo>
                <a:close/>
              </a:path>
              <a:path w="1490979" h="417829">
                <a:moveTo>
                  <a:pt x="28575" y="209550"/>
                </a:moveTo>
                <a:lnTo>
                  <a:pt x="14350" y="223900"/>
                </a:lnTo>
                <a:lnTo>
                  <a:pt x="28575" y="223900"/>
                </a:lnTo>
                <a:lnTo>
                  <a:pt x="28575" y="209550"/>
                </a:lnTo>
                <a:close/>
              </a:path>
              <a:path w="1490979" h="417829">
                <a:moveTo>
                  <a:pt x="1462151" y="195325"/>
                </a:moveTo>
                <a:lnTo>
                  <a:pt x="1447927" y="195325"/>
                </a:lnTo>
                <a:lnTo>
                  <a:pt x="1433576" y="209550"/>
                </a:lnTo>
                <a:lnTo>
                  <a:pt x="28575" y="209550"/>
                </a:lnTo>
                <a:lnTo>
                  <a:pt x="28575" y="223900"/>
                </a:lnTo>
                <a:lnTo>
                  <a:pt x="1462151" y="223900"/>
                </a:lnTo>
                <a:lnTo>
                  <a:pt x="1462151" y="195325"/>
                </a:lnTo>
                <a:close/>
              </a:path>
              <a:path w="1490979" h="417829">
                <a:moveTo>
                  <a:pt x="1462151" y="71500"/>
                </a:moveTo>
                <a:lnTo>
                  <a:pt x="1433576" y="71500"/>
                </a:lnTo>
                <a:lnTo>
                  <a:pt x="1433576" y="209550"/>
                </a:lnTo>
                <a:lnTo>
                  <a:pt x="1447927" y="195325"/>
                </a:lnTo>
                <a:lnTo>
                  <a:pt x="1462151" y="195325"/>
                </a:lnTo>
                <a:lnTo>
                  <a:pt x="1462151" y="71500"/>
                </a:lnTo>
                <a:close/>
              </a:path>
              <a:path w="1490979" h="417829">
                <a:moveTo>
                  <a:pt x="1447927" y="0"/>
                </a:moveTo>
                <a:lnTo>
                  <a:pt x="1405001" y="85725"/>
                </a:lnTo>
                <a:lnTo>
                  <a:pt x="1433576" y="85725"/>
                </a:lnTo>
                <a:lnTo>
                  <a:pt x="1433576" y="71500"/>
                </a:lnTo>
                <a:lnTo>
                  <a:pt x="1483624" y="71500"/>
                </a:lnTo>
                <a:lnTo>
                  <a:pt x="1447927" y="0"/>
                </a:lnTo>
                <a:close/>
              </a:path>
              <a:path w="1490979" h="417829">
                <a:moveTo>
                  <a:pt x="1483624" y="71500"/>
                </a:moveTo>
                <a:lnTo>
                  <a:pt x="1462151" y="71500"/>
                </a:lnTo>
                <a:lnTo>
                  <a:pt x="1462151" y="85725"/>
                </a:lnTo>
                <a:lnTo>
                  <a:pt x="1490726" y="85725"/>
                </a:lnTo>
                <a:lnTo>
                  <a:pt x="1483624" y="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62024" y="3382898"/>
            <a:ext cx="1898650" cy="351155"/>
          </a:xfrm>
          <a:custGeom>
            <a:avLst/>
            <a:gdLst/>
            <a:ahLst/>
            <a:cxnLst/>
            <a:rect l="l" t="t" r="r" b="b"/>
            <a:pathLst>
              <a:path w="1898650" h="351154">
                <a:moveTo>
                  <a:pt x="1885950" y="176275"/>
                </a:moveTo>
                <a:lnTo>
                  <a:pt x="1885950" y="350900"/>
                </a:lnTo>
                <a:lnTo>
                  <a:pt x="1898650" y="350900"/>
                </a:lnTo>
                <a:lnTo>
                  <a:pt x="1898650" y="182625"/>
                </a:lnTo>
                <a:lnTo>
                  <a:pt x="1892300" y="182625"/>
                </a:lnTo>
                <a:lnTo>
                  <a:pt x="1885950" y="176275"/>
                </a:lnTo>
                <a:close/>
              </a:path>
              <a:path w="1898650" h="351154">
                <a:moveTo>
                  <a:pt x="44450" y="63500"/>
                </a:moveTo>
                <a:lnTo>
                  <a:pt x="31750" y="63500"/>
                </a:lnTo>
                <a:lnTo>
                  <a:pt x="31750" y="182625"/>
                </a:lnTo>
                <a:lnTo>
                  <a:pt x="1885950" y="182625"/>
                </a:lnTo>
                <a:lnTo>
                  <a:pt x="1885950" y="176275"/>
                </a:lnTo>
                <a:lnTo>
                  <a:pt x="44450" y="176275"/>
                </a:lnTo>
                <a:lnTo>
                  <a:pt x="38100" y="169925"/>
                </a:lnTo>
                <a:lnTo>
                  <a:pt x="44450" y="169925"/>
                </a:lnTo>
                <a:lnTo>
                  <a:pt x="44450" y="63500"/>
                </a:lnTo>
                <a:close/>
              </a:path>
              <a:path w="1898650" h="351154">
                <a:moveTo>
                  <a:pt x="1898650" y="169925"/>
                </a:moveTo>
                <a:lnTo>
                  <a:pt x="44450" y="169925"/>
                </a:lnTo>
                <a:lnTo>
                  <a:pt x="44450" y="176275"/>
                </a:lnTo>
                <a:lnTo>
                  <a:pt x="1885950" y="176275"/>
                </a:lnTo>
                <a:lnTo>
                  <a:pt x="1892300" y="182625"/>
                </a:lnTo>
                <a:lnTo>
                  <a:pt x="1898650" y="182625"/>
                </a:lnTo>
                <a:lnTo>
                  <a:pt x="1898650" y="169925"/>
                </a:lnTo>
                <a:close/>
              </a:path>
              <a:path w="1898650" h="351154">
                <a:moveTo>
                  <a:pt x="44450" y="169925"/>
                </a:moveTo>
                <a:lnTo>
                  <a:pt x="38100" y="169925"/>
                </a:lnTo>
                <a:lnTo>
                  <a:pt x="44450" y="176275"/>
                </a:lnTo>
                <a:lnTo>
                  <a:pt x="44450" y="169925"/>
                </a:lnTo>
                <a:close/>
              </a:path>
              <a:path w="1898650" h="3511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898650" h="3511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95676" y="2209800"/>
            <a:ext cx="365125" cy="1524000"/>
          </a:xfrm>
          <a:custGeom>
            <a:avLst/>
            <a:gdLst/>
            <a:ahLst/>
            <a:cxnLst/>
            <a:rect l="l" t="t" r="r" b="b"/>
            <a:pathLst>
              <a:path w="365125" h="1524000">
                <a:moveTo>
                  <a:pt x="352298" y="762000"/>
                </a:moveTo>
                <a:lnTo>
                  <a:pt x="352298" y="1524000"/>
                </a:lnTo>
                <a:lnTo>
                  <a:pt x="365125" y="1524000"/>
                </a:lnTo>
                <a:lnTo>
                  <a:pt x="365000" y="768350"/>
                </a:lnTo>
                <a:lnTo>
                  <a:pt x="358775" y="768350"/>
                </a:lnTo>
                <a:lnTo>
                  <a:pt x="352298" y="762000"/>
                </a:lnTo>
                <a:close/>
              </a:path>
              <a:path w="365125" h="1524000">
                <a:moveTo>
                  <a:pt x="44450" y="63500"/>
                </a:moveTo>
                <a:lnTo>
                  <a:pt x="31623" y="63500"/>
                </a:lnTo>
                <a:lnTo>
                  <a:pt x="31750" y="768350"/>
                </a:lnTo>
                <a:lnTo>
                  <a:pt x="352298" y="768350"/>
                </a:lnTo>
                <a:lnTo>
                  <a:pt x="352298" y="762000"/>
                </a:lnTo>
                <a:lnTo>
                  <a:pt x="44450" y="762000"/>
                </a:lnTo>
                <a:lnTo>
                  <a:pt x="38100" y="755650"/>
                </a:lnTo>
                <a:lnTo>
                  <a:pt x="44450" y="755650"/>
                </a:lnTo>
                <a:lnTo>
                  <a:pt x="44450" y="63500"/>
                </a:lnTo>
                <a:close/>
              </a:path>
              <a:path w="365125" h="1524000">
                <a:moveTo>
                  <a:pt x="364998" y="755650"/>
                </a:moveTo>
                <a:lnTo>
                  <a:pt x="44450" y="755650"/>
                </a:lnTo>
                <a:lnTo>
                  <a:pt x="44450" y="762000"/>
                </a:lnTo>
                <a:lnTo>
                  <a:pt x="352298" y="762000"/>
                </a:lnTo>
                <a:lnTo>
                  <a:pt x="358775" y="768350"/>
                </a:lnTo>
                <a:lnTo>
                  <a:pt x="365000" y="768350"/>
                </a:lnTo>
                <a:lnTo>
                  <a:pt x="364998" y="755650"/>
                </a:lnTo>
                <a:close/>
              </a:path>
              <a:path w="365125" h="1524000">
                <a:moveTo>
                  <a:pt x="44450" y="755650"/>
                </a:moveTo>
                <a:lnTo>
                  <a:pt x="38100" y="755650"/>
                </a:lnTo>
                <a:lnTo>
                  <a:pt x="44450" y="762000"/>
                </a:lnTo>
                <a:lnTo>
                  <a:pt x="44450" y="755650"/>
                </a:lnTo>
                <a:close/>
              </a:path>
              <a:path w="365125" h="1524000">
                <a:moveTo>
                  <a:pt x="38100" y="0"/>
                </a:moveTo>
                <a:lnTo>
                  <a:pt x="0" y="76200"/>
                </a:lnTo>
                <a:lnTo>
                  <a:pt x="31625" y="76200"/>
                </a:lnTo>
                <a:lnTo>
                  <a:pt x="3162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365125" h="1524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82687" y="1127125"/>
            <a:ext cx="325755" cy="1616075"/>
          </a:xfrm>
          <a:custGeom>
            <a:avLst/>
            <a:gdLst/>
            <a:ahLst/>
            <a:cxnLst/>
            <a:rect l="l" t="t" r="r" b="b"/>
            <a:pathLst>
              <a:path w="325755" h="1616075">
                <a:moveTo>
                  <a:pt x="312737" y="807974"/>
                </a:moveTo>
                <a:lnTo>
                  <a:pt x="312737" y="1616075"/>
                </a:lnTo>
                <a:lnTo>
                  <a:pt x="325437" y="1616075"/>
                </a:lnTo>
                <a:lnTo>
                  <a:pt x="325437" y="814324"/>
                </a:lnTo>
                <a:lnTo>
                  <a:pt x="319087" y="814324"/>
                </a:lnTo>
                <a:lnTo>
                  <a:pt x="312737" y="807974"/>
                </a:lnTo>
                <a:close/>
              </a:path>
              <a:path w="325755" h="1616075">
                <a:moveTo>
                  <a:pt x="44450" y="63500"/>
                </a:moveTo>
                <a:lnTo>
                  <a:pt x="31750" y="63500"/>
                </a:lnTo>
                <a:lnTo>
                  <a:pt x="31750" y="814324"/>
                </a:lnTo>
                <a:lnTo>
                  <a:pt x="312737" y="814324"/>
                </a:lnTo>
                <a:lnTo>
                  <a:pt x="312737" y="807974"/>
                </a:lnTo>
                <a:lnTo>
                  <a:pt x="44450" y="807974"/>
                </a:lnTo>
                <a:lnTo>
                  <a:pt x="38100" y="801624"/>
                </a:lnTo>
                <a:lnTo>
                  <a:pt x="44450" y="801624"/>
                </a:lnTo>
                <a:lnTo>
                  <a:pt x="44450" y="63500"/>
                </a:lnTo>
                <a:close/>
              </a:path>
              <a:path w="325755" h="1616075">
                <a:moveTo>
                  <a:pt x="325437" y="801624"/>
                </a:moveTo>
                <a:lnTo>
                  <a:pt x="44450" y="801624"/>
                </a:lnTo>
                <a:lnTo>
                  <a:pt x="44450" y="807974"/>
                </a:lnTo>
                <a:lnTo>
                  <a:pt x="312737" y="807974"/>
                </a:lnTo>
                <a:lnTo>
                  <a:pt x="319087" y="814324"/>
                </a:lnTo>
                <a:lnTo>
                  <a:pt x="325437" y="814324"/>
                </a:lnTo>
                <a:lnTo>
                  <a:pt x="325437" y="801624"/>
                </a:lnTo>
                <a:close/>
              </a:path>
              <a:path w="325755" h="1616075">
                <a:moveTo>
                  <a:pt x="44450" y="801624"/>
                </a:moveTo>
                <a:lnTo>
                  <a:pt x="38100" y="801624"/>
                </a:lnTo>
                <a:lnTo>
                  <a:pt x="44450" y="807974"/>
                </a:lnTo>
                <a:lnTo>
                  <a:pt x="44450" y="801624"/>
                </a:lnTo>
                <a:close/>
              </a:path>
              <a:path w="325755" h="161607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325755" h="161607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27298" y="944499"/>
            <a:ext cx="662305" cy="808355"/>
          </a:xfrm>
          <a:custGeom>
            <a:avLst/>
            <a:gdLst/>
            <a:ahLst/>
            <a:cxnLst/>
            <a:rect l="l" t="t" r="r" b="b"/>
            <a:pathLst>
              <a:path w="662304" h="808355">
                <a:moveTo>
                  <a:pt x="617601" y="398525"/>
                </a:moveTo>
                <a:lnTo>
                  <a:pt x="0" y="398525"/>
                </a:lnTo>
                <a:lnTo>
                  <a:pt x="0" y="808101"/>
                </a:lnTo>
                <a:lnTo>
                  <a:pt x="12700" y="808101"/>
                </a:lnTo>
                <a:lnTo>
                  <a:pt x="12700" y="411225"/>
                </a:lnTo>
                <a:lnTo>
                  <a:pt x="6350" y="411225"/>
                </a:lnTo>
                <a:lnTo>
                  <a:pt x="12700" y="404875"/>
                </a:lnTo>
                <a:lnTo>
                  <a:pt x="617601" y="404875"/>
                </a:lnTo>
                <a:lnTo>
                  <a:pt x="617601" y="398525"/>
                </a:lnTo>
                <a:close/>
              </a:path>
              <a:path w="662304" h="808355">
                <a:moveTo>
                  <a:pt x="12700" y="404875"/>
                </a:moveTo>
                <a:lnTo>
                  <a:pt x="6350" y="411225"/>
                </a:lnTo>
                <a:lnTo>
                  <a:pt x="12700" y="411225"/>
                </a:lnTo>
                <a:lnTo>
                  <a:pt x="12700" y="404875"/>
                </a:lnTo>
                <a:close/>
              </a:path>
              <a:path w="662304" h="808355">
                <a:moveTo>
                  <a:pt x="630301" y="398525"/>
                </a:moveTo>
                <a:lnTo>
                  <a:pt x="623951" y="398525"/>
                </a:lnTo>
                <a:lnTo>
                  <a:pt x="617601" y="404875"/>
                </a:lnTo>
                <a:lnTo>
                  <a:pt x="12700" y="404875"/>
                </a:lnTo>
                <a:lnTo>
                  <a:pt x="12700" y="411225"/>
                </a:lnTo>
                <a:lnTo>
                  <a:pt x="630301" y="411225"/>
                </a:lnTo>
                <a:lnTo>
                  <a:pt x="630301" y="398525"/>
                </a:lnTo>
                <a:close/>
              </a:path>
              <a:path w="662304" h="808355">
                <a:moveTo>
                  <a:pt x="630301" y="63500"/>
                </a:moveTo>
                <a:lnTo>
                  <a:pt x="617601" y="63500"/>
                </a:lnTo>
                <a:lnTo>
                  <a:pt x="617601" y="404875"/>
                </a:lnTo>
                <a:lnTo>
                  <a:pt x="623951" y="398525"/>
                </a:lnTo>
                <a:lnTo>
                  <a:pt x="630301" y="398525"/>
                </a:lnTo>
                <a:lnTo>
                  <a:pt x="630301" y="63500"/>
                </a:lnTo>
                <a:close/>
              </a:path>
              <a:path w="662304" h="808355">
                <a:moveTo>
                  <a:pt x="623951" y="0"/>
                </a:moveTo>
                <a:lnTo>
                  <a:pt x="585851" y="76200"/>
                </a:lnTo>
                <a:lnTo>
                  <a:pt x="617601" y="76200"/>
                </a:lnTo>
                <a:lnTo>
                  <a:pt x="617601" y="63500"/>
                </a:lnTo>
                <a:lnTo>
                  <a:pt x="655701" y="63500"/>
                </a:lnTo>
                <a:lnTo>
                  <a:pt x="623951" y="0"/>
                </a:lnTo>
                <a:close/>
              </a:path>
              <a:path w="662304" h="808355">
                <a:moveTo>
                  <a:pt x="655701" y="63500"/>
                </a:moveTo>
                <a:lnTo>
                  <a:pt x="630301" y="63500"/>
                </a:lnTo>
                <a:lnTo>
                  <a:pt x="630301" y="76200"/>
                </a:lnTo>
                <a:lnTo>
                  <a:pt x="662051" y="76200"/>
                </a:lnTo>
                <a:lnTo>
                  <a:pt x="655701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613150" y="944625"/>
            <a:ext cx="2032000" cy="655955"/>
          </a:xfrm>
          <a:custGeom>
            <a:avLst/>
            <a:gdLst/>
            <a:ahLst/>
            <a:cxnLst/>
            <a:rect l="l" t="t" r="r" b="b"/>
            <a:pathLst>
              <a:path w="2032000" h="655955">
                <a:moveTo>
                  <a:pt x="2019300" y="328549"/>
                </a:moveTo>
                <a:lnTo>
                  <a:pt x="2019300" y="655574"/>
                </a:lnTo>
                <a:lnTo>
                  <a:pt x="2032000" y="655574"/>
                </a:lnTo>
                <a:lnTo>
                  <a:pt x="2032000" y="334899"/>
                </a:lnTo>
                <a:lnTo>
                  <a:pt x="2025650" y="334899"/>
                </a:lnTo>
                <a:lnTo>
                  <a:pt x="2019300" y="328549"/>
                </a:lnTo>
                <a:close/>
              </a:path>
              <a:path w="2032000" h="655955">
                <a:moveTo>
                  <a:pt x="44450" y="63500"/>
                </a:moveTo>
                <a:lnTo>
                  <a:pt x="31750" y="63500"/>
                </a:lnTo>
                <a:lnTo>
                  <a:pt x="31750" y="334899"/>
                </a:lnTo>
                <a:lnTo>
                  <a:pt x="2019300" y="334899"/>
                </a:lnTo>
                <a:lnTo>
                  <a:pt x="2019300" y="328549"/>
                </a:lnTo>
                <a:lnTo>
                  <a:pt x="44450" y="328549"/>
                </a:lnTo>
                <a:lnTo>
                  <a:pt x="38100" y="322199"/>
                </a:lnTo>
                <a:lnTo>
                  <a:pt x="44450" y="322199"/>
                </a:lnTo>
                <a:lnTo>
                  <a:pt x="44450" y="63500"/>
                </a:lnTo>
                <a:close/>
              </a:path>
              <a:path w="2032000" h="655955">
                <a:moveTo>
                  <a:pt x="2032000" y="322199"/>
                </a:moveTo>
                <a:lnTo>
                  <a:pt x="44450" y="322199"/>
                </a:lnTo>
                <a:lnTo>
                  <a:pt x="44450" y="328549"/>
                </a:lnTo>
                <a:lnTo>
                  <a:pt x="2019300" y="328549"/>
                </a:lnTo>
                <a:lnTo>
                  <a:pt x="2025650" y="334899"/>
                </a:lnTo>
                <a:lnTo>
                  <a:pt x="2032000" y="334899"/>
                </a:lnTo>
                <a:lnTo>
                  <a:pt x="2032000" y="322199"/>
                </a:lnTo>
                <a:close/>
              </a:path>
              <a:path w="2032000" h="655955">
                <a:moveTo>
                  <a:pt x="44450" y="322199"/>
                </a:moveTo>
                <a:lnTo>
                  <a:pt x="38100" y="322199"/>
                </a:lnTo>
                <a:lnTo>
                  <a:pt x="44450" y="328549"/>
                </a:lnTo>
                <a:lnTo>
                  <a:pt x="44450" y="322199"/>
                </a:lnTo>
                <a:close/>
              </a:path>
              <a:path w="2032000" h="6559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2032000" h="6559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613150" y="944499"/>
            <a:ext cx="4314825" cy="655955"/>
          </a:xfrm>
          <a:custGeom>
            <a:avLst/>
            <a:gdLst/>
            <a:ahLst/>
            <a:cxnLst/>
            <a:rect l="l" t="t" r="r" b="b"/>
            <a:pathLst>
              <a:path w="4314825" h="655955">
                <a:moveTo>
                  <a:pt x="4302125" y="328675"/>
                </a:moveTo>
                <a:lnTo>
                  <a:pt x="4302125" y="655701"/>
                </a:lnTo>
                <a:lnTo>
                  <a:pt x="4314825" y="655701"/>
                </a:lnTo>
                <a:lnTo>
                  <a:pt x="4314825" y="335025"/>
                </a:lnTo>
                <a:lnTo>
                  <a:pt x="4308475" y="335025"/>
                </a:lnTo>
                <a:lnTo>
                  <a:pt x="4302125" y="328675"/>
                </a:lnTo>
                <a:close/>
              </a:path>
              <a:path w="4314825" h="655955">
                <a:moveTo>
                  <a:pt x="44450" y="63500"/>
                </a:moveTo>
                <a:lnTo>
                  <a:pt x="31750" y="63500"/>
                </a:lnTo>
                <a:lnTo>
                  <a:pt x="31750" y="335025"/>
                </a:lnTo>
                <a:lnTo>
                  <a:pt x="4302125" y="335025"/>
                </a:lnTo>
                <a:lnTo>
                  <a:pt x="4302125" y="328675"/>
                </a:lnTo>
                <a:lnTo>
                  <a:pt x="44450" y="328675"/>
                </a:lnTo>
                <a:lnTo>
                  <a:pt x="38100" y="322325"/>
                </a:lnTo>
                <a:lnTo>
                  <a:pt x="44450" y="322325"/>
                </a:lnTo>
                <a:lnTo>
                  <a:pt x="44450" y="63500"/>
                </a:lnTo>
                <a:close/>
              </a:path>
              <a:path w="4314825" h="655955">
                <a:moveTo>
                  <a:pt x="4314825" y="322325"/>
                </a:moveTo>
                <a:lnTo>
                  <a:pt x="44450" y="322325"/>
                </a:lnTo>
                <a:lnTo>
                  <a:pt x="44450" y="328675"/>
                </a:lnTo>
                <a:lnTo>
                  <a:pt x="4302125" y="328675"/>
                </a:lnTo>
                <a:lnTo>
                  <a:pt x="4308475" y="335025"/>
                </a:lnTo>
                <a:lnTo>
                  <a:pt x="4314825" y="335025"/>
                </a:lnTo>
                <a:lnTo>
                  <a:pt x="4314825" y="322325"/>
                </a:lnTo>
                <a:close/>
              </a:path>
              <a:path w="4314825" h="655955">
                <a:moveTo>
                  <a:pt x="44450" y="322325"/>
                </a:moveTo>
                <a:lnTo>
                  <a:pt x="38100" y="322325"/>
                </a:lnTo>
                <a:lnTo>
                  <a:pt x="44450" y="328675"/>
                </a:lnTo>
                <a:lnTo>
                  <a:pt x="44450" y="322325"/>
                </a:lnTo>
                <a:close/>
              </a:path>
              <a:path w="4314825" h="6559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4314825" h="6559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715000" y="5791200"/>
            <a:ext cx="2208530" cy="822325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45719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59"/>
              </a:spcBef>
            </a:pPr>
            <a:r>
              <a:rPr sz="1200" b="1" dirty="0">
                <a:latin typeface="Tahoma"/>
                <a:cs typeface="Tahoma"/>
              </a:rPr>
              <a:t>11</a:t>
            </a:r>
            <a:endParaRPr sz="1200">
              <a:latin typeface="Tahoma"/>
              <a:cs typeface="Tahoma"/>
            </a:endParaRPr>
          </a:p>
          <a:p>
            <a:pPr marL="92710" marR="86360" indent="63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DESCONOCIMIENTO DE  TECNOLOGÍAS PARA  EMPAQUE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SELECCIONADO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180073" y="5440298"/>
            <a:ext cx="646430" cy="351155"/>
          </a:xfrm>
          <a:custGeom>
            <a:avLst/>
            <a:gdLst/>
            <a:ahLst/>
            <a:cxnLst/>
            <a:rect l="l" t="t" r="r" b="b"/>
            <a:pathLst>
              <a:path w="646429" h="351154">
                <a:moveTo>
                  <a:pt x="633476" y="176275"/>
                </a:moveTo>
                <a:lnTo>
                  <a:pt x="633476" y="350900"/>
                </a:lnTo>
                <a:lnTo>
                  <a:pt x="646176" y="350900"/>
                </a:lnTo>
                <a:lnTo>
                  <a:pt x="646176" y="182625"/>
                </a:lnTo>
                <a:lnTo>
                  <a:pt x="639826" y="182625"/>
                </a:lnTo>
                <a:lnTo>
                  <a:pt x="633476" y="176275"/>
                </a:lnTo>
                <a:close/>
              </a:path>
              <a:path w="646429" h="351154">
                <a:moveTo>
                  <a:pt x="44450" y="63500"/>
                </a:moveTo>
                <a:lnTo>
                  <a:pt x="31750" y="63500"/>
                </a:lnTo>
                <a:lnTo>
                  <a:pt x="31750" y="182625"/>
                </a:lnTo>
                <a:lnTo>
                  <a:pt x="633476" y="182625"/>
                </a:lnTo>
                <a:lnTo>
                  <a:pt x="633476" y="176275"/>
                </a:lnTo>
                <a:lnTo>
                  <a:pt x="44450" y="176275"/>
                </a:lnTo>
                <a:lnTo>
                  <a:pt x="38100" y="169925"/>
                </a:lnTo>
                <a:lnTo>
                  <a:pt x="44450" y="169925"/>
                </a:lnTo>
                <a:lnTo>
                  <a:pt x="44450" y="63500"/>
                </a:lnTo>
                <a:close/>
              </a:path>
              <a:path w="646429" h="351154">
                <a:moveTo>
                  <a:pt x="646176" y="169925"/>
                </a:moveTo>
                <a:lnTo>
                  <a:pt x="44450" y="169925"/>
                </a:lnTo>
                <a:lnTo>
                  <a:pt x="44450" y="176275"/>
                </a:lnTo>
                <a:lnTo>
                  <a:pt x="633476" y="176275"/>
                </a:lnTo>
                <a:lnTo>
                  <a:pt x="639826" y="182625"/>
                </a:lnTo>
                <a:lnTo>
                  <a:pt x="646176" y="182625"/>
                </a:lnTo>
                <a:lnTo>
                  <a:pt x="646176" y="169925"/>
                </a:lnTo>
                <a:close/>
              </a:path>
              <a:path w="646429" h="351154">
                <a:moveTo>
                  <a:pt x="44450" y="169925"/>
                </a:moveTo>
                <a:lnTo>
                  <a:pt x="38100" y="169925"/>
                </a:lnTo>
                <a:lnTo>
                  <a:pt x="44450" y="176275"/>
                </a:lnTo>
                <a:lnTo>
                  <a:pt x="44450" y="169925"/>
                </a:lnTo>
                <a:close/>
              </a:path>
              <a:path w="646429" h="3511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646429" h="3511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95800" y="3733800"/>
            <a:ext cx="2209800" cy="914400"/>
          </a:xfrm>
          <a:custGeom>
            <a:avLst/>
            <a:gdLst/>
            <a:ahLst/>
            <a:cxnLst/>
            <a:rect l="l" t="t" r="r" b="b"/>
            <a:pathLst>
              <a:path w="2209800" h="914400">
                <a:moveTo>
                  <a:pt x="2209800" y="571500"/>
                </a:moveTo>
                <a:lnTo>
                  <a:pt x="736600" y="571500"/>
                </a:lnTo>
                <a:lnTo>
                  <a:pt x="736600" y="914400"/>
                </a:lnTo>
                <a:lnTo>
                  <a:pt x="2209800" y="914400"/>
                </a:lnTo>
                <a:lnTo>
                  <a:pt x="2209800" y="571500"/>
                </a:lnTo>
                <a:close/>
              </a:path>
              <a:path w="2209800" h="914400">
                <a:moveTo>
                  <a:pt x="368300" y="228600"/>
                </a:moveTo>
                <a:lnTo>
                  <a:pt x="0" y="457200"/>
                </a:lnTo>
                <a:lnTo>
                  <a:pt x="368300" y="685800"/>
                </a:lnTo>
                <a:lnTo>
                  <a:pt x="368300" y="571500"/>
                </a:lnTo>
                <a:lnTo>
                  <a:pt x="2209800" y="571500"/>
                </a:lnTo>
                <a:lnTo>
                  <a:pt x="2209800" y="342900"/>
                </a:lnTo>
                <a:lnTo>
                  <a:pt x="368300" y="342900"/>
                </a:lnTo>
                <a:lnTo>
                  <a:pt x="368300" y="228600"/>
                </a:lnTo>
                <a:close/>
              </a:path>
              <a:path w="2209800" h="914400">
                <a:moveTo>
                  <a:pt x="2209800" y="0"/>
                </a:moveTo>
                <a:lnTo>
                  <a:pt x="736600" y="0"/>
                </a:lnTo>
                <a:lnTo>
                  <a:pt x="736600" y="342900"/>
                </a:lnTo>
                <a:lnTo>
                  <a:pt x="2209800" y="342900"/>
                </a:lnTo>
                <a:lnTo>
                  <a:pt x="22098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95800" y="3733800"/>
            <a:ext cx="2209800" cy="914400"/>
          </a:xfrm>
          <a:custGeom>
            <a:avLst/>
            <a:gdLst/>
            <a:ahLst/>
            <a:cxnLst/>
            <a:rect l="l" t="t" r="r" b="b"/>
            <a:pathLst>
              <a:path w="2209800" h="914400">
                <a:moveTo>
                  <a:pt x="0" y="457200"/>
                </a:moveTo>
                <a:lnTo>
                  <a:pt x="368300" y="228600"/>
                </a:lnTo>
                <a:lnTo>
                  <a:pt x="368300" y="342900"/>
                </a:lnTo>
                <a:lnTo>
                  <a:pt x="736600" y="342900"/>
                </a:lnTo>
                <a:lnTo>
                  <a:pt x="736600" y="0"/>
                </a:lnTo>
                <a:lnTo>
                  <a:pt x="2209800" y="0"/>
                </a:lnTo>
                <a:lnTo>
                  <a:pt x="2209800" y="914400"/>
                </a:lnTo>
                <a:lnTo>
                  <a:pt x="736600" y="914400"/>
                </a:lnTo>
                <a:lnTo>
                  <a:pt x="736600" y="571500"/>
                </a:lnTo>
                <a:lnTo>
                  <a:pt x="368300" y="571500"/>
                </a:lnTo>
                <a:lnTo>
                  <a:pt x="368300" y="68580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323459" y="3853052"/>
            <a:ext cx="134048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 marR="5080" indent="-154305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NODO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CRÍTICO  DE </a:t>
            </a:r>
            <a:r>
              <a:rPr sz="1400" b="1" dirty="0">
                <a:latin typeface="Arial"/>
                <a:cs typeface="Arial"/>
              </a:rPr>
              <a:t>MENOR  </a:t>
            </a:r>
            <a:r>
              <a:rPr sz="1400" b="1" spc="-10" dirty="0">
                <a:latin typeface="Arial"/>
                <a:cs typeface="Arial"/>
              </a:rPr>
              <a:t>ALCANCE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4800" y="5740400"/>
            <a:ext cx="1552575" cy="822325"/>
          </a:xfrm>
          <a:prstGeom prst="rect">
            <a:avLst/>
          </a:prstGeom>
          <a:solidFill>
            <a:srgbClr val="CCCCFF"/>
          </a:solidFill>
        </p:spPr>
        <p:txBody>
          <a:bodyPr vert="horz" wrap="square" lIns="0" tIns="45719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9"/>
              </a:spcBef>
            </a:pPr>
            <a:r>
              <a:rPr sz="1200" b="1" dirty="0">
                <a:latin typeface="Tahoma"/>
                <a:cs typeface="Tahoma"/>
              </a:rPr>
              <a:t>13</a:t>
            </a:r>
            <a:endParaRPr sz="1200">
              <a:latin typeface="Tahoma"/>
              <a:cs typeface="Tahoma"/>
            </a:endParaRPr>
          </a:p>
          <a:p>
            <a:pPr marL="93345" marR="8572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M</a:t>
            </a:r>
            <a:r>
              <a:rPr sz="1200" b="1" spc="-10" dirty="0">
                <a:latin typeface="Tahoma"/>
                <a:cs typeface="Tahoma"/>
              </a:rPr>
              <a:t>A</a:t>
            </a:r>
            <a:r>
              <a:rPr sz="1200" b="1" dirty="0">
                <a:latin typeface="Tahoma"/>
                <a:cs typeface="Tahoma"/>
              </a:rPr>
              <a:t>N</a:t>
            </a:r>
            <a:r>
              <a:rPr sz="1200" b="1" spc="-5" dirty="0">
                <a:latin typeface="Tahoma"/>
                <a:cs typeface="Tahoma"/>
              </a:rPr>
              <a:t>T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5" dirty="0">
                <a:latin typeface="Tahoma"/>
                <a:cs typeface="Tahoma"/>
              </a:rPr>
              <a:t>IM</a:t>
            </a:r>
            <a:r>
              <a:rPr sz="1200" b="1" spc="-10" dirty="0">
                <a:latin typeface="Tahoma"/>
                <a:cs typeface="Tahoma"/>
              </a:rPr>
              <a:t>I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5" dirty="0">
                <a:latin typeface="Tahoma"/>
                <a:cs typeface="Tahoma"/>
              </a:rPr>
              <a:t>T</a:t>
            </a:r>
            <a:r>
              <a:rPr sz="1200" b="1" dirty="0">
                <a:latin typeface="Tahoma"/>
                <a:cs typeface="Tahoma"/>
              </a:rPr>
              <a:t>O  </a:t>
            </a:r>
            <a:r>
              <a:rPr sz="1200" b="1" spc="-5" dirty="0">
                <a:latin typeface="Tahoma"/>
                <a:cs typeface="Tahoma"/>
              </a:rPr>
              <a:t>DEFICIENTE DE  COSECHADORAS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o 57"/>
          <p:cNvGrpSpPr/>
          <p:nvPr/>
        </p:nvGrpSpPr>
        <p:grpSpPr>
          <a:xfrm>
            <a:off x="533400" y="1371600"/>
            <a:ext cx="7645534" cy="5081601"/>
            <a:chOff x="929076" y="1082010"/>
            <a:chExt cx="7081171" cy="4513807"/>
          </a:xfrm>
        </p:grpSpPr>
        <p:sp>
          <p:nvSpPr>
            <p:cNvPr id="2" name="object 2"/>
            <p:cNvSpPr/>
            <p:nvPr/>
          </p:nvSpPr>
          <p:spPr>
            <a:xfrm>
              <a:off x="2581383" y="3696106"/>
              <a:ext cx="1750060" cy="97790"/>
            </a:xfrm>
            <a:custGeom>
              <a:avLst/>
              <a:gdLst/>
              <a:ahLst/>
              <a:cxnLst/>
              <a:rect l="l" t="t" r="r" b="b"/>
              <a:pathLst>
                <a:path w="1750060" h="97789">
                  <a:moveTo>
                    <a:pt x="1749994" y="0"/>
                  </a:moveTo>
                  <a:lnTo>
                    <a:pt x="0" y="0"/>
                  </a:lnTo>
                  <a:lnTo>
                    <a:pt x="80933" y="97495"/>
                  </a:lnTo>
                  <a:lnTo>
                    <a:pt x="1669039" y="97495"/>
                  </a:lnTo>
                  <a:lnTo>
                    <a:pt x="1749994" y="0"/>
                  </a:lnTo>
                  <a:close/>
                </a:path>
              </a:pathLst>
            </a:custGeom>
            <a:solidFill>
              <a:srgbClr val="7979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2581383" y="3160249"/>
              <a:ext cx="1750060" cy="535940"/>
            </a:xfrm>
            <a:prstGeom prst="rect">
              <a:avLst/>
            </a:prstGeom>
            <a:solidFill>
              <a:srgbClr val="9C9CC3"/>
            </a:solidFill>
          </p:spPr>
          <p:txBody>
            <a:bodyPr vert="horz" wrap="square" lIns="0" tIns="35560" rIns="0" bIns="0" rtlCol="0">
              <a:spAutoFit/>
            </a:bodyPr>
            <a:lstStyle/>
            <a:p>
              <a:pPr marL="17780" algn="ctr">
                <a:lnSpc>
                  <a:spcPts val="1175"/>
                </a:lnSpc>
                <a:spcBef>
                  <a:spcPts val="280"/>
                </a:spcBef>
              </a:pPr>
              <a:r>
                <a:rPr sz="1000" b="1" spc="15" dirty="0">
                  <a:latin typeface="Tahoma"/>
                  <a:cs typeface="Tahoma"/>
                </a:rPr>
                <a:t>1</a:t>
              </a:r>
              <a:endParaRPr sz="1000" dirty="0">
                <a:latin typeface="Tahoma"/>
                <a:cs typeface="Tahoma"/>
              </a:endParaRPr>
            </a:p>
            <a:p>
              <a:pPr marL="4445" algn="ctr">
                <a:lnSpc>
                  <a:spcPts val="1175"/>
                </a:lnSpc>
              </a:pPr>
              <a:r>
                <a:rPr sz="1000" b="1" spc="-30" dirty="0">
                  <a:latin typeface="Tahoma"/>
                  <a:cs typeface="Tahoma"/>
                </a:rPr>
                <a:t>LA </a:t>
              </a:r>
              <a:r>
                <a:rPr sz="1000" b="1" dirty="0">
                  <a:latin typeface="Tahoma"/>
                  <a:cs typeface="Tahoma"/>
                </a:rPr>
                <a:t>FRUTA </a:t>
              </a:r>
              <a:r>
                <a:rPr sz="1000" b="1" spc="5" dirty="0">
                  <a:latin typeface="Tahoma"/>
                  <a:cs typeface="Tahoma"/>
                </a:rPr>
                <a:t>SE</a:t>
              </a:r>
              <a:r>
                <a:rPr sz="1000" b="1" spc="-1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DETERIORA</a:t>
              </a:r>
              <a:endParaRPr sz="1000" dirty="0">
                <a:latin typeface="Tahoma"/>
                <a:cs typeface="Tahoma"/>
              </a:endParaRPr>
            </a:p>
            <a:p>
              <a:pPr marL="635" algn="ctr">
                <a:lnSpc>
                  <a:spcPct val="100000"/>
                </a:lnSpc>
                <a:spcBef>
                  <a:spcPts val="80"/>
                </a:spcBef>
              </a:pPr>
              <a:r>
                <a:rPr sz="1000" b="1" spc="15" dirty="0">
                  <a:latin typeface="Tahoma"/>
                  <a:cs typeface="Tahoma"/>
                </a:rPr>
                <a:t>EN </a:t>
              </a:r>
              <a:r>
                <a:rPr sz="1000" b="1" spc="-30" dirty="0">
                  <a:latin typeface="Tahoma"/>
                  <a:cs typeface="Tahoma"/>
                </a:rPr>
                <a:t>LA</a:t>
              </a:r>
              <a:r>
                <a:rPr sz="1000" b="1" spc="-7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 dirty="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2889337" y="1082075"/>
              <a:ext cx="1637030" cy="53594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3492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275"/>
                </a:spcBef>
              </a:pPr>
              <a:r>
                <a:rPr sz="1000" b="1" spc="15" dirty="0">
                  <a:latin typeface="Tahoma"/>
                  <a:cs typeface="Tahoma"/>
                </a:rPr>
                <a:t>2</a:t>
              </a:r>
              <a:endParaRPr sz="1000">
                <a:latin typeface="Tahoma"/>
                <a:cs typeface="Tahoma"/>
              </a:endParaRPr>
            </a:p>
            <a:p>
              <a:pPr marL="64135" marR="74930" indent="16510" algn="ctr">
                <a:lnSpc>
                  <a:spcPts val="1150"/>
                </a:lnSpc>
                <a:spcBef>
                  <a:spcPts val="160"/>
                </a:spcBef>
              </a:pPr>
              <a:r>
                <a:rPr sz="1000" b="1" spc="-10" dirty="0">
                  <a:latin typeface="Tahoma"/>
                  <a:cs typeface="Tahoma"/>
                </a:rPr>
                <a:t>MENORES </a:t>
              </a:r>
              <a:r>
                <a:rPr sz="1000" b="1" spc="-5" dirty="0">
                  <a:latin typeface="Tahoma"/>
                  <a:cs typeface="Tahoma"/>
                </a:rPr>
                <a:t>INGRESOS  </a:t>
              </a:r>
              <a:r>
                <a:rPr sz="1000" b="1" spc="5" dirty="0">
                  <a:latin typeface="Tahoma"/>
                  <a:cs typeface="Tahoma"/>
                </a:rPr>
                <a:t>DE </a:t>
              </a:r>
              <a:r>
                <a:rPr sz="1000" b="1" spc="-20" dirty="0">
                  <a:latin typeface="Tahoma"/>
                  <a:cs typeface="Tahoma"/>
                </a:rPr>
                <a:t>LOS</a:t>
              </a:r>
              <a:r>
                <a:rPr sz="1000" b="1" spc="-16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AGRICULTORES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808490" y="2153660"/>
              <a:ext cx="1652905" cy="37401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34925" rIns="0" bIns="0" rtlCol="0">
              <a:spAutoFit/>
            </a:bodyPr>
            <a:lstStyle/>
            <a:p>
              <a:pPr marR="6350" algn="ctr">
                <a:lnSpc>
                  <a:spcPts val="1175"/>
                </a:lnSpc>
                <a:spcBef>
                  <a:spcPts val="275"/>
                </a:spcBef>
              </a:pPr>
              <a:r>
                <a:rPr sz="1000" b="1" spc="15" dirty="0">
                  <a:latin typeface="Tahoma"/>
                  <a:cs typeface="Tahoma"/>
                </a:rPr>
                <a:t>5</a:t>
              </a:r>
              <a:endParaRPr sz="1000">
                <a:latin typeface="Tahoma"/>
                <a:cs typeface="Tahoma"/>
              </a:endParaRPr>
            </a:p>
            <a:p>
              <a:pPr marR="3175" algn="ctr">
                <a:lnSpc>
                  <a:spcPts val="1175"/>
                </a:lnSpc>
              </a:pPr>
              <a:r>
                <a:rPr sz="1000" b="1" spc="-15" dirty="0">
                  <a:latin typeface="Tahoma"/>
                  <a:cs typeface="Tahoma"/>
                </a:rPr>
                <a:t>PÉRDIDAS </a:t>
              </a:r>
              <a:r>
                <a:rPr sz="1000" b="1" spc="15" dirty="0">
                  <a:latin typeface="Tahoma"/>
                  <a:cs typeface="Tahoma"/>
                </a:rPr>
                <a:t>EN</a:t>
              </a:r>
              <a:r>
                <a:rPr sz="1000" b="1" spc="-1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COSECHA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354817" y="4897664"/>
              <a:ext cx="1150620" cy="666115"/>
            </a:xfrm>
            <a:custGeom>
              <a:avLst/>
              <a:gdLst/>
              <a:ahLst/>
              <a:cxnLst/>
              <a:rect l="l" t="t" r="r" b="b"/>
              <a:pathLst>
                <a:path w="1150620" h="666114">
                  <a:moveTo>
                    <a:pt x="0" y="665765"/>
                  </a:moveTo>
                  <a:lnTo>
                    <a:pt x="1150082" y="665765"/>
                  </a:lnTo>
                  <a:lnTo>
                    <a:pt x="1150082" y="0"/>
                  </a:lnTo>
                  <a:lnTo>
                    <a:pt x="0" y="0"/>
                  </a:lnTo>
                  <a:lnTo>
                    <a:pt x="0" y="665765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406860" y="4917116"/>
              <a:ext cx="1029335" cy="62039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8415" algn="ctr">
                <a:lnSpc>
                  <a:spcPts val="1175"/>
                </a:lnSpc>
                <a:spcBef>
                  <a:spcPts val="125"/>
                </a:spcBef>
              </a:pPr>
              <a:r>
                <a:rPr sz="1000" b="1" spc="15" dirty="0">
                  <a:latin typeface="Tahoma"/>
                  <a:cs typeface="Tahoma"/>
                </a:rPr>
                <a:t>8</a:t>
              </a:r>
              <a:endParaRPr sz="1000">
                <a:latin typeface="Tahoma"/>
                <a:cs typeface="Tahoma"/>
              </a:endParaRPr>
            </a:p>
            <a:p>
              <a:pPr marL="12700" marR="5080" indent="145415">
                <a:lnSpc>
                  <a:spcPts val="1150"/>
                </a:lnSpc>
                <a:spcBef>
                  <a:spcPts val="55"/>
                </a:spcBef>
              </a:pPr>
              <a:r>
                <a:rPr sz="1000" b="1" spc="-10" dirty="0">
                  <a:latin typeface="Tahoma"/>
                  <a:cs typeface="Tahoma"/>
                </a:rPr>
                <a:t>MAQUINAS  </a:t>
              </a:r>
              <a:r>
                <a:rPr sz="1000" b="1" spc="35" dirty="0">
                  <a:latin typeface="Tahoma"/>
                  <a:cs typeface="Tahoma"/>
                </a:rPr>
                <a:t>R</a:t>
              </a:r>
              <a:r>
                <a:rPr sz="1000" b="1" spc="-110" dirty="0">
                  <a:latin typeface="Tahoma"/>
                  <a:cs typeface="Tahoma"/>
                </a:rPr>
                <a:t>E</a:t>
              </a:r>
              <a:r>
                <a:rPr sz="1000" b="1" spc="95" dirty="0">
                  <a:latin typeface="Tahoma"/>
                  <a:cs typeface="Tahoma"/>
                </a:rPr>
                <a:t>C</a:t>
              </a:r>
              <a:r>
                <a:rPr sz="1000" b="1" spc="-140" dirty="0">
                  <a:latin typeface="Tahoma"/>
                  <a:cs typeface="Tahoma"/>
                </a:rPr>
                <a:t>O</a:t>
              </a:r>
              <a:r>
                <a:rPr sz="1000" b="1" spc="55" dirty="0">
                  <a:latin typeface="Tahoma"/>
                  <a:cs typeface="Tahoma"/>
                </a:rPr>
                <a:t>L</a:t>
              </a:r>
              <a:r>
                <a:rPr sz="1000" b="1" spc="15" dirty="0">
                  <a:latin typeface="Tahoma"/>
                  <a:cs typeface="Tahoma"/>
                </a:rPr>
                <a:t>E</a:t>
              </a:r>
              <a:r>
                <a:rPr sz="1000" b="1" spc="-35" dirty="0">
                  <a:latin typeface="Tahoma"/>
                  <a:cs typeface="Tahoma"/>
                </a:rPr>
                <a:t>C</a:t>
              </a:r>
              <a:r>
                <a:rPr sz="1000" b="1" spc="15" dirty="0">
                  <a:latin typeface="Tahoma"/>
                  <a:cs typeface="Tahoma"/>
                </a:rPr>
                <a:t>T</a:t>
              </a:r>
              <a:r>
                <a:rPr sz="1000" b="1" spc="-140" dirty="0">
                  <a:latin typeface="Tahoma"/>
                  <a:cs typeface="Tahoma"/>
                </a:rPr>
                <a:t>O</a:t>
              </a:r>
              <a:r>
                <a:rPr sz="1000" b="1" spc="35" dirty="0">
                  <a:latin typeface="Tahoma"/>
                  <a:cs typeface="Tahoma"/>
                </a:rPr>
                <a:t>R</a:t>
              </a:r>
              <a:r>
                <a:rPr sz="1000" b="1" spc="-50" dirty="0">
                  <a:latin typeface="Tahoma"/>
                  <a:cs typeface="Tahoma"/>
                </a:rPr>
                <a:t>A</a:t>
              </a:r>
              <a:r>
                <a:rPr sz="1000" b="1" spc="15" dirty="0">
                  <a:latin typeface="Tahoma"/>
                  <a:cs typeface="Tahoma"/>
                </a:rPr>
                <a:t>S</a:t>
              </a:r>
              <a:endParaRPr sz="1000">
                <a:latin typeface="Tahoma"/>
                <a:cs typeface="Tahoma"/>
              </a:endParaRPr>
            </a:p>
            <a:p>
              <a:pPr marL="141605">
                <a:lnSpc>
                  <a:spcPts val="1120"/>
                </a:lnSpc>
              </a:pPr>
              <a:r>
                <a:rPr sz="1000" b="1" spc="-15" dirty="0">
                  <a:latin typeface="Tahoma"/>
                  <a:cs typeface="Tahoma"/>
                </a:rPr>
                <a:t>OBSOLETAS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333657" y="4101991"/>
              <a:ext cx="1896745" cy="520065"/>
            </a:xfrm>
            <a:custGeom>
              <a:avLst/>
              <a:gdLst/>
              <a:ahLst/>
              <a:cxnLst/>
              <a:rect l="l" t="t" r="r" b="b"/>
              <a:pathLst>
                <a:path w="1896745" h="520064">
                  <a:moveTo>
                    <a:pt x="0" y="519673"/>
                  </a:moveTo>
                  <a:lnTo>
                    <a:pt x="1896124" y="519673"/>
                  </a:lnTo>
                  <a:lnTo>
                    <a:pt x="1896124" y="0"/>
                  </a:lnTo>
                  <a:lnTo>
                    <a:pt x="0" y="0"/>
                  </a:lnTo>
                  <a:lnTo>
                    <a:pt x="0" y="519673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1386241" y="4121963"/>
              <a:ext cx="1773555" cy="4743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9685" algn="ctr">
                <a:lnSpc>
                  <a:spcPts val="1175"/>
                </a:lnSpc>
                <a:spcBef>
                  <a:spcPts val="125"/>
                </a:spcBef>
              </a:pPr>
              <a:r>
                <a:rPr sz="1000" b="1" spc="1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12065" marR="5080" algn="ctr">
                <a:lnSpc>
                  <a:spcPts val="1150"/>
                </a:lnSpc>
                <a:spcBef>
                  <a:spcPts val="55"/>
                </a:spcBef>
              </a:pPr>
              <a:r>
                <a:rPr sz="1000" b="1" spc="-10" dirty="0">
                  <a:latin typeface="Tahoma"/>
                  <a:cs typeface="Tahoma"/>
                </a:rPr>
                <a:t>MAQUINAS</a:t>
              </a:r>
              <a:r>
                <a:rPr sz="1000" b="1" spc="-120" dirty="0">
                  <a:latin typeface="Tahoma"/>
                  <a:cs typeface="Tahoma"/>
                </a:rPr>
                <a:t> </a:t>
              </a:r>
              <a:r>
                <a:rPr sz="1000" b="1" spc="-15" dirty="0">
                  <a:latin typeface="Tahoma"/>
                  <a:cs typeface="Tahoma"/>
                </a:rPr>
                <a:t>RECOLECTORAS  </a:t>
              </a:r>
              <a:r>
                <a:rPr sz="1000" b="1" spc="-10" dirty="0">
                  <a:latin typeface="Tahoma"/>
                  <a:cs typeface="Tahoma"/>
                </a:rPr>
                <a:t>DEFICIENTES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310780" y="4101991"/>
              <a:ext cx="1766570" cy="520065"/>
            </a:xfrm>
            <a:custGeom>
              <a:avLst/>
              <a:gdLst/>
              <a:ahLst/>
              <a:cxnLst/>
              <a:rect l="l" t="t" r="r" b="b"/>
              <a:pathLst>
                <a:path w="1766570" h="520064">
                  <a:moveTo>
                    <a:pt x="0" y="519673"/>
                  </a:moveTo>
                  <a:lnTo>
                    <a:pt x="1766120" y="519673"/>
                  </a:lnTo>
                  <a:lnTo>
                    <a:pt x="1766120" y="0"/>
                  </a:lnTo>
                  <a:lnTo>
                    <a:pt x="0" y="0"/>
                  </a:lnTo>
                  <a:lnTo>
                    <a:pt x="0" y="519673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3379035" y="4121963"/>
              <a:ext cx="1634489" cy="4743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algn="ctr">
                <a:lnSpc>
                  <a:spcPts val="1175"/>
                </a:lnSpc>
                <a:spcBef>
                  <a:spcPts val="125"/>
                </a:spcBef>
              </a:pPr>
              <a:r>
                <a:rPr sz="1000" b="1" spc="1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12700" marR="5080" indent="-5080" algn="ctr">
                <a:lnSpc>
                  <a:spcPts val="1150"/>
                </a:lnSpc>
                <a:spcBef>
                  <a:spcPts val="55"/>
                </a:spcBef>
              </a:pPr>
              <a:r>
                <a:rPr sz="1000" b="1" spc="-15" dirty="0">
                  <a:latin typeface="Tahoma"/>
                  <a:cs typeface="Tahoma"/>
                </a:rPr>
                <a:t>OBREROS </a:t>
              </a:r>
              <a:r>
                <a:rPr sz="1000" b="1" spc="-5" dirty="0">
                  <a:latin typeface="Tahoma"/>
                  <a:cs typeface="Tahoma"/>
                </a:rPr>
                <a:t>MALTRATAN  </a:t>
              </a:r>
              <a:r>
                <a:rPr sz="1000" b="1" spc="-30" dirty="0">
                  <a:latin typeface="Tahoma"/>
                  <a:cs typeface="Tahoma"/>
                </a:rPr>
                <a:t>LA </a:t>
              </a:r>
              <a:r>
                <a:rPr sz="1000" b="1" dirty="0">
                  <a:latin typeface="Tahoma"/>
                  <a:cs typeface="Tahoma"/>
                </a:rPr>
                <a:t>FRUTA </a:t>
              </a:r>
              <a:r>
                <a:rPr sz="1000" b="1" spc="-20" dirty="0">
                  <a:latin typeface="Tahoma"/>
                  <a:cs typeface="Tahoma"/>
                </a:rPr>
                <a:t>AL</a:t>
              </a:r>
              <a:r>
                <a:rPr sz="1000" b="1" spc="-10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764475" y="4913827"/>
              <a:ext cx="1490980" cy="681990"/>
            </a:xfrm>
            <a:custGeom>
              <a:avLst/>
              <a:gdLst/>
              <a:ahLst/>
              <a:cxnLst/>
              <a:rect l="l" t="t" r="r" b="b"/>
              <a:pathLst>
                <a:path w="1490979" h="681989">
                  <a:moveTo>
                    <a:pt x="0" y="681949"/>
                  </a:moveTo>
                  <a:lnTo>
                    <a:pt x="1490461" y="681949"/>
                  </a:lnTo>
                  <a:lnTo>
                    <a:pt x="1490461" y="0"/>
                  </a:lnTo>
                  <a:lnTo>
                    <a:pt x="0" y="0"/>
                  </a:lnTo>
                  <a:lnTo>
                    <a:pt x="0" y="681949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832514" y="4933820"/>
              <a:ext cx="1327785" cy="63627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45085" algn="ctr">
                <a:lnSpc>
                  <a:spcPts val="1175"/>
                </a:lnSpc>
                <a:spcBef>
                  <a:spcPts val="125"/>
                </a:spcBef>
              </a:pPr>
              <a:r>
                <a:rPr sz="1000" b="1" spc="15" dirty="0">
                  <a:latin typeface="Tahoma"/>
                  <a:cs typeface="Tahoma"/>
                </a:rPr>
                <a:t>3</a:t>
              </a:r>
              <a:endParaRPr sz="1000">
                <a:latin typeface="Tahoma"/>
                <a:cs typeface="Tahoma"/>
              </a:endParaRPr>
            </a:p>
            <a:p>
              <a:pPr marL="12700" marR="5080" indent="210820">
                <a:lnSpc>
                  <a:spcPts val="1150"/>
                </a:lnSpc>
                <a:spcBef>
                  <a:spcPts val="55"/>
                </a:spcBef>
              </a:pPr>
              <a:r>
                <a:rPr sz="1000" b="1" spc="-15" dirty="0">
                  <a:latin typeface="Tahoma"/>
                  <a:cs typeface="Tahoma"/>
                </a:rPr>
                <a:t>OBREROS </a:t>
              </a:r>
              <a:r>
                <a:rPr sz="1000" b="1" spc="25" dirty="0">
                  <a:latin typeface="Tahoma"/>
                  <a:cs typeface="Tahoma"/>
                </a:rPr>
                <a:t>MAL  </a:t>
              </a:r>
              <a:r>
                <a:rPr sz="1000" b="1" spc="-10" dirty="0">
                  <a:latin typeface="Tahoma"/>
                  <a:cs typeface="Tahoma"/>
                </a:rPr>
                <a:t>CAPACITADOS</a:t>
              </a:r>
              <a:r>
                <a:rPr sz="1000" b="1" spc="-9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PARA</a:t>
              </a:r>
              <a:endParaRPr sz="1000">
                <a:latin typeface="Tahoma"/>
                <a:cs typeface="Tahoma"/>
              </a:endParaRPr>
            </a:p>
            <a:p>
              <a:pPr marL="223520">
                <a:lnSpc>
                  <a:spcPct val="100000"/>
                </a:lnSpc>
                <a:spcBef>
                  <a:spcPts val="45"/>
                </a:spcBef>
              </a:pP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6583402" y="2153660"/>
              <a:ext cx="1426845" cy="535940"/>
            </a:xfrm>
            <a:prstGeom prst="rect">
              <a:avLst/>
            </a:prstGeom>
            <a:solidFill>
              <a:srgbClr val="DDDDDD"/>
            </a:solidFill>
          </p:spPr>
          <p:txBody>
            <a:bodyPr vert="horz" wrap="square" lIns="0" tIns="34925" rIns="0" bIns="0" rtlCol="0">
              <a:spAutoFit/>
            </a:bodyPr>
            <a:lstStyle/>
            <a:p>
              <a:pPr algn="ctr">
                <a:lnSpc>
                  <a:spcPts val="1175"/>
                </a:lnSpc>
                <a:spcBef>
                  <a:spcPts val="275"/>
                </a:spcBef>
              </a:pPr>
              <a:r>
                <a:rPr sz="1000" b="1" dirty="0">
                  <a:latin typeface="Tahoma"/>
                  <a:cs typeface="Tahoma"/>
                </a:rPr>
                <a:t>10</a:t>
              </a:r>
              <a:endParaRPr sz="1000">
                <a:latin typeface="Tahoma"/>
                <a:cs typeface="Tahoma"/>
              </a:endParaRPr>
            </a:p>
            <a:p>
              <a:pPr marL="635" algn="ctr">
                <a:lnSpc>
                  <a:spcPts val="1175"/>
                </a:lnSpc>
              </a:pPr>
              <a:r>
                <a:rPr sz="1000" b="1" spc="-20" dirty="0">
                  <a:latin typeface="Tahoma"/>
                  <a:cs typeface="Tahoma"/>
                </a:rPr>
                <a:t>BAJOS </a:t>
              </a:r>
              <a:r>
                <a:rPr sz="1000" b="1" spc="-15" dirty="0">
                  <a:latin typeface="Tahoma"/>
                  <a:cs typeface="Tahoma"/>
                </a:rPr>
                <a:t>PRECIOS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15" dirty="0">
                  <a:latin typeface="Tahoma"/>
                  <a:cs typeface="Tahoma"/>
                </a:rPr>
                <a:t>EN</a:t>
              </a:r>
              <a:endParaRPr sz="1000">
                <a:latin typeface="Tahoma"/>
                <a:cs typeface="Tahoma"/>
              </a:endParaRPr>
            </a:p>
            <a:p>
              <a:pPr marL="6350" algn="ctr">
                <a:lnSpc>
                  <a:spcPct val="100000"/>
                </a:lnSpc>
                <a:spcBef>
                  <a:spcPts val="80"/>
                </a:spcBef>
              </a:pPr>
              <a:r>
                <a:rPr sz="1000" b="1" spc="-10" dirty="0">
                  <a:latin typeface="Tahoma"/>
                  <a:cs typeface="Tahoma"/>
                </a:rPr>
                <a:t>EPOCA </a:t>
              </a:r>
              <a:r>
                <a:rPr sz="1000" b="1" spc="5" dirty="0">
                  <a:latin typeface="Tahoma"/>
                  <a:cs typeface="Tahoma"/>
                </a:rPr>
                <a:t>DE</a:t>
              </a:r>
              <a:r>
                <a:rPr sz="1000" b="1" spc="-17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COSECHA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141578" y="4101991"/>
              <a:ext cx="1329055" cy="520065"/>
            </a:xfrm>
            <a:custGeom>
              <a:avLst/>
              <a:gdLst/>
              <a:ahLst/>
              <a:cxnLst/>
              <a:rect l="l" t="t" r="r" b="b"/>
              <a:pathLst>
                <a:path w="1329054" h="520064">
                  <a:moveTo>
                    <a:pt x="0" y="519673"/>
                  </a:moveTo>
                  <a:lnTo>
                    <a:pt x="1328638" y="519673"/>
                  </a:lnTo>
                  <a:lnTo>
                    <a:pt x="1328638" y="0"/>
                  </a:lnTo>
                  <a:lnTo>
                    <a:pt x="0" y="0"/>
                  </a:lnTo>
                  <a:lnTo>
                    <a:pt x="0" y="51967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5209834" y="4121963"/>
              <a:ext cx="1197610" cy="4743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algn="ctr">
                <a:lnSpc>
                  <a:spcPts val="1175"/>
                </a:lnSpc>
                <a:spcBef>
                  <a:spcPts val="125"/>
                </a:spcBef>
              </a:pPr>
              <a:r>
                <a:rPr sz="1000" b="1" dirty="0">
                  <a:latin typeface="Tahoma"/>
                  <a:cs typeface="Tahoma"/>
                </a:rPr>
                <a:t>14</a:t>
              </a:r>
              <a:endParaRPr sz="1000">
                <a:latin typeface="Tahoma"/>
                <a:cs typeface="Tahoma"/>
              </a:endParaRPr>
            </a:p>
            <a:p>
              <a:pPr marL="12700" marR="5080" algn="ctr">
                <a:lnSpc>
                  <a:spcPts val="1150"/>
                </a:lnSpc>
                <a:spcBef>
                  <a:spcPts val="55"/>
                </a:spcBef>
              </a:pPr>
              <a:r>
                <a:rPr sz="1000" b="1" dirty="0">
                  <a:latin typeface="Tahoma"/>
                  <a:cs typeface="Tahoma"/>
                </a:rPr>
                <a:t>FRUTA </a:t>
              </a:r>
              <a:r>
                <a:rPr sz="1000" b="1" spc="5" dirty="0">
                  <a:latin typeface="Tahoma"/>
                  <a:cs typeface="Tahoma"/>
                </a:rPr>
                <a:t>SE</a:t>
              </a:r>
              <a:r>
                <a:rPr sz="1000" b="1" spc="-200" dirty="0">
                  <a:latin typeface="Tahoma"/>
                  <a:cs typeface="Tahoma"/>
                </a:rPr>
                <a:t> </a:t>
              </a:r>
              <a:r>
                <a:rPr sz="1000" b="1" spc="-15" dirty="0">
                  <a:latin typeface="Tahoma"/>
                  <a:cs typeface="Tahoma"/>
                </a:rPr>
                <a:t>EMPACA  </a:t>
              </a:r>
              <a:r>
                <a:rPr sz="1000" b="1" spc="10" dirty="0">
                  <a:latin typeface="Tahoma"/>
                  <a:cs typeface="Tahoma"/>
                </a:rPr>
                <a:t>SIN</a:t>
              </a:r>
              <a:r>
                <a:rPr sz="1000" b="1" spc="-8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SELECCIÓN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6583402" y="4037276"/>
              <a:ext cx="1426845" cy="681990"/>
            </a:xfrm>
            <a:prstGeom prst="rect">
              <a:avLst/>
            </a:prstGeom>
            <a:solidFill>
              <a:srgbClr val="DDDDDD"/>
            </a:solidFill>
          </p:spPr>
          <p:txBody>
            <a:bodyPr vert="horz" wrap="square" lIns="0" tIns="34925" rIns="0" bIns="0" rtlCol="0">
              <a:spAutoFit/>
            </a:bodyPr>
            <a:lstStyle/>
            <a:p>
              <a:pPr marL="17780" algn="ctr">
                <a:lnSpc>
                  <a:spcPts val="1175"/>
                </a:lnSpc>
                <a:spcBef>
                  <a:spcPts val="275"/>
                </a:spcBef>
              </a:pPr>
              <a:r>
                <a:rPr sz="1000" b="1" spc="15" dirty="0">
                  <a:latin typeface="Tahoma"/>
                  <a:cs typeface="Tahoma"/>
                </a:rPr>
                <a:t>4</a:t>
              </a:r>
              <a:endParaRPr sz="1000">
                <a:latin typeface="Tahoma"/>
                <a:cs typeface="Tahoma"/>
              </a:endParaRPr>
            </a:p>
            <a:p>
              <a:pPr marL="259079" marR="234315" indent="-59690" algn="ctr">
                <a:lnSpc>
                  <a:spcPts val="1150"/>
                </a:lnSpc>
                <a:spcBef>
                  <a:spcPts val="55"/>
                </a:spcBef>
              </a:pPr>
              <a:r>
                <a:rPr sz="1000" b="1" spc="-15" dirty="0">
                  <a:latin typeface="Tahoma"/>
                  <a:cs typeface="Tahoma"/>
                </a:rPr>
                <a:t>ABUNDANCIA  </a:t>
              </a:r>
              <a:r>
                <a:rPr sz="1000" b="1" spc="5" dirty="0">
                  <a:latin typeface="Tahoma"/>
                  <a:cs typeface="Tahoma"/>
                </a:rPr>
                <a:t>DE </a:t>
              </a:r>
              <a:r>
                <a:rPr sz="1000" b="1" spc="-20" dirty="0">
                  <a:latin typeface="Tahoma"/>
                  <a:cs typeface="Tahoma"/>
                </a:rPr>
                <a:t>OFERTA</a:t>
              </a:r>
              <a:r>
                <a:rPr sz="1000" b="1" spc="-95" dirty="0">
                  <a:latin typeface="Tahoma"/>
                  <a:cs typeface="Tahoma"/>
                </a:rPr>
                <a:t> </a:t>
              </a:r>
              <a:r>
                <a:rPr sz="1000" b="1" spc="15" dirty="0">
                  <a:latin typeface="Tahoma"/>
                  <a:cs typeface="Tahoma"/>
                </a:rPr>
                <a:t>EN</a:t>
              </a:r>
              <a:endParaRPr sz="1000">
                <a:latin typeface="Tahoma"/>
                <a:cs typeface="Tahoma"/>
              </a:endParaRPr>
            </a:p>
            <a:p>
              <a:pPr marL="6350" algn="ctr">
                <a:lnSpc>
                  <a:spcPct val="100000"/>
                </a:lnSpc>
                <a:spcBef>
                  <a:spcPts val="50"/>
                </a:spcBef>
              </a:pPr>
              <a:r>
                <a:rPr sz="1000" b="1" spc="-10" dirty="0">
                  <a:latin typeface="Tahoma"/>
                  <a:cs typeface="Tahoma"/>
                </a:rPr>
                <a:t>EPOCA </a:t>
              </a:r>
              <a:r>
                <a:rPr sz="1000" b="1" spc="5" dirty="0">
                  <a:latin typeface="Tahoma"/>
                  <a:cs typeface="Tahoma"/>
                </a:rPr>
                <a:t>DE</a:t>
              </a:r>
              <a:r>
                <a:rPr sz="1000" b="1" spc="-15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COSECHA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590910" y="2088512"/>
              <a:ext cx="1879600" cy="682625"/>
            </a:xfrm>
            <a:custGeom>
              <a:avLst/>
              <a:gdLst/>
              <a:ahLst/>
              <a:cxnLst/>
              <a:rect l="l" t="t" r="r" b="b"/>
              <a:pathLst>
                <a:path w="1879600" h="682625">
                  <a:moveTo>
                    <a:pt x="0" y="682469"/>
                  </a:moveTo>
                  <a:lnTo>
                    <a:pt x="1879414" y="682469"/>
                  </a:lnTo>
                  <a:lnTo>
                    <a:pt x="1879414" y="0"/>
                  </a:lnTo>
                  <a:lnTo>
                    <a:pt x="0" y="0"/>
                  </a:lnTo>
                  <a:lnTo>
                    <a:pt x="0" y="682469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590910" y="2108397"/>
              <a:ext cx="1879600" cy="63627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R="24765" algn="ctr">
                <a:lnSpc>
                  <a:spcPts val="1175"/>
                </a:lnSpc>
                <a:spcBef>
                  <a:spcPts val="125"/>
                </a:spcBef>
              </a:pPr>
              <a:r>
                <a:rPr sz="1000" b="1" dirty="0">
                  <a:latin typeface="Tahoma"/>
                  <a:cs typeface="Tahoma"/>
                </a:rPr>
                <a:t>12</a:t>
              </a:r>
              <a:endParaRPr sz="1000">
                <a:latin typeface="Tahoma"/>
                <a:cs typeface="Tahoma"/>
              </a:endParaRPr>
            </a:p>
            <a:p>
              <a:pPr marR="57150" algn="ctr">
                <a:lnSpc>
                  <a:spcPts val="1175"/>
                </a:lnSpc>
              </a:pPr>
              <a:r>
                <a:rPr sz="1000" b="1" spc="-15" dirty="0">
                  <a:latin typeface="Tahoma"/>
                  <a:cs typeface="Tahoma"/>
                </a:rPr>
                <a:t>COMPRADORES</a:t>
              </a:r>
              <a:r>
                <a:rPr sz="1000" b="1" spc="-10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CASTIGAN</a:t>
              </a:r>
              <a:endParaRPr sz="1000">
                <a:latin typeface="Tahoma"/>
                <a:cs typeface="Tahoma"/>
              </a:endParaRPr>
            </a:p>
            <a:p>
              <a:pPr marL="128905" marR="142240" indent="-43180" algn="ctr">
                <a:lnSpc>
                  <a:spcPts val="1150"/>
                </a:lnSpc>
                <a:spcBef>
                  <a:spcPts val="155"/>
                </a:spcBef>
              </a:pPr>
              <a:r>
                <a:rPr sz="1000" b="1" spc="-15" dirty="0">
                  <a:latin typeface="Tahoma"/>
                  <a:cs typeface="Tahoma"/>
                </a:rPr>
                <a:t>PRECIOS </a:t>
              </a:r>
              <a:r>
                <a:rPr sz="1000" b="1" spc="-5" dirty="0">
                  <a:latin typeface="Tahoma"/>
                  <a:cs typeface="Tahoma"/>
                </a:rPr>
                <a:t>POR </a:t>
              </a:r>
              <a:r>
                <a:rPr sz="1000" b="1" spc="5" dirty="0">
                  <a:latin typeface="Tahoma"/>
                  <a:cs typeface="Tahoma"/>
                </a:rPr>
                <a:t>NO  </a:t>
              </a:r>
              <a:r>
                <a:rPr sz="1000" b="1" spc="-10" dirty="0">
                  <a:latin typeface="Tahoma"/>
                  <a:cs typeface="Tahoma"/>
                </a:rPr>
                <a:t>SELECCIÓN </a:t>
              </a:r>
              <a:r>
                <a:rPr sz="1000" b="1" spc="15" dirty="0">
                  <a:latin typeface="Tahoma"/>
                  <a:cs typeface="Tahoma"/>
                </a:rPr>
                <a:t>EN</a:t>
              </a:r>
              <a:r>
                <a:rPr sz="1000" b="1" spc="-180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EMPAQUE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1026179" y="2153660"/>
              <a:ext cx="1588135" cy="53594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34925" rIns="0" bIns="0" rtlCol="0">
              <a:spAutoFit/>
            </a:bodyPr>
            <a:lstStyle/>
            <a:p>
              <a:pPr marR="24765" algn="ctr">
                <a:lnSpc>
                  <a:spcPts val="1175"/>
                </a:lnSpc>
                <a:spcBef>
                  <a:spcPts val="275"/>
                </a:spcBef>
              </a:pPr>
              <a:r>
                <a:rPr sz="1000" b="1" dirty="0">
                  <a:latin typeface="Tahoma"/>
                  <a:cs typeface="Tahoma"/>
                </a:rPr>
                <a:t>15</a:t>
              </a:r>
              <a:endParaRPr sz="1000">
                <a:latin typeface="Tahoma"/>
                <a:cs typeface="Tahoma"/>
              </a:endParaRPr>
            </a:p>
            <a:p>
              <a:pPr marR="13335" algn="ctr">
                <a:lnSpc>
                  <a:spcPts val="1175"/>
                </a:lnSpc>
              </a:pPr>
              <a:r>
                <a:rPr sz="1000" b="1" spc="-10" dirty="0">
                  <a:latin typeface="Tahoma"/>
                  <a:cs typeface="Tahoma"/>
                </a:rPr>
                <a:t>CONTAMINACIÓN</a:t>
              </a:r>
              <a:r>
                <a:rPr sz="1000" b="1" spc="-9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POR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  <a:spcBef>
                  <a:spcPts val="80"/>
                </a:spcBef>
              </a:pPr>
              <a:r>
                <a:rPr sz="1000" b="1" spc="-10" dirty="0">
                  <a:latin typeface="Tahoma"/>
                  <a:cs typeface="Tahoma"/>
                </a:rPr>
                <a:t>FRUTAS</a:t>
              </a:r>
              <a:r>
                <a:rPr sz="1000" b="1" spc="-60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DAÑADAS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929076" y="4849133"/>
              <a:ext cx="1280160" cy="681990"/>
            </a:xfrm>
            <a:custGeom>
              <a:avLst/>
              <a:gdLst/>
              <a:ahLst/>
              <a:cxnLst/>
              <a:rect l="l" t="t" r="r" b="b"/>
              <a:pathLst>
                <a:path w="1280160" h="681989">
                  <a:moveTo>
                    <a:pt x="0" y="681949"/>
                  </a:moveTo>
                  <a:lnTo>
                    <a:pt x="1279545" y="681949"/>
                  </a:lnTo>
                  <a:lnTo>
                    <a:pt x="1279545" y="0"/>
                  </a:lnTo>
                  <a:lnTo>
                    <a:pt x="0" y="0"/>
                  </a:lnTo>
                  <a:lnTo>
                    <a:pt x="0" y="681949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997310" y="4868585"/>
              <a:ext cx="1144270" cy="63627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4604" algn="ctr">
                <a:lnSpc>
                  <a:spcPts val="1175"/>
                </a:lnSpc>
                <a:spcBef>
                  <a:spcPts val="125"/>
                </a:spcBef>
              </a:pPr>
              <a:r>
                <a:rPr sz="1000" b="1" dirty="0">
                  <a:latin typeface="Tahoma"/>
                  <a:cs typeface="Tahoma"/>
                </a:rPr>
                <a:t>13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ts val="1175"/>
                </a:lnSpc>
              </a:pPr>
              <a:r>
                <a:rPr sz="1000" b="1" spc="-5" dirty="0">
                  <a:latin typeface="Tahoma"/>
                  <a:cs typeface="Tahoma"/>
                </a:rPr>
                <a:t>M</a:t>
              </a:r>
              <a:r>
                <a:rPr sz="1000" b="1" spc="-50" dirty="0">
                  <a:latin typeface="Tahoma"/>
                  <a:cs typeface="Tahoma"/>
                </a:rPr>
                <a:t>A</a:t>
              </a:r>
              <a:r>
                <a:rPr sz="1000" b="1" spc="-10" dirty="0">
                  <a:latin typeface="Tahoma"/>
                  <a:cs typeface="Tahoma"/>
                </a:rPr>
                <a:t>N</a:t>
              </a:r>
              <a:r>
                <a:rPr sz="1000" b="1" spc="15" dirty="0">
                  <a:latin typeface="Tahoma"/>
                  <a:cs typeface="Tahoma"/>
                </a:rPr>
                <a:t>TE</a:t>
              </a:r>
              <a:r>
                <a:rPr sz="1000" b="1" spc="-10" dirty="0">
                  <a:latin typeface="Tahoma"/>
                  <a:cs typeface="Tahoma"/>
                </a:rPr>
                <a:t>N</a:t>
              </a:r>
              <a:r>
                <a:rPr sz="1000" b="1" spc="-105" dirty="0">
                  <a:latin typeface="Tahoma"/>
                  <a:cs typeface="Tahoma"/>
                </a:rPr>
                <a:t>I</a:t>
              </a:r>
              <a:r>
                <a:rPr sz="1000" b="1" spc="-5" dirty="0">
                  <a:latin typeface="Tahoma"/>
                  <a:cs typeface="Tahoma"/>
                </a:rPr>
                <a:t>M</a:t>
              </a:r>
              <a:r>
                <a:rPr sz="1000" b="1" spc="20" dirty="0">
                  <a:latin typeface="Tahoma"/>
                  <a:cs typeface="Tahoma"/>
                </a:rPr>
                <a:t>I</a:t>
              </a:r>
              <a:r>
                <a:rPr sz="1000" b="1" spc="15" dirty="0">
                  <a:latin typeface="Tahoma"/>
                  <a:cs typeface="Tahoma"/>
                </a:rPr>
                <a:t>E</a:t>
              </a:r>
              <a:r>
                <a:rPr sz="1000" b="1" spc="-10" dirty="0">
                  <a:latin typeface="Tahoma"/>
                  <a:cs typeface="Tahoma"/>
                </a:rPr>
                <a:t>N</a:t>
              </a:r>
              <a:r>
                <a:rPr sz="1000" b="1" spc="-110" dirty="0">
                  <a:latin typeface="Tahoma"/>
                  <a:cs typeface="Tahoma"/>
                </a:rPr>
                <a:t>T</a:t>
              </a:r>
              <a:r>
                <a:rPr sz="1000" b="1" spc="15" dirty="0">
                  <a:latin typeface="Tahoma"/>
                  <a:cs typeface="Tahoma"/>
                </a:rPr>
                <a:t>O</a:t>
              </a:r>
              <a:endParaRPr sz="1000">
                <a:latin typeface="Tahoma"/>
                <a:cs typeface="Tahoma"/>
              </a:endParaRPr>
            </a:p>
            <a:p>
              <a:pPr marL="44450" marR="38100" indent="-35560" algn="ctr">
                <a:lnSpc>
                  <a:spcPts val="1150"/>
                </a:lnSpc>
                <a:spcBef>
                  <a:spcPts val="155"/>
                </a:spcBef>
              </a:pPr>
              <a:r>
                <a:rPr sz="1000" b="1" spc="-15" dirty="0">
                  <a:latin typeface="Tahoma"/>
                  <a:cs typeface="Tahoma"/>
                </a:rPr>
                <a:t>DEFICIENTE </a:t>
              </a:r>
              <a:r>
                <a:rPr sz="1000" b="1" spc="5" dirty="0">
                  <a:latin typeface="Tahoma"/>
                  <a:cs typeface="Tahoma"/>
                </a:rPr>
                <a:t>DE  </a:t>
              </a:r>
              <a:r>
                <a:rPr sz="1000" b="1" spc="-35" dirty="0">
                  <a:latin typeface="Tahoma"/>
                  <a:cs typeface="Tahoma"/>
                </a:rPr>
                <a:t>C</a:t>
              </a:r>
              <a:r>
                <a:rPr sz="1000" b="1" spc="-10" dirty="0">
                  <a:latin typeface="Tahoma"/>
                  <a:cs typeface="Tahoma"/>
                </a:rPr>
                <a:t>O</a:t>
              </a:r>
              <a:r>
                <a:rPr sz="1000" b="1" dirty="0">
                  <a:latin typeface="Tahoma"/>
                  <a:cs typeface="Tahoma"/>
                </a:rPr>
                <a:t>S</a:t>
              </a:r>
              <a:r>
                <a:rPr sz="1000" b="1" spc="15" dirty="0">
                  <a:latin typeface="Tahoma"/>
                  <a:cs typeface="Tahoma"/>
                </a:rPr>
                <a:t>E</a:t>
              </a:r>
              <a:r>
                <a:rPr sz="1000" b="1" spc="-35" dirty="0">
                  <a:latin typeface="Tahoma"/>
                  <a:cs typeface="Tahoma"/>
                </a:rPr>
                <a:t>C</a:t>
              </a:r>
              <a:r>
                <a:rPr sz="1000" b="1" spc="-5" dirty="0">
                  <a:latin typeface="Tahoma"/>
                  <a:cs typeface="Tahoma"/>
                </a:rPr>
                <a:t>H</a:t>
              </a:r>
              <a:r>
                <a:rPr sz="1000" b="1" spc="-50" dirty="0">
                  <a:latin typeface="Tahoma"/>
                  <a:cs typeface="Tahoma"/>
                </a:rPr>
                <a:t>A</a:t>
              </a:r>
              <a:r>
                <a:rPr sz="1000" b="1" dirty="0">
                  <a:latin typeface="Tahoma"/>
                  <a:cs typeface="Tahoma"/>
                </a:rPr>
                <a:t>D</a:t>
              </a:r>
              <a:r>
                <a:rPr sz="1000" b="1" spc="-10" dirty="0">
                  <a:latin typeface="Tahoma"/>
                  <a:cs typeface="Tahoma"/>
                </a:rPr>
                <a:t>O</a:t>
              </a:r>
              <a:r>
                <a:rPr sz="1000" b="1" spc="35" dirty="0">
                  <a:latin typeface="Tahoma"/>
                  <a:cs typeface="Tahoma"/>
                </a:rPr>
                <a:t>R</a:t>
              </a:r>
              <a:r>
                <a:rPr sz="1000" b="1" spc="-50" dirty="0">
                  <a:latin typeface="Tahoma"/>
                  <a:cs typeface="Tahoma"/>
                </a:rPr>
                <a:t>A</a:t>
              </a:r>
              <a:r>
                <a:rPr sz="1000" b="1" spc="15" dirty="0">
                  <a:latin typeface="Tahoma"/>
                  <a:cs typeface="Tahoma"/>
                </a:rPr>
                <a:t>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1074730" y="1082010"/>
              <a:ext cx="1264285" cy="68199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34925" rIns="0" bIns="0" rtlCol="0">
              <a:spAutoFit/>
            </a:bodyPr>
            <a:lstStyle/>
            <a:p>
              <a:pPr marL="17145" algn="ctr">
                <a:lnSpc>
                  <a:spcPct val="100000"/>
                </a:lnSpc>
                <a:spcBef>
                  <a:spcPts val="275"/>
                </a:spcBef>
              </a:pPr>
              <a:r>
                <a:rPr sz="1000" b="1" spc="15" dirty="0">
                  <a:latin typeface="Tahoma"/>
                  <a:cs typeface="Tahoma"/>
                </a:rPr>
                <a:t>6</a:t>
              </a:r>
              <a:endParaRPr sz="1000">
                <a:latin typeface="Tahoma"/>
                <a:cs typeface="Tahoma"/>
              </a:endParaRPr>
            </a:p>
            <a:p>
              <a:pPr marL="80645" marR="104775" algn="ctr">
                <a:lnSpc>
                  <a:spcPct val="96000"/>
                </a:lnSpc>
                <a:spcBef>
                  <a:spcPts val="125"/>
                </a:spcBef>
              </a:pPr>
              <a:r>
                <a:rPr sz="1000" b="1" spc="-25" dirty="0">
                  <a:latin typeface="Tahoma"/>
                  <a:cs typeface="Tahoma"/>
                </a:rPr>
                <a:t>P</a:t>
              </a:r>
              <a:r>
                <a:rPr sz="1000" b="1" spc="35" dirty="0">
                  <a:latin typeface="Tahoma"/>
                  <a:cs typeface="Tahoma"/>
                </a:rPr>
                <a:t>R</a:t>
              </a:r>
              <a:r>
                <a:rPr sz="1000" b="1" spc="-10" dirty="0">
                  <a:latin typeface="Tahoma"/>
                  <a:cs typeface="Tahoma"/>
                </a:rPr>
                <a:t>O</a:t>
              </a:r>
              <a:r>
                <a:rPr sz="1000" b="1" spc="-70" dirty="0">
                  <a:latin typeface="Tahoma"/>
                  <a:cs typeface="Tahoma"/>
                </a:rPr>
                <a:t>L</a:t>
              </a:r>
              <a:r>
                <a:rPr sz="1000" b="1" spc="20" dirty="0">
                  <a:latin typeface="Tahoma"/>
                  <a:cs typeface="Tahoma"/>
                </a:rPr>
                <a:t>I</a:t>
              </a:r>
              <a:r>
                <a:rPr sz="1000" b="1" spc="-75" dirty="0">
                  <a:latin typeface="Tahoma"/>
                  <a:cs typeface="Tahoma"/>
                </a:rPr>
                <a:t>F</a:t>
              </a:r>
              <a:r>
                <a:rPr sz="1000" b="1" spc="15" dirty="0">
                  <a:latin typeface="Tahoma"/>
                  <a:cs typeface="Tahoma"/>
                </a:rPr>
                <a:t>E</a:t>
              </a:r>
              <a:r>
                <a:rPr sz="1000" b="1" spc="35" dirty="0">
                  <a:latin typeface="Tahoma"/>
                  <a:cs typeface="Tahoma"/>
                </a:rPr>
                <a:t>R</a:t>
              </a:r>
              <a:r>
                <a:rPr sz="1000" b="1" spc="-50" dirty="0">
                  <a:latin typeface="Tahoma"/>
                  <a:cs typeface="Tahoma"/>
                </a:rPr>
                <a:t>A</a:t>
              </a:r>
              <a:r>
                <a:rPr sz="1000" b="1" spc="-35" dirty="0">
                  <a:latin typeface="Tahoma"/>
                  <a:cs typeface="Tahoma"/>
                </a:rPr>
                <a:t>C</a:t>
              </a:r>
              <a:r>
                <a:rPr sz="1000" b="1" spc="20" dirty="0">
                  <a:latin typeface="Tahoma"/>
                  <a:cs typeface="Tahoma"/>
                </a:rPr>
                <a:t>I</a:t>
              </a:r>
              <a:r>
                <a:rPr sz="1000" b="1" spc="-10" dirty="0">
                  <a:latin typeface="Tahoma"/>
                  <a:cs typeface="Tahoma"/>
                </a:rPr>
                <a:t>Ó</a:t>
              </a:r>
              <a:r>
                <a:rPr sz="1000" b="1" spc="10" dirty="0">
                  <a:latin typeface="Tahoma"/>
                  <a:cs typeface="Tahoma"/>
                </a:rPr>
                <a:t>N  </a:t>
              </a:r>
              <a:r>
                <a:rPr sz="1000" b="1" spc="5" dirty="0">
                  <a:latin typeface="Tahoma"/>
                  <a:cs typeface="Tahoma"/>
                </a:rPr>
                <a:t>DE </a:t>
              </a:r>
              <a:r>
                <a:rPr sz="1000" b="1" spc="-10" dirty="0">
                  <a:latin typeface="Tahoma"/>
                  <a:cs typeface="Tahoma"/>
                </a:rPr>
                <a:t>PLAGAS </a:t>
              </a:r>
              <a:r>
                <a:rPr sz="1000" b="1" spc="15" dirty="0">
                  <a:latin typeface="Tahoma"/>
                  <a:cs typeface="Tahoma"/>
                </a:rPr>
                <a:t>Y  </a:t>
              </a:r>
              <a:r>
                <a:rPr sz="1000" b="1" dirty="0">
                  <a:latin typeface="Tahoma"/>
                  <a:cs typeface="Tahoma"/>
                </a:rPr>
                <a:t>MALOS</a:t>
              </a:r>
              <a:r>
                <a:rPr sz="1000" b="1" spc="-80" dirty="0">
                  <a:latin typeface="Tahoma"/>
                  <a:cs typeface="Tahoma"/>
                </a:rPr>
                <a:t> </a:t>
              </a:r>
              <a:r>
                <a:rPr sz="1000" b="1" spc="-25" dirty="0">
                  <a:latin typeface="Tahoma"/>
                  <a:cs typeface="Tahoma"/>
                </a:rPr>
                <a:t>OLORES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585051" y="4678797"/>
              <a:ext cx="713740" cy="178435"/>
            </a:xfrm>
            <a:custGeom>
              <a:avLst/>
              <a:gdLst/>
              <a:ahLst/>
              <a:cxnLst/>
              <a:rect l="l" t="t" r="r" b="b"/>
              <a:pathLst>
                <a:path w="713739" h="178435">
                  <a:moveTo>
                    <a:pt x="0" y="178438"/>
                  </a:moveTo>
                  <a:lnTo>
                    <a:pt x="0" y="64693"/>
                  </a:lnTo>
                  <a:lnTo>
                    <a:pt x="713141" y="64693"/>
                  </a:lnTo>
                  <a:lnTo>
                    <a:pt x="713141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57736" y="4621665"/>
              <a:ext cx="81280" cy="81915"/>
            </a:xfrm>
            <a:custGeom>
              <a:avLst/>
              <a:gdLst/>
              <a:ahLst/>
              <a:cxnLst/>
              <a:rect l="l" t="t" r="r" b="b"/>
              <a:pathLst>
                <a:path w="81280" h="81914">
                  <a:moveTo>
                    <a:pt x="32360" y="0"/>
                  </a:moveTo>
                  <a:lnTo>
                    <a:pt x="0" y="81398"/>
                  </a:lnTo>
                  <a:lnTo>
                    <a:pt x="80911" y="81398"/>
                  </a:lnTo>
                  <a:lnTo>
                    <a:pt x="32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98192" y="4678797"/>
              <a:ext cx="648335" cy="227329"/>
            </a:xfrm>
            <a:custGeom>
              <a:avLst/>
              <a:gdLst/>
              <a:ahLst/>
              <a:cxnLst/>
              <a:rect l="l" t="t" r="r" b="b"/>
              <a:pathLst>
                <a:path w="648335" h="227329">
                  <a:moveTo>
                    <a:pt x="647857" y="226948"/>
                  </a:moveTo>
                  <a:lnTo>
                    <a:pt x="647857" y="97040"/>
                  </a:lnTo>
                  <a:lnTo>
                    <a:pt x="0" y="97040"/>
                  </a:lnTo>
                  <a:lnTo>
                    <a:pt x="0" y="0"/>
                  </a:lnTo>
                </a:path>
              </a:pathLst>
            </a:custGeom>
            <a:ln w="16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57736" y="4621665"/>
              <a:ext cx="81280" cy="81915"/>
            </a:xfrm>
            <a:custGeom>
              <a:avLst/>
              <a:gdLst/>
              <a:ahLst/>
              <a:cxnLst/>
              <a:rect l="l" t="t" r="r" b="b"/>
              <a:pathLst>
                <a:path w="81280" h="81914">
                  <a:moveTo>
                    <a:pt x="32360" y="0"/>
                  </a:moveTo>
                  <a:lnTo>
                    <a:pt x="0" y="81398"/>
                  </a:lnTo>
                  <a:lnTo>
                    <a:pt x="80911" y="81398"/>
                  </a:lnTo>
                  <a:lnTo>
                    <a:pt x="32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09945" y="4678797"/>
              <a:ext cx="308610" cy="243204"/>
            </a:xfrm>
            <a:custGeom>
              <a:avLst/>
              <a:gdLst/>
              <a:ahLst/>
              <a:cxnLst/>
              <a:rect l="l" t="t" r="r" b="b"/>
              <a:pathLst>
                <a:path w="308610" h="243204">
                  <a:moveTo>
                    <a:pt x="308019" y="243132"/>
                  </a:moveTo>
                  <a:lnTo>
                    <a:pt x="308019" y="97040"/>
                  </a:lnTo>
                  <a:lnTo>
                    <a:pt x="0" y="97040"/>
                  </a:lnTo>
                  <a:lnTo>
                    <a:pt x="0" y="0"/>
                  </a:lnTo>
                </a:path>
              </a:pathLst>
            </a:custGeom>
            <a:ln w="16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69467" y="4621665"/>
              <a:ext cx="81280" cy="81915"/>
            </a:xfrm>
            <a:custGeom>
              <a:avLst/>
              <a:gdLst/>
              <a:ahLst/>
              <a:cxnLst/>
              <a:rect l="l" t="t" r="r" b="b"/>
              <a:pathLst>
                <a:path w="81279" h="81914">
                  <a:moveTo>
                    <a:pt x="32468" y="0"/>
                  </a:moveTo>
                  <a:lnTo>
                    <a:pt x="0" y="81398"/>
                  </a:lnTo>
                  <a:lnTo>
                    <a:pt x="80955" y="81398"/>
                  </a:lnTo>
                  <a:lnTo>
                    <a:pt x="32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38562" y="2827529"/>
              <a:ext cx="276225" cy="1282700"/>
            </a:xfrm>
            <a:custGeom>
              <a:avLst/>
              <a:gdLst/>
              <a:ahLst/>
              <a:cxnLst/>
              <a:rect l="l" t="t" r="r" b="b"/>
              <a:pathLst>
                <a:path w="276225" h="1282700">
                  <a:moveTo>
                    <a:pt x="275766" y="1282544"/>
                  </a:moveTo>
                  <a:lnTo>
                    <a:pt x="275766" y="616822"/>
                  </a:lnTo>
                  <a:lnTo>
                    <a:pt x="0" y="616822"/>
                  </a:lnTo>
                  <a:lnTo>
                    <a:pt x="0" y="0"/>
                  </a:lnTo>
                </a:path>
              </a:pathLst>
            </a:custGeom>
            <a:ln w="16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98084" y="2770981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32468" y="0"/>
                  </a:moveTo>
                  <a:lnTo>
                    <a:pt x="0" y="80813"/>
                  </a:lnTo>
                  <a:lnTo>
                    <a:pt x="80955" y="80813"/>
                  </a:lnTo>
                  <a:lnTo>
                    <a:pt x="32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04639" y="2746282"/>
              <a:ext cx="0" cy="1299210"/>
            </a:xfrm>
            <a:custGeom>
              <a:avLst/>
              <a:gdLst/>
              <a:ahLst/>
              <a:cxnLst/>
              <a:rect l="l" t="t" r="r" b="b"/>
              <a:pathLst>
                <a:path h="1299210">
                  <a:moveTo>
                    <a:pt x="0" y="1299096"/>
                  </a:moveTo>
                  <a:lnTo>
                    <a:pt x="0" y="617255"/>
                  </a:lnTo>
                  <a:lnTo>
                    <a:pt x="0" y="0"/>
                  </a:lnTo>
                </a:path>
              </a:pathLst>
            </a:custGeom>
            <a:ln w="16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64161" y="2689518"/>
              <a:ext cx="81280" cy="81915"/>
            </a:xfrm>
            <a:custGeom>
              <a:avLst/>
              <a:gdLst/>
              <a:ahLst/>
              <a:cxnLst/>
              <a:rect l="l" t="t" r="r" b="b"/>
              <a:pathLst>
                <a:path w="81279" h="81914">
                  <a:moveTo>
                    <a:pt x="32468" y="0"/>
                  </a:moveTo>
                  <a:lnTo>
                    <a:pt x="0" y="81463"/>
                  </a:lnTo>
                  <a:lnTo>
                    <a:pt x="80955" y="81463"/>
                  </a:lnTo>
                  <a:lnTo>
                    <a:pt x="32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56456" y="3777353"/>
              <a:ext cx="745490" cy="325120"/>
            </a:xfrm>
            <a:custGeom>
              <a:avLst/>
              <a:gdLst/>
              <a:ahLst/>
              <a:cxnLst/>
              <a:rect l="l" t="t" r="r" b="b"/>
              <a:pathLst>
                <a:path w="745489" h="325120">
                  <a:moveTo>
                    <a:pt x="745479" y="324617"/>
                  </a:moveTo>
                  <a:lnTo>
                    <a:pt x="745479" y="113853"/>
                  </a:lnTo>
                  <a:lnTo>
                    <a:pt x="0" y="113853"/>
                  </a:lnTo>
                  <a:lnTo>
                    <a:pt x="0" y="0"/>
                  </a:lnTo>
                </a:path>
              </a:pathLst>
            </a:custGeom>
            <a:ln w="16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7753" y="3696106"/>
              <a:ext cx="113664" cy="114300"/>
            </a:xfrm>
            <a:custGeom>
              <a:avLst/>
              <a:gdLst/>
              <a:ahLst/>
              <a:cxnLst/>
              <a:rect l="l" t="t" r="r" b="b"/>
              <a:pathLst>
                <a:path w="113664" h="114300">
                  <a:moveTo>
                    <a:pt x="48702" y="0"/>
                  </a:moveTo>
                  <a:lnTo>
                    <a:pt x="0" y="113744"/>
                  </a:lnTo>
                  <a:lnTo>
                    <a:pt x="113423" y="113744"/>
                  </a:lnTo>
                  <a:lnTo>
                    <a:pt x="487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90096" y="3777353"/>
              <a:ext cx="1166495" cy="325120"/>
            </a:xfrm>
            <a:custGeom>
              <a:avLst/>
              <a:gdLst/>
              <a:ahLst/>
              <a:cxnLst/>
              <a:rect l="l" t="t" r="r" b="b"/>
              <a:pathLst>
                <a:path w="1166495" h="325120">
                  <a:moveTo>
                    <a:pt x="0" y="324617"/>
                  </a:moveTo>
                  <a:lnTo>
                    <a:pt x="0" y="113853"/>
                  </a:lnTo>
                  <a:lnTo>
                    <a:pt x="1166359" y="113853"/>
                  </a:lnTo>
                  <a:lnTo>
                    <a:pt x="1166359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07753" y="3696106"/>
              <a:ext cx="113664" cy="114300"/>
            </a:xfrm>
            <a:custGeom>
              <a:avLst/>
              <a:gdLst/>
              <a:ahLst/>
              <a:cxnLst/>
              <a:rect l="l" t="t" r="r" b="b"/>
              <a:pathLst>
                <a:path w="113664" h="114300">
                  <a:moveTo>
                    <a:pt x="48702" y="0"/>
                  </a:moveTo>
                  <a:lnTo>
                    <a:pt x="0" y="113744"/>
                  </a:lnTo>
                  <a:lnTo>
                    <a:pt x="113423" y="113744"/>
                  </a:lnTo>
                  <a:lnTo>
                    <a:pt x="487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28327" y="2746282"/>
              <a:ext cx="1636395" cy="422275"/>
            </a:xfrm>
            <a:custGeom>
              <a:avLst/>
              <a:gdLst/>
              <a:ahLst/>
              <a:cxnLst/>
              <a:rect l="l" t="t" r="r" b="b"/>
              <a:pathLst>
                <a:path w="1636395" h="422275">
                  <a:moveTo>
                    <a:pt x="1636137" y="422047"/>
                  </a:moveTo>
                  <a:lnTo>
                    <a:pt x="1636137" y="178958"/>
                  </a:lnTo>
                  <a:lnTo>
                    <a:pt x="0" y="178958"/>
                  </a:lnTo>
                  <a:lnTo>
                    <a:pt x="0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87330" y="2689518"/>
              <a:ext cx="81915" cy="81915"/>
            </a:xfrm>
            <a:custGeom>
              <a:avLst/>
              <a:gdLst/>
              <a:ahLst/>
              <a:cxnLst/>
              <a:rect l="l" t="t" r="r" b="b"/>
              <a:pathLst>
                <a:path w="81914" h="81914">
                  <a:moveTo>
                    <a:pt x="32901" y="0"/>
                  </a:moveTo>
                  <a:lnTo>
                    <a:pt x="0" y="81463"/>
                  </a:lnTo>
                  <a:lnTo>
                    <a:pt x="81452" y="81463"/>
                  </a:lnTo>
                  <a:lnTo>
                    <a:pt x="329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464465" y="2584006"/>
              <a:ext cx="179070" cy="584835"/>
            </a:xfrm>
            <a:custGeom>
              <a:avLst/>
              <a:gdLst/>
              <a:ahLst/>
              <a:cxnLst/>
              <a:rect l="l" t="t" r="r" b="b"/>
              <a:pathLst>
                <a:path w="179070" h="584835">
                  <a:moveTo>
                    <a:pt x="0" y="584323"/>
                  </a:moveTo>
                  <a:lnTo>
                    <a:pt x="0" y="276020"/>
                  </a:lnTo>
                  <a:lnTo>
                    <a:pt x="178577" y="276020"/>
                  </a:lnTo>
                  <a:lnTo>
                    <a:pt x="178577" y="0"/>
                  </a:lnTo>
                </a:path>
              </a:pathLst>
            </a:custGeom>
            <a:ln w="161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02565" y="2527242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32252" y="0"/>
                  </a:moveTo>
                  <a:lnTo>
                    <a:pt x="0" y="81029"/>
                  </a:lnTo>
                  <a:lnTo>
                    <a:pt x="80955" y="81029"/>
                  </a:lnTo>
                  <a:lnTo>
                    <a:pt x="32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14514" y="1820507"/>
              <a:ext cx="114300" cy="341630"/>
            </a:xfrm>
            <a:custGeom>
              <a:avLst/>
              <a:gdLst/>
              <a:ahLst/>
              <a:cxnLst/>
              <a:rect l="l" t="t" r="r" b="b"/>
              <a:pathLst>
                <a:path w="114300" h="341630">
                  <a:moveTo>
                    <a:pt x="113813" y="341234"/>
                  </a:moveTo>
                  <a:lnTo>
                    <a:pt x="113813" y="146676"/>
                  </a:lnTo>
                  <a:lnTo>
                    <a:pt x="0" y="146676"/>
                  </a:lnTo>
                  <a:lnTo>
                    <a:pt x="0" y="0"/>
                  </a:lnTo>
                </a:path>
              </a:pathLst>
            </a:custGeom>
            <a:ln w="161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674058" y="1763959"/>
              <a:ext cx="81280" cy="81915"/>
            </a:xfrm>
            <a:custGeom>
              <a:avLst/>
              <a:gdLst/>
              <a:ahLst/>
              <a:cxnLst/>
              <a:rect l="l" t="t" r="r" b="b"/>
              <a:pathLst>
                <a:path w="81280" h="81914">
                  <a:moveTo>
                    <a:pt x="32360" y="0"/>
                  </a:moveTo>
                  <a:lnTo>
                    <a:pt x="0" y="81463"/>
                  </a:lnTo>
                  <a:lnTo>
                    <a:pt x="80911" y="81463"/>
                  </a:lnTo>
                  <a:lnTo>
                    <a:pt x="32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43043" y="1674480"/>
              <a:ext cx="64769" cy="487680"/>
            </a:xfrm>
            <a:custGeom>
              <a:avLst/>
              <a:gdLst/>
              <a:ahLst/>
              <a:cxnLst/>
              <a:rect l="l" t="t" r="r" b="b"/>
              <a:pathLst>
                <a:path w="64770" h="487680">
                  <a:moveTo>
                    <a:pt x="0" y="487261"/>
                  </a:moveTo>
                  <a:lnTo>
                    <a:pt x="0" y="227489"/>
                  </a:lnTo>
                  <a:lnTo>
                    <a:pt x="64720" y="227489"/>
                  </a:lnTo>
                  <a:lnTo>
                    <a:pt x="64720" y="0"/>
                  </a:lnTo>
                </a:path>
              </a:pathLst>
            </a:custGeom>
            <a:ln w="16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67286" y="1617933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32468" y="0"/>
                  </a:moveTo>
                  <a:lnTo>
                    <a:pt x="0" y="81246"/>
                  </a:lnTo>
                  <a:lnTo>
                    <a:pt x="80955" y="81246"/>
                  </a:lnTo>
                  <a:lnTo>
                    <a:pt x="32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707763" y="1674480"/>
              <a:ext cx="1831339" cy="422275"/>
            </a:xfrm>
            <a:custGeom>
              <a:avLst/>
              <a:gdLst/>
              <a:ahLst/>
              <a:cxnLst/>
              <a:rect l="l" t="t" r="r" b="b"/>
              <a:pathLst>
                <a:path w="1831339" h="422275">
                  <a:moveTo>
                    <a:pt x="1830798" y="422047"/>
                  </a:moveTo>
                  <a:lnTo>
                    <a:pt x="1830798" y="195207"/>
                  </a:lnTo>
                  <a:lnTo>
                    <a:pt x="0" y="195207"/>
                  </a:lnTo>
                  <a:lnTo>
                    <a:pt x="0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667286" y="1617933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32468" y="0"/>
                  </a:moveTo>
                  <a:lnTo>
                    <a:pt x="0" y="81246"/>
                  </a:lnTo>
                  <a:lnTo>
                    <a:pt x="80955" y="81246"/>
                  </a:lnTo>
                  <a:lnTo>
                    <a:pt x="32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707763" y="1626048"/>
              <a:ext cx="3597275" cy="536112"/>
            </a:xfrm>
            <a:custGeom>
              <a:avLst/>
              <a:gdLst/>
              <a:ahLst/>
              <a:cxnLst/>
              <a:rect l="l" t="t" r="r" b="b"/>
              <a:pathLst>
                <a:path w="3597275" h="487680">
                  <a:moveTo>
                    <a:pt x="3596875" y="487261"/>
                  </a:moveTo>
                  <a:lnTo>
                    <a:pt x="3596875" y="227489"/>
                  </a:lnTo>
                  <a:lnTo>
                    <a:pt x="0" y="227489"/>
                  </a:lnTo>
                  <a:lnTo>
                    <a:pt x="0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67286" y="1617933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32468" y="0"/>
                  </a:moveTo>
                  <a:lnTo>
                    <a:pt x="0" y="81246"/>
                  </a:lnTo>
                  <a:lnTo>
                    <a:pt x="80955" y="81246"/>
                  </a:lnTo>
                  <a:lnTo>
                    <a:pt x="32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401111" y="4913827"/>
              <a:ext cx="1814830" cy="681990"/>
            </a:xfrm>
            <a:custGeom>
              <a:avLst/>
              <a:gdLst/>
              <a:ahLst/>
              <a:cxnLst/>
              <a:rect l="l" t="t" r="r" b="b"/>
              <a:pathLst>
                <a:path w="1814829" h="681989">
                  <a:moveTo>
                    <a:pt x="0" y="681949"/>
                  </a:moveTo>
                  <a:lnTo>
                    <a:pt x="1814671" y="681949"/>
                  </a:lnTo>
                  <a:lnTo>
                    <a:pt x="1814671" y="0"/>
                  </a:lnTo>
                  <a:lnTo>
                    <a:pt x="0" y="0"/>
                  </a:lnTo>
                  <a:lnTo>
                    <a:pt x="0" y="681949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5453132" y="4933820"/>
              <a:ext cx="1694180" cy="63627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R="7620" algn="ctr">
                <a:lnSpc>
                  <a:spcPts val="1175"/>
                </a:lnSpc>
                <a:spcBef>
                  <a:spcPts val="125"/>
                </a:spcBef>
              </a:pPr>
              <a:r>
                <a:rPr sz="1000" b="1" dirty="0">
                  <a:latin typeface="Tahoma"/>
                  <a:cs typeface="Tahoma"/>
                </a:rPr>
                <a:t>11</a:t>
              </a:r>
              <a:endParaRPr sz="1000">
                <a:latin typeface="Tahoma"/>
                <a:cs typeface="Tahoma"/>
              </a:endParaRPr>
            </a:p>
            <a:p>
              <a:pPr marL="93345" marR="88900" algn="ctr">
                <a:lnSpc>
                  <a:spcPts val="1150"/>
                </a:lnSpc>
                <a:spcBef>
                  <a:spcPts val="55"/>
                </a:spcBef>
              </a:pPr>
              <a:r>
                <a:rPr sz="1000" b="1" spc="-20" dirty="0">
                  <a:latin typeface="Tahoma"/>
                  <a:cs typeface="Tahoma"/>
                </a:rPr>
                <a:t>DESCONOCIMIENTO </a:t>
              </a:r>
              <a:r>
                <a:rPr sz="1000" b="1" spc="5" dirty="0">
                  <a:latin typeface="Tahoma"/>
                  <a:cs typeface="Tahoma"/>
                </a:rPr>
                <a:t>DE  </a:t>
              </a:r>
              <a:r>
                <a:rPr sz="1000" b="1" spc="-10" dirty="0">
                  <a:latin typeface="Tahoma"/>
                  <a:cs typeface="Tahoma"/>
                </a:rPr>
                <a:t>TECNOLOGÍAS</a:t>
              </a:r>
              <a:r>
                <a:rPr sz="1000" b="1" spc="-70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PARA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  <a:spcBef>
                  <a:spcPts val="45"/>
                </a:spcBef>
              </a:pPr>
              <a:r>
                <a:rPr sz="1000" b="1" spc="-5" dirty="0">
                  <a:latin typeface="Tahoma"/>
                  <a:cs typeface="Tahoma"/>
                </a:rPr>
                <a:t>EMPAQUE</a:t>
              </a:r>
              <a:r>
                <a:rPr sz="1000" b="1" spc="-10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SELECCIONADO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5814329" y="4678797"/>
              <a:ext cx="502284" cy="243204"/>
            </a:xfrm>
            <a:custGeom>
              <a:avLst/>
              <a:gdLst/>
              <a:ahLst/>
              <a:cxnLst/>
              <a:rect l="l" t="t" r="r" b="b"/>
              <a:pathLst>
                <a:path w="502285" h="243204">
                  <a:moveTo>
                    <a:pt x="502181" y="243132"/>
                  </a:moveTo>
                  <a:lnTo>
                    <a:pt x="502181" y="97040"/>
                  </a:lnTo>
                  <a:lnTo>
                    <a:pt x="0" y="97040"/>
                  </a:lnTo>
                  <a:lnTo>
                    <a:pt x="0" y="0"/>
                  </a:lnTo>
                </a:path>
              </a:pathLst>
            </a:custGeom>
            <a:ln w="16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773851" y="4621665"/>
              <a:ext cx="81280" cy="81915"/>
            </a:xfrm>
            <a:custGeom>
              <a:avLst/>
              <a:gdLst/>
              <a:ahLst/>
              <a:cxnLst/>
              <a:rect l="l" t="t" r="r" b="b"/>
              <a:pathLst>
                <a:path w="81279" h="81914">
                  <a:moveTo>
                    <a:pt x="32252" y="0"/>
                  </a:moveTo>
                  <a:lnTo>
                    <a:pt x="0" y="81398"/>
                  </a:lnTo>
                  <a:lnTo>
                    <a:pt x="80955" y="81398"/>
                  </a:lnTo>
                  <a:lnTo>
                    <a:pt x="32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209800" y="2895600"/>
              <a:ext cx="2514600" cy="1143000"/>
            </a:xfrm>
            <a:custGeom>
              <a:avLst/>
              <a:gdLst/>
              <a:ahLst/>
              <a:cxnLst/>
              <a:rect l="l" t="t" r="r" b="b"/>
              <a:pathLst>
                <a:path w="2514600" h="1143000">
                  <a:moveTo>
                    <a:pt x="0" y="571500"/>
                  </a:moveTo>
                  <a:lnTo>
                    <a:pt x="6490" y="513073"/>
                  </a:lnTo>
                  <a:lnTo>
                    <a:pt x="25541" y="456333"/>
                  </a:lnTo>
                  <a:lnTo>
                    <a:pt x="56521" y="401566"/>
                  </a:lnTo>
                  <a:lnTo>
                    <a:pt x="98798" y="349061"/>
                  </a:lnTo>
                  <a:lnTo>
                    <a:pt x="151739" y="299104"/>
                  </a:lnTo>
                  <a:lnTo>
                    <a:pt x="182012" y="275172"/>
                  </a:lnTo>
                  <a:lnTo>
                    <a:pt x="214714" y="251984"/>
                  </a:lnTo>
                  <a:lnTo>
                    <a:pt x="249766" y="229577"/>
                  </a:lnTo>
                  <a:lnTo>
                    <a:pt x="287090" y="207987"/>
                  </a:lnTo>
                  <a:lnTo>
                    <a:pt x="326606" y="187250"/>
                  </a:lnTo>
                  <a:lnTo>
                    <a:pt x="368236" y="167401"/>
                  </a:lnTo>
                  <a:lnTo>
                    <a:pt x="411900" y="148477"/>
                  </a:lnTo>
                  <a:lnTo>
                    <a:pt x="457520" y="130514"/>
                  </a:lnTo>
                  <a:lnTo>
                    <a:pt x="505016" y="113547"/>
                  </a:lnTo>
                  <a:lnTo>
                    <a:pt x="554310" y="97612"/>
                  </a:lnTo>
                  <a:lnTo>
                    <a:pt x="605322" y="82746"/>
                  </a:lnTo>
                  <a:lnTo>
                    <a:pt x="657974" y="68984"/>
                  </a:lnTo>
                  <a:lnTo>
                    <a:pt x="712187" y="56362"/>
                  </a:lnTo>
                  <a:lnTo>
                    <a:pt x="767881" y="44916"/>
                  </a:lnTo>
                  <a:lnTo>
                    <a:pt x="824978" y="34682"/>
                  </a:lnTo>
                  <a:lnTo>
                    <a:pt x="883399" y="25696"/>
                  </a:lnTo>
                  <a:lnTo>
                    <a:pt x="943064" y="17994"/>
                  </a:lnTo>
                  <a:lnTo>
                    <a:pt x="1003896" y="11612"/>
                  </a:lnTo>
                  <a:lnTo>
                    <a:pt x="1065814" y="6585"/>
                  </a:lnTo>
                  <a:lnTo>
                    <a:pt x="1128740" y="2950"/>
                  </a:lnTo>
                  <a:lnTo>
                    <a:pt x="1192595" y="743"/>
                  </a:lnTo>
                  <a:lnTo>
                    <a:pt x="1257300" y="0"/>
                  </a:lnTo>
                  <a:lnTo>
                    <a:pt x="1322004" y="743"/>
                  </a:lnTo>
                  <a:lnTo>
                    <a:pt x="1385859" y="2950"/>
                  </a:lnTo>
                  <a:lnTo>
                    <a:pt x="1448785" y="6585"/>
                  </a:lnTo>
                  <a:lnTo>
                    <a:pt x="1510703" y="11612"/>
                  </a:lnTo>
                  <a:lnTo>
                    <a:pt x="1571535" y="17994"/>
                  </a:lnTo>
                  <a:lnTo>
                    <a:pt x="1631200" y="25696"/>
                  </a:lnTo>
                  <a:lnTo>
                    <a:pt x="1689621" y="34682"/>
                  </a:lnTo>
                  <a:lnTo>
                    <a:pt x="1746718" y="44916"/>
                  </a:lnTo>
                  <a:lnTo>
                    <a:pt x="1802412" y="56362"/>
                  </a:lnTo>
                  <a:lnTo>
                    <a:pt x="1856625" y="68984"/>
                  </a:lnTo>
                  <a:lnTo>
                    <a:pt x="1909277" y="82746"/>
                  </a:lnTo>
                  <a:lnTo>
                    <a:pt x="1960289" y="97612"/>
                  </a:lnTo>
                  <a:lnTo>
                    <a:pt x="2009583" y="113547"/>
                  </a:lnTo>
                  <a:lnTo>
                    <a:pt x="2057079" y="130514"/>
                  </a:lnTo>
                  <a:lnTo>
                    <a:pt x="2102699" y="148477"/>
                  </a:lnTo>
                  <a:lnTo>
                    <a:pt x="2146363" y="167401"/>
                  </a:lnTo>
                  <a:lnTo>
                    <a:pt x="2187993" y="187250"/>
                  </a:lnTo>
                  <a:lnTo>
                    <a:pt x="2227509" y="207987"/>
                  </a:lnTo>
                  <a:lnTo>
                    <a:pt x="2264833" y="229577"/>
                  </a:lnTo>
                  <a:lnTo>
                    <a:pt x="2299885" y="251984"/>
                  </a:lnTo>
                  <a:lnTo>
                    <a:pt x="2332587" y="275172"/>
                  </a:lnTo>
                  <a:lnTo>
                    <a:pt x="2362860" y="299104"/>
                  </a:lnTo>
                  <a:lnTo>
                    <a:pt x="2415801" y="349061"/>
                  </a:lnTo>
                  <a:lnTo>
                    <a:pt x="2458078" y="401566"/>
                  </a:lnTo>
                  <a:lnTo>
                    <a:pt x="2489058" y="456333"/>
                  </a:lnTo>
                  <a:lnTo>
                    <a:pt x="2508109" y="513073"/>
                  </a:lnTo>
                  <a:lnTo>
                    <a:pt x="2514600" y="571500"/>
                  </a:lnTo>
                  <a:lnTo>
                    <a:pt x="2512964" y="600906"/>
                  </a:lnTo>
                  <a:lnTo>
                    <a:pt x="2508109" y="629926"/>
                  </a:lnTo>
                  <a:lnTo>
                    <a:pt x="2489058" y="686666"/>
                  </a:lnTo>
                  <a:lnTo>
                    <a:pt x="2458078" y="741433"/>
                  </a:lnTo>
                  <a:lnTo>
                    <a:pt x="2415801" y="793938"/>
                  </a:lnTo>
                  <a:lnTo>
                    <a:pt x="2362860" y="843895"/>
                  </a:lnTo>
                  <a:lnTo>
                    <a:pt x="2332587" y="867827"/>
                  </a:lnTo>
                  <a:lnTo>
                    <a:pt x="2299885" y="891015"/>
                  </a:lnTo>
                  <a:lnTo>
                    <a:pt x="2264833" y="913422"/>
                  </a:lnTo>
                  <a:lnTo>
                    <a:pt x="2227509" y="935012"/>
                  </a:lnTo>
                  <a:lnTo>
                    <a:pt x="2187993" y="955749"/>
                  </a:lnTo>
                  <a:lnTo>
                    <a:pt x="2146363" y="975598"/>
                  </a:lnTo>
                  <a:lnTo>
                    <a:pt x="2102699" y="994522"/>
                  </a:lnTo>
                  <a:lnTo>
                    <a:pt x="2057079" y="1012485"/>
                  </a:lnTo>
                  <a:lnTo>
                    <a:pt x="2009583" y="1029452"/>
                  </a:lnTo>
                  <a:lnTo>
                    <a:pt x="1960289" y="1045387"/>
                  </a:lnTo>
                  <a:lnTo>
                    <a:pt x="1909277" y="1060253"/>
                  </a:lnTo>
                  <a:lnTo>
                    <a:pt x="1856625" y="1074015"/>
                  </a:lnTo>
                  <a:lnTo>
                    <a:pt x="1802412" y="1086637"/>
                  </a:lnTo>
                  <a:lnTo>
                    <a:pt x="1746718" y="1098083"/>
                  </a:lnTo>
                  <a:lnTo>
                    <a:pt x="1689621" y="1108317"/>
                  </a:lnTo>
                  <a:lnTo>
                    <a:pt x="1631200" y="1117303"/>
                  </a:lnTo>
                  <a:lnTo>
                    <a:pt x="1571535" y="1125005"/>
                  </a:lnTo>
                  <a:lnTo>
                    <a:pt x="1510703" y="1131387"/>
                  </a:lnTo>
                  <a:lnTo>
                    <a:pt x="1448785" y="1136414"/>
                  </a:lnTo>
                  <a:lnTo>
                    <a:pt x="1385859" y="1140049"/>
                  </a:lnTo>
                  <a:lnTo>
                    <a:pt x="1322004" y="1142256"/>
                  </a:lnTo>
                  <a:lnTo>
                    <a:pt x="1257300" y="1143000"/>
                  </a:lnTo>
                  <a:lnTo>
                    <a:pt x="1192595" y="1142256"/>
                  </a:lnTo>
                  <a:lnTo>
                    <a:pt x="1128740" y="1140049"/>
                  </a:lnTo>
                  <a:lnTo>
                    <a:pt x="1065814" y="1136414"/>
                  </a:lnTo>
                  <a:lnTo>
                    <a:pt x="1003896" y="1131387"/>
                  </a:lnTo>
                  <a:lnTo>
                    <a:pt x="943064" y="1125005"/>
                  </a:lnTo>
                  <a:lnTo>
                    <a:pt x="883399" y="1117303"/>
                  </a:lnTo>
                  <a:lnTo>
                    <a:pt x="824978" y="1108317"/>
                  </a:lnTo>
                  <a:lnTo>
                    <a:pt x="767881" y="1098083"/>
                  </a:lnTo>
                  <a:lnTo>
                    <a:pt x="712187" y="1086637"/>
                  </a:lnTo>
                  <a:lnTo>
                    <a:pt x="657974" y="1074015"/>
                  </a:lnTo>
                  <a:lnTo>
                    <a:pt x="605322" y="1060253"/>
                  </a:lnTo>
                  <a:lnTo>
                    <a:pt x="554310" y="1045387"/>
                  </a:lnTo>
                  <a:lnTo>
                    <a:pt x="505016" y="1029452"/>
                  </a:lnTo>
                  <a:lnTo>
                    <a:pt x="457520" y="1012485"/>
                  </a:lnTo>
                  <a:lnTo>
                    <a:pt x="411900" y="994522"/>
                  </a:lnTo>
                  <a:lnTo>
                    <a:pt x="368236" y="975598"/>
                  </a:lnTo>
                  <a:lnTo>
                    <a:pt x="326606" y="955749"/>
                  </a:lnTo>
                  <a:lnTo>
                    <a:pt x="287090" y="935012"/>
                  </a:lnTo>
                  <a:lnTo>
                    <a:pt x="249766" y="913422"/>
                  </a:lnTo>
                  <a:lnTo>
                    <a:pt x="214714" y="891015"/>
                  </a:lnTo>
                  <a:lnTo>
                    <a:pt x="182012" y="867827"/>
                  </a:lnTo>
                  <a:lnTo>
                    <a:pt x="151739" y="843895"/>
                  </a:lnTo>
                  <a:lnTo>
                    <a:pt x="98798" y="793938"/>
                  </a:lnTo>
                  <a:lnTo>
                    <a:pt x="56521" y="741433"/>
                  </a:lnTo>
                  <a:lnTo>
                    <a:pt x="25541" y="686666"/>
                  </a:lnTo>
                  <a:lnTo>
                    <a:pt x="6490" y="629926"/>
                  </a:lnTo>
                  <a:lnTo>
                    <a:pt x="0" y="571500"/>
                  </a:lnTo>
                  <a:close/>
                </a:path>
              </a:pathLst>
            </a:custGeom>
            <a:ln w="3810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52400" y="527139"/>
            <a:ext cx="7171055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en-US"/>
            </a:defPPr>
            <a:lvl1pPr marL="12700" defTabSz="457200">
              <a:lnSpc>
                <a:spcPct val="100000"/>
              </a:lnSpc>
              <a:spcBef>
                <a:spcPts val="10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sz="3200" dirty="0"/>
              <a:t>d) Selección del Problema Central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69853"/>
            <a:ext cx="65303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2270" marR="5080" indent="-1640205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Criterios orientadores para seleccionar  el Problema</a:t>
            </a:r>
            <a:r>
              <a:rPr sz="2800" spc="20" dirty="0"/>
              <a:t> </a:t>
            </a:r>
            <a:r>
              <a:rPr sz="2800" spc="-5" dirty="0"/>
              <a:t>Central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228601" y="1676400"/>
            <a:ext cx="7239000" cy="40731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409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Que </a:t>
            </a:r>
            <a:r>
              <a:rPr sz="2000" dirty="0">
                <a:solidFill>
                  <a:srgbClr val="333399"/>
                </a:solidFill>
                <a:latin typeface="Comic Sans MS"/>
                <a:cs typeface="Comic Sans MS"/>
              </a:rPr>
              <a:t>se </a:t>
            </a: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trate de un </a:t>
            </a:r>
            <a:r>
              <a:rPr sz="2000" i="1" spc="-60" dirty="0">
                <a:solidFill>
                  <a:srgbClr val="333399"/>
                </a:solidFill>
                <a:latin typeface="Comic Sans MS"/>
                <a:cs typeface="Comic Sans MS"/>
              </a:rPr>
              <a:t>nodo</a:t>
            </a:r>
            <a:r>
              <a:rPr sz="2000" i="1" spc="-7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2000" i="1" spc="-45" dirty="0">
                <a:solidFill>
                  <a:srgbClr val="333399"/>
                </a:solidFill>
                <a:latin typeface="Comic Sans MS"/>
                <a:cs typeface="Comic Sans MS"/>
              </a:rPr>
              <a:t>crítico</a:t>
            </a:r>
            <a:endParaRPr sz="2000" dirty="0">
              <a:latin typeface="Comic Sans MS"/>
              <a:cs typeface="Comic Sans MS"/>
            </a:endParaRPr>
          </a:p>
          <a:p>
            <a:pPr marL="355600" marR="58419" indent="-343535" algn="just">
              <a:lnSpc>
                <a:spcPts val="2590"/>
              </a:lnSpc>
              <a:spcBef>
                <a:spcPts val="595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spc="-5" dirty="0">
                <a:latin typeface="Comic Sans MS"/>
                <a:cs typeface="Comic Sans MS"/>
              </a:rPr>
              <a:t>Que tenga un </a:t>
            </a:r>
            <a:r>
              <a:rPr sz="2000" dirty="0">
                <a:latin typeface="Comic Sans MS"/>
                <a:cs typeface="Comic Sans MS"/>
              </a:rPr>
              <a:t>alcance </a:t>
            </a:r>
            <a:r>
              <a:rPr sz="2000" spc="-5" dirty="0">
                <a:latin typeface="Comic Sans MS"/>
                <a:cs typeface="Comic Sans MS"/>
              </a:rPr>
              <a:t>que trascienda </a:t>
            </a:r>
            <a:r>
              <a:rPr sz="2000" dirty="0">
                <a:latin typeface="Comic Sans MS"/>
                <a:cs typeface="Comic Sans MS"/>
              </a:rPr>
              <a:t>a la </a:t>
            </a:r>
            <a:r>
              <a:rPr sz="2000" spc="-5" dirty="0">
                <a:latin typeface="Comic Sans MS"/>
                <a:cs typeface="Comic Sans MS"/>
              </a:rPr>
              <a:t>mayoría  de </a:t>
            </a:r>
            <a:r>
              <a:rPr sz="2000" dirty="0">
                <a:latin typeface="Comic Sans MS"/>
                <a:cs typeface="Comic Sans MS"/>
              </a:rPr>
              <a:t>los </a:t>
            </a:r>
            <a:r>
              <a:rPr sz="2000" spc="-10" dirty="0">
                <a:latin typeface="Comic Sans MS"/>
                <a:cs typeface="Comic Sans MS"/>
              </a:rPr>
              <a:t>involucrados </a:t>
            </a:r>
            <a:r>
              <a:rPr sz="2000" dirty="0">
                <a:latin typeface="Comic Sans MS"/>
                <a:cs typeface="Comic Sans MS"/>
              </a:rPr>
              <a:t>claves </a:t>
            </a:r>
            <a:r>
              <a:rPr sz="2000" spc="-5" dirty="0">
                <a:latin typeface="Comic Sans MS"/>
                <a:cs typeface="Comic Sans MS"/>
              </a:rPr>
              <a:t>(a </a:t>
            </a:r>
            <a:r>
              <a:rPr sz="2000" dirty="0">
                <a:latin typeface="Comic Sans MS"/>
                <a:cs typeface="Comic Sans MS"/>
              </a:rPr>
              <a:t>la población </a:t>
            </a:r>
            <a:r>
              <a:rPr sz="2000" spc="-5" dirty="0">
                <a:latin typeface="Comic Sans MS"/>
                <a:cs typeface="Comic Sans MS"/>
              </a:rPr>
              <a:t>más  afectada).</a:t>
            </a:r>
            <a:endParaRPr sz="2000" dirty="0">
              <a:latin typeface="Comic Sans MS"/>
              <a:cs typeface="Comic Sans MS"/>
            </a:endParaRPr>
          </a:p>
          <a:p>
            <a:pPr marL="355600" marR="5080" indent="-343535" algn="just">
              <a:lnSpc>
                <a:spcPts val="2590"/>
              </a:lnSpc>
              <a:spcBef>
                <a:spcPts val="585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Que </a:t>
            </a:r>
            <a:r>
              <a:rPr sz="2000" dirty="0">
                <a:solidFill>
                  <a:srgbClr val="333399"/>
                </a:solidFill>
                <a:latin typeface="Comic Sans MS"/>
                <a:cs typeface="Comic Sans MS"/>
              </a:rPr>
              <a:t>corresponda a </a:t>
            </a: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un nivel de gobernabilidad </a:t>
            </a:r>
            <a:r>
              <a:rPr sz="2000" dirty="0">
                <a:solidFill>
                  <a:srgbClr val="333399"/>
                </a:solidFill>
                <a:latin typeface="Comic Sans MS"/>
                <a:cs typeface="Comic Sans MS"/>
              </a:rPr>
              <a:t>por  las </a:t>
            </a: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instituciones</a:t>
            </a:r>
            <a:r>
              <a:rPr sz="2000" spc="-4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afectadas.</a:t>
            </a:r>
            <a:endParaRPr sz="2000" dirty="0">
              <a:latin typeface="Comic Sans MS"/>
              <a:cs typeface="Comic Sans MS"/>
            </a:endParaRPr>
          </a:p>
          <a:p>
            <a:pPr marL="355600" marR="412750" indent="-343535" algn="just">
              <a:lnSpc>
                <a:spcPts val="2590"/>
              </a:lnSpc>
              <a:spcBef>
                <a:spcPts val="580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spc="-5" dirty="0">
                <a:latin typeface="Comic Sans MS"/>
                <a:cs typeface="Comic Sans MS"/>
              </a:rPr>
              <a:t>Que </a:t>
            </a:r>
            <a:r>
              <a:rPr sz="2000" dirty="0">
                <a:latin typeface="Comic Sans MS"/>
                <a:cs typeface="Comic Sans MS"/>
              </a:rPr>
              <a:t>se </a:t>
            </a:r>
            <a:r>
              <a:rPr sz="2000" spc="-5" dirty="0">
                <a:latin typeface="Comic Sans MS"/>
                <a:cs typeface="Comic Sans MS"/>
              </a:rPr>
              <a:t>disponga de </a:t>
            </a:r>
            <a:r>
              <a:rPr sz="2000" dirty="0">
                <a:latin typeface="Comic Sans MS"/>
                <a:cs typeface="Comic Sans MS"/>
              </a:rPr>
              <a:t>las </a:t>
            </a:r>
            <a:r>
              <a:rPr sz="2000" spc="-5" dirty="0">
                <a:latin typeface="Comic Sans MS"/>
                <a:cs typeface="Comic Sans MS"/>
              </a:rPr>
              <a:t>capacidades </a:t>
            </a:r>
            <a:r>
              <a:rPr sz="2000" dirty="0">
                <a:latin typeface="Comic Sans MS"/>
                <a:cs typeface="Comic Sans MS"/>
              </a:rPr>
              <a:t>y </a:t>
            </a:r>
            <a:r>
              <a:rPr sz="2000" spc="-5" dirty="0">
                <a:latin typeface="Comic Sans MS"/>
                <a:cs typeface="Comic Sans MS"/>
              </a:rPr>
              <a:t>recursos  </a:t>
            </a:r>
            <a:r>
              <a:rPr sz="2000" dirty="0">
                <a:latin typeface="Comic Sans MS"/>
                <a:cs typeface="Comic Sans MS"/>
              </a:rPr>
              <a:t>para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resolverlo.</a:t>
            </a:r>
            <a:endParaRPr sz="2000" dirty="0">
              <a:latin typeface="Comic Sans MS"/>
              <a:cs typeface="Comic Sans MS"/>
            </a:endParaRPr>
          </a:p>
          <a:p>
            <a:pPr marL="355600" indent="-343535" algn="just">
              <a:lnSpc>
                <a:spcPct val="100000"/>
              </a:lnSpc>
              <a:spcBef>
                <a:spcPts val="254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Que </a:t>
            </a:r>
            <a:r>
              <a:rPr sz="2000" dirty="0">
                <a:solidFill>
                  <a:srgbClr val="333399"/>
                </a:solidFill>
                <a:latin typeface="Comic Sans MS"/>
                <a:cs typeface="Comic Sans MS"/>
              </a:rPr>
              <a:t>haya especial </a:t>
            </a: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urgencia </a:t>
            </a:r>
            <a:r>
              <a:rPr sz="2000" dirty="0">
                <a:solidFill>
                  <a:srgbClr val="333399"/>
                </a:solidFill>
                <a:latin typeface="Comic Sans MS"/>
                <a:cs typeface="Comic Sans MS"/>
              </a:rPr>
              <a:t>en</a:t>
            </a:r>
            <a:r>
              <a:rPr sz="2000" spc="-5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resolverlo.</a:t>
            </a:r>
            <a:endParaRPr sz="2000" dirty="0">
              <a:latin typeface="Comic Sans MS"/>
              <a:cs typeface="Comic Sans MS"/>
            </a:endParaRPr>
          </a:p>
          <a:p>
            <a:pPr marL="355600" marR="567690" indent="-343535" algn="just">
              <a:lnSpc>
                <a:spcPts val="2590"/>
              </a:lnSpc>
              <a:spcBef>
                <a:spcPts val="615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spc="-5" dirty="0">
                <a:latin typeface="Comic Sans MS"/>
                <a:cs typeface="Comic Sans MS"/>
              </a:rPr>
              <a:t>Que movilice compromiso </a:t>
            </a:r>
            <a:r>
              <a:rPr sz="2000" dirty="0">
                <a:latin typeface="Comic Sans MS"/>
                <a:cs typeface="Comic Sans MS"/>
              </a:rPr>
              <a:t>por los </a:t>
            </a:r>
            <a:r>
              <a:rPr sz="2000" spc="-10" dirty="0">
                <a:latin typeface="Comic Sans MS"/>
                <a:cs typeface="Comic Sans MS"/>
              </a:rPr>
              <a:t>involucrados  </a:t>
            </a:r>
            <a:r>
              <a:rPr sz="2000" dirty="0">
                <a:latin typeface="Comic Sans MS"/>
                <a:cs typeface="Comic Sans MS"/>
              </a:rPr>
              <a:t>claves.</a:t>
            </a:r>
          </a:p>
          <a:p>
            <a:pPr marL="355600" marR="97790" indent="-343535" algn="just">
              <a:lnSpc>
                <a:spcPts val="2590"/>
              </a:lnSpc>
              <a:spcBef>
                <a:spcPts val="580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Que </a:t>
            </a:r>
            <a:r>
              <a:rPr sz="2000" dirty="0">
                <a:solidFill>
                  <a:srgbClr val="333399"/>
                </a:solidFill>
                <a:latin typeface="Comic Sans MS"/>
                <a:cs typeface="Comic Sans MS"/>
              </a:rPr>
              <a:t>haya conveniencia </a:t>
            </a: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estratégica (demostrar  </a:t>
            </a:r>
            <a:r>
              <a:rPr sz="2000" spc="-10" dirty="0">
                <a:solidFill>
                  <a:srgbClr val="333399"/>
                </a:solidFill>
                <a:latin typeface="Comic Sans MS"/>
                <a:cs typeface="Comic Sans MS"/>
              </a:rPr>
              <a:t>viabilidad, </a:t>
            </a:r>
            <a:r>
              <a:rPr sz="2000" dirty="0">
                <a:solidFill>
                  <a:srgbClr val="333399"/>
                </a:solidFill>
                <a:latin typeface="Comic Sans MS"/>
                <a:cs typeface="Comic Sans MS"/>
              </a:rPr>
              <a:t>prueba piloto, </a:t>
            </a:r>
            <a:r>
              <a:rPr sz="2000" spc="-5" dirty="0">
                <a:solidFill>
                  <a:srgbClr val="333399"/>
                </a:solidFill>
                <a:latin typeface="Comic Sans MS"/>
                <a:cs typeface="Comic Sans MS"/>
              </a:rPr>
              <a:t>desarrollo</a:t>
            </a:r>
            <a:r>
              <a:rPr sz="2000" spc="-6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333399"/>
                </a:solidFill>
                <a:latin typeface="Comic Sans MS"/>
                <a:cs typeface="Comic Sans MS"/>
              </a:rPr>
              <a:t>progresivo...)</a:t>
            </a:r>
            <a:endParaRPr sz="20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5800"/>
            <a:ext cx="382651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4800" spc="-5" dirty="0"/>
              <a:t>Paso 2:</a:t>
            </a:r>
            <a:endParaRPr sz="4800" dirty="0"/>
          </a:p>
        </p:txBody>
      </p:sp>
      <p:sp>
        <p:nvSpPr>
          <p:cNvPr id="4" name="object 4"/>
          <p:cNvSpPr txBox="1"/>
          <p:nvPr/>
        </p:nvSpPr>
        <p:spPr>
          <a:xfrm>
            <a:off x="3200400" y="3138650"/>
            <a:ext cx="3810000" cy="88549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065" marR="5080" algn="ctr">
              <a:lnSpc>
                <a:spcPts val="3240"/>
              </a:lnSpc>
              <a:spcBef>
                <a:spcPts val="505"/>
              </a:spcBef>
              <a:buClr>
                <a:srgbClr val="333399"/>
              </a:buClr>
              <a:tabLst>
                <a:tab pos="393065" algn="l"/>
              </a:tabLst>
            </a:pPr>
            <a:r>
              <a:rPr lang="es-419" sz="28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Determinar el problema  central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64" t="32217" r="57835" b="33572"/>
          <a:stretch/>
        </p:blipFill>
        <p:spPr>
          <a:xfrm>
            <a:off x="152400" y="2286000"/>
            <a:ext cx="2667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38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11296" y="3470147"/>
            <a:ext cx="2139695" cy="7680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00069" y="3505961"/>
            <a:ext cx="19653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  <a:p>
            <a:pPr marL="12700" marR="508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LA FRUTA SE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DETERIORA  </a:t>
            </a:r>
            <a:r>
              <a:rPr sz="1200" b="1" dirty="0">
                <a:latin typeface="Tahoma"/>
                <a:cs typeface="Tahoma"/>
              </a:rPr>
              <a:t>EN </a:t>
            </a:r>
            <a:r>
              <a:rPr sz="1200" b="1" spc="-5" dirty="0">
                <a:latin typeface="Tahoma"/>
                <a:cs typeface="Tahoma"/>
              </a:rPr>
              <a:t>LA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RECOLECCIÓN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9941" y="959040"/>
            <a:ext cx="2002155" cy="640080"/>
          </a:xfrm>
          <a:prstGeom prst="rect">
            <a:avLst/>
          </a:prstGeom>
          <a:solidFill>
            <a:srgbClr val="CCEBFF"/>
          </a:solidFill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2</a:t>
            </a:r>
            <a:endParaRPr sz="1200">
              <a:latin typeface="Tahoma"/>
              <a:cs typeface="Tahoma"/>
            </a:endParaRPr>
          </a:p>
          <a:p>
            <a:pPr marL="93980" marR="8509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MENORES INGRESOS  DE LOS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AGRICULTORES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5067" y="2406776"/>
            <a:ext cx="2027555" cy="457200"/>
          </a:xfrm>
          <a:prstGeom prst="rect">
            <a:avLst/>
          </a:prstGeom>
          <a:solidFill>
            <a:srgbClr val="CCEB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5</a:t>
            </a:r>
            <a:endParaRPr sz="12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Tahoma"/>
                <a:cs typeface="Tahoma"/>
              </a:rPr>
              <a:t>PÉRDIDAS 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COSECHA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9667" y="5607227"/>
            <a:ext cx="1414780" cy="822325"/>
          </a:xfrm>
          <a:prstGeom prst="rect">
            <a:avLst/>
          </a:prstGeom>
          <a:solidFill>
            <a:srgbClr val="CCCC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8</a:t>
            </a:r>
            <a:endParaRPr sz="1200">
              <a:latin typeface="Tahoma"/>
              <a:cs typeface="Tahoma"/>
            </a:endParaRPr>
          </a:p>
          <a:p>
            <a:pPr marL="92075" marR="84455" indent="127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MAQUINAS  </a:t>
            </a:r>
            <a:r>
              <a:rPr sz="1200" b="1" dirty="0">
                <a:latin typeface="Tahoma"/>
                <a:cs typeface="Tahoma"/>
              </a:rPr>
              <a:t>RECOLEC</a:t>
            </a:r>
            <a:r>
              <a:rPr sz="1200" b="1" spc="-5" dirty="0">
                <a:latin typeface="Tahoma"/>
                <a:cs typeface="Tahoma"/>
              </a:rPr>
              <a:t>TORAS  OBSOLETAS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7292" y="4616640"/>
            <a:ext cx="2322830" cy="640080"/>
          </a:xfrm>
          <a:prstGeom prst="rect">
            <a:avLst/>
          </a:prstGeom>
          <a:solidFill>
            <a:srgbClr val="CCCCFF"/>
          </a:solidFill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7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MAQUINAS RECOLECTORAS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DEFICIENTES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33467" y="4616640"/>
            <a:ext cx="2148205" cy="640080"/>
          </a:xfrm>
          <a:prstGeom prst="rect">
            <a:avLst/>
          </a:prstGeom>
          <a:solidFill>
            <a:srgbClr val="CCCCFF"/>
          </a:solidFill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9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OBREROS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MALTRATAN</a:t>
            </a:r>
            <a:endParaRPr sz="1200">
              <a:latin typeface="Tahoma"/>
              <a:cs typeface="Tahoma"/>
            </a:endParaRPr>
          </a:p>
          <a:p>
            <a:pPr marL="635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LA FRUTA AL</a:t>
            </a:r>
            <a:r>
              <a:rPr sz="1200" b="1" spc="-2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RECOGERLA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92267" y="5607227"/>
            <a:ext cx="1808480" cy="822325"/>
          </a:xfrm>
          <a:prstGeom prst="rect">
            <a:avLst/>
          </a:prstGeom>
          <a:solidFill>
            <a:srgbClr val="CCCC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3</a:t>
            </a:r>
            <a:endParaRPr sz="1200">
              <a:latin typeface="Tahoma"/>
              <a:cs typeface="Tahoma"/>
            </a:endParaRPr>
          </a:p>
          <a:p>
            <a:pPr marL="92710" marR="132080" indent="48895"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OBREROS </a:t>
            </a:r>
            <a:r>
              <a:rPr sz="1200" b="1" spc="-5" dirty="0">
                <a:latin typeface="Tahoma"/>
                <a:cs typeface="Tahoma"/>
              </a:rPr>
              <a:t>MAL  CAPACITADOS</a:t>
            </a:r>
            <a:r>
              <a:rPr sz="1200" b="1" spc="-8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PARA  RECOLECCIÓN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9067" y="2254440"/>
            <a:ext cx="1933575" cy="640080"/>
          </a:xfrm>
          <a:prstGeom prst="rect">
            <a:avLst/>
          </a:prstGeom>
          <a:solidFill>
            <a:srgbClr val="CCEB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15</a:t>
            </a:r>
            <a:endParaRPr sz="1200">
              <a:latin typeface="Tahoma"/>
              <a:cs typeface="Tahoma"/>
            </a:endParaRPr>
          </a:p>
          <a:p>
            <a:pPr marL="92075" marR="86360" algn="ctr">
              <a:lnSpc>
                <a:spcPct val="100000"/>
              </a:lnSpc>
            </a:pPr>
            <a:r>
              <a:rPr sz="1200" b="1" spc="-5" dirty="0">
                <a:latin typeface="Tahoma"/>
                <a:cs typeface="Tahoma"/>
              </a:rPr>
              <a:t>CONTAMINACIÓN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POR  </a:t>
            </a:r>
            <a:r>
              <a:rPr sz="1200" b="1" spc="-5" dirty="0">
                <a:latin typeface="Tahoma"/>
                <a:cs typeface="Tahoma"/>
              </a:rPr>
              <a:t>FRUTAS</a:t>
            </a:r>
            <a:r>
              <a:rPr sz="1200" b="1" spc="-1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DAÑADAS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5267" y="958977"/>
            <a:ext cx="1525905" cy="822325"/>
          </a:xfrm>
          <a:prstGeom prst="rect">
            <a:avLst/>
          </a:prstGeom>
          <a:solidFill>
            <a:srgbClr val="CCEBFF"/>
          </a:solidFill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latin typeface="Tahoma"/>
                <a:cs typeface="Tahoma"/>
              </a:rPr>
              <a:t>6</a:t>
            </a:r>
            <a:endParaRPr sz="1200">
              <a:latin typeface="Tahoma"/>
              <a:cs typeface="Tahoma"/>
            </a:endParaRPr>
          </a:p>
          <a:p>
            <a:pPr marL="92075" marR="128905" algn="ctr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PROL</a:t>
            </a:r>
            <a:r>
              <a:rPr sz="1200" b="1" spc="-10" dirty="0">
                <a:latin typeface="Tahoma"/>
                <a:cs typeface="Tahoma"/>
              </a:rPr>
              <a:t>I</a:t>
            </a:r>
            <a:r>
              <a:rPr sz="1200" b="1" spc="-5" dirty="0">
                <a:latin typeface="Tahoma"/>
                <a:cs typeface="Tahoma"/>
              </a:rPr>
              <a:t>F</a:t>
            </a:r>
            <a:r>
              <a:rPr sz="1200" b="1" dirty="0">
                <a:latin typeface="Tahoma"/>
                <a:cs typeface="Tahoma"/>
              </a:rPr>
              <a:t>ER</a:t>
            </a:r>
            <a:r>
              <a:rPr sz="1200" b="1" spc="-10" dirty="0">
                <a:latin typeface="Tahoma"/>
                <a:cs typeface="Tahoma"/>
              </a:rPr>
              <a:t>A</a:t>
            </a:r>
            <a:r>
              <a:rPr sz="1200" b="1" dirty="0">
                <a:latin typeface="Tahoma"/>
                <a:cs typeface="Tahoma"/>
              </a:rPr>
              <a:t>C</a:t>
            </a:r>
            <a:r>
              <a:rPr sz="1200" b="1" spc="-5" dirty="0">
                <a:latin typeface="Tahoma"/>
                <a:cs typeface="Tahoma"/>
              </a:rPr>
              <a:t>IÓ</a:t>
            </a:r>
            <a:r>
              <a:rPr sz="1200" b="1" dirty="0">
                <a:latin typeface="Tahoma"/>
                <a:cs typeface="Tahoma"/>
              </a:rPr>
              <a:t>N  </a:t>
            </a:r>
            <a:r>
              <a:rPr sz="1200" b="1" spc="-5" dirty="0">
                <a:latin typeface="Tahoma"/>
                <a:cs typeface="Tahoma"/>
              </a:rPr>
              <a:t>DE PLAGAS </a:t>
            </a:r>
            <a:r>
              <a:rPr sz="1200" b="1" dirty="0">
                <a:latin typeface="Tahoma"/>
                <a:cs typeface="Tahoma"/>
              </a:rPr>
              <a:t>Y  </a:t>
            </a:r>
            <a:r>
              <a:rPr sz="1200" b="1" spc="-5" dirty="0">
                <a:latin typeface="Tahoma"/>
                <a:cs typeface="Tahoma"/>
              </a:rPr>
              <a:t>MALOS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OLORES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56942" y="5256403"/>
            <a:ext cx="960755" cy="376555"/>
          </a:xfrm>
          <a:custGeom>
            <a:avLst/>
            <a:gdLst/>
            <a:ahLst/>
            <a:cxnLst/>
            <a:rect l="l" t="t" r="r" b="b"/>
            <a:pathLst>
              <a:path w="960754" h="376554">
                <a:moveTo>
                  <a:pt x="916050" y="182499"/>
                </a:moveTo>
                <a:lnTo>
                  <a:pt x="0" y="182499"/>
                </a:lnTo>
                <a:lnTo>
                  <a:pt x="0" y="376224"/>
                </a:lnTo>
                <a:lnTo>
                  <a:pt x="12700" y="376224"/>
                </a:lnTo>
                <a:lnTo>
                  <a:pt x="12700" y="195199"/>
                </a:lnTo>
                <a:lnTo>
                  <a:pt x="6350" y="195199"/>
                </a:lnTo>
                <a:lnTo>
                  <a:pt x="12700" y="188849"/>
                </a:lnTo>
                <a:lnTo>
                  <a:pt x="916050" y="188849"/>
                </a:lnTo>
                <a:lnTo>
                  <a:pt x="916050" y="182499"/>
                </a:lnTo>
                <a:close/>
              </a:path>
              <a:path w="960754" h="376554">
                <a:moveTo>
                  <a:pt x="12700" y="188849"/>
                </a:moveTo>
                <a:lnTo>
                  <a:pt x="6350" y="195199"/>
                </a:lnTo>
                <a:lnTo>
                  <a:pt x="12700" y="195199"/>
                </a:lnTo>
                <a:lnTo>
                  <a:pt x="12700" y="188849"/>
                </a:lnTo>
                <a:close/>
              </a:path>
              <a:path w="960754" h="376554">
                <a:moveTo>
                  <a:pt x="928750" y="182499"/>
                </a:moveTo>
                <a:lnTo>
                  <a:pt x="922400" y="182499"/>
                </a:lnTo>
                <a:lnTo>
                  <a:pt x="916050" y="188849"/>
                </a:lnTo>
                <a:lnTo>
                  <a:pt x="12700" y="188849"/>
                </a:lnTo>
                <a:lnTo>
                  <a:pt x="12700" y="195199"/>
                </a:lnTo>
                <a:lnTo>
                  <a:pt x="928750" y="195199"/>
                </a:lnTo>
                <a:lnTo>
                  <a:pt x="928750" y="182499"/>
                </a:lnTo>
                <a:close/>
              </a:path>
              <a:path w="960754" h="376554">
                <a:moveTo>
                  <a:pt x="928750" y="63500"/>
                </a:moveTo>
                <a:lnTo>
                  <a:pt x="916050" y="63500"/>
                </a:lnTo>
                <a:lnTo>
                  <a:pt x="916050" y="188849"/>
                </a:lnTo>
                <a:lnTo>
                  <a:pt x="922400" y="182499"/>
                </a:lnTo>
                <a:lnTo>
                  <a:pt x="928750" y="182499"/>
                </a:lnTo>
                <a:lnTo>
                  <a:pt x="928750" y="63500"/>
                </a:lnTo>
                <a:close/>
              </a:path>
              <a:path w="960754" h="376554">
                <a:moveTo>
                  <a:pt x="922400" y="0"/>
                </a:moveTo>
                <a:lnTo>
                  <a:pt x="884300" y="76200"/>
                </a:lnTo>
                <a:lnTo>
                  <a:pt x="916050" y="76200"/>
                </a:lnTo>
                <a:lnTo>
                  <a:pt x="916050" y="63500"/>
                </a:lnTo>
                <a:lnTo>
                  <a:pt x="954150" y="63500"/>
                </a:lnTo>
                <a:lnTo>
                  <a:pt x="922400" y="0"/>
                </a:lnTo>
                <a:close/>
              </a:path>
              <a:path w="960754" h="376554">
                <a:moveTo>
                  <a:pt x="954150" y="63500"/>
                </a:moveTo>
                <a:lnTo>
                  <a:pt x="928750" y="63500"/>
                </a:lnTo>
                <a:lnTo>
                  <a:pt x="928750" y="76200"/>
                </a:lnTo>
                <a:lnTo>
                  <a:pt x="960500" y="76200"/>
                </a:lnTo>
                <a:lnTo>
                  <a:pt x="9541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41242" y="5256403"/>
            <a:ext cx="812800" cy="351155"/>
          </a:xfrm>
          <a:custGeom>
            <a:avLst/>
            <a:gdLst/>
            <a:ahLst/>
            <a:cxnLst/>
            <a:rect l="l" t="t" r="r" b="b"/>
            <a:pathLst>
              <a:path w="812800" h="351154">
                <a:moveTo>
                  <a:pt x="800100" y="176149"/>
                </a:moveTo>
                <a:lnTo>
                  <a:pt x="800100" y="350824"/>
                </a:lnTo>
                <a:lnTo>
                  <a:pt x="812800" y="350824"/>
                </a:lnTo>
                <a:lnTo>
                  <a:pt x="812800" y="182499"/>
                </a:lnTo>
                <a:lnTo>
                  <a:pt x="806450" y="182499"/>
                </a:lnTo>
                <a:lnTo>
                  <a:pt x="800100" y="176149"/>
                </a:lnTo>
                <a:close/>
              </a:path>
              <a:path w="812800" h="351154">
                <a:moveTo>
                  <a:pt x="44450" y="63500"/>
                </a:moveTo>
                <a:lnTo>
                  <a:pt x="31750" y="63500"/>
                </a:lnTo>
                <a:lnTo>
                  <a:pt x="31750" y="182499"/>
                </a:lnTo>
                <a:lnTo>
                  <a:pt x="800100" y="182499"/>
                </a:lnTo>
                <a:lnTo>
                  <a:pt x="800100" y="176149"/>
                </a:lnTo>
                <a:lnTo>
                  <a:pt x="44450" y="176149"/>
                </a:lnTo>
                <a:lnTo>
                  <a:pt x="38100" y="169799"/>
                </a:lnTo>
                <a:lnTo>
                  <a:pt x="44450" y="169799"/>
                </a:lnTo>
                <a:lnTo>
                  <a:pt x="44450" y="63500"/>
                </a:lnTo>
                <a:close/>
              </a:path>
              <a:path w="812800" h="351154">
                <a:moveTo>
                  <a:pt x="812800" y="169799"/>
                </a:moveTo>
                <a:lnTo>
                  <a:pt x="44450" y="169799"/>
                </a:lnTo>
                <a:lnTo>
                  <a:pt x="44450" y="176149"/>
                </a:lnTo>
                <a:lnTo>
                  <a:pt x="800100" y="176149"/>
                </a:lnTo>
                <a:lnTo>
                  <a:pt x="806450" y="182499"/>
                </a:lnTo>
                <a:lnTo>
                  <a:pt x="812800" y="182499"/>
                </a:lnTo>
                <a:lnTo>
                  <a:pt x="812800" y="169799"/>
                </a:lnTo>
                <a:close/>
              </a:path>
              <a:path w="812800" h="351154">
                <a:moveTo>
                  <a:pt x="44450" y="169799"/>
                </a:moveTo>
                <a:lnTo>
                  <a:pt x="38100" y="169799"/>
                </a:lnTo>
                <a:lnTo>
                  <a:pt x="44450" y="176149"/>
                </a:lnTo>
                <a:lnTo>
                  <a:pt x="44450" y="169799"/>
                </a:lnTo>
                <a:close/>
              </a:path>
              <a:path w="812800" h="3511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812800" h="3511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70041" y="5256403"/>
            <a:ext cx="433705" cy="351155"/>
          </a:xfrm>
          <a:custGeom>
            <a:avLst/>
            <a:gdLst/>
            <a:ahLst/>
            <a:cxnLst/>
            <a:rect l="l" t="t" r="r" b="b"/>
            <a:pathLst>
              <a:path w="433704" h="351154">
                <a:moveTo>
                  <a:pt x="420750" y="176149"/>
                </a:moveTo>
                <a:lnTo>
                  <a:pt x="420750" y="350824"/>
                </a:lnTo>
                <a:lnTo>
                  <a:pt x="433450" y="350824"/>
                </a:lnTo>
                <a:lnTo>
                  <a:pt x="433450" y="182499"/>
                </a:lnTo>
                <a:lnTo>
                  <a:pt x="427100" y="182499"/>
                </a:lnTo>
                <a:lnTo>
                  <a:pt x="420750" y="176149"/>
                </a:lnTo>
                <a:close/>
              </a:path>
              <a:path w="433704" h="351154">
                <a:moveTo>
                  <a:pt x="44450" y="63500"/>
                </a:moveTo>
                <a:lnTo>
                  <a:pt x="31750" y="63500"/>
                </a:lnTo>
                <a:lnTo>
                  <a:pt x="31750" y="182499"/>
                </a:lnTo>
                <a:lnTo>
                  <a:pt x="420750" y="182499"/>
                </a:lnTo>
                <a:lnTo>
                  <a:pt x="420750" y="176149"/>
                </a:lnTo>
                <a:lnTo>
                  <a:pt x="44450" y="176149"/>
                </a:lnTo>
                <a:lnTo>
                  <a:pt x="38100" y="169799"/>
                </a:lnTo>
                <a:lnTo>
                  <a:pt x="44450" y="169799"/>
                </a:lnTo>
                <a:lnTo>
                  <a:pt x="44450" y="63500"/>
                </a:lnTo>
                <a:close/>
              </a:path>
              <a:path w="433704" h="351154">
                <a:moveTo>
                  <a:pt x="433450" y="169799"/>
                </a:moveTo>
                <a:lnTo>
                  <a:pt x="44450" y="169799"/>
                </a:lnTo>
                <a:lnTo>
                  <a:pt x="44450" y="176149"/>
                </a:lnTo>
                <a:lnTo>
                  <a:pt x="420750" y="176149"/>
                </a:lnTo>
                <a:lnTo>
                  <a:pt x="427100" y="182499"/>
                </a:lnTo>
                <a:lnTo>
                  <a:pt x="433450" y="182499"/>
                </a:lnTo>
                <a:lnTo>
                  <a:pt x="433450" y="169799"/>
                </a:lnTo>
                <a:close/>
              </a:path>
              <a:path w="433704" h="351154">
                <a:moveTo>
                  <a:pt x="44450" y="169799"/>
                </a:moveTo>
                <a:lnTo>
                  <a:pt x="38100" y="169799"/>
                </a:lnTo>
                <a:lnTo>
                  <a:pt x="44450" y="176149"/>
                </a:lnTo>
                <a:lnTo>
                  <a:pt x="44450" y="169799"/>
                </a:lnTo>
                <a:close/>
              </a:path>
              <a:path w="433704" h="3511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433704" h="3511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46091" y="4122928"/>
            <a:ext cx="1168400" cy="494030"/>
          </a:xfrm>
          <a:custGeom>
            <a:avLst/>
            <a:gdLst/>
            <a:ahLst/>
            <a:cxnLst/>
            <a:rect l="l" t="t" r="r" b="b"/>
            <a:pathLst>
              <a:path w="1168400" h="494029">
                <a:moveTo>
                  <a:pt x="1155700" y="247650"/>
                </a:moveTo>
                <a:lnTo>
                  <a:pt x="1155700" y="493649"/>
                </a:lnTo>
                <a:lnTo>
                  <a:pt x="1168400" y="493649"/>
                </a:lnTo>
                <a:lnTo>
                  <a:pt x="1168400" y="254000"/>
                </a:lnTo>
                <a:lnTo>
                  <a:pt x="1162050" y="254000"/>
                </a:lnTo>
                <a:lnTo>
                  <a:pt x="1155700" y="247650"/>
                </a:lnTo>
                <a:close/>
              </a:path>
              <a:path w="1168400" h="494029">
                <a:moveTo>
                  <a:pt x="44450" y="63500"/>
                </a:moveTo>
                <a:lnTo>
                  <a:pt x="31750" y="63500"/>
                </a:lnTo>
                <a:lnTo>
                  <a:pt x="31750" y="254000"/>
                </a:lnTo>
                <a:lnTo>
                  <a:pt x="1155700" y="254000"/>
                </a:lnTo>
                <a:lnTo>
                  <a:pt x="1155700" y="247650"/>
                </a:lnTo>
                <a:lnTo>
                  <a:pt x="44450" y="247650"/>
                </a:lnTo>
                <a:lnTo>
                  <a:pt x="38100" y="241300"/>
                </a:lnTo>
                <a:lnTo>
                  <a:pt x="44450" y="241300"/>
                </a:lnTo>
                <a:lnTo>
                  <a:pt x="44450" y="63500"/>
                </a:lnTo>
                <a:close/>
              </a:path>
              <a:path w="1168400" h="494029">
                <a:moveTo>
                  <a:pt x="1168400" y="241300"/>
                </a:moveTo>
                <a:lnTo>
                  <a:pt x="44450" y="241300"/>
                </a:lnTo>
                <a:lnTo>
                  <a:pt x="44450" y="247650"/>
                </a:lnTo>
                <a:lnTo>
                  <a:pt x="1155700" y="247650"/>
                </a:lnTo>
                <a:lnTo>
                  <a:pt x="1162050" y="254000"/>
                </a:lnTo>
                <a:lnTo>
                  <a:pt x="1168400" y="254000"/>
                </a:lnTo>
                <a:lnTo>
                  <a:pt x="1168400" y="241300"/>
                </a:lnTo>
                <a:close/>
              </a:path>
              <a:path w="1168400" h="494029">
                <a:moveTo>
                  <a:pt x="44450" y="241300"/>
                </a:moveTo>
                <a:lnTo>
                  <a:pt x="38100" y="241300"/>
                </a:lnTo>
                <a:lnTo>
                  <a:pt x="44450" y="247650"/>
                </a:lnTo>
                <a:lnTo>
                  <a:pt x="44450" y="241300"/>
                </a:lnTo>
                <a:close/>
              </a:path>
              <a:path w="1168400" h="49402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168400" h="49402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72992" y="4122928"/>
            <a:ext cx="1249680" cy="494030"/>
          </a:xfrm>
          <a:custGeom>
            <a:avLst/>
            <a:gdLst/>
            <a:ahLst/>
            <a:cxnLst/>
            <a:rect l="l" t="t" r="r" b="b"/>
            <a:pathLst>
              <a:path w="1249679" h="494029">
                <a:moveTo>
                  <a:pt x="1204849" y="241300"/>
                </a:moveTo>
                <a:lnTo>
                  <a:pt x="0" y="241300"/>
                </a:lnTo>
                <a:lnTo>
                  <a:pt x="0" y="493649"/>
                </a:lnTo>
                <a:lnTo>
                  <a:pt x="12700" y="493649"/>
                </a:lnTo>
                <a:lnTo>
                  <a:pt x="12700" y="254000"/>
                </a:lnTo>
                <a:lnTo>
                  <a:pt x="6350" y="254000"/>
                </a:lnTo>
                <a:lnTo>
                  <a:pt x="12700" y="247650"/>
                </a:lnTo>
                <a:lnTo>
                  <a:pt x="1204849" y="247650"/>
                </a:lnTo>
                <a:lnTo>
                  <a:pt x="1204849" y="241300"/>
                </a:lnTo>
                <a:close/>
              </a:path>
              <a:path w="1249679" h="494029">
                <a:moveTo>
                  <a:pt x="12700" y="247650"/>
                </a:moveTo>
                <a:lnTo>
                  <a:pt x="6350" y="254000"/>
                </a:lnTo>
                <a:lnTo>
                  <a:pt x="12700" y="254000"/>
                </a:lnTo>
                <a:lnTo>
                  <a:pt x="12700" y="247650"/>
                </a:lnTo>
                <a:close/>
              </a:path>
              <a:path w="1249679" h="494029">
                <a:moveTo>
                  <a:pt x="1217549" y="241300"/>
                </a:moveTo>
                <a:lnTo>
                  <a:pt x="1211199" y="241300"/>
                </a:lnTo>
                <a:lnTo>
                  <a:pt x="1204849" y="247650"/>
                </a:lnTo>
                <a:lnTo>
                  <a:pt x="12700" y="247650"/>
                </a:lnTo>
                <a:lnTo>
                  <a:pt x="12700" y="254000"/>
                </a:lnTo>
                <a:lnTo>
                  <a:pt x="1217549" y="254000"/>
                </a:lnTo>
                <a:lnTo>
                  <a:pt x="1217549" y="241300"/>
                </a:lnTo>
                <a:close/>
              </a:path>
              <a:path w="1249679" h="494029">
                <a:moveTo>
                  <a:pt x="1217549" y="63500"/>
                </a:moveTo>
                <a:lnTo>
                  <a:pt x="1204849" y="63500"/>
                </a:lnTo>
                <a:lnTo>
                  <a:pt x="1204849" y="247650"/>
                </a:lnTo>
                <a:lnTo>
                  <a:pt x="1211199" y="241300"/>
                </a:lnTo>
                <a:lnTo>
                  <a:pt x="1217549" y="241300"/>
                </a:lnTo>
                <a:lnTo>
                  <a:pt x="1217549" y="63500"/>
                </a:lnTo>
                <a:close/>
              </a:path>
              <a:path w="1249679" h="494029">
                <a:moveTo>
                  <a:pt x="1211199" y="0"/>
                </a:moveTo>
                <a:lnTo>
                  <a:pt x="1173099" y="76200"/>
                </a:lnTo>
                <a:lnTo>
                  <a:pt x="1204849" y="76200"/>
                </a:lnTo>
                <a:lnTo>
                  <a:pt x="1204849" y="63500"/>
                </a:lnTo>
                <a:lnTo>
                  <a:pt x="1242949" y="63500"/>
                </a:lnTo>
                <a:lnTo>
                  <a:pt x="1211199" y="0"/>
                </a:lnTo>
                <a:close/>
              </a:path>
              <a:path w="1249679" h="494029">
                <a:moveTo>
                  <a:pt x="1242949" y="63500"/>
                </a:moveTo>
                <a:lnTo>
                  <a:pt x="1217549" y="63500"/>
                </a:lnTo>
                <a:lnTo>
                  <a:pt x="1217549" y="76200"/>
                </a:lnTo>
                <a:lnTo>
                  <a:pt x="1249299" y="76200"/>
                </a:lnTo>
                <a:lnTo>
                  <a:pt x="1242949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77691" y="2894202"/>
            <a:ext cx="1212850" cy="579755"/>
          </a:xfrm>
          <a:custGeom>
            <a:avLst/>
            <a:gdLst/>
            <a:ahLst/>
            <a:cxnLst/>
            <a:rect l="l" t="t" r="r" b="b"/>
            <a:pathLst>
              <a:path w="1212850" h="579754">
                <a:moveTo>
                  <a:pt x="1200150" y="290449"/>
                </a:moveTo>
                <a:lnTo>
                  <a:pt x="1200150" y="579374"/>
                </a:lnTo>
                <a:lnTo>
                  <a:pt x="1212850" y="579374"/>
                </a:lnTo>
                <a:lnTo>
                  <a:pt x="1212850" y="296799"/>
                </a:lnTo>
                <a:lnTo>
                  <a:pt x="1206500" y="296799"/>
                </a:lnTo>
                <a:lnTo>
                  <a:pt x="1200150" y="290449"/>
                </a:lnTo>
                <a:close/>
              </a:path>
              <a:path w="1212850" h="579754">
                <a:moveTo>
                  <a:pt x="44450" y="63500"/>
                </a:moveTo>
                <a:lnTo>
                  <a:pt x="31750" y="63500"/>
                </a:lnTo>
                <a:lnTo>
                  <a:pt x="31750" y="296799"/>
                </a:lnTo>
                <a:lnTo>
                  <a:pt x="1200150" y="296799"/>
                </a:lnTo>
                <a:lnTo>
                  <a:pt x="1200150" y="290449"/>
                </a:lnTo>
                <a:lnTo>
                  <a:pt x="44450" y="290449"/>
                </a:lnTo>
                <a:lnTo>
                  <a:pt x="38100" y="284099"/>
                </a:lnTo>
                <a:lnTo>
                  <a:pt x="44450" y="284099"/>
                </a:lnTo>
                <a:lnTo>
                  <a:pt x="44450" y="63500"/>
                </a:lnTo>
                <a:close/>
              </a:path>
              <a:path w="1212850" h="579754">
                <a:moveTo>
                  <a:pt x="1212850" y="284099"/>
                </a:moveTo>
                <a:lnTo>
                  <a:pt x="44450" y="284099"/>
                </a:lnTo>
                <a:lnTo>
                  <a:pt x="44450" y="290449"/>
                </a:lnTo>
                <a:lnTo>
                  <a:pt x="1200150" y="290449"/>
                </a:lnTo>
                <a:lnTo>
                  <a:pt x="1206500" y="296799"/>
                </a:lnTo>
                <a:lnTo>
                  <a:pt x="1212850" y="296799"/>
                </a:lnTo>
                <a:lnTo>
                  <a:pt x="1212850" y="284099"/>
                </a:lnTo>
                <a:close/>
              </a:path>
              <a:path w="1212850" h="579754">
                <a:moveTo>
                  <a:pt x="44450" y="284099"/>
                </a:moveTo>
                <a:lnTo>
                  <a:pt x="38100" y="284099"/>
                </a:lnTo>
                <a:lnTo>
                  <a:pt x="44450" y="290449"/>
                </a:lnTo>
                <a:lnTo>
                  <a:pt x="44450" y="284099"/>
                </a:lnTo>
                <a:close/>
              </a:path>
              <a:path w="1212850" h="57975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1212850" h="57975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77841" y="2863976"/>
            <a:ext cx="1209675" cy="609600"/>
          </a:xfrm>
          <a:custGeom>
            <a:avLst/>
            <a:gdLst/>
            <a:ahLst/>
            <a:cxnLst/>
            <a:rect l="l" t="t" r="r" b="b"/>
            <a:pathLst>
              <a:path w="1209675" h="609600">
                <a:moveTo>
                  <a:pt x="1165225" y="298450"/>
                </a:moveTo>
                <a:lnTo>
                  <a:pt x="0" y="298450"/>
                </a:lnTo>
                <a:lnTo>
                  <a:pt x="0" y="609600"/>
                </a:lnTo>
                <a:lnTo>
                  <a:pt x="12700" y="609600"/>
                </a:lnTo>
                <a:lnTo>
                  <a:pt x="12700" y="311150"/>
                </a:lnTo>
                <a:lnTo>
                  <a:pt x="6350" y="311150"/>
                </a:lnTo>
                <a:lnTo>
                  <a:pt x="12700" y="304800"/>
                </a:lnTo>
                <a:lnTo>
                  <a:pt x="1165225" y="304800"/>
                </a:lnTo>
                <a:lnTo>
                  <a:pt x="1165225" y="298450"/>
                </a:lnTo>
                <a:close/>
              </a:path>
              <a:path w="1209675" h="609600">
                <a:moveTo>
                  <a:pt x="12700" y="304800"/>
                </a:moveTo>
                <a:lnTo>
                  <a:pt x="6350" y="311150"/>
                </a:lnTo>
                <a:lnTo>
                  <a:pt x="12700" y="311150"/>
                </a:lnTo>
                <a:lnTo>
                  <a:pt x="12700" y="304800"/>
                </a:lnTo>
                <a:close/>
              </a:path>
              <a:path w="1209675" h="609600">
                <a:moveTo>
                  <a:pt x="1177925" y="298450"/>
                </a:moveTo>
                <a:lnTo>
                  <a:pt x="1171575" y="298450"/>
                </a:lnTo>
                <a:lnTo>
                  <a:pt x="1165225" y="304800"/>
                </a:lnTo>
                <a:lnTo>
                  <a:pt x="12700" y="304800"/>
                </a:lnTo>
                <a:lnTo>
                  <a:pt x="12700" y="311150"/>
                </a:lnTo>
                <a:lnTo>
                  <a:pt x="1177925" y="311150"/>
                </a:lnTo>
                <a:lnTo>
                  <a:pt x="1177925" y="298450"/>
                </a:lnTo>
                <a:close/>
              </a:path>
              <a:path w="1209675" h="609600">
                <a:moveTo>
                  <a:pt x="1177925" y="63500"/>
                </a:moveTo>
                <a:lnTo>
                  <a:pt x="1165225" y="63500"/>
                </a:lnTo>
                <a:lnTo>
                  <a:pt x="1165225" y="304800"/>
                </a:lnTo>
                <a:lnTo>
                  <a:pt x="1171575" y="298450"/>
                </a:lnTo>
                <a:lnTo>
                  <a:pt x="1177925" y="298450"/>
                </a:lnTo>
                <a:lnTo>
                  <a:pt x="1177925" y="63500"/>
                </a:lnTo>
                <a:close/>
              </a:path>
              <a:path w="1209675" h="609600">
                <a:moveTo>
                  <a:pt x="1171575" y="0"/>
                </a:moveTo>
                <a:lnTo>
                  <a:pt x="1133475" y="76200"/>
                </a:lnTo>
                <a:lnTo>
                  <a:pt x="1165225" y="76200"/>
                </a:lnTo>
                <a:lnTo>
                  <a:pt x="1165225" y="63500"/>
                </a:lnTo>
                <a:lnTo>
                  <a:pt x="1203325" y="63500"/>
                </a:lnTo>
                <a:lnTo>
                  <a:pt x="1171575" y="0"/>
                </a:lnTo>
                <a:close/>
              </a:path>
              <a:path w="1209675" h="609600">
                <a:moveTo>
                  <a:pt x="1203325" y="63500"/>
                </a:moveTo>
                <a:lnTo>
                  <a:pt x="1177925" y="63500"/>
                </a:lnTo>
                <a:lnTo>
                  <a:pt x="1177925" y="76200"/>
                </a:lnTo>
                <a:lnTo>
                  <a:pt x="1209675" y="76200"/>
                </a:lnTo>
                <a:lnTo>
                  <a:pt x="1203325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0692" y="1781301"/>
            <a:ext cx="171450" cy="473075"/>
          </a:xfrm>
          <a:custGeom>
            <a:avLst/>
            <a:gdLst/>
            <a:ahLst/>
            <a:cxnLst/>
            <a:rect l="l" t="t" r="r" b="b"/>
            <a:pathLst>
              <a:path w="171450" h="473075">
                <a:moveTo>
                  <a:pt x="158749" y="236600"/>
                </a:moveTo>
                <a:lnTo>
                  <a:pt x="158749" y="473075"/>
                </a:lnTo>
                <a:lnTo>
                  <a:pt x="171449" y="473075"/>
                </a:lnTo>
                <a:lnTo>
                  <a:pt x="171449" y="242950"/>
                </a:lnTo>
                <a:lnTo>
                  <a:pt x="165099" y="242950"/>
                </a:lnTo>
                <a:lnTo>
                  <a:pt x="158749" y="236600"/>
                </a:lnTo>
                <a:close/>
              </a:path>
              <a:path w="171450" h="473075">
                <a:moveTo>
                  <a:pt x="44449" y="63500"/>
                </a:moveTo>
                <a:lnTo>
                  <a:pt x="31749" y="63500"/>
                </a:lnTo>
                <a:lnTo>
                  <a:pt x="31749" y="242950"/>
                </a:lnTo>
                <a:lnTo>
                  <a:pt x="158749" y="242950"/>
                </a:lnTo>
                <a:lnTo>
                  <a:pt x="158749" y="236600"/>
                </a:lnTo>
                <a:lnTo>
                  <a:pt x="44449" y="236600"/>
                </a:lnTo>
                <a:lnTo>
                  <a:pt x="38099" y="230250"/>
                </a:lnTo>
                <a:lnTo>
                  <a:pt x="44449" y="230250"/>
                </a:lnTo>
                <a:lnTo>
                  <a:pt x="44449" y="63500"/>
                </a:lnTo>
                <a:close/>
              </a:path>
              <a:path w="171450" h="473075">
                <a:moveTo>
                  <a:pt x="171449" y="230250"/>
                </a:moveTo>
                <a:lnTo>
                  <a:pt x="44449" y="230250"/>
                </a:lnTo>
                <a:lnTo>
                  <a:pt x="44449" y="236600"/>
                </a:lnTo>
                <a:lnTo>
                  <a:pt x="158749" y="236600"/>
                </a:lnTo>
                <a:lnTo>
                  <a:pt x="165099" y="242950"/>
                </a:lnTo>
                <a:lnTo>
                  <a:pt x="171449" y="242950"/>
                </a:lnTo>
                <a:lnTo>
                  <a:pt x="171449" y="230250"/>
                </a:lnTo>
                <a:close/>
              </a:path>
              <a:path w="171450" h="473075">
                <a:moveTo>
                  <a:pt x="44449" y="230250"/>
                </a:moveTo>
                <a:lnTo>
                  <a:pt x="38099" y="230250"/>
                </a:lnTo>
                <a:lnTo>
                  <a:pt x="44449" y="236600"/>
                </a:lnTo>
                <a:lnTo>
                  <a:pt x="44449" y="230250"/>
                </a:lnTo>
                <a:close/>
              </a:path>
              <a:path w="171450" h="473075">
                <a:moveTo>
                  <a:pt x="38099" y="0"/>
                </a:moveTo>
                <a:lnTo>
                  <a:pt x="0" y="76200"/>
                </a:lnTo>
                <a:lnTo>
                  <a:pt x="31749" y="76200"/>
                </a:lnTo>
                <a:lnTo>
                  <a:pt x="31749" y="63500"/>
                </a:lnTo>
                <a:lnTo>
                  <a:pt x="69849" y="63500"/>
                </a:lnTo>
                <a:lnTo>
                  <a:pt x="38099" y="0"/>
                </a:lnTo>
                <a:close/>
              </a:path>
              <a:path w="171450" h="473075">
                <a:moveTo>
                  <a:pt x="69849" y="63500"/>
                </a:moveTo>
                <a:lnTo>
                  <a:pt x="44449" y="63500"/>
                </a:lnTo>
                <a:lnTo>
                  <a:pt x="44449" y="76200"/>
                </a:lnTo>
                <a:lnTo>
                  <a:pt x="76199" y="76200"/>
                </a:lnTo>
                <a:lnTo>
                  <a:pt x="69849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43066" y="1598802"/>
            <a:ext cx="167005" cy="808355"/>
          </a:xfrm>
          <a:custGeom>
            <a:avLst/>
            <a:gdLst/>
            <a:ahLst/>
            <a:cxnLst/>
            <a:rect l="l" t="t" r="r" b="b"/>
            <a:pathLst>
              <a:path w="167004" h="808355">
                <a:moveTo>
                  <a:pt x="122300" y="398399"/>
                </a:moveTo>
                <a:lnTo>
                  <a:pt x="0" y="398399"/>
                </a:lnTo>
                <a:lnTo>
                  <a:pt x="0" y="807974"/>
                </a:lnTo>
                <a:lnTo>
                  <a:pt x="12700" y="807974"/>
                </a:lnTo>
                <a:lnTo>
                  <a:pt x="12700" y="411099"/>
                </a:lnTo>
                <a:lnTo>
                  <a:pt x="6350" y="411099"/>
                </a:lnTo>
                <a:lnTo>
                  <a:pt x="12700" y="404749"/>
                </a:lnTo>
                <a:lnTo>
                  <a:pt x="122300" y="404749"/>
                </a:lnTo>
                <a:lnTo>
                  <a:pt x="122300" y="398399"/>
                </a:lnTo>
                <a:close/>
              </a:path>
              <a:path w="167004" h="808355">
                <a:moveTo>
                  <a:pt x="12700" y="404749"/>
                </a:moveTo>
                <a:lnTo>
                  <a:pt x="6350" y="411099"/>
                </a:lnTo>
                <a:lnTo>
                  <a:pt x="12700" y="411099"/>
                </a:lnTo>
                <a:lnTo>
                  <a:pt x="12700" y="404749"/>
                </a:lnTo>
                <a:close/>
              </a:path>
              <a:path w="167004" h="808355">
                <a:moveTo>
                  <a:pt x="135000" y="398399"/>
                </a:moveTo>
                <a:lnTo>
                  <a:pt x="128650" y="398399"/>
                </a:lnTo>
                <a:lnTo>
                  <a:pt x="122300" y="404749"/>
                </a:lnTo>
                <a:lnTo>
                  <a:pt x="12700" y="404749"/>
                </a:lnTo>
                <a:lnTo>
                  <a:pt x="12700" y="411099"/>
                </a:lnTo>
                <a:lnTo>
                  <a:pt x="135000" y="411099"/>
                </a:lnTo>
                <a:lnTo>
                  <a:pt x="135000" y="398399"/>
                </a:lnTo>
                <a:close/>
              </a:path>
              <a:path w="167004" h="808355">
                <a:moveTo>
                  <a:pt x="135000" y="63500"/>
                </a:moveTo>
                <a:lnTo>
                  <a:pt x="122300" y="63500"/>
                </a:lnTo>
                <a:lnTo>
                  <a:pt x="122300" y="404749"/>
                </a:lnTo>
                <a:lnTo>
                  <a:pt x="128650" y="398399"/>
                </a:lnTo>
                <a:lnTo>
                  <a:pt x="135000" y="398399"/>
                </a:lnTo>
                <a:lnTo>
                  <a:pt x="135000" y="63500"/>
                </a:lnTo>
                <a:close/>
              </a:path>
              <a:path w="167004" h="808355">
                <a:moveTo>
                  <a:pt x="128650" y="0"/>
                </a:moveTo>
                <a:lnTo>
                  <a:pt x="90550" y="76200"/>
                </a:lnTo>
                <a:lnTo>
                  <a:pt x="122300" y="76200"/>
                </a:lnTo>
                <a:lnTo>
                  <a:pt x="122300" y="63500"/>
                </a:lnTo>
                <a:lnTo>
                  <a:pt x="160400" y="63500"/>
                </a:lnTo>
                <a:lnTo>
                  <a:pt x="128650" y="0"/>
                </a:lnTo>
                <a:close/>
              </a:path>
              <a:path w="167004" h="808355">
                <a:moveTo>
                  <a:pt x="160400" y="63500"/>
                </a:moveTo>
                <a:lnTo>
                  <a:pt x="135000" y="63500"/>
                </a:lnTo>
                <a:lnTo>
                  <a:pt x="135000" y="76200"/>
                </a:lnTo>
                <a:lnTo>
                  <a:pt x="166750" y="76200"/>
                </a:lnTo>
                <a:lnTo>
                  <a:pt x="1604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978509" y="59562"/>
            <a:ext cx="6902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Versión preliminar </a:t>
            </a:r>
            <a:r>
              <a:rPr sz="2800" spc="-10" dirty="0"/>
              <a:t>del Arbol del</a:t>
            </a:r>
            <a:r>
              <a:rPr sz="2800" spc="114" dirty="0"/>
              <a:t> </a:t>
            </a:r>
            <a:r>
              <a:rPr sz="2800" spc="-5" dirty="0"/>
              <a:t>Problema</a:t>
            </a:r>
            <a:endParaRPr sz="2800"/>
          </a:p>
        </p:txBody>
      </p:sp>
      <p:sp>
        <p:nvSpPr>
          <p:cNvPr id="22" name="object 22"/>
          <p:cNvSpPr txBox="1"/>
          <p:nvPr/>
        </p:nvSpPr>
        <p:spPr>
          <a:xfrm>
            <a:off x="1687067" y="5632627"/>
            <a:ext cx="1552575" cy="822325"/>
          </a:xfrm>
          <a:prstGeom prst="rect">
            <a:avLst/>
          </a:prstGeom>
          <a:solidFill>
            <a:srgbClr val="CCCC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latin typeface="Tahoma"/>
                <a:cs typeface="Tahoma"/>
              </a:rPr>
              <a:t>13</a:t>
            </a:r>
            <a:endParaRPr sz="1200">
              <a:latin typeface="Tahoma"/>
              <a:cs typeface="Tahoma"/>
            </a:endParaRPr>
          </a:p>
          <a:p>
            <a:pPr marL="93345" marR="85090" algn="ctr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Tahoma"/>
                <a:cs typeface="Tahoma"/>
              </a:rPr>
              <a:t>MA</a:t>
            </a:r>
            <a:r>
              <a:rPr sz="1200" b="1" dirty="0">
                <a:latin typeface="Tahoma"/>
                <a:cs typeface="Tahoma"/>
              </a:rPr>
              <a:t>N</a:t>
            </a:r>
            <a:r>
              <a:rPr sz="1200" b="1" spc="-10" dirty="0">
                <a:latin typeface="Tahoma"/>
                <a:cs typeface="Tahoma"/>
              </a:rPr>
              <a:t>T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10" dirty="0">
                <a:latin typeface="Tahoma"/>
                <a:cs typeface="Tahoma"/>
              </a:rPr>
              <a:t>IMI</a:t>
            </a:r>
            <a:r>
              <a:rPr sz="1200" b="1" dirty="0">
                <a:latin typeface="Tahoma"/>
                <a:cs typeface="Tahoma"/>
              </a:rPr>
              <a:t>EN</a:t>
            </a:r>
            <a:r>
              <a:rPr sz="1200" b="1" spc="-10" dirty="0">
                <a:latin typeface="Tahoma"/>
                <a:cs typeface="Tahoma"/>
              </a:rPr>
              <a:t>T</a:t>
            </a:r>
            <a:r>
              <a:rPr sz="1200" b="1" dirty="0">
                <a:latin typeface="Tahoma"/>
                <a:cs typeface="Tahoma"/>
              </a:rPr>
              <a:t>O  </a:t>
            </a:r>
            <a:r>
              <a:rPr sz="1200" b="1" spc="-5" dirty="0">
                <a:latin typeface="Tahoma"/>
                <a:cs typeface="Tahoma"/>
              </a:rPr>
              <a:t>DEFICIENTE DE  COSECHADORAS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5800"/>
            <a:ext cx="382651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4800" spc="-5" dirty="0"/>
              <a:t>Paso 3:</a:t>
            </a:r>
            <a:endParaRPr sz="4800" dirty="0"/>
          </a:p>
        </p:txBody>
      </p:sp>
      <p:sp>
        <p:nvSpPr>
          <p:cNvPr id="4" name="object 4"/>
          <p:cNvSpPr txBox="1"/>
          <p:nvPr/>
        </p:nvSpPr>
        <p:spPr>
          <a:xfrm>
            <a:off x="3200400" y="3138650"/>
            <a:ext cx="3810000" cy="94961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065" marR="5080" algn="ctr">
              <a:lnSpc>
                <a:spcPts val="3240"/>
              </a:lnSpc>
              <a:spcBef>
                <a:spcPts val="505"/>
              </a:spcBef>
              <a:buClr>
                <a:srgbClr val="333399"/>
              </a:buClr>
              <a:tabLst>
                <a:tab pos="393065" algn="l"/>
              </a:tabLst>
            </a:pPr>
            <a:r>
              <a:rPr lang="es-419" sz="28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Ajustar el</a:t>
            </a:r>
          </a:p>
          <a:p>
            <a:pPr marL="12065" marR="5080" algn="ctr">
              <a:lnSpc>
                <a:spcPts val="3240"/>
              </a:lnSpc>
              <a:spcBef>
                <a:spcPts val="505"/>
              </a:spcBef>
              <a:buClr>
                <a:srgbClr val="333399"/>
              </a:buClr>
              <a:tabLst>
                <a:tab pos="393065" algn="l"/>
              </a:tabLst>
            </a:pPr>
            <a:r>
              <a:rPr lang="es-419" sz="28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árbol del problema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35" t="32217" r="40298" b="33572"/>
          <a:stretch/>
        </p:blipFill>
        <p:spPr>
          <a:xfrm>
            <a:off x="457200" y="2318059"/>
            <a:ext cx="2743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5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304800"/>
            <a:ext cx="6360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Ajustar </a:t>
            </a:r>
            <a:r>
              <a:rPr sz="3600" dirty="0"/>
              <a:t>el </a:t>
            </a:r>
            <a:r>
              <a:rPr sz="3600" spc="-5" dirty="0"/>
              <a:t>Arbol del</a:t>
            </a:r>
            <a:r>
              <a:rPr sz="3600" spc="-100" dirty="0"/>
              <a:t> </a:t>
            </a:r>
            <a:r>
              <a:rPr sz="3600" dirty="0"/>
              <a:t>Problema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981200"/>
            <a:ext cx="7408545" cy="349711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5" dirty="0">
                <a:solidFill>
                  <a:srgbClr val="333399"/>
                </a:solidFill>
                <a:latin typeface="+mj-lt"/>
                <a:cs typeface="Comic Sans MS"/>
              </a:rPr>
              <a:t>1. </a:t>
            </a:r>
            <a:r>
              <a:rPr sz="2000" spc="-5" dirty="0">
                <a:latin typeface="+mj-lt"/>
                <a:cs typeface="Comic Sans MS"/>
              </a:rPr>
              <a:t>Validar y completar efectos</a:t>
            </a:r>
            <a:r>
              <a:rPr sz="2000" spc="95" dirty="0">
                <a:latin typeface="+mj-lt"/>
                <a:cs typeface="Comic Sans MS"/>
              </a:rPr>
              <a:t> </a:t>
            </a:r>
            <a:r>
              <a:rPr sz="2000" spc="-5" dirty="0">
                <a:latin typeface="+mj-lt"/>
                <a:cs typeface="Comic Sans MS"/>
              </a:rPr>
              <a:t>significativos</a:t>
            </a:r>
            <a:endParaRPr sz="2000" dirty="0">
              <a:latin typeface="+mj-lt"/>
              <a:cs typeface="Comic Sans MS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solidFill>
                  <a:srgbClr val="333399"/>
                </a:solidFill>
                <a:latin typeface="+mj-lt"/>
                <a:cs typeface="Comic Sans MS"/>
              </a:rPr>
              <a:t>Causas </a:t>
            </a:r>
            <a:r>
              <a:rPr sz="2000" spc="-5" dirty="0">
                <a:solidFill>
                  <a:srgbClr val="333399"/>
                </a:solidFill>
                <a:latin typeface="+mj-lt"/>
                <a:cs typeface="Comic Sans MS"/>
              </a:rPr>
              <a:t>de primer</a:t>
            </a:r>
            <a:r>
              <a:rPr sz="2000" spc="50" dirty="0">
                <a:solidFill>
                  <a:srgbClr val="333399"/>
                </a:solidFill>
                <a:latin typeface="+mj-lt"/>
                <a:cs typeface="Comic Sans MS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+mj-lt"/>
                <a:cs typeface="Comic Sans MS"/>
              </a:rPr>
              <a:t>nivel</a:t>
            </a:r>
            <a:endParaRPr sz="2000" dirty="0">
              <a:latin typeface="+mj-lt"/>
              <a:cs typeface="Comic Sans MS"/>
            </a:endParaRPr>
          </a:p>
          <a:p>
            <a:pPr marL="756285" marR="1699895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000" spc="-5" dirty="0">
                <a:latin typeface="+mj-lt"/>
                <a:cs typeface="Comic Sans MS"/>
              </a:rPr>
              <a:t>Incluir </a:t>
            </a:r>
            <a:r>
              <a:rPr sz="2000" spc="-10" dirty="0">
                <a:latin typeface="+mj-lt"/>
                <a:cs typeface="Comic Sans MS"/>
              </a:rPr>
              <a:t>nuevas </a:t>
            </a:r>
            <a:r>
              <a:rPr sz="2000" b="1" spc="-5" dirty="0">
                <a:latin typeface="+mj-lt"/>
                <a:cs typeface="Comic Sans MS"/>
              </a:rPr>
              <a:t>¿Faltan causas  </a:t>
            </a:r>
            <a:r>
              <a:rPr sz="2000" b="1" spc="-10" dirty="0">
                <a:latin typeface="+mj-lt"/>
                <a:cs typeface="Comic Sans MS"/>
              </a:rPr>
              <a:t>importantes?</a:t>
            </a:r>
            <a:endParaRPr sz="2000" dirty="0">
              <a:latin typeface="+mj-lt"/>
              <a:cs typeface="Comic Sans MS"/>
            </a:endParaRPr>
          </a:p>
          <a:p>
            <a:pPr marL="756285" marR="273050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920" algn="l"/>
                <a:tab pos="5440045" algn="l"/>
              </a:tabLst>
            </a:pPr>
            <a:r>
              <a:rPr sz="2000" spc="-5" dirty="0">
                <a:latin typeface="+mj-lt"/>
                <a:cs typeface="Comic Sans MS"/>
              </a:rPr>
              <a:t>V</a:t>
            </a:r>
            <a:r>
              <a:rPr sz="2000" spc="-15" dirty="0">
                <a:latin typeface="+mj-lt"/>
                <a:cs typeface="Comic Sans MS"/>
              </a:rPr>
              <a:t>a</a:t>
            </a:r>
            <a:r>
              <a:rPr sz="2000" spc="-5" dirty="0">
                <a:latin typeface="+mj-lt"/>
                <a:cs typeface="Comic Sans MS"/>
              </a:rPr>
              <a:t>lidar</a:t>
            </a:r>
            <a:r>
              <a:rPr sz="2000" spc="35" dirty="0">
                <a:latin typeface="+mj-lt"/>
                <a:cs typeface="Comic Sans MS"/>
              </a:rPr>
              <a:t> </a:t>
            </a:r>
            <a:r>
              <a:rPr sz="2000" spc="-5" dirty="0">
                <a:latin typeface="+mj-lt"/>
                <a:cs typeface="Comic Sans MS"/>
              </a:rPr>
              <a:t>las existen</a:t>
            </a:r>
            <a:r>
              <a:rPr sz="2000" dirty="0">
                <a:latin typeface="+mj-lt"/>
                <a:cs typeface="Comic Sans MS"/>
              </a:rPr>
              <a:t>t</a:t>
            </a:r>
            <a:r>
              <a:rPr sz="2000" spc="-5" dirty="0">
                <a:latin typeface="+mj-lt"/>
                <a:cs typeface="Comic Sans MS"/>
              </a:rPr>
              <a:t>es</a:t>
            </a:r>
            <a:r>
              <a:rPr sz="2000" spc="25" dirty="0">
                <a:latin typeface="+mj-lt"/>
                <a:cs typeface="Comic Sans MS"/>
              </a:rPr>
              <a:t> </a:t>
            </a:r>
            <a:r>
              <a:rPr sz="2000" b="1" spc="-5" dirty="0">
                <a:latin typeface="+mj-lt"/>
                <a:cs typeface="Comic Sans MS"/>
              </a:rPr>
              <a:t>¿</a:t>
            </a:r>
            <a:r>
              <a:rPr sz="2000" b="1" dirty="0">
                <a:latin typeface="+mj-lt"/>
                <a:cs typeface="Comic Sans MS"/>
              </a:rPr>
              <a:t>S</a:t>
            </a:r>
            <a:r>
              <a:rPr sz="2000" b="1" spc="-5" dirty="0">
                <a:latin typeface="+mj-lt"/>
                <a:cs typeface="Comic Sans MS"/>
              </a:rPr>
              <a:t>on</a:t>
            </a:r>
            <a:r>
              <a:rPr lang="es-419" sz="2000" b="1" dirty="0">
                <a:latin typeface="+mj-lt"/>
                <a:cs typeface="Comic Sans MS"/>
              </a:rPr>
              <a:t> </a:t>
            </a:r>
            <a:r>
              <a:rPr sz="2000" b="1" spc="-10" dirty="0" err="1">
                <a:latin typeface="+mj-lt"/>
                <a:cs typeface="Comic Sans MS"/>
              </a:rPr>
              <a:t>realmente</a:t>
            </a:r>
            <a:r>
              <a:rPr lang="es-419" sz="2000" b="1" spc="-10" dirty="0">
                <a:latin typeface="+mj-lt"/>
                <a:cs typeface="Comic Sans MS"/>
              </a:rPr>
              <a:t> </a:t>
            </a:r>
            <a:r>
              <a:rPr sz="2000" b="1" spc="-10" dirty="0" err="1">
                <a:latin typeface="+mj-lt"/>
                <a:cs typeface="Comic Sans MS"/>
              </a:rPr>
              <a:t>incidentes</a:t>
            </a:r>
            <a:r>
              <a:rPr sz="2000" b="1" spc="-10" dirty="0">
                <a:latin typeface="+mj-lt"/>
                <a:cs typeface="Comic Sans MS"/>
              </a:rPr>
              <a:t>?</a:t>
            </a:r>
            <a:endParaRPr sz="2000" dirty="0">
              <a:latin typeface="+mj-lt"/>
              <a:cs typeface="Comic Sans MS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solidFill>
                  <a:srgbClr val="333399"/>
                </a:solidFill>
                <a:latin typeface="+mj-lt"/>
                <a:cs typeface="Comic Sans MS"/>
              </a:rPr>
              <a:t>Causas </a:t>
            </a:r>
            <a:r>
              <a:rPr sz="2000" spc="-5" dirty="0">
                <a:solidFill>
                  <a:srgbClr val="333399"/>
                </a:solidFill>
                <a:latin typeface="+mj-lt"/>
                <a:cs typeface="Comic Sans MS"/>
              </a:rPr>
              <a:t>de segundo </a:t>
            </a:r>
            <a:r>
              <a:rPr sz="2000" spc="-10" dirty="0">
                <a:solidFill>
                  <a:srgbClr val="333399"/>
                </a:solidFill>
                <a:latin typeface="+mj-lt"/>
                <a:cs typeface="Comic Sans MS"/>
              </a:rPr>
              <a:t>nivel (causas </a:t>
            </a:r>
            <a:r>
              <a:rPr sz="2000" spc="-5" dirty="0">
                <a:solidFill>
                  <a:srgbClr val="333399"/>
                </a:solidFill>
                <a:latin typeface="+mj-lt"/>
                <a:cs typeface="Comic Sans MS"/>
              </a:rPr>
              <a:t>de</a:t>
            </a:r>
            <a:r>
              <a:rPr sz="2000" spc="85" dirty="0">
                <a:solidFill>
                  <a:srgbClr val="333399"/>
                </a:solidFill>
                <a:latin typeface="+mj-lt"/>
                <a:cs typeface="Comic Sans MS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+mj-lt"/>
                <a:cs typeface="Comic Sans MS"/>
              </a:rPr>
              <a:t>causas)</a:t>
            </a:r>
            <a:endParaRPr sz="2000" dirty="0">
              <a:latin typeface="+mj-lt"/>
              <a:cs typeface="Comic Sans MS"/>
            </a:endParaRPr>
          </a:p>
          <a:p>
            <a:pPr marL="423545" indent="-411480">
              <a:lnSpc>
                <a:spcPct val="100000"/>
              </a:lnSpc>
              <a:spcBef>
                <a:spcPts val="675"/>
              </a:spcBef>
              <a:buAutoNum type="arabicPeriod" startAt="2"/>
              <a:tabLst>
                <a:tab pos="424180" algn="l"/>
              </a:tabLst>
            </a:pPr>
            <a:r>
              <a:rPr sz="2000" spc="-5" dirty="0">
                <a:latin typeface="+mj-lt"/>
                <a:cs typeface="Comic Sans MS"/>
              </a:rPr>
              <a:t>Sugerencia</a:t>
            </a:r>
            <a:endParaRPr sz="2000" dirty="0">
              <a:latin typeface="+mj-lt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000" spc="-5" dirty="0">
                <a:latin typeface="+mj-lt"/>
                <a:cs typeface="Comic Sans MS"/>
              </a:rPr>
              <a:t>Trabajar en </a:t>
            </a:r>
            <a:r>
              <a:rPr sz="2000" spc="-10" dirty="0">
                <a:latin typeface="+mj-lt"/>
                <a:cs typeface="Comic Sans MS"/>
              </a:rPr>
              <a:t>nueva </a:t>
            </a:r>
            <a:r>
              <a:rPr sz="2000" spc="-5" dirty="0">
                <a:latin typeface="+mj-lt"/>
                <a:cs typeface="Comic Sans MS"/>
              </a:rPr>
              <a:t>lluvia</a:t>
            </a:r>
            <a:r>
              <a:rPr sz="2000" spc="50" dirty="0">
                <a:latin typeface="+mj-lt"/>
                <a:cs typeface="Comic Sans MS"/>
              </a:rPr>
              <a:t> </a:t>
            </a:r>
            <a:r>
              <a:rPr sz="2000" spc="-5" dirty="0">
                <a:latin typeface="+mj-lt"/>
                <a:cs typeface="Comic Sans MS"/>
              </a:rPr>
              <a:t>creativa</a:t>
            </a:r>
            <a:endParaRPr sz="2000" dirty="0">
              <a:latin typeface="+mj-lt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000" spc="-5" dirty="0">
                <a:latin typeface="+mj-lt"/>
                <a:cs typeface="Comic Sans MS"/>
              </a:rPr>
              <a:t>Confrontar y </a:t>
            </a:r>
            <a:r>
              <a:rPr sz="2000" spc="-10" dirty="0">
                <a:latin typeface="+mj-lt"/>
                <a:cs typeface="Comic Sans MS"/>
              </a:rPr>
              <a:t>validar </a:t>
            </a:r>
            <a:r>
              <a:rPr sz="2000" spc="-5" dirty="0">
                <a:latin typeface="+mj-lt"/>
                <a:cs typeface="Comic Sans MS"/>
              </a:rPr>
              <a:t>en</a:t>
            </a:r>
            <a:r>
              <a:rPr sz="2000" spc="75" dirty="0">
                <a:latin typeface="+mj-lt"/>
                <a:cs typeface="Comic Sans MS"/>
              </a:rPr>
              <a:t> </a:t>
            </a:r>
            <a:r>
              <a:rPr sz="2000" spc="-5" dirty="0" err="1">
                <a:latin typeface="+mj-lt"/>
                <a:cs typeface="Comic Sans MS"/>
              </a:rPr>
              <a:t>terreno</a:t>
            </a:r>
            <a:r>
              <a:rPr sz="2000" spc="-5" dirty="0">
                <a:latin typeface="+mj-lt"/>
                <a:cs typeface="Comic Sans MS"/>
              </a:rPr>
              <a:t>.</a:t>
            </a:r>
            <a:endParaRPr sz="2000" dirty="0">
              <a:latin typeface="+mj-lt"/>
              <a:cs typeface="Comic Sans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394841" y="14731"/>
            <a:ext cx="6657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Versión </a:t>
            </a:r>
            <a:r>
              <a:rPr sz="2800" spc="-10" dirty="0"/>
              <a:t>ajustada del Arbol del</a:t>
            </a:r>
            <a:r>
              <a:rPr sz="2800" spc="135" dirty="0"/>
              <a:t> </a:t>
            </a:r>
            <a:r>
              <a:rPr sz="2800" spc="-5" dirty="0"/>
              <a:t>Problema</a:t>
            </a:r>
            <a:endParaRPr sz="2800"/>
          </a:p>
        </p:txBody>
      </p:sp>
      <p:grpSp>
        <p:nvGrpSpPr>
          <p:cNvPr id="34" name="Grupo 33"/>
          <p:cNvGrpSpPr/>
          <p:nvPr/>
        </p:nvGrpSpPr>
        <p:grpSpPr>
          <a:xfrm>
            <a:off x="261367" y="1066800"/>
            <a:ext cx="8124190" cy="5451475"/>
            <a:chOff x="990600" y="1066800"/>
            <a:chExt cx="8124190" cy="5451475"/>
          </a:xfrm>
        </p:grpSpPr>
        <p:sp>
          <p:nvSpPr>
            <p:cNvPr id="2" name="object 2"/>
            <p:cNvSpPr/>
            <p:nvPr/>
          </p:nvSpPr>
          <p:spPr>
            <a:xfrm>
              <a:off x="3611879" y="3680459"/>
              <a:ext cx="1609344" cy="6766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707129" y="3716782"/>
              <a:ext cx="1424305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1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FRUTA</a:t>
              </a:r>
              <a:r>
                <a:rPr sz="1000" b="1" spc="-3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DETERIORADA</a:t>
              </a:r>
              <a:endParaRPr sz="1000">
                <a:latin typeface="Tahoma"/>
                <a:cs typeface="Tahoma"/>
              </a:endParaRPr>
            </a:p>
            <a:p>
              <a:pPr marL="127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EN </a:t>
              </a:r>
              <a:r>
                <a:rPr sz="1000" b="1" spc="-5" dirty="0">
                  <a:latin typeface="Tahoma"/>
                  <a:cs typeface="Tahoma"/>
                </a:rPr>
                <a:t>LA</a:t>
              </a:r>
              <a:r>
                <a:rPr sz="1000" b="1" spc="-4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505200" y="1066800"/>
              <a:ext cx="1851025" cy="59690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dirty="0">
                  <a:latin typeface="Tahoma"/>
                  <a:cs typeface="Tahoma"/>
                </a:rPr>
                <a:t>2</a:t>
              </a:r>
              <a:endParaRPr sz="1100">
                <a:latin typeface="Tahoma"/>
                <a:cs typeface="Tahoma"/>
              </a:endParaRPr>
            </a:p>
            <a:p>
              <a:pPr marL="92075" marR="83185" indent="-1905"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MENORES INGRESOS  DE LOS</a:t>
              </a:r>
              <a:r>
                <a:rPr sz="1100" b="1" spc="-114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AGRICULTORES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505200" y="2743200"/>
              <a:ext cx="1876425" cy="42862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dirty="0">
                  <a:latin typeface="Tahoma"/>
                  <a:cs typeface="Tahoma"/>
                </a:rPr>
                <a:t>5</a:t>
              </a:r>
              <a:endParaRPr sz="11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PÉRDIDAS EN</a:t>
              </a:r>
              <a:r>
                <a:rPr sz="1100" b="1" spc="-70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COSECHA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2438400" y="5791200"/>
              <a:ext cx="1208405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8</a:t>
              </a:r>
              <a:endParaRPr sz="1000">
                <a:latin typeface="Tahoma"/>
                <a:cs typeface="Tahoma"/>
              </a:endParaRPr>
            </a:p>
            <a:p>
              <a:pPr marL="93345" marR="87630" indent="127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 RE</a:t>
              </a:r>
              <a:r>
                <a:rPr sz="1000" b="1" spc="-15" dirty="0">
                  <a:latin typeface="Tahoma"/>
                  <a:cs typeface="Tahoma"/>
                </a:rPr>
                <a:t>C</a:t>
              </a:r>
              <a:r>
                <a:rPr sz="1000" b="1" spc="-5" dirty="0">
                  <a:latin typeface="Tahoma"/>
                  <a:cs typeface="Tahoma"/>
                </a:rPr>
                <a:t>O</a:t>
              </a:r>
              <a:r>
                <a:rPr sz="1000" b="1" dirty="0">
                  <a:latin typeface="Tahoma"/>
                  <a:cs typeface="Tahoma"/>
                </a:rPr>
                <a:t>L</a:t>
              </a:r>
              <a:r>
                <a:rPr sz="1000" b="1" spc="-10" dirty="0">
                  <a:latin typeface="Tahoma"/>
                  <a:cs typeface="Tahoma"/>
                </a:rPr>
                <a:t>E</a:t>
              </a:r>
              <a:r>
                <a:rPr sz="1000" b="1" spc="-15" dirty="0">
                  <a:latin typeface="Tahoma"/>
                  <a:cs typeface="Tahoma"/>
                </a:rPr>
                <a:t>C</a:t>
              </a:r>
              <a:r>
                <a:rPr sz="1000" b="1" spc="-10" dirty="0">
                  <a:latin typeface="Tahoma"/>
                  <a:cs typeface="Tahoma"/>
                </a:rPr>
                <a:t>T</a:t>
              </a:r>
              <a:r>
                <a:rPr sz="1000" b="1" spc="-5" dirty="0">
                  <a:latin typeface="Tahoma"/>
                  <a:cs typeface="Tahoma"/>
                </a:rPr>
                <a:t>O</a:t>
              </a:r>
              <a:r>
                <a:rPr sz="1000" b="1" spc="-10" dirty="0">
                  <a:latin typeface="Tahoma"/>
                  <a:cs typeface="Tahoma"/>
                </a:rPr>
                <a:t>R</a:t>
              </a:r>
              <a:r>
                <a:rPr sz="1000" b="1" spc="-5" dirty="0">
                  <a:latin typeface="Tahoma"/>
                  <a:cs typeface="Tahoma"/>
                </a:rPr>
                <a:t>AS  OBSOLETAS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622425" y="4826000"/>
              <a:ext cx="1965325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95250" marR="8763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RECOLECTORAS  DEFICIENTES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635500" y="4826000"/>
              <a:ext cx="1816100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95885" marR="87630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MALTRATAN  LA </a:t>
              </a: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AL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114800" y="5791200"/>
              <a:ext cx="1538605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3</a:t>
              </a:r>
              <a:endParaRPr sz="1000">
                <a:latin typeface="Tahoma"/>
                <a:cs typeface="Tahoma"/>
              </a:endParaRPr>
            </a:p>
            <a:p>
              <a:pPr marL="92710" marR="124460" indent="40005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</a:t>
              </a:r>
              <a:r>
                <a:rPr sz="1000" b="1" spc="-10" dirty="0">
                  <a:latin typeface="Tahoma"/>
                  <a:cs typeface="Tahoma"/>
                </a:rPr>
                <a:t>MAL  </a:t>
              </a:r>
              <a:r>
                <a:rPr sz="1000" b="1" spc="-5" dirty="0">
                  <a:latin typeface="Tahoma"/>
                  <a:cs typeface="Tahoma"/>
                </a:rPr>
                <a:t>CAPACITADOS</a:t>
              </a:r>
              <a:r>
                <a:rPr sz="1000" b="1" spc="-60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PARA 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143000" y="2590800"/>
              <a:ext cx="1792605" cy="59690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spc="5" dirty="0">
                  <a:latin typeface="Tahoma"/>
                  <a:cs typeface="Tahoma"/>
                </a:rPr>
                <a:t>15</a:t>
              </a:r>
              <a:endParaRPr sz="1100">
                <a:latin typeface="Tahoma"/>
                <a:cs typeface="Tahoma"/>
              </a:endParaRPr>
            </a:p>
            <a:p>
              <a:pPr marL="91440" marR="86360"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CONTAMINACIÓN</a:t>
              </a:r>
              <a:r>
                <a:rPr sz="1100" b="1" spc="-80" dirty="0">
                  <a:latin typeface="Tahoma"/>
                  <a:cs typeface="Tahoma"/>
                </a:rPr>
                <a:t> </a:t>
              </a:r>
              <a:r>
                <a:rPr sz="1100" b="1" spc="-5" dirty="0">
                  <a:latin typeface="Tahoma"/>
                  <a:cs typeface="Tahoma"/>
                </a:rPr>
                <a:t>POR  FRUTAS</a:t>
              </a:r>
              <a:r>
                <a:rPr sz="1100" b="1" spc="-30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DAÑADAS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000125" y="1828800"/>
              <a:ext cx="2025650" cy="59690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dirty="0">
                  <a:latin typeface="Tahoma"/>
                  <a:cs typeface="Tahoma"/>
                </a:rPr>
                <a:t>6</a:t>
              </a:r>
              <a:endParaRPr sz="1100">
                <a:latin typeface="Tahoma"/>
                <a:cs typeface="Tahoma"/>
              </a:endParaRPr>
            </a:p>
            <a:p>
              <a:pPr marL="92075" marR="83185" indent="-3175" algn="ctr">
                <a:lnSpc>
                  <a:spcPct val="100000"/>
                </a:lnSpc>
              </a:pPr>
              <a:r>
                <a:rPr sz="1100" b="1" spc="-5" dirty="0">
                  <a:latin typeface="Tahoma"/>
                  <a:cs typeface="Tahoma"/>
                </a:rPr>
                <a:t>PROLIFERACIÓN </a:t>
              </a:r>
              <a:r>
                <a:rPr sz="1100" b="1" dirty="0">
                  <a:latin typeface="Tahoma"/>
                  <a:cs typeface="Tahoma"/>
                </a:rPr>
                <a:t>DE  PLAGAS Y </a:t>
              </a:r>
              <a:r>
                <a:rPr sz="1100" b="1" spc="-5" dirty="0">
                  <a:latin typeface="Tahoma"/>
                  <a:cs typeface="Tahoma"/>
                </a:rPr>
                <a:t>MALOS</a:t>
              </a:r>
              <a:r>
                <a:rPr sz="1100" b="1" spc="-95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OLORES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647825" y="5375275"/>
              <a:ext cx="995680" cy="415925"/>
            </a:xfrm>
            <a:custGeom>
              <a:avLst/>
              <a:gdLst/>
              <a:ahLst/>
              <a:cxnLst/>
              <a:rect l="l" t="t" r="r" b="b"/>
              <a:pathLst>
                <a:path w="995680" h="415925">
                  <a:moveTo>
                    <a:pt x="950849" y="201549"/>
                  </a:moveTo>
                  <a:lnTo>
                    <a:pt x="0" y="201549"/>
                  </a:lnTo>
                  <a:lnTo>
                    <a:pt x="0" y="415925"/>
                  </a:lnTo>
                  <a:lnTo>
                    <a:pt x="12700" y="415925"/>
                  </a:lnTo>
                  <a:lnTo>
                    <a:pt x="12700" y="214312"/>
                  </a:lnTo>
                  <a:lnTo>
                    <a:pt x="6350" y="214312"/>
                  </a:lnTo>
                  <a:lnTo>
                    <a:pt x="12700" y="207899"/>
                  </a:lnTo>
                  <a:lnTo>
                    <a:pt x="950849" y="207899"/>
                  </a:lnTo>
                  <a:lnTo>
                    <a:pt x="950849" y="201549"/>
                  </a:lnTo>
                  <a:close/>
                </a:path>
                <a:path w="995680" h="415925">
                  <a:moveTo>
                    <a:pt x="12700" y="207899"/>
                  </a:moveTo>
                  <a:lnTo>
                    <a:pt x="6350" y="214312"/>
                  </a:lnTo>
                  <a:lnTo>
                    <a:pt x="12700" y="214312"/>
                  </a:lnTo>
                  <a:lnTo>
                    <a:pt x="12700" y="207899"/>
                  </a:lnTo>
                  <a:close/>
                </a:path>
                <a:path w="995680" h="415925">
                  <a:moveTo>
                    <a:pt x="963549" y="201549"/>
                  </a:moveTo>
                  <a:lnTo>
                    <a:pt x="957199" y="201549"/>
                  </a:lnTo>
                  <a:lnTo>
                    <a:pt x="950849" y="207899"/>
                  </a:lnTo>
                  <a:lnTo>
                    <a:pt x="12700" y="207899"/>
                  </a:lnTo>
                  <a:lnTo>
                    <a:pt x="12700" y="214312"/>
                  </a:lnTo>
                  <a:lnTo>
                    <a:pt x="963549" y="214312"/>
                  </a:lnTo>
                  <a:lnTo>
                    <a:pt x="963549" y="201549"/>
                  </a:lnTo>
                  <a:close/>
                </a:path>
                <a:path w="995680" h="415925">
                  <a:moveTo>
                    <a:pt x="963549" y="63500"/>
                  </a:moveTo>
                  <a:lnTo>
                    <a:pt x="950849" y="63500"/>
                  </a:lnTo>
                  <a:lnTo>
                    <a:pt x="950849" y="207899"/>
                  </a:lnTo>
                  <a:lnTo>
                    <a:pt x="957199" y="201549"/>
                  </a:lnTo>
                  <a:lnTo>
                    <a:pt x="963549" y="201549"/>
                  </a:lnTo>
                  <a:lnTo>
                    <a:pt x="963549" y="63500"/>
                  </a:lnTo>
                  <a:close/>
                </a:path>
                <a:path w="995680" h="415925">
                  <a:moveTo>
                    <a:pt x="957199" y="0"/>
                  </a:moveTo>
                  <a:lnTo>
                    <a:pt x="919099" y="76200"/>
                  </a:lnTo>
                  <a:lnTo>
                    <a:pt x="950849" y="76200"/>
                  </a:lnTo>
                  <a:lnTo>
                    <a:pt x="950849" y="63500"/>
                  </a:lnTo>
                  <a:lnTo>
                    <a:pt x="988949" y="63500"/>
                  </a:lnTo>
                  <a:lnTo>
                    <a:pt x="957199" y="0"/>
                  </a:lnTo>
                  <a:close/>
                </a:path>
                <a:path w="995680" h="415925">
                  <a:moveTo>
                    <a:pt x="988949" y="63500"/>
                  </a:moveTo>
                  <a:lnTo>
                    <a:pt x="963549" y="63500"/>
                  </a:lnTo>
                  <a:lnTo>
                    <a:pt x="963549" y="76200"/>
                  </a:lnTo>
                  <a:lnTo>
                    <a:pt x="995299" y="76200"/>
                  </a:lnTo>
                  <a:lnTo>
                    <a:pt x="988949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66923" y="5375275"/>
              <a:ext cx="482600" cy="415925"/>
            </a:xfrm>
            <a:custGeom>
              <a:avLst/>
              <a:gdLst/>
              <a:ahLst/>
              <a:cxnLst/>
              <a:rect l="l" t="t" r="r" b="b"/>
              <a:pathLst>
                <a:path w="482600" h="415925">
                  <a:moveTo>
                    <a:pt x="469900" y="207899"/>
                  </a:moveTo>
                  <a:lnTo>
                    <a:pt x="469900" y="415925"/>
                  </a:lnTo>
                  <a:lnTo>
                    <a:pt x="482600" y="415925"/>
                  </a:lnTo>
                  <a:lnTo>
                    <a:pt x="482600" y="214312"/>
                  </a:lnTo>
                  <a:lnTo>
                    <a:pt x="476250" y="214312"/>
                  </a:lnTo>
                  <a:lnTo>
                    <a:pt x="469900" y="207899"/>
                  </a:lnTo>
                  <a:close/>
                </a:path>
                <a:path w="482600" h="415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14312"/>
                  </a:lnTo>
                  <a:lnTo>
                    <a:pt x="469900" y="214312"/>
                  </a:lnTo>
                  <a:lnTo>
                    <a:pt x="469900" y="207899"/>
                  </a:lnTo>
                  <a:lnTo>
                    <a:pt x="44450" y="207899"/>
                  </a:lnTo>
                  <a:lnTo>
                    <a:pt x="38100" y="201549"/>
                  </a:lnTo>
                  <a:lnTo>
                    <a:pt x="44450" y="201549"/>
                  </a:lnTo>
                  <a:lnTo>
                    <a:pt x="44450" y="63500"/>
                  </a:lnTo>
                  <a:close/>
                </a:path>
                <a:path w="482600" h="415925">
                  <a:moveTo>
                    <a:pt x="482600" y="201549"/>
                  </a:moveTo>
                  <a:lnTo>
                    <a:pt x="44450" y="201549"/>
                  </a:lnTo>
                  <a:lnTo>
                    <a:pt x="44450" y="207899"/>
                  </a:lnTo>
                  <a:lnTo>
                    <a:pt x="469900" y="207899"/>
                  </a:lnTo>
                  <a:lnTo>
                    <a:pt x="476250" y="214312"/>
                  </a:lnTo>
                  <a:lnTo>
                    <a:pt x="482600" y="214312"/>
                  </a:lnTo>
                  <a:lnTo>
                    <a:pt x="482600" y="201549"/>
                  </a:lnTo>
                  <a:close/>
                </a:path>
                <a:path w="482600" h="415925">
                  <a:moveTo>
                    <a:pt x="44450" y="201549"/>
                  </a:moveTo>
                  <a:lnTo>
                    <a:pt x="38100" y="201549"/>
                  </a:lnTo>
                  <a:lnTo>
                    <a:pt x="44450" y="207899"/>
                  </a:lnTo>
                  <a:lnTo>
                    <a:pt x="44450" y="201549"/>
                  </a:lnTo>
                  <a:close/>
                </a:path>
                <a:path w="482600" h="415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82600" h="415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78323" y="5375275"/>
              <a:ext cx="703580" cy="415925"/>
            </a:xfrm>
            <a:custGeom>
              <a:avLst/>
              <a:gdLst/>
              <a:ahLst/>
              <a:cxnLst/>
              <a:rect l="l" t="t" r="r" b="b"/>
              <a:pathLst>
                <a:path w="703579" h="415925">
                  <a:moveTo>
                    <a:pt x="658876" y="201549"/>
                  </a:moveTo>
                  <a:lnTo>
                    <a:pt x="0" y="201549"/>
                  </a:lnTo>
                  <a:lnTo>
                    <a:pt x="0" y="415925"/>
                  </a:lnTo>
                  <a:lnTo>
                    <a:pt x="12700" y="415925"/>
                  </a:lnTo>
                  <a:lnTo>
                    <a:pt x="12700" y="214312"/>
                  </a:lnTo>
                  <a:lnTo>
                    <a:pt x="6350" y="214312"/>
                  </a:lnTo>
                  <a:lnTo>
                    <a:pt x="12700" y="207899"/>
                  </a:lnTo>
                  <a:lnTo>
                    <a:pt x="658876" y="207899"/>
                  </a:lnTo>
                  <a:lnTo>
                    <a:pt x="658876" y="201549"/>
                  </a:lnTo>
                  <a:close/>
                </a:path>
                <a:path w="703579" h="415925">
                  <a:moveTo>
                    <a:pt x="12700" y="207899"/>
                  </a:moveTo>
                  <a:lnTo>
                    <a:pt x="6350" y="214312"/>
                  </a:lnTo>
                  <a:lnTo>
                    <a:pt x="12700" y="214312"/>
                  </a:lnTo>
                  <a:lnTo>
                    <a:pt x="12700" y="207899"/>
                  </a:lnTo>
                  <a:close/>
                </a:path>
                <a:path w="703579" h="415925">
                  <a:moveTo>
                    <a:pt x="671576" y="201549"/>
                  </a:moveTo>
                  <a:lnTo>
                    <a:pt x="665226" y="201549"/>
                  </a:lnTo>
                  <a:lnTo>
                    <a:pt x="658876" y="207899"/>
                  </a:lnTo>
                  <a:lnTo>
                    <a:pt x="12700" y="207899"/>
                  </a:lnTo>
                  <a:lnTo>
                    <a:pt x="12700" y="214312"/>
                  </a:lnTo>
                  <a:lnTo>
                    <a:pt x="671576" y="214312"/>
                  </a:lnTo>
                  <a:lnTo>
                    <a:pt x="671576" y="201549"/>
                  </a:lnTo>
                  <a:close/>
                </a:path>
                <a:path w="703579" h="415925">
                  <a:moveTo>
                    <a:pt x="671576" y="63500"/>
                  </a:moveTo>
                  <a:lnTo>
                    <a:pt x="658876" y="63500"/>
                  </a:lnTo>
                  <a:lnTo>
                    <a:pt x="658876" y="207899"/>
                  </a:lnTo>
                  <a:lnTo>
                    <a:pt x="665226" y="201549"/>
                  </a:lnTo>
                  <a:lnTo>
                    <a:pt x="671576" y="201549"/>
                  </a:lnTo>
                  <a:lnTo>
                    <a:pt x="671576" y="63500"/>
                  </a:lnTo>
                  <a:close/>
                </a:path>
                <a:path w="703579" h="415925">
                  <a:moveTo>
                    <a:pt x="665226" y="0"/>
                  </a:moveTo>
                  <a:lnTo>
                    <a:pt x="627126" y="76200"/>
                  </a:lnTo>
                  <a:lnTo>
                    <a:pt x="658876" y="76200"/>
                  </a:lnTo>
                  <a:lnTo>
                    <a:pt x="658876" y="63500"/>
                  </a:lnTo>
                  <a:lnTo>
                    <a:pt x="696976" y="63500"/>
                  </a:lnTo>
                  <a:lnTo>
                    <a:pt x="665226" y="0"/>
                  </a:lnTo>
                  <a:close/>
                </a:path>
                <a:path w="703579" h="415925">
                  <a:moveTo>
                    <a:pt x="696976" y="63500"/>
                  </a:moveTo>
                  <a:lnTo>
                    <a:pt x="671576" y="63500"/>
                  </a:lnTo>
                  <a:lnTo>
                    <a:pt x="671576" y="76200"/>
                  </a:lnTo>
                  <a:lnTo>
                    <a:pt x="703326" y="76200"/>
                  </a:lnTo>
                  <a:lnTo>
                    <a:pt x="69697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81500" y="4241800"/>
              <a:ext cx="1168400" cy="584200"/>
            </a:xfrm>
            <a:custGeom>
              <a:avLst/>
              <a:gdLst/>
              <a:ahLst/>
              <a:cxnLst/>
              <a:rect l="l" t="t" r="r" b="b"/>
              <a:pathLst>
                <a:path w="1168400" h="584200">
                  <a:moveTo>
                    <a:pt x="1155700" y="292100"/>
                  </a:moveTo>
                  <a:lnTo>
                    <a:pt x="1155700" y="584200"/>
                  </a:lnTo>
                  <a:lnTo>
                    <a:pt x="1168400" y="584200"/>
                  </a:lnTo>
                  <a:lnTo>
                    <a:pt x="1168400" y="298450"/>
                  </a:lnTo>
                  <a:lnTo>
                    <a:pt x="1162050" y="298450"/>
                  </a:lnTo>
                  <a:lnTo>
                    <a:pt x="1155700" y="292100"/>
                  </a:lnTo>
                  <a:close/>
                </a:path>
                <a:path w="1168400" h="5842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98450"/>
                  </a:lnTo>
                  <a:lnTo>
                    <a:pt x="1155700" y="298450"/>
                  </a:lnTo>
                  <a:lnTo>
                    <a:pt x="1155700" y="292100"/>
                  </a:lnTo>
                  <a:lnTo>
                    <a:pt x="44450" y="292100"/>
                  </a:lnTo>
                  <a:lnTo>
                    <a:pt x="38100" y="285750"/>
                  </a:lnTo>
                  <a:lnTo>
                    <a:pt x="44450" y="285750"/>
                  </a:lnTo>
                  <a:lnTo>
                    <a:pt x="44450" y="63500"/>
                  </a:lnTo>
                  <a:close/>
                </a:path>
                <a:path w="1168400" h="584200">
                  <a:moveTo>
                    <a:pt x="1168400" y="285750"/>
                  </a:moveTo>
                  <a:lnTo>
                    <a:pt x="44450" y="285750"/>
                  </a:lnTo>
                  <a:lnTo>
                    <a:pt x="44450" y="292100"/>
                  </a:lnTo>
                  <a:lnTo>
                    <a:pt x="1155700" y="292100"/>
                  </a:lnTo>
                  <a:lnTo>
                    <a:pt x="1162050" y="298450"/>
                  </a:lnTo>
                  <a:lnTo>
                    <a:pt x="1168400" y="298450"/>
                  </a:lnTo>
                  <a:lnTo>
                    <a:pt x="1168400" y="285750"/>
                  </a:lnTo>
                  <a:close/>
                </a:path>
                <a:path w="1168400" h="584200">
                  <a:moveTo>
                    <a:pt x="44450" y="285750"/>
                  </a:moveTo>
                  <a:lnTo>
                    <a:pt x="38100" y="285750"/>
                  </a:lnTo>
                  <a:lnTo>
                    <a:pt x="44450" y="292100"/>
                  </a:lnTo>
                  <a:lnTo>
                    <a:pt x="44450" y="285750"/>
                  </a:lnTo>
                  <a:close/>
                </a:path>
                <a:path w="1168400" h="5842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168400" h="5842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98673" y="4241800"/>
              <a:ext cx="1859280" cy="584200"/>
            </a:xfrm>
            <a:custGeom>
              <a:avLst/>
              <a:gdLst/>
              <a:ahLst/>
              <a:cxnLst/>
              <a:rect l="l" t="t" r="r" b="b"/>
              <a:pathLst>
                <a:path w="1859279" h="584200">
                  <a:moveTo>
                    <a:pt x="1814576" y="285750"/>
                  </a:moveTo>
                  <a:lnTo>
                    <a:pt x="0" y="285750"/>
                  </a:lnTo>
                  <a:lnTo>
                    <a:pt x="0" y="584200"/>
                  </a:lnTo>
                  <a:lnTo>
                    <a:pt x="12700" y="584200"/>
                  </a:lnTo>
                  <a:lnTo>
                    <a:pt x="12700" y="298450"/>
                  </a:lnTo>
                  <a:lnTo>
                    <a:pt x="6350" y="298450"/>
                  </a:lnTo>
                  <a:lnTo>
                    <a:pt x="12700" y="292100"/>
                  </a:lnTo>
                  <a:lnTo>
                    <a:pt x="1814576" y="292100"/>
                  </a:lnTo>
                  <a:lnTo>
                    <a:pt x="1814576" y="285750"/>
                  </a:lnTo>
                  <a:close/>
                </a:path>
                <a:path w="1859279" h="584200">
                  <a:moveTo>
                    <a:pt x="12700" y="292100"/>
                  </a:moveTo>
                  <a:lnTo>
                    <a:pt x="6350" y="298450"/>
                  </a:lnTo>
                  <a:lnTo>
                    <a:pt x="12700" y="298450"/>
                  </a:lnTo>
                  <a:lnTo>
                    <a:pt x="12700" y="292100"/>
                  </a:lnTo>
                  <a:close/>
                </a:path>
                <a:path w="1859279" h="584200">
                  <a:moveTo>
                    <a:pt x="1827276" y="285750"/>
                  </a:moveTo>
                  <a:lnTo>
                    <a:pt x="1820926" y="285750"/>
                  </a:lnTo>
                  <a:lnTo>
                    <a:pt x="1814576" y="292100"/>
                  </a:lnTo>
                  <a:lnTo>
                    <a:pt x="12700" y="292100"/>
                  </a:lnTo>
                  <a:lnTo>
                    <a:pt x="12700" y="298450"/>
                  </a:lnTo>
                  <a:lnTo>
                    <a:pt x="1827276" y="298450"/>
                  </a:lnTo>
                  <a:lnTo>
                    <a:pt x="1827276" y="285750"/>
                  </a:lnTo>
                  <a:close/>
                </a:path>
                <a:path w="1859279" h="584200">
                  <a:moveTo>
                    <a:pt x="1827276" y="63500"/>
                  </a:moveTo>
                  <a:lnTo>
                    <a:pt x="1814576" y="63500"/>
                  </a:lnTo>
                  <a:lnTo>
                    <a:pt x="1814576" y="292100"/>
                  </a:lnTo>
                  <a:lnTo>
                    <a:pt x="1820926" y="285750"/>
                  </a:lnTo>
                  <a:lnTo>
                    <a:pt x="1827276" y="285750"/>
                  </a:lnTo>
                  <a:lnTo>
                    <a:pt x="1827276" y="63500"/>
                  </a:lnTo>
                  <a:close/>
                </a:path>
                <a:path w="1859279" h="584200">
                  <a:moveTo>
                    <a:pt x="1820926" y="0"/>
                  </a:moveTo>
                  <a:lnTo>
                    <a:pt x="1782826" y="76200"/>
                  </a:lnTo>
                  <a:lnTo>
                    <a:pt x="1814576" y="76200"/>
                  </a:lnTo>
                  <a:lnTo>
                    <a:pt x="1814576" y="63500"/>
                  </a:lnTo>
                  <a:lnTo>
                    <a:pt x="1852676" y="63500"/>
                  </a:lnTo>
                  <a:lnTo>
                    <a:pt x="1820926" y="0"/>
                  </a:lnTo>
                  <a:close/>
                </a:path>
                <a:path w="1859279" h="584200">
                  <a:moveTo>
                    <a:pt x="1852676" y="63500"/>
                  </a:moveTo>
                  <a:lnTo>
                    <a:pt x="1827276" y="63500"/>
                  </a:lnTo>
                  <a:lnTo>
                    <a:pt x="1827276" y="76200"/>
                  </a:lnTo>
                  <a:lnTo>
                    <a:pt x="1859026" y="76200"/>
                  </a:lnTo>
                  <a:lnTo>
                    <a:pt x="185267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01773" y="3187700"/>
              <a:ext cx="2424430" cy="495300"/>
            </a:xfrm>
            <a:custGeom>
              <a:avLst/>
              <a:gdLst/>
              <a:ahLst/>
              <a:cxnLst/>
              <a:rect l="l" t="t" r="r" b="b"/>
              <a:pathLst>
                <a:path w="2424429" h="495300">
                  <a:moveTo>
                    <a:pt x="2411476" y="247650"/>
                  </a:moveTo>
                  <a:lnTo>
                    <a:pt x="2411476" y="495300"/>
                  </a:lnTo>
                  <a:lnTo>
                    <a:pt x="2424176" y="495300"/>
                  </a:lnTo>
                  <a:lnTo>
                    <a:pt x="2424176" y="254000"/>
                  </a:lnTo>
                  <a:lnTo>
                    <a:pt x="2417826" y="254000"/>
                  </a:lnTo>
                  <a:lnTo>
                    <a:pt x="2411476" y="247650"/>
                  </a:lnTo>
                  <a:close/>
                </a:path>
                <a:path w="2424429" h="4953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54000"/>
                  </a:lnTo>
                  <a:lnTo>
                    <a:pt x="2411476" y="254000"/>
                  </a:lnTo>
                  <a:lnTo>
                    <a:pt x="2411476" y="247650"/>
                  </a:lnTo>
                  <a:lnTo>
                    <a:pt x="44450" y="247650"/>
                  </a:lnTo>
                  <a:lnTo>
                    <a:pt x="38100" y="241300"/>
                  </a:lnTo>
                  <a:lnTo>
                    <a:pt x="44450" y="241300"/>
                  </a:lnTo>
                  <a:lnTo>
                    <a:pt x="44450" y="63500"/>
                  </a:lnTo>
                  <a:close/>
                </a:path>
                <a:path w="2424429" h="495300">
                  <a:moveTo>
                    <a:pt x="2424176" y="241300"/>
                  </a:moveTo>
                  <a:lnTo>
                    <a:pt x="44450" y="241300"/>
                  </a:lnTo>
                  <a:lnTo>
                    <a:pt x="44450" y="247650"/>
                  </a:lnTo>
                  <a:lnTo>
                    <a:pt x="2411476" y="247650"/>
                  </a:lnTo>
                  <a:lnTo>
                    <a:pt x="2417826" y="254000"/>
                  </a:lnTo>
                  <a:lnTo>
                    <a:pt x="2424176" y="254000"/>
                  </a:lnTo>
                  <a:lnTo>
                    <a:pt x="2424176" y="241300"/>
                  </a:lnTo>
                  <a:close/>
                </a:path>
                <a:path w="2424429" h="495300">
                  <a:moveTo>
                    <a:pt x="44450" y="241300"/>
                  </a:moveTo>
                  <a:lnTo>
                    <a:pt x="38100" y="241300"/>
                  </a:lnTo>
                  <a:lnTo>
                    <a:pt x="44450" y="247650"/>
                  </a:lnTo>
                  <a:lnTo>
                    <a:pt x="44450" y="241300"/>
                  </a:lnTo>
                  <a:close/>
                </a:path>
                <a:path w="2424429" h="4953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24429" h="4953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05248" y="3171825"/>
              <a:ext cx="76200" cy="511175"/>
            </a:xfrm>
            <a:custGeom>
              <a:avLst/>
              <a:gdLst/>
              <a:ahLst/>
              <a:cxnLst/>
              <a:rect l="l" t="t" r="r" b="b"/>
              <a:pathLst>
                <a:path w="76200" h="511175">
                  <a:moveTo>
                    <a:pt x="31750" y="249174"/>
                  </a:moveTo>
                  <a:lnTo>
                    <a:pt x="8000" y="249174"/>
                  </a:lnTo>
                  <a:lnTo>
                    <a:pt x="8000" y="511175"/>
                  </a:lnTo>
                  <a:lnTo>
                    <a:pt x="20700" y="511175"/>
                  </a:lnTo>
                  <a:lnTo>
                    <a:pt x="20700" y="261874"/>
                  </a:lnTo>
                  <a:lnTo>
                    <a:pt x="14350" y="261874"/>
                  </a:lnTo>
                  <a:lnTo>
                    <a:pt x="20700" y="255524"/>
                  </a:lnTo>
                  <a:lnTo>
                    <a:pt x="31750" y="255524"/>
                  </a:lnTo>
                  <a:lnTo>
                    <a:pt x="31750" y="249174"/>
                  </a:lnTo>
                  <a:close/>
                </a:path>
                <a:path w="76200" h="511175">
                  <a:moveTo>
                    <a:pt x="20700" y="255524"/>
                  </a:moveTo>
                  <a:lnTo>
                    <a:pt x="14350" y="261874"/>
                  </a:lnTo>
                  <a:lnTo>
                    <a:pt x="20700" y="261874"/>
                  </a:lnTo>
                  <a:lnTo>
                    <a:pt x="20700" y="255524"/>
                  </a:lnTo>
                  <a:close/>
                </a:path>
                <a:path w="76200" h="511175">
                  <a:moveTo>
                    <a:pt x="44450" y="249174"/>
                  </a:moveTo>
                  <a:lnTo>
                    <a:pt x="38100" y="249174"/>
                  </a:lnTo>
                  <a:lnTo>
                    <a:pt x="31750" y="255524"/>
                  </a:lnTo>
                  <a:lnTo>
                    <a:pt x="20700" y="255524"/>
                  </a:lnTo>
                  <a:lnTo>
                    <a:pt x="20700" y="261874"/>
                  </a:lnTo>
                  <a:lnTo>
                    <a:pt x="44450" y="261874"/>
                  </a:lnTo>
                  <a:lnTo>
                    <a:pt x="44450" y="249174"/>
                  </a:lnTo>
                  <a:close/>
                </a:path>
                <a:path w="76200" h="51117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55524"/>
                  </a:lnTo>
                  <a:lnTo>
                    <a:pt x="38100" y="249174"/>
                  </a:lnTo>
                  <a:lnTo>
                    <a:pt x="44450" y="249174"/>
                  </a:lnTo>
                  <a:lnTo>
                    <a:pt x="44450" y="63500"/>
                  </a:lnTo>
                  <a:close/>
                </a:path>
                <a:path w="76200" h="51117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51117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74850" y="2425700"/>
              <a:ext cx="76200" cy="1651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92548" y="1663700"/>
              <a:ext cx="76200" cy="1079500"/>
            </a:xfrm>
            <a:custGeom>
              <a:avLst/>
              <a:gdLst/>
              <a:ahLst/>
              <a:cxnLst/>
              <a:rect l="l" t="t" r="r" b="b"/>
              <a:pathLst>
                <a:path w="76200" h="1079500">
                  <a:moveTo>
                    <a:pt x="44450" y="539750"/>
                  </a:moveTo>
                  <a:lnTo>
                    <a:pt x="44450" y="1079500"/>
                  </a:lnTo>
                  <a:lnTo>
                    <a:pt x="57150" y="1079500"/>
                  </a:lnTo>
                  <a:lnTo>
                    <a:pt x="57150" y="546100"/>
                  </a:lnTo>
                  <a:lnTo>
                    <a:pt x="50800" y="546100"/>
                  </a:lnTo>
                  <a:lnTo>
                    <a:pt x="44450" y="539750"/>
                  </a:lnTo>
                  <a:close/>
                </a:path>
                <a:path w="76200" h="10795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46100"/>
                  </a:lnTo>
                  <a:lnTo>
                    <a:pt x="44450" y="546100"/>
                  </a:lnTo>
                  <a:lnTo>
                    <a:pt x="44450" y="539750"/>
                  </a:lnTo>
                  <a:lnTo>
                    <a:pt x="38100" y="533400"/>
                  </a:lnTo>
                  <a:lnTo>
                    <a:pt x="44450" y="533400"/>
                  </a:lnTo>
                  <a:lnTo>
                    <a:pt x="44450" y="63500"/>
                  </a:lnTo>
                  <a:close/>
                </a:path>
                <a:path w="76200" h="1079500">
                  <a:moveTo>
                    <a:pt x="57150" y="533400"/>
                  </a:moveTo>
                  <a:lnTo>
                    <a:pt x="44450" y="533400"/>
                  </a:lnTo>
                  <a:lnTo>
                    <a:pt x="44450" y="539750"/>
                  </a:lnTo>
                  <a:lnTo>
                    <a:pt x="50800" y="546100"/>
                  </a:lnTo>
                  <a:lnTo>
                    <a:pt x="57150" y="546100"/>
                  </a:lnTo>
                  <a:lnTo>
                    <a:pt x="57150" y="533400"/>
                  </a:lnTo>
                  <a:close/>
                </a:path>
                <a:path w="76200" h="1079500">
                  <a:moveTo>
                    <a:pt x="44450" y="533400"/>
                  </a:moveTo>
                  <a:lnTo>
                    <a:pt x="38100" y="533400"/>
                  </a:lnTo>
                  <a:lnTo>
                    <a:pt x="44450" y="539750"/>
                  </a:lnTo>
                  <a:lnTo>
                    <a:pt x="44450" y="533400"/>
                  </a:lnTo>
                  <a:close/>
                </a:path>
                <a:path w="76200" h="10795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0795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5715000" y="2438400"/>
              <a:ext cx="1732280" cy="765175"/>
            </a:xfrm>
            <a:prstGeom prst="rect">
              <a:avLst/>
            </a:prstGeom>
            <a:solidFill>
              <a:srgbClr val="FFCC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spc="5" dirty="0">
                  <a:latin typeface="Tahoma"/>
                  <a:cs typeface="Tahoma"/>
                </a:rPr>
                <a:t>16</a:t>
              </a:r>
              <a:endParaRPr sz="1100">
                <a:latin typeface="Tahoma"/>
                <a:cs typeface="Tahoma"/>
              </a:endParaRPr>
            </a:p>
            <a:p>
              <a:pPr marL="92710" marR="81915" indent="-3810"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MAYOR COSTO </a:t>
              </a:r>
              <a:r>
                <a:rPr sz="1100" b="1" spc="-5" dirty="0">
                  <a:latin typeface="Tahoma"/>
                  <a:cs typeface="Tahoma"/>
                </a:rPr>
                <a:t>POR  MANIPULACIÓN </a:t>
              </a:r>
              <a:r>
                <a:rPr sz="1100" b="1" dirty="0">
                  <a:latin typeface="Tahoma"/>
                  <a:cs typeface="Tahoma"/>
                </a:rPr>
                <a:t>DE  </a:t>
              </a:r>
              <a:r>
                <a:rPr sz="1100" b="1" spc="-5" dirty="0">
                  <a:latin typeface="Tahoma"/>
                  <a:cs typeface="Tahoma"/>
                </a:rPr>
                <a:t>FRUTA</a:t>
              </a:r>
              <a:r>
                <a:rPr sz="1100" b="1" spc="-105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DETERIORADA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4413250" y="3203575"/>
              <a:ext cx="2206625" cy="479425"/>
            </a:xfrm>
            <a:custGeom>
              <a:avLst/>
              <a:gdLst/>
              <a:ahLst/>
              <a:cxnLst/>
              <a:rect l="l" t="t" r="r" b="b"/>
              <a:pathLst>
                <a:path w="2206625" h="479425">
                  <a:moveTo>
                    <a:pt x="2162175" y="233299"/>
                  </a:moveTo>
                  <a:lnTo>
                    <a:pt x="0" y="233299"/>
                  </a:lnTo>
                  <a:lnTo>
                    <a:pt x="0" y="479425"/>
                  </a:lnTo>
                  <a:lnTo>
                    <a:pt x="12700" y="479425"/>
                  </a:lnTo>
                  <a:lnTo>
                    <a:pt x="12700" y="245999"/>
                  </a:lnTo>
                  <a:lnTo>
                    <a:pt x="6350" y="245999"/>
                  </a:lnTo>
                  <a:lnTo>
                    <a:pt x="12700" y="239649"/>
                  </a:lnTo>
                  <a:lnTo>
                    <a:pt x="2162175" y="239649"/>
                  </a:lnTo>
                  <a:lnTo>
                    <a:pt x="2162175" y="233299"/>
                  </a:lnTo>
                  <a:close/>
                </a:path>
                <a:path w="2206625" h="479425">
                  <a:moveTo>
                    <a:pt x="12700" y="239649"/>
                  </a:moveTo>
                  <a:lnTo>
                    <a:pt x="6350" y="245999"/>
                  </a:lnTo>
                  <a:lnTo>
                    <a:pt x="12700" y="245999"/>
                  </a:lnTo>
                  <a:lnTo>
                    <a:pt x="12700" y="239649"/>
                  </a:lnTo>
                  <a:close/>
                </a:path>
                <a:path w="2206625" h="479425">
                  <a:moveTo>
                    <a:pt x="2174875" y="233299"/>
                  </a:moveTo>
                  <a:lnTo>
                    <a:pt x="2168525" y="233299"/>
                  </a:lnTo>
                  <a:lnTo>
                    <a:pt x="2162175" y="239649"/>
                  </a:lnTo>
                  <a:lnTo>
                    <a:pt x="12700" y="239649"/>
                  </a:lnTo>
                  <a:lnTo>
                    <a:pt x="12700" y="245999"/>
                  </a:lnTo>
                  <a:lnTo>
                    <a:pt x="2174875" y="245999"/>
                  </a:lnTo>
                  <a:lnTo>
                    <a:pt x="2174875" y="233299"/>
                  </a:lnTo>
                  <a:close/>
                </a:path>
                <a:path w="2206625" h="479425">
                  <a:moveTo>
                    <a:pt x="2174875" y="63500"/>
                  </a:moveTo>
                  <a:lnTo>
                    <a:pt x="2162175" y="63500"/>
                  </a:lnTo>
                  <a:lnTo>
                    <a:pt x="2162175" y="239649"/>
                  </a:lnTo>
                  <a:lnTo>
                    <a:pt x="2168525" y="233299"/>
                  </a:lnTo>
                  <a:lnTo>
                    <a:pt x="2174875" y="233299"/>
                  </a:lnTo>
                  <a:lnTo>
                    <a:pt x="2174875" y="63500"/>
                  </a:lnTo>
                  <a:close/>
                </a:path>
                <a:path w="2206625" h="479425">
                  <a:moveTo>
                    <a:pt x="2168525" y="0"/>
                  </a:moveTo>
                  <a:lnTo>
                    <a:pt x="2130425" y="76200"/>
                  </a:lnTo>
                  <a:lnTo>
                    <a:pt x="2162175" y="76200"/>
                  </a:lnTo>
                  <a:lnTo>
                    <a:pt x="2162175" y="63500"/>
                  </a:lnTo>
                  <a:lnTo>
                    <a:pt x="2200275" y="63500"/>
                  </a:lnTo>
                  <a:lnTo>
                    <a:pt x="2168525" y="0"/>
                  </a:lnTo>
                  <a:close/>
                </a:path>
                <a:path w="2206625" h="479425">
                  <a:moveTo>
                    <a:pt x="2200275" y="63500"/>
                  </a:moveTo>
                  <a:lnTo>
                    <a:pt x="2174875" y="63500"/>
                  </a:lnTo>
                  <a:lnTo>
                    <a:pt x="2174875" y="76200"/>
                  </a:lnTo>
                  <a:lnTo>
                    <a:pt x="2206625" y="76200"/>
                  </a:lnTo>
                  <a:lnTo>
                    <a:pt x="2200275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92548" y="1663700"/>
              <a:ext cx="2195830" cy="774700"/>
            </a:xfrm>
            <a:custGeom>
              <a:avLst/>
              <a:gdLst/>
              <a:ahLst/>
              <a:cxnLst/>
              <a:rect l="l" t="t" r="r" b="b"/>
              <a:pathLst>
                <a:path w="2195829" h="774700">
                  <a:moveTo>
                    <a:pt x="2182876" y="387350"/>
                  </a:moveTo>
                  <a:lnTo>
                    <a:pt x="2182876" y="774700"/>
                  </a:lnTo>
                  <a:lnTo>
                    <a:pt x="2195576" y="774700"/>
                  </a:lnTo>
                  <a:lnTo>
                    <a:pt x="2195576" y="393700"/>
                  </a:lnTo>
                  <a:lnTo>
                    <a:pt x="2189226" y="393700"/>
                  </a:lnTo>
                  <a:lnTo>
                    <a:pt x="2182876" y="387350"/>
                  </a:lnTo>
                  <a:close/>
                </a:path>
                <a:path w="2195829" h="7747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93700"/>
                  </a:lnTo>
                  <a:lnTo>
                    <a:pt x="2182876" y="393700"/>
                  </a:lnTo>
                  <a:lnTo>
                    <a:pt x="2182876" y="387350"/>
                  </a:lnTo>
                  <a:lnTo>
                    <a:pt x="44450" y="387350"/>
                  </a:lnTo>
                  <a:lnTo>
                    <a:pt x="38100" y="381000"/>
                  </a:lnTo>
                  <a:lnTo>
                    <a:pt x="44450" y="381000"/>
                  </a:lnTo>
                  <a:lnTo>
                    <a:pt x="44450" y="63500"/>
                  </a:lnTo>
                  <a:close/>
                </a:path>
                <a:path w="2195829" h="774700">
                  <a:moveTo>
                    <a:pt x="2195576" y="381000"/>
                  </a:moveTo>
                  <a:lnTo>
                    <a:pt x="44450" y="381000"/>
                  </a:lnTo>
                  <a:lnTo>
                    <a:pt x="44450" y="387350"/>
                  </a:lnTo>
                  <a:lnTo>
                    <a:pt x="2182876" y="387350"/>
                  </a:lnTo>
                  <a:lnTo>
                    <a:pt x="2189226" y="393700"/>
                  </a:lnTo>
                  <a:lnTo>
                    <a:pt x="2195576" y="393700"/>
                  </a:lnTo>
                  <a:lnTo>
                    <a:pt x="2195576" y="381000"/>
                  </a:lnTo>
                  <a:close/>
                </a:path>
                <a:path w="2195829" h="774700">
                  <a:moveTo>
                    <a:pt x="44450" y="381000"/>
                  </a:moveTo>
                  <a:lnTo>
                    <a:pt x="38100" y="381000"/>
                  </a:lnTo>
                  <a:lnTo>
                    <a:pt x="44450" y="387350"/>
                  </a:lnTo>
                  <a:lnTo>
                    <a:pt x="44450" y="381000"/>
                  </a:lnTo>
                  <a:close/>
                </a:path>
                <a:path w="2195829" h="7747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195829" h="7747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5791200" y="5791200"/>
              <a:ext cx="1325880" cy="701675"/>
            </a:xfrm>
            <a:prstGeom prst="rect">
              <a:avLst/>
            </a:prstGeom>
            <a:solidFill>
              <a:srgbClr val="99FFCC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17</a:t>
              </a:r>
              <a:endParaRPr sz="1000">
                <a:latin typeface="Tahoma"/>
                <a:cs typeface="Tahoma"/>
              </a:endParaRPr>
            </a:p>
            <a:p>
              <a:pPr marL="95885" marR="86360" indent="-127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DEFICIENTES  TECNOLOGÍAS  DE</a:t>
              </a:r>
              <a:r>
                <a:rPr sz="1000" b="1" spc="-6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5505450" y="5375275"/>
              <a:ext cx="955675" cy="415925"/>
            </a:xfrm>
            <a:custGeom>
              <a:avLst/>
              <a:gdLst/>
              <a:ahLst/>
              <a:cxnLst/>
              <a:rect l="l" t="t" r="r" b="b"/>
              <a:pathLst>
                <a:path w="955675" h="415925">
                  <a:moveTo>
                    <a:pt x="942975" y="207899"/>
                  </a:moveTo>
                  <a:lnTo>
                    <a:pt x="942975" y="415925"/>
                  </a:lnTo>
                  <a:lnTo>
                    <a:pt x="955675" y="415925"/>
                  </a:lnTo>
                  <a:lnTo>
                    <a:pt x="955675" y="214312"/>
                  </a:lnTo>
                  <a:lnTo>
                    <a:pt x="949325" y="214312"/>
                  </a:lnTo>
                  <a:lnTo>
                    <a:pt x="942975" y="207899"/>
                  </a:lnTo>
                  <a:close/>
                </a:path>
                <a:path w="955675" h="415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14312"/>
                  </a:lnTo>
                  <a:lnTo>
                    <a:pt x="942975" y="214312"/>
                  </a:lnTo>
                  <a:lnTo>
                    <a:pt x="942975" y="207899"/>
                  </a:lnTo>
                  <a:lnTo>
                    <a:pt x="44450" y="207899"/>
                  </a:lnTo>
                  <a:lnTo>
                    <a:pt x="38100" y="201549"/>
                  </a:lnTo>
                  <a:lnTo>
                    <a:pt x="44450" y="201549"/>
                  </a:lnTo>
                  <a:lnTo>
                    <a:pt x="44450" y="63500"/>
                  </a:lnTo>
                  <a:close/>
                </a:path>
                <a:path w="955675" h="415925">
                  <a:moveTo>
                    <a:pt x="955675" y="201549"/>
                  </a:moveTo>
                  <a:lnTo>
                    <a:pt x="44450" y="201549"/>
                  </a:lnTo>
                  <a:lnTo>
                    <a:pt x="44450" y="207899"/>
                  </a:lnTo>
                  <a:lnTo>
                    <a:pt x="942975" y="207899"/>
                  </a:lnTo>
                  <a:lnTo>
                    <a:pt x="949325" y="214312"/>
                  </a:lnTo>
                  <a:lnTo>
                    <a:pt x="955675" y="214312"/>
                  </a:lnTo>
                  <a:lnTo>
                    <a:pt x="955675" y="201549"/>
                  </a:lnTo>
                  <a:close/>
                </a:path>
                <a:path w="955675" h="415925">
                  <a:moveTo>
                    <a:pt x="44450" y="201549"/>
                  </a:moveTo>
                  <a:lnTo>
                    <a:pt x="38100" y="201549"/>
                  </a:lnTo>
                  <a:lnTo>
                    <a:pt x="44450" y="207899"/>
                  </a:lnTo>
                  <a:lnTo>
                    <a:pt x="44450" y="201549"/>
                  </a:lnTo>
                  <a:close/>
                </a:path>
                <a:path w="955675" h="415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55675" h="415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7243826" y="5816600"/>
              <a:ext cx="1397000" cy="701675"/>
            </a:xfrm>
            <a:prstGeom prst="rect">
              <a:avLst/>
            </a:prstGeom>
            <a:solidFill>
              <a:srgbClr val="99FFCC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254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18</a:t>
              </a:r>
              <a:endParaRPr sz="1000">
                <a:latin typeface="Tahoma"/>
                <a:cs typeface="Tahoma"/>
              </a:endParaRPr>
            </a:p>
            <a:p>
              <a:pPr marL="94615" marR="84455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INADECUADOS  INCENTIVOS </a:t>
              </a:r>
              <a:r>
                <a:rPr sz="1000" b="1" spc="-5" dirty="0">
                  <a:latin typeface="Tahoma"/>
                  <a:cs typeface="Tahoma"/>
                </a:rPr>
                <a:t>PARA 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5505450" y="5375275"/>
              <a:ext cx="2443480" cy="441325"/>
            </a:xfrm>
            <a:custGeom>
              <a:avLst/>
              <a:gdLst/>
              <a:ahLst/>
              <a:cxnLst/>
              <a:rect l="l" t="t" r="r" b="b"/>
              <a:pathLst>
                <a:path w="2443479" h="441325">
                  <a:moveTo>
                    <a:pt x="2430399" y="220662"/>
                  </a:moveTo>
                  <a:lnTo>
                    <a:pt x="2430399" y="441325"/>
                  </a:lnTo>
                  <a:lnTo>
                    <a:pt x="2443099" y="441325"/>
                  </a:lnTo>
                  <a:lnTo>
                    <a:pt x="2443099" y="227012"/>
                  </a:lnTo>
                  <a:lnTo>
                    <a:pt x="2436749" y="227012"/>
                  </a:lnTo>
                  <a:lnTo>
                    <a:pt x="2430399" y="220662"/>
                  </a:lnTo>
                  <a:close/>
                </a:path>
                <a:path w="2443479" h="4413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7012"/>
                  </a:lnTo>
                  <a:lnTo>
                    <a:pt x="2430399" y="227012"/>
                  </a:lnTo>
                  <a:lnTo>
                    <a:pt x="2430399" y="220662"/>
                  </a:lnTo>
                  <a:lnTo>
                    <a:pt x="44450" y="220662"/>
                  </a:lnTo>
                  <a:lnTo>
                    <a:pt x="38100" y="214312"/>
                  </a:lnTo>
                  <a:lnTo>
                    <a:pt x="44450" y="214312"/>
                  </a:lnTo>
                  <a:lnTo>
                    <a:pt x="44450" y="63500"/>
                  </a:lnTo>
                  <a:close/>
                </a:path>
                <a:path w="2443479" h="441325">
                  <a:moveTo>
                    <a:pt x="2443099" y="214312"/>
                  </a:moveTo>
                  <a:lnTo>
                    <a:pt x="44450" y="214312"/>
                  </a:lnTo>
                  <a:lnTo>
                    <a:pt x="44450" y="220662"/>
                  </a:lnTo>
                  <a:lnTo>
                    <a:pt x="2430399" y="220662"/>
                  </a:lnTo>
                  <a:lnTo>
                    <a:pt x="2436749" y="227012"/>
                  </a:lnTo>
                  <a:lnTo>
                    <a:pt x="2443099" y="227012"/>
                  </a:lnTo>
                  <a:lnTo>
                    <a:pt x="2443099" y="214312"/>
                  </a:lnTo>
                  <a:close/>
                </a:path>
                <a:path w="2443479" h="441325">
                  <a:moveTo>
                    <a:pt x="44450" y="214312"/>
                  </a:moveTo>
                  <a:lnTo>
                    <a:pt x="38100" y="214312"/>
                  </a:lnTo>
                  <a:lnTo>
                    <a:pt x="44450" y="220662"/>
                  </a:lnTo>
                  <a:lnTo>
                    <a:pt x="44450" y="214312"/>
                  </a:lnTo>
                  <a:close/>
                </a:path>
                <a:path w="2443479" h="4413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43479" h="4413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990600" y="5791200"/>
              <a:ext cx="1325880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13</a:t>
              </a:r>
              <a:endParaRPr sz="1000">
                <a:latin typeface="Tahoma"/>
                <a:cs typeface="Tahoma"/>
              </a:endParaRPr>
            </a:p>
            <a:p>
              <a:pPr marL="94615" marR="8763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MANTENIMIENTO  DEFICIENTE DE  </a:t>
              </a:r>
              <a:r>
                <a:rPr sz="1000" b="1" spc="-5" dirty="0">
                  <a:latin typeface="Tahoma"/>
                  <a:cs typeface="Tahoma"/>
                </a:rPr>
                <a:t>COSECHADORAS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600200" y="1066800"/>
              <a:ext cx="1009650" cy="596900"/>
            </a:xfrm>
            <a:prstGeom prst="rect">
              <a:avLst/>
            </a:prstGeom>
            <a:solidFill>
              <a:srgbClr val="FFCC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spc="5" dirty="0">
                  <a:latin typeface="Tahoma"/>
                  <a:cs typeface="Tahoma"/>
                </a:rPr>
                <a:t>19</a:t>
              </a:r>
              <a:endParaRPr sz="1100">
                <a:latin typeface="Tahoma"/>
                <a:cs typeface="Tahoma"/>
              </a:endParaRPr>
            </a:p>
            <a:p>
              <a:pPr marL="92075" marR="84455" indent="1270"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AMENAZAS  A LA</a:t>
              </a:r>
              <a:r>
                <a:rPr sz="1100" b="1" spc="-114" dirty="0">
                  <a:latin typeface="Tahoma"/>
                  <a:cs typeface="Tahoma"/>
                </a:rPr>
                <a:t> </a:t>
              </a:r>
              <a:r>
                <a:rPr sz="1100" b="1" spc="-5" dirty="0">
                  <a:latin typeface="Tahoma"/>
                  <a:cs typeface="Tahoma"/>
                </a:rPr>
                <a:t>SALUD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006600" y="1663700"/>
              <a:ext cx="136525" cy="1651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7410703" y="4854257"/>
              <a:ext cx="1704087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5" dirty="0">
                  <a:latin typeface="Arial"/>
                  <a:cs typeface="Arial"/>
                </a:rPr>
                <a:t>Nuevas</a:t>
              </a:r>
              <a:r>
                <a:rPr sz="1800" b="1" spc="-75" dirty="0">
                  <a:latin typeface="Arial"/>
                  <a:cs typeface="Arial"/>
                </a:rPr>
                <a:t> </a:t>
              </a:r>
              <a:r>
                <a:rPr sz="1800" b="1" spc="-5" dirty="0">
                  <a:latin typeface="Arial"/>
                  <a:cs typeface="Arial"/>
                </a:rPr>
                <a:t>causas</a:t>
              </a:r>
              <a:endParaRPr sz="1800" b="1">
                <a:latin typeface="Arial"/>
                <a:cs typeface="Aria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7210087" y="1736725"/>
              <a:ext cx="171979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5" dirty="0">
                  <a:latin typeface="Arial"/>
                  <a:cs typeface="Arial"/>
                </a:rPr>
                <a:t>Nuevos</a:t>
              </a:r>
              <a:r>
                <a:rPr sz="1800" b="1" spc="-55" dirty="0">
                  <a:latin typeface="Arial"/>
                  <a:cs typeface="Arial"/>
                </a:rPr>
                <a:t> </a:t>
              </a:r>
              <a:r>
                <a:rPr sz="1800" b="1" spc="-5" dirty="0">
                  <a:latin typeface="Arial"/>
                  <a:cs typeface="Arial"/>
                </a:rPr>
                <a:t>efectos</a:t>
              </a:r>
              <a:endParaRPr sz="1800" b="1" dirty="0"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5800"/>
            <a:ext cx="382651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4800" spc="-5" dirty="0"/>
              <a:t>Paso 4:</a:t>
            </a:r>
            <a:endParaRPr sz="4800" dirty="0"/>
          </a:p>
        </p:txBody>
      </p:sp>
      <p:sp>
        <p:nvSpPr>
          <p:cNvPr id="4" name="object 4"/>
          <p:cNvSpPr txBox="1"/>
          <p:nvPr/>
        </p:nvSpPr>
        <p:spPr>
          <a:xfrm>
            <a:off x="3200400" y="3138650"/>
            <a:ext cx="3810000" cy="1295868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065" marR="5080" algn="ctr">
              <a:lnSpc>
                <a:spcPts val="3240"/>
              </a:lnSpc>
              <a:spcBef>
                <a:spcPts val="505"/>
              </a:spcBef>
              <a:buClr>
                <a:srgbClr val="333399"/>
              </a:buClr>
              <a:tabLst>
                <a:tab pos="393065" algn="l"/>
              </a:tabLst>
            </a:pPr>
            <a:r>
              <a:rPr lang="es-419" sz="28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Definir Objetivos y  ajustar árbol de medios-fines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74" t="32217" r="22759" b="33572"/>
          <a:stretch/>
        </p:blipFill>
        <p:spPr>
          <a:xfrm>
            <a:off x="609600" y="2491184"/>
            <a:ext cx="2743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083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/>
          <p:cNvGrpSpPr/>
          <p:nvPr/>
        </p:nvGrpSpPr>
        <p:grpSpPr>
          <a:xfrm>
            <a:off x="609600" y="1279525"/>
            <a:ext cx="7546975" cy="5426075"/>
            <a:chOff x="609600" y="1279525"/>
            <a:chExt cx="7546975" cy="5426075"/>
          </a:xfrm>
        </p:grpSpPr>
        <p:sp>
          <p:nvSpPr>
            <p:cNvPr id="2" name="object 2"/>
            <p:cNvSpPr/>
            <p:nvPr/>
          </p:nvSpPr>
          <p:spPr>
            <a:xfrm>
              <a:off x="3497579" y="3893184"/>
              <a:ext cx="1842515" cy="6766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592448" y="3929507"/>
              <a:ext cx="1657985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1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NO</a:t>
              </a:r>
              <a:r>
                <a:rPr sz="1000" b="1" spc="-2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DETERIORADA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EN </a:t>
              </a:r>
              <a:r>
                <a:rPr sz="1000" b="1" spc="-5" dirty="0">
                  <a:latin typeface="Tahoma"/>
                  <a:cs typeface="Tahoma"/>
                </a:rPr>
                <a:t>LA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505200" y="1279525"/>
              <a:ext cx="1851025" cy="59690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dirty="0">
                  <a:latin typeface="Tahoma"/>
                  <a:cs typeface="Tahoma"/>
                </a:rPr>
                <a:t>2</a:t>
              </a:r>
              <a:endParaRPr sz="1100">
                <a:latin typeface="Tahoma"/>
                <a:cs typeface="Tahoma"/>
              </a:endParaRPr>
            </a:p>
            <a:p>
              <a:pPr marL="92075" marR="83185" indent="-1905"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MAYORES INGRESOS  DE LOS</a:t>
              </a:r>
              <a:r>
                <a:rPr sz="1100" b="1" spc="-114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AGRICULTORES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510026" y="2955925"/>
              <a:ext cx="1876425" cy="596900"/>
            </a:xfrm>
            <a:custGeom>
              <a:avLst/>
              <a:gdLst/>
              <a:ahLst/>
              <a:cxnLst/>
              <a:rect l="l" t="t" r="r" b="b"/>
              <a:pathLst>
                <a:path w="1876425" h="596900">
                  <a:moveTo>
                    <a:pt x="0" y="596900"/>
                  </a:moveTo>
                  <a:lnTo>
                    <a:pt x="1876425" y="596900"/>
                  </a:lnTo>
                  <a:lnTo>
                    <a:pt x="1876425" y="0"/>
                  </a:lnTo>
                  <a:lnTo>
                    <a:pt x="0" y="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3510026" y="2988056"/>
              <a:ext cx="1876425" cy="5295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5"/>
                </a:spcBef>
              </a:pPr>
              <a:r>
                <a:rPr sz="1100" b="1" dirty="0">
                  <a:latin typeface="Tahoma"/>
                  <a:cs typeface="Tahoma"/>
                </a:rPr>
                <a:t>5</a:t>
              </a:r>
              <a:endParaRPr sz="1100">
                <a:latin typeface="Tahoma"/>
                <a:cs typeface="Tahoma"/>
              </a:endParaRPr>
            </a:p>
            <a:p>
              <a:pPr marL="92710" marR="84455" algn="ctr">
                <a:lnSpc>
                  <a:spcPct val="100000"/>
                </a:lnSpc>
              </a:pPr>
              <a:r>
                <a:rPr sz="1100" b="1" spc="-5" dirty="0">
                  <a:latin typeface="Tahoma"/>
                  <a:cs typeface="Tahoma"/>
                </a:rPr>
                <a:t>DISMINUIDAS  </a:t>
              </a:r>
              <a:r>
                <a:rPr sz="1100" b="1" dirty="0">
                  <a:latin typeface="Tahoma"/>
                  <a:cs typeface="Tahoma"/>
                </a:rPr>
                <a:t>PÉRDIDAS EN</a:t>
              </a:r>
              <a:r>
                <a:rPr sz="1100" b="1" spc="-114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COSECHA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057400" y="6003925"/>
              <a:ext cx="1208405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8</a:t>
              </a:r>
              <a:endParaRPr sz="1000">
                <a:latin typeface="Tahoma"/>
                <a:cs typeface="Tahoma"/>
              </a:endParaRPr>
            </a:p>
            <a:p>
              <a:pPr marL="93345" marR="87630" indent="127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 RE</a:t>
              </a:r>
              <a:r>
                <a:rPr sz="1000" b="1" spc="-15" dirty="0">
                  <a:latin typeface="Tahoma"/>
                  <a:cs typeface="Tahoma"/>
                </a:rPr>
                <a:t>C</a:t>
              </a:r>
              <a:r>
                <a:rPr sz="1000" b="1" spc="-5" dirty="0">
                  <a:latin typeface="Tahoma"/>
                  <a:cs typeface="Tahoma"/>
                </a:rPr>
                <a:t>O</a:t>
              </a:r>
              <a:r>
                <a:rPr sz="1000" b="1" dirty="0">
                  <a:latin typeface="Tahoma"/>
                  <a:cs typeface="Tahoma"/>
                </a:rPr>
                <a:t>L</a:t>
              </a:r>
              <a:r>
                <a:rPr sz="1000" b="1" spc="-10" dirty="0">
                  <a:latin typeface="Tahoma"/>
                  <a:cs typeface="Tahoma"/>
                </a:rPr>
                <a:t>E</a:t>
              </a:r>
              <a:r>
                <a:rPr sz="1000" b="1" spc="-15" dirty="0">
                  <a:latin typeface="Tahoma"/>
                  <a:cs typeface="Tahoma"/>
                </a:rPr>
                <a:t>C</a:t>
              </a:r>
              <a:r>
                <a:rPr sz="1000" b="1" spc="-10" dirty="0">
                  <a:latin typeface="Tahoma"/>
                  <a:cs typeface="Tahoma"/>
                </a:rPr>
                <a:t>T</a:t>
              </a:r>
              <a:r>
                <a:rPr sz="1000" b="1" spc="-5" dirty="0">
                  <a:latin typeface="Tahoma"/>
                  <a:cs typeface="Tahoma"/>
                </a:rPr>
                <a:t>O</a:t>
              </a:r>
              <a:r>
                <a:rPr sz="1000" b="1" spc="-10" dirty="0">
                  <a:latin typeface="Tahoma"/>
                  <a:cs typeface="Tahoma"/>
                </a:rPr>
                <a:t>R</a:t>
              </a:r>
              <a:r>
                <a:rPr sz="1000" b="1" spc="-5" dirty="0">
                  <a:latin typeface="Tahoma"/>
                  <a:cs typeface="Tahoma"/>
                </a:rPr>
                <a:t>AS  </a:t>
              </a:r>
              <a:r>
                <a:rPr sz="1000" b="1" spc="-10" dirty="0">
                  <a:latin typeface="Tahoma"/>
                  <a:cs typeface="Tahoma"/>
                </a:rPr>
                <a:t>RENOVADAS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295400" y="5013325"/>
              <a:ext cx="1965325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95250" marR="8763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RECOLECTORAS  </a:t>
              </a:r>
              <a:r>
                <a:rPr sz="1000" b="1" spc="-5" dirty="0">
                  <a:latin typeface="Tahoma"/>
                  <a:cs typeface="Tahoma"/>
                </a:rPr>
                <a:t>CON </a:t>
              </a:r>
              <a:r>
                <a:rPr sz="1000" b="1" spc="-10" dirty="0">
                  <a:latin typeface="Tahoma"/>
                  <a:cs typeface="Tahoma"/>
                </a:rPr>
                <a:t>BUEN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DESEMPEÑO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191000" y="5013325"/>
              <a:ext cx="1816100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95250" marR="87630" indent="-1270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</a:t>
              </a:r>
              <a:r>
                <a:rPr sz="1000" b="1" spc="-10" dirty="0">
                  <a:latin typeface="Tahoma"/>
                  <a:cs typeface="Tahoma"/>
                </a:rPr>
                <a:t>TRATAN </a:t>
              </a:r>
              <a:r>
                <a:rPr sz="1000" b="1" spc="-5" dirty="0">
                  <a:latin typeface="Tahoma"/>
                  <a:cs typeface="Tahoma"/>
                </a:rPr>
                <a:t>BIEN  LA </a:t>
              </a: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AL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640201" y="5978525"/>
              <a:ext cx="1538605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3</a:t>
              </a:r>
              <a:endParaRPr sz="1000">
                <a:latin typeface="Tahoma"/>
                <a:cs typeface="Tahoma"/>
              </a:endParaRPr>
            </a:p>
            <a:p>
              <a:pPr marL="92075" marR="124460" indent="41275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 CAPACITADOS</a:t>
              </a:r>
              <a:r>
                <a:rPr sz="1000" b="1" spc="-5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PARA 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135062" y="2803525"/>
              <a:ext cx="1819275" cy="765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spc="5" dirty="0">
                  <a:latin typeface="Tahoma"/>
                  <a:cs typeface="Tahoma"/>
                </a:rPr>
                <a:t>15</a:t>
              </a:r>
              <a:endParaRPr sz="1100">
                <a:latin typeface="Tahoma"/>
                <a:cs typeface="Tahoma"/>
              </a:endParaRPr>
            </a:p>
            <a:p>
              <a:pPr marL="248920" marR="269875" indent="-13335" algn="ctr">
                <a:lnSpc>
                  <a:spcPct val="100000"/>
                </a:lnSpc>
              </a:pPr>
              <a:r>
                <a:rPr sz="1100" b="1" spc="-5" dirty="0">
                  <a:latin typeface="Tahoma"/>
                  <a:cs typeface="Tahoma"/>
                </a:rPr>
                <a:t>DISMINUCIÓN </a:t>
              </a:r>
              <a:r>
                <a:rPr sz="1100" b="1" dirty="0">
                  <a:latin typeface="Tahoma"/>
                  <a:cs typeface="Tahoma"/>
                </a:rPr>
                <a:t>DE  </a:t>
              </a:r>
              <a:r>
                <a:rPr sz="1100" b="1" spc="-5" dirty="0">
                  <a:latin typeface="Tahoma"/>
                  <a:cs typeface="Tahoma"/>
                </a:rPr>
                <a:t>C</a:t>
              </a:r>
              <a:r>
                <a:rPr sz="1100" b="1" dirty="0">
                  <a:latin typeface="Tahoma"/>
                  <a:cs typeface="Tahoma"/>
                </a:rPr>
                <a:t>ONTAM</a:t>
              </a:r>
              <a:r>
                <a:rPr sz="1100" b="1" spc="-10" dirty="0">
                  <a:latin typeface="Tahoma"/>
                  <a:cs typeface="Tahoma"/>
                </a:rPr>
                <a:t>I</a:t>
              </a:r>
              <a:r>
                <a:rPr sz="1100" b="1" dirty="0">
                  <a:latin typeface="Tahoma"/>
                  <a:cs typeface="Tahoma"/>
                </a:rPr>
                <a:t>NA</a:t>
              </a:r>
              <a:r>
                <a:rPr sz="1100" b="1" spc="-5" dirty="0">
                  <a:latin typeface="Tahoma"/>
                  <a:cs typeface="Tahoma"/>
                </a:rPr>
                <a:t>C</a:t>
              </a:r>
              <a:r>
                <a:rPr sz="1100" b="1" spc="-10" dirty="0">
                  <a:latin typeface="Tahoma"/>
                  <a:cs typeface="Tahoma"/>
                </a:rPr>
                <a:t>I</a:t>
              </a:r>
              <a:r>
                <a:rPr sz="1100" b="1" dirty="0">
                  <a:latin typeface="Tahoma"/>
                  <a:cs typeface="Tahoma"/>
                </a:rPr>
                <a:t>ÓN</a:t>
              </a:r>
              <a:endParaRPr sz="1100">
                <a:latin typeface="Tahoma"/>
                <a:cs typeface="Tahoma"/>
              </a:endParaRPr>
            </a:p>
            <a:p>
              <a:pPr marL="1905" algn="ctr">
                <a:lnSpc>
                  <a:spcPct val="100000"/>
                </a:lnSpc>
                <a:spcBef>
                  <a:spcPts val="5"/>
                </a:spcBef>
              </a:pPr>
              <a:r>
                <a:rPr sz="1100" b="1" spc="-5" dirty="0">
                  <a:latin typeface="Tahoma"/>
                  <a:cs typeface="Tahoma"/>
                </a:rPr>
                <a:t>POR FRUTAS</a:t>
              </a:r>
              <a:r>
                <a:rPr sz="1100" b="1" spc="-35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DAÑADAS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1000125" y="2041525"/>
              <a:ext cx="2025650" cy="59690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dirty="0">
                  <a:latin typeface="Tahoma"/>
                  <a:cs typeface="Tahoma"/>
                </a:rPr>
                <a:t>6</a:t>
              </a:r>
              <a:endParaRPr sz="1100">
                <a:latin typeface="Tahoma"/>
                <a:cs typeface="Tahoma"/>
              </a:endParaRPr>
            </a:p>
            <a:p>
              <a:pPr marL="92075" marR="83185" indent="-2540" algn="ctr">
                <a:lnSpc>
                  <a:spcPct val="100000"/>
                </a:lnSpc>
              </a:pPr>
              <a:r>
                <a:rPr sz="1100" b="1" spc="-5" dirty="0">
                  <a:latin typeface="Tahoma"/>
                  <a:cs typeface="Tahoma"/>
                </a:rPr>
                <a:t>DISMINUCIÓN </a:t>
              </a:r>
              <a:r>
                <a:rPr sz="1100" b="1" dirty="0">
                  <a:latin typeface="Tahoma"/>
                  <a:cs typeface="Tahoma"/>
                </a:rPr>
                <a:t>DE  PLAGAS Y </a:t>
              </a:r>
              <a:r>
                <a:rPr sz="1100" b="1" spc="-5" dirty="0">
                  <a:latin typeface="Tahoma"/>
                  <a:cs typeface="Tahoma"/>
                </a:rPr>
                <a:t>MALOS</a:t>
              </a:r>
              <a:r>
                <a:rPr sz="1100" b="1" spc="-95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OLORES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266825" y="5562600"/>
              <a:ext cx="1049655" cy="441325"/>
            </a:xfrm>
            <a:custGeom>
              <a:avLst/>
              <a:gdLst/>
              <a:ahLst/>
              <a:cxnLst/>
              <a:rect l="l" t="t" r="r" b="b"/>
              <a:pathLst>
                <a:path w="1049655" h="441325">
                  <a:moveTo>
                    <a:pt x="1004824" y="214249"/>
                  </a:moveTo>
                  <a:lnTo>
                    <a:pt x="0" y="214249"/>
                  </a:lnTo>
                  <a:lnTo>
                    <a:pt x="0" y="441325"/>
                  </a:lnTo>
                  <a:lnTo>
                    <a:pt x="12700" y="441325"/>
                  </a:lnTo>
                  <a:lnTo>
                    <a:pt x="12700" y="226949"/>
                  </a:lnTo>
                  <a:lnTo>
                    <a:pt x="6350" y="226949"/>
                  </a:lnTo>
                  <a:lnTo>
                    <a:pt x="12700" y="220599"/>
                  </a:lnTo>
                  <a:lnTo>
                    <a:pt x="1004824" y="220599"/>
                  </a:lnTo>
                  <a:lnTo>
                    <a:pt x="1004824" y="214249"/>
                  </a:lnTo>
                  <a:close/>
                </a:path>
                <a:path w="1049655" h="441325">
                  <a:moveTo>
                    <a:pt x="12700" y="220599"/>
                  </a:moveTo>
                  <a:lnTo>
                    <a:pt x="6350" y="226949"/>
                  </a:lnTo>
                  <a:lnTo>
                    <a:pt x="12700" y="226949"/>
                  </a:lnTo>
                  <a:lnTo>
                    <a:pt x="12700" y="220599"/>
                  </a:lnTo>
                  <a:close/>
                </a:path>
                <a:path w="1049655" h="441325">
                  <a:moveTo>
                    <a:pt x="1017524" y="214249"/>
                  </a:moveTo>
                  <a:lnTo>
                    <a:pt x="1011174" y="214249"/>
                  </a:lnTo>
                  <a:lnTo>
                    <a:pt x="1004824" y="220599"/>
                  </a:lnTo>
                  <a:lnTo>
                    <a:pt x="12700" y="220599"/>
                  </a:lnTo>
                  <a:lnTo>
                    <a:pt x="12700" y="226949"/>
                  </a:lnTo>
                  <a:lnTo>
                    <a:pt x="1017524" y="226949"/>
                  </a:lnTo>
                  <a:lnTo>
                    <a:pt x="1017524" y="214249"/>
                  </a:lnTo>
                  <a:close/>
                </a:path>
                <a:path w="1049655" h="441325">
                  <a:moveTo>
                    <a:pt x="1017524" y="63500"/>
                  </a:moveTo>
                  <a:lnTo>
                    <a:pt x="1004824" y="63500"/>
                  </a:lnTo>
                  <a:lnTo>
                    <a:pt x="1004824" y="220599"/>
                  </a:lnTo>
                  <a:lnTo>
                    <a:pt x="1011174" y="214249"/>
                  </a:lnTo>
                  <a:lnTo>
                    <a:pt x="1017524" y="214249"/>
                  </a:lnTo>
                  <a:lnTo>
                    <a:pt x="1017524" y="63500"/>
                  </a:lnTo>
                  <a:close/>
                </a:path>
                <a:path w="1049655" h="441325">
                  <a:moveTo>
                    <a:pt x="1011174" y="0"/>
                  </a:moveTo>
                  <a:lnTo>
                    <a:pt x="973074" y="76200"/>
                  </a:lnTo>
                  <a:lnTo>
                    <a:pt x="1004824" y="76200"/>
                  </a:lnTo>
                  <a:lnTo>
                    <a:pt x="1004824" y="63500"/>
                  </a:lnTo>
                  <a:lnTo>
                    <a:pt x="1042924" y="63500"/>
                  </a:lnTo>
                  <a:lnTo>
                    <a:pt x="1011174" y="0"/>
                  </a:lnTo>
                  <a:close/>
                </a:path>
                <a:path w="1049655" h="441325">
                  <a:moveTo>
                    <a:pt x="1042924" y="63500"/>
                  </a:moveTo>
                  <a:lnTo>
                    <a:pt x="1017524" y="63500"/>
                  </a:lnTo>
                  <a:lnTo>
                    <a:pt x="1017524" y="76200"/>
                  </a:lnTo>
                  <a:lnTo>
                    <a:pt x="1049274" y="76200"/>
                  </a:lnTo>
                  <a:lnTo>
                    <a:pt x="1042924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39898" y="5562600"/>
              <a:ext cx="428625" cy="441325"/>
            </a:xfrm>
            <a:custGeom>
              <a:avLst/>
              <a:gdLst/>
              <a:ahLst/>
              <a:cxnLst/>
              <a:rect l="l" t="t" r="r" b="b"/>
              <a:pathLst>
                <a:path w="428625" h="441325">
                  <a:moveTo>
                    <a:pt x="415925" y="220599"/>
                  </a:moveTo>
                  <a:lnTo>
                    <a:pt x="415925" y="441325"/>
                  </a:lnTo>
                  <a:lnTo>
                    <a:pt x="428625" y="441325"/>
                  </a:lnTo>
                  <a:lnTo>
                    <a:pt x="428625" y="226949"/>
                  </a:lnTo>
                  <a:lnTo>
                    <a:pt x="422275" y="226949"/>
                  </a:lnTo>
                  <a:lnTo>
                    <a:pt x="415925" y="220599"/>
                  </a:lnTo>
                  <a:close/>
                </a:path>
                <a:path w="428625" h="4413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6949"/>
                  </a:lnTo>
                  <a:lnTo>
                    <a:pt x="415925" y="226949"/>
                  </a:lnTo>
                  <a:lnTo>
                    <a:pt x="415925" y="220599"/>
                  </a:lnTo>
                  <a:lnTo>
                    <a:pt x="44450" y="220599"/>
                  </a:lnTo>
                  <a:lnTo>
                    <a:pt x="38100" y="214249"/>
                  </a:lnTo>
                  <a:lnTo>
                    <a:pt x="44450" y="214249"/>
                  </a:lnTo>
                  <a:lnTo>
                    <a:pt x="44450" y="63500"/>
                  </a:lnTo>
                  <a:close/>
                </a:path>
                <a:path w="428625" h="441325">
                  <a:moveTo>
                    <a:pt x="428625" y="214249"/>
                  </a:moveTo>
                  <a:lnTo>
                    <a:pt x="44450" y="214249"/>
                  </a:lnTo>
                  <a:lnTo>
                    <a:pt x="44450" y="220599"/>
                  </a:lnTo>
                  <a:lnTo>
                    <a:pt x="415925" y="220599"/>
                  </a:lnTo>
                  <a:lnTo>
                    <a:pt x="422275" y="226949"/>
                  </a:lnTo>
                  <a:lnTo>
                    <a:pt x="428625" y="226949"/>
                  </a:lnTo>
                  <a:lnTo>
                    <a:pt x="428625" y="214249"/>
                  </a:lnTo>
                  <a:close/>
                </a:path>
                <a:path w="428625" h="441325">
                  <a:moveTo>
                    <a:pt x="44450" y="214249"/>
                  </a:moveTo>
                  <a:lnTo>
                    <a:pt x="38100" y="214249"/>
                  </a:lnTo>
                  <a:lnTo>
                    <a:pt x="44450" y="220599"/>
                  </a:lnTo>
                  <a:lnTo>
                    <a:pt x="44450" y="214249"/>
                  </a:lnTo>
                  <a:close/>
                </a:path>
                <a:path w="428625" h="4413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28625" h="4413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03725" y="5562600"/>
              <a:ext cx="733425" cy="415925"/>
            </a:xfrm>
            <a:custGeom>
              <a:avLst/>
              <a:gdLst/>
              <a:ahLst/>
              <a:cxnLst/>
              <a:rect l="l" t="t" r="r" b="b"/>
              <a:pathLst>
                <a:path w="733425" h="415925">
                  <a:moveTo>
                    <a:pt x="688975" y="201549"/>
                  </a:moveTo>
                  <a:lnTo>
                    <a:pt x="0" y="201549"/>
                  </a:lnTo>
                  <a:lnTo>
                    <a:pt x="0" y="415925"/>
                  </a:lnTo>
                  <a:lnTo>
                    <a:pt x="12700" y="415925"/>
                  </a:lnTo>
                  <a:lnTo>
                    <a:pt x="12700" y="214249"/>
                  </a:lnTo>
                  <a:lnTo>
                    <a:pt x="6350" y="214249"/>
                  </a:lnTo>
                  <a:lnTo>
                    <a:pt x="12700" y="207899"/>
                  </a:lnTo>
                  <a:lnTo>
                    <a:pt x="688975" y="207899"/>
                  </a:lnTo>
                  <a:lnTo>
                    <a:pt x="688975" y="201549"/>
                  </a:lnTo>
                  <a:close/>
                </a:path>
                <a:path w="733425" h="415925">
                  <a:moveTo>
                    <a:pt x="12700" y="207899"/>
                  </a:moveTo>
                  <a:lnTo>
                    <a:pt x="6350" y="214249"/>
                  </a:lnTo>
                  <a:lnTo>
                    <a:pt x="12700" y="214249"/>
                  </a:lnTo>
                  <a:lnTo>
                    <a:pt x="12700" y="207899"/>
                  </a:lnTo>
                  <a:close/>
                </a:path>
                <a:path w="733425" h="415925">
                  <a:moveTo>
                    <a:pt x="701675" y="201549"/>
                  </a:moveTo>
                  <a:lnTo>
                    <a:pt x="695325" y="201549"/>
                  </a:lnTo>
                  <a:lnTo>
                    <a:pt x="688975" y="207899"/>
                  </a:lnTo>
                  <a:lnTo>
                    <a:pt x="12700" y="207899"/>
                  </a:lnTo>
                  <a:lnTo>
                    <a:pt x="12700" y="214249"/>
                  </a:lnTo>
                  <a:lnTo>
                    <a:pt x="701675" y="214249"/>
                  </a:lnTo>
                  <a:lnTo>
                    <a:pt x="701675" y="201549"/>
                  </a:lnTo>
                  <a:close/>
                </a:path>
                <a:path w="733425" h="415925">
                  <a:moveTo>
                    <a:pt x="701675" y="63500"/>
                  </a:moveTo>
                  <a:lnTo>
                    <a:pt x="688975" y="63500"/>
                  </a:lnTo>
                  <a:lnTo>
                    <a:pt x="688975" y="207899"/>
                  </a:lnTo>
                  <a:lnTo>
                    <a:pt x="695325" y="201549"/>
                  </a:lnTo>
                  <a:lnTo>
                    <a:pt x="701675" y="201549"/>
                  </a:lnTo>
                  <a:lnTo>
                    <a:pt x="701675" y="63500"/>
                  </a:lnTo>
                  <a:close/>
                </a:path>
                <a:path w="733425" h="415925">
                  <a:moveTo>
                    <a:pt x="695325" y="0"/>
                  </a:moveTo>
                  <a:lnTo>
                    <a:pt x="657225" y="76200"/>
                  </a:lnTo>
                  <a:lnTo>
                    <a:pt x="688975" y="76200"/>
                  </a:lnTo>
                  <a:lnTo>
                    <a:pt x="688975" y="63500"/>
                  </a:lnTo>
                  <a:lnTo>
                    <a:pt x="727075" y="63500"/>
                  </a:lnTo>
                  <a:lnTo>
                    <a:pt x="695325" y="0"/>
                  </a:lnTo>
                  <a:close/>
                </a:path>
                <a:path w="733425" h="415925">
                  <a:moveTo>
                    <a:pt x="727075" y="63500"/>
                  </a:moveTo>
                  <a:lnTo>
                    <a:pt x="701675" y="63500"/>
                  </a:lnTo>
                  <a:lnTo>
                    <a:pt x="701675" y="76200"/>
                  </a:lnTo>
                  <a:lnTo>
                    <a:pt x="733425" y="76200"/>
                  </a:lnTo>
                  <a:lnTo>
                    <a:pt x="727075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83023" y="4454525"/>
              <a:ext cx="722630" cy="558800"/>
            </a:xfrm>
            <a:custGeom>
              <a:avLst/>
              <a:gdLst/>
              <a:ahLst/>
              <a:cxnLst/>
              <a:rect l="l" t="t" r="r" b="b"/>
              <a:pathLst>
                <a:path w="722629" h="558800">
                  <a:moveTo>
                    <a:pt x="709676" y="279400"/>
                  </a:moveTo>
                  <a:lnTo>
                    <a:pt x="709676" y="558800"/>
                  </a:lnTo>
                  <a:lnTo>
                    <a:pt x="722376" y="558800"/>
                  </a:lnTo>
                  <a:lnTo>
                    <a:pt x="722376" y="285750"/>
                  </a:lnTo>
                  <a:lnTo>
                    <a:pt x="716026" y="285750"/>
                  </a:lnTo>
                  <a:lnTo>
                    <a:pt x="709676" y="279400"/>
                  </a:lnTo>
                  <a:close/>
                </a:path>
                <a:path w="722629" h="558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85750"/>
                  </a:lnTo>
                  <a:lnTo>
                    <a:pt x="709676" y="285750"/>
                  </a:lnTo>
                  <a:lnTo>
                    <a:pt x="709676" y="279400"/>
                  </a:lnTo>
                  <a:lnTo>
                    <a:pt x="44450" y="279400"/>
                  </a:lnTo>
                  <a:lnTo>
                    <a:pt x="38100" y="273050"/>
                  </a:lnTo>
                  <a:lnTo>
                    <a:pt x="44450" y="273050"/>
                  </a:lnTo>
                  <a:lnTo>
                    <a:pt x="44450" y="63500"/>
                  </a:lnTo>
                  <a:close/>
                </a:path>
                <a:path w="722629" h="558800">
                  <a:moveTo>
                    <a:pt x="722376" y="273050"/>
                  </a:moveTo>
                  <a:lnTo>
                    <a:pt x="44450" y="273050"/>
                  </a:lnTo>
                  <a:lnTo>
                    <a:pt x="44450" y="279400"/>
                  </a:lnTo>
                  <a:lnTo>
                    <a:pt x="709676" y="279400"/>
                  </a:lnTo>
                  <a:lnTo>
                    <a:pt x="716026" y="285750"/>
                  </a:lnTo>
                  <a:lnTo>
                    <a:pt x="722376" y="285750"/>
                  </a:lnTo>
                  <a:lnTo>
                    <a:pt x="722376" y="273050"/>
                  </a:lnTo>
                  <a:close/>
                </a:path>
                <a:path w="722629" h="558800">
                  <a:moveTo>
                    <a:pt x="44450" y="273050"/>
                  </a:moveTo>
                  <a:lnTo>
                    <a:pt x="38100" y="273050"/>
                  </a:lnTo>
                  <a:lnTo>
                    <a:pt x="44450" y="279400"/>
                  </a:lnTo>
                  <a:lnTo>
                    <a:pt x="44450" y="273050"/>
                  </a:lnTo>
                  <a:close/>
                </a:path>
                <a:path w="722629" h="558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22629" h="558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71776" y="4454525"/>
              <a:ext cx="2187575" cy="558800"/>
            </a:xfrm>
            <a:custGeom>
              <a:avLst/>
              <a:gdLst/>
              <a:ahLst/>
              <a:cxnLst/>
              <a:rect l="l" t="t" r="r" b="b"/>
              <a:pathLst>
                <a:path w="2187575" h="558800">
                  <a:moveTo>
                    <a:pt x="2142998" y="273050"/>
                  </a:moveTo>
                  <a:lnTo>
                    <a:pt x="0" y="273050"/>
                  </a:lnTo>
                  <a:lnTo>
                    <a:pt x="0" y="558800"/>
                  </a:lnTo>
                  <a:lnTo>
                    <a:pt x="12700" y="558800"/>
                  </a:lnTo>
                  <a:lnTo>
                    <a:pt x="12700" y="285750"/>
                  </a:lnTo>
                  <a:lnTo>
                    <a:pt x="6350" y="285750"/>
                  </a:lnTo>
                  <a:lnTo>
                    <a:pt x="12700" y="279400"/>
                  </a:lnTo>
                  <a:lnTo>
                    <a:pt x="2142998" y="279400"/>
                  </a:lnTo>
                  <a:lnTo>
                    <a:pt x="2142998" y="273050"/>
                  </a:lnTo>
                  <a:close/>
                </a:path>
                <a:path w="2187575" h="558800">
                  <a:moveTo>
                    <a:pt x="12700" y="279400"/>
                  </a:moveTo>
                  <a:lnTo>
                    <a:pt x="6350" y="285750"/>
                  </a:lnTo>
                  <a:lnTo>
                    <a:pt x="12700" y="285750"/>
                  </a:lnTo>
                  <a:lnTo>
                    <a:pt x="12700" y="279400"/>
                  </a:lnTo>
                  <a:close/>
                </a:path>
                <a:path w="2187575" h="558800">
                  <a:moveTo>
                    <a:pt x="2155705" y="273050"/>
                  </a:moveTo>
                  <a:lnTo>
                    <a:pt x="2149348" y="273050"/>
                  </a:lnTo>
                  <a:lnTo>
                    <a:pt x="2142998" y="279400"/>
                  </a:lnTo>
                  <a:lnTo>
                    <a:pt x="12700" y="279400"/>
                  </a:lnTo>
                  <a:lnTo>
                    <a:pt x="12700" y="285750"/>
                  </a:lnTo>
                  <a:lnTo>
                    <a:pt x="2155698" y="285750"/>
                  </a:lnTo>
                  <a:lnTo>
                    <a:pt x="2155705" y="273050"/>
                  </a:lnTo>
                  <a:close/>
                </a:path>
                <a:path w="2187575" h="558800">
                  <a:moveTo>
                    <a:pt x="2155825" y="63500"/>
                  </a:moveTo>
                  <a:lnTo>
                    <a:pt x="2142998" y="63500"/>
                  </a:lnTo>
                  <a:lnTo>
                    <a:pt x="2142998" y="279400"/>
                  </a:lnTo>
                  <a:lnTo>
                    <a:pt x="2149348" y="273050"/>
                  </a:lnTo>
                  <a:lnTo>
                    <a:pt x="2155705" y="273050"/>
                  </a:lnTo>
                  <a:lnTo>
                    <a:pt x="2155825" y="63500"/>
                  </a:lnTo>
                  <a:close/>
                </a:path>
                <a:path w="2187575" h="558800">
                  <a:moveTo>
                    <a:pt x="2149348" y="0"/>
                  </a:moveTo>
                  <a:lnTo>
                    <a:pt x="2111248" y="76200"/>
                  </a:lnTo>
                  <a:lnTo>
                    <a:pt x="2142998" y="76200"/>
                  </a:lnTo>
                  <a:lnTo>
                    <a:pt x="2142998" y="63500"/>
                  </a:lnTo>
                  <a:lnTo>
                    <a:pt x="2181098" y="63500"/>
                  </a:lnTo>
                  <a:lnTo>
                    <a:pt x="2149348" y="0"/>
                  </a:lnTo>
                  <a:close/>
                </a:path>
                <a:path w="2187575" h="558800">
                  <a:moveTo>
                    <a:pt x="2181098" y="63500"/>
                  </a:moveTo>
                  <a:lnTo>
                    <a:pt x="2155825" y="63500"/>
                  </a:lnTo>
                  <a:lnTo>
                    <a:pt x="2155817" y="76200"/>
                  </a:lnTo>
                  <a:lnTo>
                    <a:pt x="2187448" y="76200"/>
                  </a:lnTo>
                  <a:lnTo>
                    <a:pt x="2181098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6600" y="3568700"/>
              <a:ext cx="2421255" cy="327025"/>
            </a:xfrm>
            <a:custGeom>
              <a:avLst/>
              <a:gdLst/>
              <a:ahLst/>
              <a:cxnLst/>
              <a:rect l="l" t="t" r="r" b="b"/>
              <a:pathLst>
                <a:path w="2421254" h="327025">
                  <a:moveTo>
                    <a:pt x="2408174" y="163449"/>
                  </a:moveTo>
                  <a:lnTo>
                    <a:pt x="2408174" y="327025"/>
                  </a:lnTo>
                  <a:lnTo>
                    <a:pt x="2420874" y="327025"/>
                  </a:lnTo>
                  <a:lnTo>
                    <a:pt x="2420874" y="169799"/>
                  </a:lnTo>
                  <a:lnTo>
                    <a:pt x="2414524" y="169799"/>
                  </a:lnTo>
                  <a:lnTo>
                    <a:pt x="2408174" y="163449"/>
                  </a:lnTo>
                  <a:close/>
                </a:path>
                <a:path w="2421254" h="3270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69799"/>
                  </a:lnTo>
                  <a:lnTo>
                    <a:pt x="2408174" y="169799"/>
                  </a:lnTo>
                  <a:lnTo>
                    <a:pt x="2408174" y="163449"/>
                  </a:lnTo>
                  <a:lnTo>
                    <a:pt x="44450" y="163449"/>
                  </a:lnTo>
                  <a:lnTo>
                    <a:pt x="38100" y="157099"/>
                  </a:lnTo>
                  <a:lnTo>
                    <a:pt x="44450" y="157099"/>
                  </a:lnTo>
                  <a:lnTo>
                    <a:pt x="44450" y="63500"/>
                  </a:lnTo>
                  <a:close/>
                </a:path>
                <a:path w="2421254" h="327025">
                  <a:moveTo>
                    <a:pt x="2420874" y="157099"/>
                  </a:moveTo>
                  <a:lnTo>
                    <a:pt x="44450" y="157099"/>
                  </a:lnTo>
                  <a:lnTo>
                    <a:pt x="44450" y="163449"/>
                  </a:lnTo>
                  <a:lnTo>
                    <a:pt x="2408174" y="163449"/>
                  </a:lnTo>
                  <a:lnTo>
                    <a:pt x="2414524" y="169799"/>
                  </a:lnTo>
                  <a:lnTo>
                    <a:pt x="2420874" y="169799"/>
                  </a:lnTo>
                  <a:lnTo>
                    <a:pt x="2420874" y="157099"/>
                  </a:lnTo>
                  <a:close/>
                </a:path>
                <a:path w="2421254" h="327025">
                  <a:moveTo>
                    <a:pt x="44450" y="157099"/>
                  </a:moveTo>
                  <a:lnTo>
                    <a:pt x="38100" y="157099"/>
                  </a:lnTo>
                  <a:lnTo>
                    <a:pt x="44450" y="163449"/>
                  </a:lnTo>
                  <a:lnTo>
                    <a:pt x="44450" y="157099"/>
                  </a:lnTo>
                  <a:close/>
                </a:path>
                <a:path w="2421254" h="3270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21254" h="3270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10075" y="3552825"/>
              <a:ext cx="76200" cy="342900"/>
            </a:xfrm>
            <a:custGeom>
              <a:avLst/>
              <a:gdLst/>
              <a:ahLst/>
              <a:cxnLst/>
              <a:rect l="l" t="t" r="r" b="b"/>
              <a:pathLst>
                <a:path w="76200" h="342900">
                  <a:moveTo>
                    <a:pt x="31750" y="165100"/>
                  </a:moveTo>
                  <a:lnTo>
                    <a:pt x="4825" y="165100"/>
                  </a:lnTo>
                  <a:lnTo>
                    <a:pt x="4699" y="342900"/>
                  </a:lnTo>
                  <a:lnTo>
                    <a:pt x="17525" y="342900"/>
                  </a:lnTo>
                  <a:lnTo>
                    <a:pt x="17525" y="177800"/>
                  </a:lnTo>
                  <a:lnTo>
                    <a:pt x="11049" y="177800"/>
                  </a:lnTo>
                  <a:lnTo>
                    <a:pt x="17525" y="171450"/>
                  </a:lnTo>
                  <a:lnTo>
                    <a:pt x="31750" y="171450"/>
                  </a:lnTo>
                  <a:lnTo>
                    <a:pt x="31750" y="165100"/>
                  </a:lnTo>
                  <a:close/>
                </a:path>
                <a:path w="76200" h="342900">
                  <a:moveTo>
                    <a:pt x="17525" y="171450"/>
                  </a:moveTo>
                  <a:lnTo>
                    <a:pt x="11049" y="177800"/>
                  </a:lnTo>
                  <a:lnTo>
                    <a:pt x="17525" y="177800"/>
                  </a:lnTo>
                  <a:lnTo>
                    <a:pt x="17525" y="171450"/>
                  </a:lnTo>
                  <a:close/>
                </a:path>
                <a:path w="76200" h="342900">
                  <a:moveTo>
                    <a:pt x="44450" y="165100"/>
                  </a:moveTo>
                  <a:lnTo>
                    <a:pt x="38100" y="165100"/>
                  </a:lnTo>
                  <a:lnTo>
                    <a:pt x="31750" y="171450"/>
                  </a:lnTo>
                  <a:lnTo>
                    <a:pt x="17525" y="171450"/>
                  </a:lnTo>
                  <a:lnTo>
                    <a:pt x="17525" y="177800"/>
                  </a:lnTo>
                  <a:lnTo>
                    <a:pt x="44450" y="177800"/>
                  </a:lnTo>
                  <a:lnTo>
                    <a:pt x="44450" y="165100"/>
                  </a:lnTo>
                  <a:close/>
                </a:path>
                <a:path w="76200" h="3429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71450"/>
                  </a:lnTo>
                  <a:lnTo>
                    <a:pt x="38100" y="165100"/>
                  </a:lnTo>
                  <a:lnTo>
                    <a:pt x="44450" y="165100"/>
                  </a:lnTo>
                  <a:lnTo>
                    <a:pt x="44450" y="63500"/>
                  </a:lnTo>
                  <a:close/>
                </a:path>
                <a:path w="76200" h="3429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429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74850" y="2638425"/>
              <a:ext cx="76200" cy="1651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92548" y="1876425"/>
              <a:ext cx="76200" cy="1079500"/>
            </a:xfrm>
            <a:custGeom>
              <a:avLst/>
              <a:gdLst/>
              <a:ahLst/>
              <a:cxnLst/>
              <a:rect l="l" t="t" r="r" b="b"/>
              <a:pathLst>
                <a:path w="76200" h="1079500">
                  <a:moveTo>
                    <a:pt x="49275" y="539750"/>
                  </a:moveTo>
                  <a:lnTo>
                    <a:pt x="49275" y="1079500"/>
                  </a:lnTo>
                  <a:lnTo>
                    <a:pt x="61975" y="1079500"/>
                  </a:lnTo>
                  <a:lnTo>
                    <a:pt x="61975" y="546100"/>
                  </a:lnTo>
                  <a:lnTo>
                    <a:pt x="55625" y="546100"/>
                  </a:lnTo>
                  <a:lnTo>
                    <a:pt x="49275" y="539750"/>
                  </a:lnTo>
                  <a:close/>
                </a:path>
                <a:path w="76200" h="10795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46100"/>
                  </a:lnTo>
                  <a:lnTo>
                    <a:pt x="49275" y="546100"/>
                  </a:lnTo>
                  <a:lnTo>
                    <a:pt x="49275" y="539750"/>
                  </a:lnTo>
                  <a:lnTo>
                    <a:pt x="44450" y="539750"/>
                  </a:lnTo>
                  <a:lnTo>
                    <a:pt x="38100" y="533400"/>
                  </a:lnTo>
                  <a:lnTo>
                    <a:pt x="44450" y="533400"/>
                  </a:lnTo>
                  <a:lnTo>
                    <a:pt x="44450" y="63500"/>
                  </a:lnTo>
                  <a:close/>
                </a:path>
                <a:path w="76200" h="1079500">
                  <a:moveTo>
                    <a:pt x="61975" y="533400"/>
                  </a:moveTo>
                  <a:lnTo>
                    <a:pt x="44450" y="533400"/>
                  </a:lnTo>
                  <a:lnTo>
                    <a:pt x="44450" y="539750"/>
                  </a:lnTo>
                  <a:lnTo>
                    <a:pt x="49275" y="539750"/>
                  </a:lnTo>
                  <a:lnTo>
                    <a:pt x="55625" y="546100"/>
                  </a:lnTo>
                  <a:lnTo>
                    <a:pt x="61975" y="546100"/>
                  </a:lnTo>
                  <a:lnTo>
                    <a:pt x="61975" y="533400"/>
                  </a:lnTo>
                  <a:close/>
                </a:path>
                <a:path w="76200" h="1079500">
                  <a:moveTo>
                    <a:pt x="44450" y="533400"/>
                  </a:moveTo>
                  <a:lnTo>
                    <a:pt x="38100" y="533400"/>
                  </a:lnTo>
                  <a:lnTo>
                    <a:pt x="44450" y="539750"/>
                  </a:lnTo>
                  <a:lnTo>
                    <a:pt x="44450" y="533400"/>
                  </a:lnTo>
                  <a:close/>
                </a:path>
                <a:path w="76200" h="10795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0795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5715000" y="2574925"/>
              <a:ext cx="1732280" cy="765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spc="5" dirty="0">
                  <a:latin typeface="Tahoma"/>
                  <a:cs typeface="Tahoma"/>
                </a:rPr>
                <a:t>16</a:t>
              </a:r>
              <a:endParaRPr sz="1100">
                <a:latin typeface="Tahoma"/>
                <a:cs typeface="Tahoma"/>
              </a:endParaRPr>
            </a:p>
            <a:p>
              <a:pPr marL="92710" marR="81915" indent="-1905"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MENOR COSTO </a:t>
              </a:r>
              <a:r>
                <a:rPr sz="1100" b="1" spc="-5" dirty="0">
                  <a:latin typeface="Tahoma"/>
                  <a:cs typeface="Tahoma"/>
                </a:rPr>
                <a:t>POR  MANIPULACIÓN </a:t>
              </a:r>
              <a:r>
                <a:rPr sz="1100" b="1" dirty="0">
                  <a:latin typeface="Tahoma"/>
                  <a:cs typeface="Tahoma"/>
                </a:rPr>
                <a:t>DE  </a:t>
              </a:r>
              <a:r>
                <a:rPr sz="1100" b="1" spc="-5" dirty="0">
                  <a:latin typeface="Tahoma"/>
                  <a:cs typeface="Tahoma"/>
                </a:rPr>
                <a:t>FRUTA</a:t>
              </a:r>
              <a:r>
                <a:rPr sz="1100" b="1" spc="-105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DETERIORADA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419600" y="3340100"/>
              <a:ext cx="2200275" cy="406400"/>
            </a:xfrm>
            <a:custGeom>
              <a:avLst/>
              <a:gdLst/>
              <a:ahLst/>
              <a:cxnLst/>
              <a:rect l="l" t="t" r="r" b="b"/>
              <a:pathLst>
                <a:path w="2200275" h="406400">
                  <a:moveTo>
                    <a:pt x="2155825" y="393700"/>
                  </a:moveTo>
                  <a:lnTo>
                    <a:pt x="0" y="393700"/>
                  </a:lnTo>
                  <a:lnTo>
                    <a:pt x="0" y="406400"/>
                  </a:lnTo>
                  <a:lnTo>
                    <a:pt x="2168525" y="406400"/>
                  </a:lnTo>
                  <a:lnTo>
                    <a:pt x="2168525" y="400050"/>
                  </a:lnTo>
                  <a:lnTo>
                    <a:pt x="2155825" y="400050"/>
                  </a:lnTo>
                  <a:lnTo>
                    <a:pt x="2155825" y="393700"/>
                  </a:lnTo>
                  <a:close/>
                </a:path>
                <a:path w="2200275" h="406400">
                  <a:moveTo>
                    <a:pt x="2168525" y="63500"/>
                  </a:moveTo>
                  <a:lnTo>
                    <a:pt x="2155825" y="63500"/>
                  </a:lnTo>
                  <a:lnTo>
                    <a:pt x="2155825" y="400050"/>
                  </a:lnTo>
                  <a:lnTo>
                    <a:pt x="2162175" y="393700"/>
                  </a:lnTo>
                  <a:lnTo>
                    <a:pt x="2168525" y="393700"/>
                  </a:lnTo>
                  <a:lnTo>
                    <a:pt x="2168525" y="63500"/>
                  </a:lnTo>
                  <a:close/>
                </a:path>
                <a:path w="2200275" h="406400">
                  <a:moveTo>
                    <a:pt x="2168525" y="393700"/>
                  </a:moveTo>
                  <a:lnTo>
                    <a:pt x="2162175" y="393700"/>
                  </a:lnTo>
                  <a:lnTo>
                    <a:pt x="2155825" y="400050"/>
                  </a:lnTo>
                  <a:lnTo>
                    <a:pt x="2168525" y="400050"/>
                  </a:lnTo>
                  <a:lnTo>
                    <a:pt x="2168525" y="393700"/>
                  </a:lnTo>
                  <a:close/>
                </a:path>
                <a:path w="2200275" h="406400">
                  <a:moveTo>
                    <a:pt x="2162175" y="0"/>
                  </a:moveTo>
                  <a:lnTo>
                    <a:pt x="2124075" y="76200"/>
                  </a:lnTo>
                  <a:lnTo>
                    <a:pt x="2155825" y="76200"/>
                  </a:lnTo>
                  <a:lnTo>
                    <a:pt x="2155825" y="63500"/>
                  </a:lnTo>
                  <a:lnTo>
                    <a:pt x="2193925" y="63500"/>
                  </a:lnTo>
                  <a:lnTo>
                    <a:pt x="2162175" y="0"/>
                  </a:lnTo>
                  <a:close/>
                </a:path>
                <a:path w="2200275" h="406400">
                  <a:moveTo>
                    <a:pt x="2193925" y="63500"/>
                  </a:moveTo>
                  <a:lnTo>
                    <a:pt x="2168525" y="63500"/>
                  </a:lnTo>
                  <a:lnTo>
                    <a:pt x="2168525" y="76200"/>
                  </a:lnTo>
                  <a:lnTo>
                    <a:pt x="2200275" y="76200"/>
                  </a:lnTo>
                  <a:lnTo>
                    <a:pt x="2193925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92548" y="1876425"/>
              <a:ext cx="2195830" cy="698500"/>
            </a:xfrm>
            <a:custGeom>
              <a:avLst/>
              <a:gdLst/>
              <a:ahLst/>
              <a:cxnLst/>
              <a:rect l="l" t="t" r="r" b="b"/>
              <a:pathLst>
                <a:path w="2195829" h="698500">
                  <a:moveTo>
                    <a:pt x="2182876" y="349250"/>
                  </a:moveTo>
                  <a:lnTo>
                    <a:pt x="2182876" y="698500"/>
                  </a:lnTo>
                  <a:lnTo>
                    <a:pt x="2195576" y="698500"/>
                  </a:lnTo>
                  <a:lnTo>
                    <a:pt x="2195576" y="355600"/>
                  </a:lnTo>
                  <a:lnTo>
                    <a:pt x="2189226" y="355600"/>
                  </a:lnTo>
                  <a:lnTo>
                    <a:pt x="2182876" y="349250"/>
                  </a:lnTo>
                  <a:close/>
                </a:path>
                <a:path w="2195829" h="6985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55600"/>
                  </a:lnTo>
                  <a:lnTo>
                    <a:pt x="2182876" y="355600"/>
                  </a:lnTo>
                  <a:lnTo>
                    <a:pt x="2182876" y="349250"/>
                  </a:lnTo>
                  <a:lnTo>
                    <a:pt x="44450" y="349250"/>
                  </a:lnTo>
                  <a:lnTo>
                    <a:pt x="38100" y="342900"/>
                  </a:lnTo>
                  <a:lnTo>
                    <a:pt x="44450" y="342900"/>
                  </a:lnTo>
                  <a:lnTo>
                    <a:pt x="44450" y="63500"/>
                  </a:lnTo>
                  <a:close/>
                </a:path>
                <a:path w="2195829" h="698500">
                  <a:moveTo>
                    <a:pt x="2195576" y="342900"/>
                  </a:moveTo>
                  <a:lnTo>
                    <a:pt x="44450" y="342900"/>
                  </a:lnTo>
                  <a:lnTo>
                    <a:pt x="44450" y="349250"/>
                  </a:lnTo>
                  <a:lnTo>
                    <a:pt x="2182876" y="349250"/>
                  </a:lnTo>
                  <a:lnTo>
                    <a:pt x="2189226" y="355600"/>
                  </a:lnTo>
                  <a:lnTo>
                    <a:pt x="2195576" y="355600"/>
                  </a:lnTo>
                  <a:lnTo>
                    <a:pt x="2195576" y="342900"/>
                  </a:lnTo>
                  <a:close/>
                </a:path>
                <a:path w="2195829" h="698500">
                  <a:moveTo>
                    <a:pt x="44450" y="342900"/>
                  </a:moveTo>
                  <a:lnTo>
                    <a:pt x="38100" y="342900"/>
                  </a:lnTo>
                  <a:lnTo>
                    <a:pt x="44450" y="349250"/>
                  </a:lnTo>
                  <a:lnTo>
                    <a:pt x="44450" y="342900"/>
                  </a:lnTo>
                  <a:close/>
                </a:path>
                <a:path w="2195829" h="6985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195829" h="6985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5316601" y="5978525"/>
              <a:ext cx="1325880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17</a:t>
              </a:r>
              <a:endParaRPr sz="1000">
                <a:latin typeface="Tahoma"/>
                <a:cs typeface="Tahoma"/>
              </a:endParaRPr>
            </a:p>
            <a:p>
              <a:pPr marL="95250" marR="86995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MEJORADAS  TECNOLOGÍAS  DE</a:t>
              </a:r>
              <a:r>
                <a:rPr sz="1000" b="1" spc="-6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5060950" y="5562600"/>
              <a:ext cx="925830" cy="415925"/>
            </a:xfrm>
            <a:custGeom>
              <a:avLst/>
              <a:gdLst/>
              <a:ahLst/>
              <a:cxnLst/>
              <a:rect l="l" t="t" r="r" b="b"/>
              <a:pathLst>
                <a:path w="925829" h="415925">
                  <a:moveTo>
                    <a:pt x="912749" y="207899"/>
                  </a:moveTo>
                  <a:lnTo>
                    <a:pt x="912749" y="415925"/>
                  </a:lnTo>
                  <a:lnTo>
                    <a:pt x="925449" y="415925"/>
                  </a:lnTo>
                  <a:lnTo>
                    <a:pt x="925449" y="214249"/>
                  </a:lnTo>
                  <a:lnTo>
                    <a:pt x="919099" y="214249"/>
                  </a:lnTo>
                  <a:lnTo>
                    <a:pt x="912749" y="207899"/>
                  </a:lnTo>
                  <a:close/>
                </a:path>
                <a:path w="925829" h="415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14249"/>
                  </a:lnTo>
                  <a:lnTo>
                    <a:pt x="912749" y="214249"/>
                  </a:lnTo>
                  <a:lnTo>
                    <a:pt x="912749" y="207899"/>
                  </a:lnTo>
                  <a:lnTo>
                    <a:pt x="44450" y="207899"/>
                  </a:lnTo>
                  <a:lnTo>
                    <a:pt x="38100" y="201549"/>
                  </a:lnTo>
                  <a:lnTo>
                    <a:pt x="44450" y="201549"/>
                  </a:lnTo>
                  <a:lnTo>
                    <a:pt x="44450" y="63500"/>
                  </a:lnTo>
                  <a:close/>
                </a:path>
                <a:path w="925829" h="415925">
                  <a:moveTo>
                    <a:pt x="925449" y="201549"/>
                  </a:moveTo>
                  <a:lnTo>
                    <a:pt x="44450" y="201549"/>
                  </a:lnTo>
                  <a:lnTo>
                    <a:pt x="44450" y="207899"/>
                  </a:lnTo>
                  <a:lnTo>
                    <a:pt x="912749" y="207899"/>
                  </a:lnTo>
                  <a:lnTo>
                    <a:pt x="919099" y="214249"/>
                  </a:lnTo>
                  <a:lnTo>
                    <a:pt x="925449" y="214249"/>
                  </a:lnTo>
                  <a:lnTo>
                    <a:pt x="925449" y="201549"/>
                  </a:lnTo>
                  <a:close/>
                </a:path>
                <a:path w="925829" h="415925">
                  <a:moveTo>
                    <a:pt x="44450" y="201549"/>
                  </a:moveTo>
                  <a:lnTo>
                    <a:pt x="38100" y="201549"/>
                  </a:lnTo>
                  <a:lnTo>
                    <a:pt x="44450" y="207899"/>
                  </a:lnTo>
                  <a:lnTo>
                    <a:pt x="44450" y="201549"/>
                  </a:lnTo>
                  <a:close/>
                </a:path>
                <a:path w="925829" h="415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25829" h="415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6781800" y="6003925"/>
              <a:ext cx="1374775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18</a:t>
              </a:r>
              <a:endParaRPr sz="1000">
                <a:latin typeface="Tahoma"/>
                <a:cs typeface="Tahoma"/>
              </a:endParaRPr>
            </a:p>
            <a:p>
              <a:pPr marL="94615" marR="85090" indent="-4254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INCENTIVOS  </a:t>
              </a:r>
              <a:r>
                <a:rPr sz="1000" b="1" spc="-5" dirty="0">
                  <a:latin typeface="Tahoma"/>
                  <a:cs typeface="Tahoma"/>
                </a:rPr>
                <a:t>ADECUADOS</a:t>
              </a:r>
              <a:r>
                <a:rPr sz="1000" b="1" spc="-70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PARA 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5060950" y="5562600"/>
              <a:ext cx="2414905" cy="441325"/>
            </a:xfrm>
            <a:custGeom>
              <a:avLst/>
              <a:gdLst/>
              <a:ahLst/>
              <a:cxnLst/>
              <a:rect l="l" t="t" r="r" b="b"/>
              <a:pathLst>
                <a:path w="2414904" h="441325">
                  <a:moveTo>
                    <a:pt x="2401824" y="220599"/>
                  </a:moveTo>
                  <a:lnTo>
                    <a:pt x="2401824" y="441325"/>
                  </a:lnTo>
                  <a:lnTo>
                    <a:pt x="2414524" y="441325"/>
                  </a:lnTo>
                  <a:lnTo>
                    <a:pt x="2414524" y="226949"/>
                  </a:lnTo>
                  <a:lnTo>
                    <a:pt x="2408174" y="226949"/>
                  </a:lnTo>
                  <a:lnTo>
                    <a:pt x="2401824" y="220599"/>
                  </a:lnTo>
                  <a:close/>
                </a:path>
                <a:path w="2414904" h="4413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6949"/>
                  </a:lnTo>
                  <a:lnTo>
                    <a:pt x="2401824" y="226949"/>
                  </a:lnTo>
                  <a:lnTo>
                    <a:pt x="2401824" y="220599"/>
                  </a:lnTo>
                  <a:lnTo>
                    <a:pt x="44450" y="220599"/>
                  </a:lnTo>
                  <a:lnTo>
                    <a:pt x="38100" y="214249"/>
                  </a:lnTo>
                  <a:lnTo>
                    <a:pt x="44450" y="214249"/>
                  </a:lnTo>
                  <a:lnTo>
                    <a:pt x="44450" y="63500"/>
                  </a:lnTo>
                  <a:close/>
                </a:path>
                <a:path w="2414904" h="441325">
                  <a:moveTo>
                    <a:pt x="2414524" y="214249"/>
                  </a:moveTo>
                  <a:lnTo>
                    <a:pt x="44450" y="214249"/>
                  </a:lnTo>
                  <a:lnTo>
                    <a:pt x="44450" y="220599"/>
                  </a:lnTo>
                  <a:lnTo>
                    <a:pt x="2401824" y="220599"/>
                  </a:lnTo>
                  <a:lnTo>
                    <a:pt x="2408174" y="226949"/>
                  </a:lnTo>
                  <a:lnTo>
                    <a:pt x="2414524" y="226949"/>
                  </a:lnTo>
                  <a:lnTo>
                    <a:pt x="2414524" y="214249"/>
                  </a:lnTo>
                  <a:close/>
                </a:path>
                <a:path w="2414904" h="441325">
                  <a:moveTo>
                    <a:pt x="44450" y="214249"/>
                  </a:moveTo>
                  <a:lnTo>
                    <a:pt x="38100" y="214249"/>
                  </a:lnTo>
                  <a:lnTo>
                    <a:pt x="44450" y="220599"/>
                  </a:lnTo>
                  <a:lnTo>
                    <a:pt x="44450" y="214249"/>
                  </a:lnTo>
                  <a:close/>
                </a:path>
                <a:path w="2414904" h="4413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14904" h="4413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609600" y="6003925"/>
              <a:ext cx="1325880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13</a:t>
              </a:r>
              <a:endParaRPr sz="1000">
                <a:latin typeface="Tahoma"/>
                <a:cs typeface="Tahoma"/>
              </a:endParaRPr>
            </a:p>
            <a:p>
              <a:pPr marL="94615" marR="8763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MANTENIMIENTO  ADECUADO DE  </a:t>
              </a:r>
              <a:r>
                <a:rPr sz="1000" b="1" spc="-5" dirty="0">
                  <a:latin typeface="Tahoma"/>
                  <a:cs typeface="Tahoma"/>
                </a:rPr>
                <a:t>COSECHADORAS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222375" y="1279525"/>
              <a:ext cx="1768475" cy="59690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spc="5" dirty="0">
                  <a:latin typeface="Tahoma"/>
                  <a:cs typeface="Tahoma"/>
                </a:rPr>
                <a:t>19</a:t>
              </a:r>
              <a:endParaRPr sz="1100">
                <a:latin typeface="Tahoma"/>
                <a:cs typeface="Tahoma"/>
              </a:endParaRPr>
            </a:p>
            <a:p>
              <a:pPr marL="92075" marR="83820"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AMENAZAS A LA  </a:t>
              </a:r>
              <a:r>
                <a:rPr sz="1100" b="1" spc="-5" dirty="0">
                  <a:latin typeface="Tahoma"/>
                  <a:cs typeface="Tahoma"/>
                </a:rPr>
                <a:t>SALUD</a:t>
              </a:r>
              <a:r>
                <a:rPr sz="1100" b="1" spc="-85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CONTROLADAS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2006600" y="1876425"/>
              <a:ext cx="138175" cy="1651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"/>
          <p:cNvSpPr txBox="1">
            <a:spLocks/>
          </p:cNvSpPr>
          <p:nvPr/>
        </p:nvSpPr>
        <p:spPr>
          <a:xfrm>
            <a:off x="266382" y="0"/>
            <a:ext cx="6820218" cy="101053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s-419" sz="3200" spc="-5" dirty="0" err="1"/>
              <a:t>Arbol</a:t>
            </a:r>
            <a:r>
              <a:rPr lang="es-419" sz="3200" spc="-5" dirty="0"/>
              <a:t> de Objetivos  </a:t>
            </a:r>
          </a:p>
          <a:p>
            <a:pPr marL="12700" algn="ctr">
              <a:spcBef>
                <a:spcPts val="100"/>
              </a:spcBef>
            </a:pPr>
            <a:r>
              <a:rPr lang="es-419" sz="3200" spc="-5" dirty="0"/>
              <a:t>(</a:t>
            </a:r>
            <a:r>
              <a:rPr lang="es-419" sz="3200" spc="-5" dirty="0" err="1"/>
              <a:t>Arbol</a:t>
            </a:r>
            <a:r>
              <a:rPr lang="es-419" sz="3200" spc="-5" dirty="0"/>
              <a:t> de Medios-Fines)</a:t>
            </a:r>
            <a:endParaRPr lang="es-419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02818" y="309880"/>
            <a:ext cx="72155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Versión </a:t>
            </a:r>
            <a:r>
              <a:rPr sz="2800" spc="-10" dirty="0"/>
              <a:t>ajustada del Arbol </a:t>
            </a:r>
            <a:r>
              <a:rPr sz="2800" spc="-5" dirty="0"/>
              <a:t>de </a:t>
            </a:r>
            <a:r>
              <a:rPr sz="2800" spc="-10" dirty="0"/>
              <a:t>Objetivos</a:t>
            </a:r>
            <a:r>
              <a:rPr sz="2800" spc="180" dirty="0"/>
              <a:t> </a:t>
            </a:r>
            <a:r>
              <a:rPr sz="2800" spc="-10" dirty="0"/>
              <a:t>(1)</a:t>
            </a:r>
            <a:endParaRPr sz="2800"/>
          </a:p>
        </p:txBody>
      </p:sp>
      <p:grpSp>
        <p:nvGrpSpPr>
          <p:cNvPr id="35" name="Grupo 34"/>
          <p:cNvGrpSpPr/>
          <p:nvPr/>
        </p:nvGrpSpPr>
        <p:grpSpPr>
          <a:xfrm>
            <a:off x="381000" y="1295400"/>
            <a:ext cx="8218805" cy="5426075"/>
            <a:chOff x="609600" y="1066800"/>
            <a:chExt cx="8218805" cy="5426075"/>
          </a:xfrm>
        </p:grpSpPr>
        <p:sp>
          <p:nvSpPr>
            <p:cNvPr id="2" name="object 2"/>
            <p:cNvSpPr/>
            <p:nvPr/>
          </p:nvSpPr>
          <p:spPr>
            <a:xfrm>
              <a:off x="3497579" y="3680459"/>
              <a:ext cx="1842515" cy="6766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592448" y="3716782"/>
              <a:ext cx="1657985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1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NO</a:t>
              </a:r>
              <a:r>
                <a:rPr sz="1000" b="1" spc="-2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DETERIORADA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EN </a:t>
              </a:r>
              <a:r>
                <a:rPr sz="1000" b="1" spc="-5" dirty="0">
                  <a:latin typeface="Tahoma"/>
                  <a:cs typeface="Tahoma"/>
                </a:rPr>
                <a:t>LA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505200" y="1066800"/>
              <a:ext cx="1851025" cy="59690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dirty="0">
                  <a:latin typeface="Tahoma"/>
                  <a:cs typeface="Tahoma"/>
                </a:rPr>
                <a:t>2</a:t>
              </a:r>
              <a:endParaRPr sz="1100">
                <a:latin typeface="Tahoma"/>
                <a:cs typeface="Tahoma"/>
              </a:endParaRPr>
            </a:p>
            <a:p>
              <a:pPr marL="92075" marR="83185" indent="-1905"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MAYORES INGRESOS  DE LOS</a:t>
              </a:r>
              <a:r>
                <a:rPr sz="1100" b="1" spc="-114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AGRICULTORES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510026" y="2743200"/>
              <a:ext cx="1876425" cy="596900"/>
            </a:xfrm>
            <a:custGeom>
              <a:avLst/>
              <a:gdLst/>
              <a:ahLst/>
              <a:cxnLst/>
              <a:rect l="l" t="t" r="r" b="b"/>
              <a:pathLst>
                <a:path w="1876425" h="596900">
                  <a:moveTo>
                    <a:pt x="0" y="596900"/>
                  </a:moveTo>
                  <a:lnTo>
                    <a:pt x="1876425" y="596900"/>
                  </a:lnTo>
                  <a:lnTo>
                    <a:pt x="1876425" y="0"/>
                  </a:lnTo>
                  <a:lnTo>
                    <a:pt x="0" y="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3510026" y="2775331"/>
              <a:ext cx="1876425" cy="5295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5"/>
                </a:spcBef>
              </a:pPr>
              <a:r>
                <a:rPr sz="1100" b="1" dirty="0">
                  <a:latin typeface="Tahoma"/>
                  <a:cs typeface="Tahoma"/>
                </a:rPr>
                <a:t>5</a:t>
              </a:r>
              <a:endParaRPr sz="1100">
                <a:latin typeface="Tahoma"/>
                <a:cs typeface="Tahoma"/>
              </a:endParaRPr>
            </a:p>
            <a:p>
              <a:pPr marL="92710" marR="84455" algn="ctr">
                <a:lnSpc>
                  <a:spcPct val="100000"/>
                </a:lnSpc>
              </a:pPr>
              <a:r>
                <a:rPr sz="1100" b="1" spc="-5" dirty="0">
                  <a:latin typeface="Tahoma"/>
                  <a:cs typeface="Tahoma"/>
                </a:rPr>
                <a:t>DISMINUIDAS  </a:t>
              </a:r>
              <a:r>
                <a:rPr sz="1100" b="1" dirty="0">
                  <a:latin typeface="Tahoma"/>
                  <a:cs typeface="Tahoma"/>
                </a:rPr>
                <a:t>PÉRDIDAS EN</a:t>
              </a:r>
              <a:r>
                <a:rPr sz="1100" b="1" spc="-114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COSECHA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295400" y="4800600"/>
              <a:ext cx="1965325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95250" marR="8763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RECOLECTORAS  </a:t>
              </a:r>
              <a:r>
                <a:rPr sz="1000" b="1" spc="-5" dirty="0">
                  <a:latin typeface="Tahoma"/>
                  <a:cs typeface="Tahoma"/>
                </a:rPr>
                <a:t>CON </a:t>
              </a:r>
              <a:r>
                <a:rPr sz="1000" b="1" spc="-10" dirty="0">
                  <a:latin typeface="Tahoma"/>
                  <a:cs typeface="Tahoma"/>
                </a:rPr>
                <a:t>BUEN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DESEMPEÑO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191000" y="4800600"/>
              <a:ext cx="1816100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95250" marR="87630" indent="-1270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</a:t>
              </a:r>
              <a:r>
                <a:rPr sz="1000" b="1" spc="-10" dirty="0">
                  <a:latin typeface="Tahoma"/>
                  <a:cs typeface="Tahoma"/>
                </a:rPr>
                <a:t>TRATAN </a:t>
              </a:r>
              <a:r>
                <a:rPr sz="1000" b="1" spc="-5" dirty="0">
                  <a:latin typeface="Tahoma"/>
                  <a:cs typeface="Tahoma"/>
                </a:rPr>
                <a:t>BIEN  LA </a:t>
              </a: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AL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1135062" y="2590800"/>
              <a:ext cx="1819275" cy="765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spc="5" dirty="0">
                  <a:latin typeface="Tahoma"/>
                  <a:cs typeface="Tahoma"/>
                </a:rPr>
                <a:t>15</a:t>
              </a:r>
              <a:endParaRPr sz="1100">
                <a:latin typeface="Tahoma"/>
                <a:cs typeface="Tahoma"/>
              </a:endParaRPr>
            </a:p>
            <a:p>
              <a:pPr marL="248920" marR="269875" indent="-13335" algn="ctr">
                <a:lnSpc>
                  <a:spcPct val="100000"/>
                </a:lnSpc>
              </a:pPr>
              <a:r>
                <a:rPr sz="1100" b="1" spc="-5" dirty="0">
                  <a:latin typeface="Tahoma"/>
                  <a:cs typeface="Tahoma"/>
                </a:rPr>
                <a:t>DISMINUCIÓN </a:t>
              </a:r>
              <a:r>
                <a:rPr sz="1100" b="1" dirty="0">
                  <a:latin typeface="Tahoma"/>
                  <a:cs typeface="Tahoma"/>
                </a:rPr>
                <a:t>DE  </a:t>
              </a:r>
              <a:r>
                <a:rPr sz="1100" b="1" spc="-5" dirty="0">
                  <a:latin typeface="Tahoma"/>
                  <a:cs typeface="Tahoma"/>
                </a:rPr>
                <a:t>C</a:t>
              </a:r>
              <a:r>
                <a:rPr sz="1100" b="1" dirty="0">
                  <a:latin typeface="Tahoma"/>
                  <a:cs typeface="Tahoma"/>
                </a:rPr>
                <a:t>ONTAM</a:t>
              </a:r>
              <a:r>
                <a:rPr sz="1100" b="1" spc="-10" dirty="0">
                  <a:latin typeface="Tahoma"/>
                  <a:cs typeface="Tahoma"/>
                </a:rPr>
                <a:t>I</a:t>
              </a:r>
              <a:r>
                <a:rPr sz="1100" b="1" dirty="0">
                  <a:latin typeface="Tahoma"/>
                  <a:cs typeface="Tahoma"/>
                </a:rPr>
                <a:t>NA</a:t>
              </a:r>
              <a:r>
                <a:rPr sz="1100" b="1" spc="-5" dirty="0">
                  <a:latin typeface="Tahoma"/>
                  <a:cs typeface="Tahoma"/>
                </a:rPr>
                <a:t>C</a:t>
              </a:r>
              <a:r>
                <a:rPr sz="1100" b="1" spc="-10" dirty="0">
                  <a:latin typeface="Tahoma"/>
                  <a:cs typeface="Tahoma"/>
                </a:rPr>
                <a:t>I</a:t>
              </a:r>
              <a:r>
                <a:rPr sz="1100" b="1" dirty="0">
                  <a:latin typeface="Tahoma"/>
                  <a:cs typeface="Tahoma"/>
                </a:rPr>
                <a:t>ÓN</a:t>
              </a:r>
              <a:endParaRPr sz="1100">
                <a:latin typeface="Tahoma"/>
                <a:cs typeface="Tahoma"/>
              </a:endParaRPr>
            </a:p>
            <a:p>
              <a:pPr marL="1905" algn="ctr">
                <a:lnSpc>
                  <a:spcPct val="100000"/>
                </a:lnSpc>
                <a:spcBef>
                  <a:spcPts val="5"/>
                </a:spcBef>
              </a:pPr>
              <a:r>
                <a:rPr sz="1100" b="1" spc="-5" dirty="0">
                  <a:latin typeface="Tahoma"/>
                  <a:cs typeface="Tahoma"/>
                </a:rPr>
                <a:t>POR FRUTAS</a:t>
              </a:r>
              <a:r>
                <a:rPr sz="1100" b="1" spc="-35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DAÑADAS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000125" y="1828800"/>
              <a:ext cx="2025650" cy="59690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dirty="0">
                  <a:latin typeface="Tahoma"/>
                  <a:cs typeface="Tahoma"/>
                </a:rPr>
                <a:t>6</a:t>
              </a:r>
              <a:endParaRPr sz="1100">
                <a:latin typeface="Tahoma"/>
                <a:cs typeface="Tahoma"/>
              </a:endParaRPr>
            </a:p>
            <a:p>
              <a:pPr marL="92075" marR="83185" indent="-2540" algn="ctr">
                <a:lnSpc>
                  <a:spcPct val="100000"/>
                </a:lnSpc>
              </a:pPr>
              <a:r>
                <a:rPr sz="1100" b="1" spc="-5" dirty="0">
                  <a:latin typeface="Tahoma"/>
                  <a:cs typeface="Tahoma"/>
                </a:rPr>
                <a:t>DISMINUCIÓN </a:t>
              </a:r>
              <a:r>
                <a:rPr sz="1100" b="1" dirty="0">
                  <a:latin typeface="Tahoma"/>
                  <a:cs typeface="Tahoma"/>
                </a:rPr>
                <a:t>DE  PLAGAS Y </a:t>
              </a:r>
              <a:r>
                <a:rPr sz="1100" b="1" spc="-5" dirty="0">
                  <a:latin typeface="Tahoma"/>
                  <a:cs typeface="Tahoma"/>
                </a:rPr>
                <a:t>MALOS</a:t>
              </a:r>
              <a:r>
                <a:rPr sz="1100" b="1" spc="-95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OLORES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383023" y="4241800"/>
              <a:ext cx="722630" cy="558800"/>
            </a:xfrm>
            <a:custGeom>
              <a:avLst/>
              <a:gdLst/>
              <a:ahLst/>
              <a:cxnLst/>
              <a:rect l="l" t="t" r="r" b="b"/>
              <a:pathLst>
                <a:path w="722629" h="558800">
                  <a:moveTo>
                    <a:pt x="709676" y="279400"/>
                  </a:moveTo>
                  <a:lnTo>
                    <a:pt x="709676" y="558800"/>
                  </a:lnTo>
                  <a:lnTo>
                    <a:pt x="722376" y="558800"/>
                  </a:lnTo>
                  <a:lnTo>
                    <a:pt x="722376" y="285750"/>
                  </a:lnTo>
                  <a:lnTo>
                    <a:pt x="716026" y="285750"/>
                  </a:lnTo>
                  <a:lnTo>
                    <a:pt x="709676" y="279400"/>
                  </a:lnTo>
                  <a:close/>
                </a:path>
                <a:path w="722629" h="558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85750"/>
                  </a:lnTo>
                  <a:lnTo>
                    <a:pt x="709676" y="285750"/>
                  </a:lnTo>
                  <a:lnTo>
                    <a:pt x="709676" y="279400"/>
                  </a:lnTo>
                  <a:lnTo>
                    <a:pt x="44450" y="279400"/>
                  </a:lnTo>
                  <a:lnTo>
                    <a:pt x="38100" y="273050"/>
                  </a:lnTo>
                  <a:lnTo>
                    <a:pt x="44450" y="273050"/>
                  </a:lnTo>
                  <a:lnTo>
                    <a:pt x="44450" y="63500"/>
                  </a:lnTo>
                  <a:close/>
                </a:path>
                <a:path w="722629" h="558800">
                  <a:moveTo>
                    <a:pt x="722376" y="273050"/>
                  </a:moveTo>
                  <a:lnTo>
                    <a:pt x="44450" y="273050"/>
                  </a:lnTo>
                  <a:lnTo>
                    <a:pt x="44450" y="279400"/>
                  </a:lnTo>
                  <a:lnTo>
                    <a:pt x="709676" y="279400"/>
                  </a:lnTo>
                  <a:lnTo>
                    <a:pt x="716026" y="285750"/>
                  </a:lnTo>
                  <a:lnTo>
                    <a:pt x="722376" y="285750"/>
                  </a:lnTo>
                  <a:lnTo>
                    <a:pt x="722376" y="273050"/>
                  </a:lnTo>
                  <a:close/>
                </a:path>
                <a:path w="722629" h="558800">
                  <a:moveTo>
                    <a:pt x="44450" y="273050"/>
                  </a:moveTo>
                  <a:lnTo>
                    <a:pt x="38100" y="273050"/>
                  </a:lnTo>
                  <a:lnTo>
                    <a:pt x="44450" y="279400"/>
                  </a:lnTo>
                  <a:lnTo>
                    <a:pt x="44450" y="273050"/>
                  </a:lnTo>
                  <a:close/>
                </a:path>
                <a:path w="722629" h="558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22629" h="558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71776" y="4241800"/>
              <a:ext cx="2187575" cy="558800"/>
            </a:xfrm>
            <a:custGeom>
              <a:avLst/>
              <a:gdLst/>
              <a:ahLst/>
              <a:cxnLst/>
              <a:rect l="l" t="t" r="r" b="b"/>
              <a:pathLst>
                <a:path w="2187575" h="558800">
                  <a:moveTo>
                    <a:pt x="2142998" y="273050"/>
                  </a:moveTo>
                  <a:lnTo>
                    <a:pt x="0" y="273050"/>
                  </a:lnTo>
                  <a:lnTo>
                    <a:pt x="0" y="558800"/>
                  </a:lnTo>
                  <a:lnTo>
                    <a:pt x="12700" y="558800"/>
                  </a:lnTo>
                  <a:lnTo>
                    <a:pt x="12700" y="285750"/>
                  </a:lnTo>
                  <a:lnTo>
                    <a:pt x="6350" y="285750"/>
                  </a:lnTo>
                  <a:lnTo>
                    <a:pt x="12700" y="279400"/>
                  </a:lnTo>
                  <a:lnTo>
                    <a:pt x="2142998" y="279400"/>
                  </a:lnTo>
                  <a:lnTo>
                    <a:pt x="2142998" y="273050"/>
                  </a:lnTo>
                  <a:close/>
                </a:path>
                <a:path w="2187575" h="558800">
                  <a:moveTo>
                    <a:pt x="12700" y="279400"/>
                  </a:moveTo>
                  <a:lnTo>
                    <a:pt x="6350" y="285750"/>
                  </a:lnTo>
                  <a:lnTo>
                    <a:pt x="12700" y="285750"/>
                  </a:lnTo>
                  <a:lnTo>
                    <a:pt x="12700" y="279400"/>
                  </a:lnTo>
                  <a:close/>
                </a:path>
                <a:path w="2187575" h="558800">
                  <a:moveTo>
                    <a:pt x="2155705" y="273050"/>
                  </a:moveTo>
                  <a:lnTo>
                    <a:pt x="2149348" y="273050"/>
                  </a:lnTo>
                  <a:lnTo>
                    <a:pt x="2142998" y="279400"/>
                  </a:lnTo>
                  <a:lnTo>
                    <a:pt x="12700" y="279400"/>
                  </a:lnTo>
                  <a:lnTo>
                    <a:pt x="12700" y="285750"/>
                  </a:lnTo>
                  <a:lnTo>
                    <a:pt x="2155698" y="285750"/>
                  </a:lnTo>
                  <a:lnTo>
                    <a:pt x="2155705" y="273050"/>
                  </a:lnTo>
                  <a:close/>
                </a:path>
                <a:path w="2187575" h="558800">
                  <a:moveTo>
                    <a:pt x="2155825" y="63500"/>
                  </a:moveTo>
                  <a:lnTo>
                    <a:pt x="2142998" y="63500"/>
                  </a:lnTo>
                  <a:lnTo>
                    <a:pt x="2142998" y="279400"/>
                  </a:lnTo>
                  <a:lnTo>
                    <a:pt x="2149348" y="273050"/>
                  </a:lnTo>
                  <a:lnTo>
                    <a:pt x="2155705" y="273050"/>
                  </a:lnTo>
                  <a:lnTo>
                    <a:pt x="2155825" y="63500"/>
                  </a:lnTo>
                  <a:close/>
                </a:path>
                <a:path w="2187575" h="558800">
                  <a:moveTo>
                    <a:pt x="2149348" y="0"/>
                  </a:moveTo>
                  <a:lnTo>
                    <a:pt x="2111248" y="76200"/>
                  </a:lnTo>
                  <a:lnTo>
                    <a:pt x="2142998" y="76200"/>
                  </a:lnTo>
                  <a:lnTo>
                    <a:pt x="2142998" y="63500"/>
                  </a:lnTo>
                  <a:lnTo>
                    <a:pt x="2181098" y="63500"/>
                  </a:lnTo>
                  <a:lnTo>
                    <a:pt x="2149348" y="0"/>
                  </a:lnTo>
                  <a:close/>
                </a:path>
                <a:path w="2187575" h="558800">
                  <a:moveTo>
                    <a:pt x="2181098" y="63500"/>
                  </a:moveTo>
                  <a:lnTo>
                    <a:pt x="2155825" y="63500"/>
                  </a:lnTo>
                  <a:lnTo>
                    <a:pt x="2155817" y="76200"/>
                  </a:lnTo>
                  <a:lnTo>
                    <a:pt x="2187448" y="76200"/>
                  </a:lnTo>
                  <a:lnTo>
                    <a:pt x="2181098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06600" y="3355975"/>
              <a:ext cx="2421255" cy="327025"/>
            </a:xfrm>
            <a:custGeom>
              <a:avLst/>
              <a:gdLst/>
              <a:ahLst/>
              <a:cxnLst/>
              <a:rect l="l" t="t" r="r" b="b"/>
              <a:pathLst>
                <a:path w="2421254" h="327025">
                  <a:moveTo>
                    <a:pt x="2408174" y="163449"/>
                  </a:moveTo>
                  <a:lnTo>
                    <a:pt x="2408174" y="327025"/>
                  </a:lnTo>
                  <a:lnTo>
                    <a:pt x="2420874" y="327025"/>
                  </a:lnTo>
                  <a:lnTo>
                    <a:pt x="2420874" y="169799"/>
                  </a:lnTo>
                  <a:lnTo>
                    <a:pt x="2414524" y="169799"/>
                  </a:lnTo>
                  <a:lnTo>
                    <a:pt x="2408174" y="163449"/>
                  </a:lnTo>
                  <a:close/>
                </a:path>
                <a:path w="2421254" h="3270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69799"/>
                  </a:lnTo>
                  <a:lnTo>
                    <a:pt x="2408174" y="169799"/>
                  </a:lnTo>
                  <a:lnTo>
                    <a:pt x="2408174" y="163449"/>
                  </a:lnTo>
                  <a:lnTo>
                    <a:pt x="44450" y="163449"/>
                  </a:lnTo>
                  <a:lnTo>
                    <a:pt x="38100" y="157099"/>
                  </a:lnTo>
                  <a:lnTo>
                    <a:pt x="44450" y="157099"/>
                  </a:lnTo>
                  <a:lnTo>
                    <a:pt x="44450" y="63500"/>
                  </a:lnTo>
                  <a:close/>
                </a:path>
                <a:path w="2421254" h="327025">
                  <a:moveTo>
                    <a:pt x="2420874" y="157099"/>
                  </a:moveTo>
                  <a:lnTo>
                    <a:pt x="44450" y="157099"/>
                  </a:lnTo>
                  <a:lnTo>
                    <a:pt x="44450" y="163449"/>
                  </a:lnTo>
                  <a:lnTo>
                    <a:pt x="2408174" y="163449"/>
                  </a:lnTo>
                  <a:lnTo>
                    <a:pt x="2414524" y="169799"/>
                  </a:lnTo>
                  <a:lnTo>
                    <a:pt x="2420874" y="169799"/>
                  </a:lnTo>
                  <a:lnTo>
                    <a:pt x="2420874" y="157099"/>
                  </a:lnTo>
                  <a:close/>
                </a:path>
                <a:path w="2421254" h="327025">
                  <a:moveTo>
                    <a:pt x="44450" y="157099"/>
                  </a:moveTo>
                  <a:lnTo>
                    <a:pt x="38100" y="157099"/>
                  </a:lnTo>
                  <a:lnTo>
                    <a:pt x="44450" y="163449"/>
                  </a:lnTo>
                  <a:lnTo>
                    <a:pt x="44450" y="157099"/>
                  </a:lnTo>
                  <a:close/>
                </a:path>
                <a:path w="2421254" h="3270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21254" h="3270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0075" y="3340100"/>
              <a:ext cx="76200" cy="342900"/>
            </a:xfrm>
            <a:custGeom>
              <a:avLst/>
              <a:gdLst/>
              <a:ahLst/>
              <a:cxnLst/>
              <a:rect l="l" t="t" r="r" b="b"/>
              <a:pathLst>
                <a:path w="76200" h="342900">
                  <a:moveTo>
                    <a:pt x="31750" y="165100"/>
                  </a:moveTo>
                  <a:lnTo>
                    <a:pt x="4825" y="165100"/>
                  </a:lnTo>
                  <a:lnTo>
                    <a:pt x="4699" y="342900"/>
                  </a:lnTo>
                  <a:lnTo>
                    <a:pt x="17525" y="342900"/>
                  </a:lnTo>
                  <a:lnTo>
                    <a:pt x="17525" y="177800"/>
                  </a:lnTo>
                  <a:lnTo>
                    <a:pt x="11049" y="177800"/>
                  </a:lnTo>
                  <a:lnTo>
                    <a:pt x="17525" y="171450"/>
                  </a:lnTo>
                  <a:lnTo>
                    <a:pt x="31750" y="171450"/>
                  </a:lnTo>
                  <a:lnTo>
                    <a:pt x="31750" y="165100"/>
                  </a:lnTo>
                  <a:close/>
                </a:path>
                <a:path w="76200" h="342900">
                  <a:moveTo>
                    <a:pt x="17525" y="171450"/>
                  </a:moveTo>
                  <a:lnTo>
                    <a:pt x="11049" y="177800"/>
                  </a:lnTo>
                  <a:lnTo>
                    <a:pt x="17525" y="177800"/>
                  </a:lnTo>
                  <a:lnTo>
                    <a:pt x="17525" y="171450"/>
                  </a:lnTo>
                  <a:close/>
                </a:path>
                <a:path w="76200" h="342900">
                  <a:moveTo>
                    <a:pt x="44450" y="165100"/>
                  </a:moveTo>
                  <a:lnTo>
                    <a:pt x="38100" y="165100"/>
                  </a:lnTo>
                  <a:lnTo>
                    <a:pt x="31750" y="171450"/>
                  </a:lnTo>
                  <a:lnTo>
                    <a:pt x="17525" y="171450"/>
                  </a:lnTo>
                  <a:lnTo>
                    <a:pt x="17525" y="177800"/>
                  </a:lnTo>
                  <a:lnTo>
                    <a:pt x="44450" y="177800"/>
                  </a:lnTo>
                  <a:lnTo>
                    <a:pt x="44450" y="165100"/>
                  </a:lnTo>
                  <a:close/>
                </a:path>
                <a:path w="76200" h="3429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71450"/>
                  </a:lnTo>
                  <a:lnTo>
                    <a:pt x="38100" y="165100"/>
                  </a:lnTo>
                  <a:lnTo>
                    <a:pt x="44450" y="165100"/>
                  </a:lnTo>
                  <a:lnTo>
                    <a:pt x="44450" y="63500"/>
                  </a:lnTo>
                  <a:close/>
                </a:path>
                <a:path w="76200" h="3429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429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74850" y="2425700"/>
              <a:ext cx="76200" cy="1651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92548" y="1663700"/>
              <a:ext cx="76200" cy="1079500"/>
            </a:xfrm>
            <a:custGeom>
              <a:avLst/>
              <a:gdLst/>
              <a:ahLst/>
              <a:cxnLst/>
              <a:rect l="l" t="t" r="r" b="b"/>
              <a:pathLst>
                <a:path w="76200" h="1079500">
                  <a:moveTo>
                    <a:pt x="49275" y="539750"/>
                  </a:moveTo>
                  <a:lnTo>
                    <a:pt x="49275" y="1079500"/>
                  </a:lnTo>
                  <a:lnTo>
                    <a:pt x="61975" y="1079500"/>
                  </a:lnTo>
                  <a:lnTo>
                    <a:pt x="61975" y="546100"/>
                  </a:lnTo>
                  <a:lnTo>
                    <a:pt x="55625" y="546100"/>
                  </a:lnTo>
                  <a:lnTo>
                    <a:pt x="49275" y="539750"/>
                  </a:lnTo>
                  <a:close/>
                </a:path>
                <a:path w="76200" h="10795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46100"/>
                  </a:lnTo>
                  <a:lnTo>
                    <a:pt x="49275" y="546100"/>
                  </a:lnTo>
                  <a:lnTo>
                    <a:pt x="49275" y="539750"/>
                  </a:lnTo>
                  <a:lnTo>
                    <a:pt x="44450" y="539750"/>
                  </a:lnTo>
                  <a:lnTo>
                    <a:pt x="38100" y="533400"/>
                  </a:lnTo>
                  <a:lnTo>
                    <a:pt x="44450" y="533400"/>
                  </a:lnTo>
                  <a:lnTo>
                    <a:pt x="44450" y="63500"/>
                  </a:lnTo>
                  <a:close/>
                </a:path>
                <a:path w="76200" h="1079500">
                  <a:moveTo>
                    <a:pt x="61975" y="533400"/>
                  </a:moveTo>
                  <a:lnTo>
                    <a:pt x="44450" y="533400"/>
                  </a:lnTo>
                  <a:lnTo>
                    <a:pt x="44450" y="539750"/>
                  </a:lnTo>
                  <a:lnTo>
                    <a:pt x="49275" y="539750"/>
                  </a:lnTo>
                  <a:lnTo>
                    <a:pt x="55625" y="546100"/>
                  </a:lnTo>
                  <a:lnTo>
                    <a:pt x="61975" y="546100"/>
                  </a:lnTo>
                  <a:lnTo>
                    <a:pt x="61975" y="533400"/>
                  </a:lnTo>
                  <a:close/>
                </a:path>
                <a:path w="76200" h="1079500">
                  <a:moveTo>
                    <a:pt x="44450" y="533400"/>
                  </a:moveTo>
                  <a:lnTo>
                    <a:pt x="38100" y="533400"/>
                  </a:lnTo>
                  <a:lnTo>
                    <a:pt x="44450" y="539750"/>
                  </a:lnTo>
                  <a:lnTo>
                    <a:pt x="44450" y="533400"/>
                  </a:lnTo>
                  <a:close/>
                </a:path>
                <a:path w="76200" h="10795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0795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5715000" y="2362200"/>
              <a:ext cx="1732280" cy="765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spc="5" dirty="0">
                  <a:latin typeface="Tahoma"/>
                  <a:cs typeface="Tahoma"/>
                </a:rPr>
                <a:t>16</a:t>
              </a:r>
              <a:endParaRPr sz="1100">
                <a:latin typeface="Tahoma"/>
                <a:cs typeface="Tahoma"/>
              </a:endParaRPr>
            </a:p>
            <a:p>
              <a:pPr marL="92710" marR="81915" indent="-1905"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MENOR COSTO </a:t>
              </a:r>
              <a:r>
                <a:rPr sz="1100" b="1" spc="-5" dirty="0">
                  <a:latin typeface="Tahoma"/>
                  <a:cs typeface="Tahoma"/>
                </a:rPr>
                <a:t>POR  MANIPULACIÓN </a:t>
              </a:r>
              <a:r>
                <a:rPr sz="1100" b="1" dirty="0">
                  <a:latin typeface="Tahoma"/>
                  <a:cs typeface="Tahoma"/>
                </a:rPr>
                <a:t>DE  </a:t>
              </a:r>
              <a:r>
                <a:rPr sz="1100" b="1" spc="-5" dirty="0">
                  <a:latin typeface="Tahoma"/>
                  <a:cs typeface="Tahoma"/>
                </a:rPr>
                <a:t>FRUTA</a:t>
              </a:r>
              <a:r>
                <a:rPr sz="1100" b="1" spc="-105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DETERIORADA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419600" y="3127375"/>
              <a:ext cx="2200275" cy="406400"/>
            </a:xfrm>
            <a:custGeom>
              <a:avLst/>
              <a:gdLst/>
              <a:ahLst/>
              <a:cxnLst/>
              <a:rect l="l" t="t" r="r" b="b"/>
              <a:pathLst>
                <a:path w="2200275" h="406400">
                  <a:moveTo>
                    <a:pt x="2155825" y="393700"/>
                  </a:moveTo>
                  <a:lnTo>
                    <a:pt x="0" y="393700"/>
                  </a:lnTo>
                  <a:lnTo>
                    <a:pt x="0" y="406400"/>
                  </a:lnTo>
                  <a:lnTo>
                    <a:pt x="2168525" y="406400"/>
                  </a:lnTo>
                  <a:lnTo>
                    <a:pt x="2168525" y="400050"/>
                  </a:lnTo>
                  <a:lnTo>
                    <a:pt x="2155825" y="400050"/>
                  </a:lnTo>
                  <a:lnTo>
                    <a:pt x="2155825" y="393700"/>
                  </a:lnTo>
                  <a:close/>
                </a:path>
                <a:path w="2200275" h="406400">
                  <a:moveTo>
                    <a:pt x="2168525" y="63500"/>
                  </a:moveTo>
                  <a:lnTo>
                    <a:pt x="2155825" y="63500"/>
                  </a:lnTo>
                  <a:lnTo>
                    <a:pt x="2155825" y="400050"/>
                  </a:lnTo>
                  <a:lnTo>
                    <a:pt x="2162175" y="393700"/>
                  </a:lnTo>
                  <a:lnTo>
                    <a:pt x="2168525" y="393700"/>
                  </a:lnTo>
                  <a:lnTo>
                    <a:pt x="2168525" y="63500"/>
                  </a:lnTo>
                  <a:close/>
                </a:path>
                <a:path w="2200275" h="406400">
                  <a:moveTo>
                    <a:pt x="2168525" y="393700"/>
                  </a:moveTo>
                  <a:lnTo>
                    <a:pt x="2162175" y="393700"/>
                  </a:lnTo>
                  <a:lnTo>
                    <a:pt x="2155825" y="400050"/>
                  </a:lnTo>
                  <a:lnTo>
                    <a:pt x="2168525" y="400050"/>
                  </a:lnTo>
                  <a:lnTo>
                    <a:pt x="2168525" y="393700"/>
                  </a:lnTo>
                  <a:close/>
                </a:path>
                <a:path w="2200275" h="406400">
                  <a:moveTo>
                    <a:pt x="2162175" y="0"/>
                  </a:moveTo>
                  <a:lnTo>
                    <a:pt x="2124075" y="76200"/>
                  </a:lnTo>
                  <a:lnTo>
                    <a:pt x="2155825" y="76200"/>
                  </a:lnTo>
                  <a:lnTo>
                    <a:pt x="2155825" y="63500"/>
                  </a:lnTo>
                  <a:lnTo>
                    <a:pt x="2193925" y="63500"/>
                  </a:lnTo>
                  <a:lnTo>
                    <a:pt x="2162175" y="0"/>
                  </a:lnTo>
                  <a:close/>
                </a:path>
                <a:path w="2200275" h="406400">
                  <a:moveTo>
                    <a:pt x="2193925" y="63500"/>
                  </a:moveTo>
                  <a:lnTo>
                    <a:pt x="2168525" y="63500"/>
                  </a:lnTo>
                  <a:lnTo>
                    <a:pt x="2168525" y="76200"/>
                  </a:lnTo>
                  <a:lnTo>
                    <a:pt x="2200275" y="76200"/>
                  </a:lnTo>
                  <a:lnTo>
                    <a:pt x="2193925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92548" y="1663700"/>
              <a:ext cx="2195830" cy="698500"/>
            </a:xfrm>
            <a:custGeom>
              <a:avLst/>
              <a:gdLst/>
              <a:ahLst/>
              <a:cxnLst/>
              <a:rect l="l" t="t" r="r" b="b"/>
              <a:pathLst>
                <a:path w="2195829" h="698500">
                  <a:moveTo>
                    <a:pt x="2182876" y="349250"/>
                  </a:moveTo>
                  <a:lnTo>
                    <a:pt x="2182876" y="698500"/>
                  </a:lnTo>
                  <a:lnTo>
                    <a:pt x="2195576" y="698500"/>
                  </a:lnTo>
                  <a:lnTo>
                    <a:pt x="2195576" y="355600"/>
                  </a:lnTo>
                  <a:lnTo>
                    <a:pt x="2189226" y="355600"/>
                  </a:lnTo>
                  <a:lnTo>
                    <a:pt x="2182876" y="349250"/>
                  </a:lnTo>
                  <a:close/>
                </a:path>
                <a:path w="2195829" h="6985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55600"/>
                  </a:lnTo>
                  <a:lnTo>
                    <a:pt x="2182876" y="355600"/>
                  </a:lnTo>
                  <a:lnTo>
                    <a:pt x="2182876" y="349250"/>
                  </a:lnTo>
                  <a:lnTo>
                    <a:pt x="44450" y="349250"/>
                  </a:lnTo>
                  <a:lnTo>
                    <a:pt x="38100" y="342900"/>
                  </a:lnTo>
                  <a:lnTo>
                    <a:pt x="44450" y="342900"/>
                  </a:lnTo>
                  <a:lnTo>
                    <a:pt x="44450" y="63500"/>
                  </a:lnTo>
                  <a:close/>
                </a:path>
                <a:path w="2195829" h="698500">
                  <a:moveTo>
                    <a:pt x="2195576" y="342900"/>
                  </a:moveTo>
                  <a:lnTo>
                    <a:pt x="44450" y="342900"/>
                  </a:lnTo>
                  <a:lnTo>
                    <a:pt x="44450" y="349250"/>
                  </a:lnTo>
                  <a:lnTo>
                    <a:pt x="2182876" y="349250"/>
                  </a:lnTo>
                  <a:lnTo>
                    <a:pt x="2189226" y="355600"/>
                  </a:lnTo>
                  <a:lnTo>
                    <a:pt x="2195576" y="355600"/>
                  </a:lnTo>
                  <a:lnTo>
                    <a:pt x="2195576" y="342900"/>
                  </a:lnTo>
                  <a:close/>
                </a:path>
                <a:path w="2195829" h="698500">
                  <a:moveTo>
                    <a:pt x="44450" y="342900"/>
                  </a:moveTo>
                  <a:lnTo>
                    <a:pt x="38100" y="342900"/>
                  </a:lnTo>
                  <a:lnTo>
                    <a:pt x="44450" y="349250"/>
                  </a:lnTo>
                  <a:lnTo>
                    <a:pt x="44450" y="342900"/>
                  </a:lnTo>
                  <a:close/>
                </a:path>
                <a:path w="2195829" h="6985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195829" h="6985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1222375" y="1066800"/>
              <a:ext cx="1768475" cy="59690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55"/>
                </a:spcBef>
              </a:pPr>
              <a:r>
                <a:rPr sz="1100" b="1" spc="5" dirty="0">
                  <a:latin typeface="Tahoma"/>
                  <a:cs typeface="Tahoma"/>
                </a:rPr>
                <a:t>19</a:t>
              </a:r>
              <a:endParaRPr sz="1100">
                <a:latin typeface="Tahoma"/>
                <a:cs typeface="Tahoma"/>
              </a:endParaRPr>
            </a:p>
            <a:p>
              <a:pPr marL="92075" marR="83820" algn="ctr">
                <a:lnSpc>
                  <a:spcPct val="100000"/>
                </a:lnSpc>
              </a:pPr>
              <a:r>
                <a:rPr sz="1100" b="1" dirty="0">
                  <a:latin typeface="Tahoma"/>
                  <a:cs typeface="Tahoma"/>
                </a:rPr>
                <a:t>AMENAZAS A LA  </a:t>
              </a:r>
              <a:r>
                <a:rPr sz="1100" b="1" spc="-5" dirty="0">
                  <a:latin typeface="Tahoma"/>
                  <a:cs typeface="Tahoma"/>
                </a:rPr>
                <a:t>SALUD</a:t>
              </a:r>
              <a:r>
                <a:rPr sz="1100" b="1" spc="-85" dirty="0">
                  <a:latin typeface="Tahoma"/>
                  <a:cs typeface="Tahoma"/>
                </a:rPr>
                <a:t> </a:t>
              </a:r>
              <a:r>
                <a:rPr sz="1100" b="1" dirty="0">
                  <a:latin typeface="Tahoma"/>
                  <a:cs typeface="Tahoma"/>
                </a:rPr>
                <a:t>CONTROLADAS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006600" y="1663700"/>
              <a:ext cx="138175" cy="1651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6553200" y="4800600"/>
              <a:ext cx="2275205" cy="549275"/>
            </a:xfrm>
            <a:prstGeom prst="rect">
              <a:avLst/>
            </a:prstGeom>
            <a:solidFill>
              <a:srgbClr val="99FFCC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21</a:t>
              </a:r>
              <a:endParaRPr sz="1000">
                <a:latin typeface="Tahoma"/>
                <a:cs typeface="Tahoma"/>
              </a:endParaRPr>
            </a:p>
            <a:p>
              <a:pPr marL="95885" marR="88900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NUEVA </a:t>
              </a:r>
              <a:r>
                <a:rPr sz="1000" b="1" spc="-5" dirty="0">
                  <a:latin typeface="Tahoma"/>
                  <a:cs typeface="Tahoma"/>
                </a:rPr>
                <a:t>VARIEDAD </a:t>
              </a:r>
              <a:r>
                <a:rPr sz="1000" b="1" spc="-10" dirty="0">
                  <a:latin typeface="Tahoma"/>
                  <a:cs typeface="Tahoma"/>
                </a:rPr>
                <a:t>DE FRUTA  RESISTENTE </a:t>
              </a:r>
              <a:r>
                <a:rPr sz="1000" b="1" spc="-5" dirty="0">
                  <a:latin typeface="Tahoma"/>
                  <a:cs typeface="Tahoma"/>
                </a:rPr>
                <a:t>A LA</a:t>
              </a:r>
              <a:r>
                <a:rPr sz="1000" b="1" spc="-1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383023" y="4241800"/>
              <a:ext cx="3314700" cy="558800"/>
            </a:xfrm>
            <a:custGeom>
              <a:avLst/>
              <a:gdLst/>
              <a:ahLst/>
              <a:cxnLst/>
              <a:rect l="l" t="t" r="r" b="b"/>
              <a:pathLst>
                <a:path w="3314700" h="558800">
                  <a:moveTo>
                    <a:pt x="3302000" y="279400"/>
                  </a:moveTo>
                  <a:lnTo>
                    <a:pt x="3302000" y="558800"/>
                  </a:lnTo>
                  <a:lnTo>
                    <a:pt x="3314700" y="558800"/>
                  </a:lnTo>
                  <a:lnTo>
                    <a:pt x="3314700" y="285750"/>
                  </a:lnTo>
                  <a:lnTo>
                    <a:pt x="3308350" y="285750"/>
                  </a:lnTo>
                  <a:lnTo>
                    <a:pt x="3302000" y="279400"/>
                  </a:lnTo>
                  <a:close/>
                </a:path>
                <a:path w="3314700" h="558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85750"/>
                  </a:lnTo>
                  <a:lnTo>
                    <a:pt x="3302000" y="285750"/>
                  </a:lnTo>
                  <a:lnTo>
                    <a:pt x="3302000" y="279400"/>
                  </a:lnTo>
                  <a:lnTo>
                    <a:pt x="44450" y="279400"/>
                  </a:lnTo>
                  <a:lnTo>
                    <a:pt x="38100" y="273050"/>
                  </a:lnTo>
                  <a:lnTo>
                    <a:pt x="44450" y="273050"/>
                  </a:lnTo>
                  <a:lnTo>
                    <a:pt x="44450" y="63500"/>
                  </a:lnTo>
                  <a:close/>
                </a:path>
                <a:path w="3314700" h="558800">
                  <a:moveTo>
                    <a:pt x="3314700" y="273050"/>
                  </a:moveTo>
                  <a:lnTo>
                    <a:pt x="44450" y="273050"/>
                  </a:lnTo>
                  <a:lnTo>
                    <a:pt x="44450" y="279400"/>
                  </a:lnTo>
                  <a:lnTo>
                    <a:pt x="3302000" y="279400"/>
                  </a:lnTo>
                  <a:lnTo>
                    <a:pt x="3308350" y="285750"/>
                  </a:lnTo>
                  <a:lnTo>
                    <a:pt x="3314700" y="285750"/>
                  </a:lnTo>
                  <a:lnTo>
                    <a:pt x="3314700" y="273050"/>
                  </a:lnTo>
                  <a:close/>
                </a:path>
                <a:path w="3314700" h="558800">
                  <a:moveTo>
                    <a:pt x="44450" y="273050"/>
                  </a:moveTo>
                  <a:lnTo>
                    <a:pt x="38100" y="273050"/>
                  </a:lnTo>
                  <a:lnTo>
                    <a:pt x="44450" y="279400"/>
                  </a:lnTo>
                  <a:lnTo>
                    <a:pt x="44450" y="273050"/>
                  </a:lnTo>
                  <a:close/>
                </a:path>
                <a:path w="3314700" h="558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314700" h="558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2057400" y="5791200"/>
              <a:ext cx="1208405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8</a:t>
              </a:r>
              <a:endParaRPr sz="1000">
                <a:latin typeface="Tahoma"/>
                <a:cs typeface="Tahoma"/>
              </a:endParaRPr>
            </a:p>
            <a:p>
              <a:pPr marL="93345" marR="87630" indent="127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 RE</a:t>
              </a:r>
              <a:r>
                <a:rPr sz="1000" b="1" spc="-15" dirty="0">
                  <a:latin typeface="Tahoma"/>
                  <a:cs typeface="Tahoma"/>
                </a:rPr>
                <a:t>C</a:t>
              </a:r>
              <a:r>
                <a:rPr sz="1000" b="1" spc="-5" dirty="0">
                  <a:latin typeface="Tahoma"/>
                  <a:cs typeface="Tahoma"/>
                </a:rPr>
                <a:t>O</a:t>
              </a:r>
              <a:r>
                <a:rPr sz="1000" b="1" dirty="0">
                  <a:latin typeface="Tahoma"/>
                  <a:cs typeface="Tahoma"/>
                </a:rPr>
                <a:t>L</a:t>
              </a:r>
              <a:r>
                <a:rPr sz="1000" b="1" spc="-10" dirty="0">
                  <a:latin typeface="Tahoma"/>
                  <a:cs typeface="Tahoma"/>
                </a:rPr>
                <a:t>E</a:t>
              </a:r>
              <a:r>
                <a:rPr sz="1000" b="1" spc="-15" dirty="0">
                  <a:latin typeface="Tahoma"/>
                  <a:cs typeface="Tahoma"/>
                </a:rPr>
                <a:t>C</a:t>
              </a:r>
              <a:r>
                <a:rPr sz="1000" b="1" spc="-10" dirty="0">
                  <a:latin typeface="Tahoma"/>
                  <a:cs typeface="Tahoma"/>
                </a:rPr>
                <a:t>T</a:t>
              </a:r>
              <a:r>
                <a:rPr sz="1000" b="1" spc="-5" dirty="0">
                  <a:latin typeface="Tahoma"/>
                  <a:cs typeface="Tahoma"/>
                </a:rPr>
                <a:t>O</a:t>
              </a:r>
              <a:r>
                <a:rPr sz="1000" b="1" spc="-10" dirty="0">
                  <a:latin typeface="Tahoma"/>
                  <a:cs typeface="Tahoma"/>
                </a:rPr>
                <a:t>R</a:t>
              </a:r>
              <a:r>
                <a:rPr sz="1000" b="1" spc="-5" dirty="0">
                  <a:latin typeface="Tahoma"/>
                  <a:cs typeface="Tahoma"/>
                </a:rPr>
                <a:t>AS  </a:t>
              </a:r>
              <a:r>
                <a:rPr sz="1000" b="1" spc="-10" dirty="0">
                  <a:latin typeface="Tahoma"/>
                  <a:cs typeface="Tahoma"/>
                </a:rPr>
                <a:t>RENOVADAS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266825" y="5349875"/>
              <a:ext cx="1049655" cy="441325"/>
            </a:xfrm>
            <a:custGeom>
              <a:avLst/>
              <a:gdLst/>
              <a:ahLst/>
              <a:cxnLst/>
              <a:rect l="l" t="t" r="r" b="b"/>
              <a:pathLst>
                <a:path w="1049655" h="441325">
                  <a:moveTo>
                    <a:pt x="1004824" y="214249"/>
                  </a:moveTo>
                  <a:lnTo>
                    <a:pt x="0" y="214249"/>
                  </a:lnTo>
                  <a:lnTo>
                    <a:pt x="0" y="441325"/>
                  </a:lnTo>
                  <a:lnTo>
                    <a:pt x="12700" y="441325"/>
                  </a:lnTo>
                  <a:lnTo>
                    <a:pt x="12700" y="226949"/>
                  </a:lnTo>
                  <a:lnTo>
                    <a:pt x="6350" y="226949"/>
                  </a:lnTo>
                  <a:lnTo>
                    <a:pt x="12700" y="220599"/>
                  </a:lnTo>
                  <a:lnTo>
                    <a:pt x="1004824" y="220599"/>
                  </a:lnTo>
                  <a:lnTo>
                    <a:pt x="1004824" y="214249"/>
                  </a:lnTo>
                  <a:close/>
                </a:path>
                <a:path w="1049655" h="441325">
                  <a:moveTo>
                    <a:pt x="12700" y="220599"/>
                  </a:moveTo>
                  <a:lnTo>
                    <a:pt x="6350" y="226949"/>
                  </a:lnTo>
                  <a:lnTo>
                    <a:pt x="12700" y="226949"/>
                  </a:lnTo>
                  <a:lnTo>
                    <a:pt x="12700" y="220599"/>
                  </a:lnTo>
                  <a:close/>
                </a:path>
                <a:path w="1049655" h="441325">
                  <a:moveTo>
                    <a:pt x="1017524" y="214249"/>
                  </a:moveTo>
                  <a:lnTo>
                    <a:pt x="1011174" y="214249"/>
                  </a:lnTo>
                  <a:lnTo>
                    <a:pt x="1004824" y="220599"/>
                  </a:lnTo>
                  <a:lnTo>
                    <a:pt x="12700" y="220599"/>
                  </a:lnTo>
                  <a:lnTo>
                    <a:pt x="12700" y="226949"/>
                  </a:lnTo>
                  <a:lnTo>
                    <a:pt x="1017524" y="226949"/>
                  </a:lnTo>
                  <a:lnTo>
                    <a:pt x="1017524" y="214249"/>
                  </a:lnTo>
                  <a:close/>
                </a:path>
                <a:path w="1049655" h="441325">
                  <a:moveTo>
                    <a:pt x="1017524" y="63500"/>
                  </a:moveTo>
                  <a:lnTo>
                    <a:pt x="1004824" y="63500"/>
                  </a:lnTo>
                  <a:lnTo>
                    <a:pt x="1004824" y="220599"/>
                  </a:lnTo>
                  <a:lnTo>
                    <a:pt x="1011174" y="214249"/>
                  </a:lnTo>
                  <a:lnTo>
                    <a:pt x="1017524" y="214249"/>
                  </a:lnTo>
                  <a:lnTo>
                    <a:pt x="1017524" y="63500"/>
                  </a:lnTo>
                  <a:close/>
                </a:path>
                <a:path w="1049655" h="441325">
                  <a:moveTo>
                    <a:pt x="1011174" y="0"/>
                  </a:moveTo>
                  <a:lnTo>
                    <a:pt x="973074" y="76200"/>
                  </a:lnTo>
                  <a:lnTo>
                    <a:pt x="1004824" y="76200"/>
                  </a:lnTo>
                  <a:lnTo>
                    <a:pt x="1004824" y="63500"/>
                  </a:lnTo>
                  <a:lnTo>
                    <a:pt x="1042924" y="63500"/>
                  </a:lnTo>
                  <a:lnTo>
                    <a:pt x="1011174" y="0"/>
                  </a:lnTo>
                  <a:close/>
                </a:path>
                <a:path w="1049655" h="441325">
                  <a:moveTo>
                    <a:pt x="1042924" y="63500"/>
                  </a:moveTo>
                  <a:lnTo>
                    <a:pt x="1017524" y="63500"/>
                  </a:lnTo>
                  <a:lnTo>
                    <a:pt x="1017524" y="76200"/>
                  </a:lnTo>
                  <a:lnTo>
                    <a:pt x="1049274" y="76200"/>
                  </a:lnTo>
                  <a:lnTo>
                    <a:pt x="1042924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39898" y="5349875"/>
              <a:ext cx="428625" cy="441325"/>
            </a:xfrm>
            <a:custGeom>
              <a:avLst/>
              <a:gdLst/>
              <a:ahLst/>
              <a:cxnLst/>
              <a:rect l="l" t="t" r="r" b="b"/>
              <a:pathLst>
                <a:path w="428625" h="441325">
                  <a:moveTo>
                    <a:pt x="415925" y="220599"/>
                  </a:moveTo>
                  <a:lnTo>
                    <a:pt x="415925" y="441325"/>
                  </a:lnTo>
                  <a:lnTo>
                    <a:pt x="428625" y="441325"/>
                  </a:lnTo>
                  <a:lnTo>
                    <a:pt x="428625" y="226949"/>
                  </a:lnTo>
                  <a:lnTo>
                    <a:pt x="422275" y="226949"/>
                  </a:lnTo>
                  <a:lnTo>
                    <a:pt x="415925" y="220599"/>
                  </a:lnTo>
                  <a:close/>
                </a:path>
                <a:path w="428625" h="4413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6949"/>
                  </a:lnTo>
                  <a:lnTo>
                    <a:pt x="415925" y="226949"/>
                  </a:lnTo>
                  <a:lnTo>
                    <a:pt x="415925" y="220599"/>
                  </a:lnTo>
                  <a:lnTo>
                    <a:pt x="44450" y="220599"/>
                  </a:lnTo>
                  <a:lnTo>
                    <a:pt x="38100" y="214249"/>
                  </a:lnTo>
                  <a:lnTo>
                    <a:pt x="44450" y="214249"/>
                  </a:lnTo>
                  <a:lnTo>
                    <a:pt x="44450" y="63500"/>
                  </a:lnTo>
                  <a:close/>
                </a:path>
                <a:path w="428625" h="441325">
                  <a:moveTo>
                    <a:pt x="428625" y="214249"/>
                  </a:moveTo>
                  <a:lnTo>
                    <a:pt x="44450" y="214249"/>
                  </a:lnTo>
                  <a:lnTo>
                    <a:pt x="44450" y="220599"/>
                  </a:lnTo>
                  <a:lnTo>
                    <a:pt x="415925" y="220599"/>
                  </a:lnTo>
                  <a:lnTo>
                    <a:pt x="422275" y="226949"/>
                  </a:lnTo>
                  <a:lnTo>
                    <a:pt x="428625" y="226949"/>
                  </a:lnTo>
                  <a:lnTo>
                    <a:pt x="428625" y="214249"/>
                  </a:lnTo>
                  <a:close/>
                </a:path>
                <a:path w="428625" h="441325">
                  <a:moveTo>
                    <a:pt x="44450" y="214249"/>
                  </a:moveTo>
                  <a:lnTo>
                    <a:pt x="38100" y="214249"/>
                  </a:lnTo>
                  <a:lnTo>
                    <a:pt x="44450" y="220599"/>
                  </a:lnTo>
                  <a:lnTo>
                    <a:pt x="44450" y="214249"/>
                  </a:lnTo>
                  <a:close/>
                </a:path>
                <a:path w="428625" h="4413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28625" h="4413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609600" y="5791200"/>
              <a:ext cx="1325880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13</a:t>
              </a:r>
              <a:endParaRPr sz="1000">
                <a:latin typeface="Tahoma"/>
                <a:cs typeface="Tahoma"/>
              </a:endParaRPr>
            </a:p>
            <a:p>
              <a:pPr marL="94615" marR="8763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MANTENIMIENTO  ADECUADO DE  </a:t>
              </a:r>
              <a:r>
                <a:rPr sz="1000" b="1" spc="-5" dirty="0">
                  <a:latin typeface="Tahoma"/>
                  <a:cs typeface="Tahoma"/>
                </a:rPr>
                <a:t>COSECHADORAS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3640201" y="5765800"/>
              <a:ext cx="1538605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3</a:t>
              </a:r>
              <a:endParaRPr sz="1000">
                <a:latin typeface="Tahoma"/>
                <a:cs typeface="Tahoma"/>
              </a:endParaRPr>
            </a:p>
            <a:p>
              <a:pPr marL="92075" marR="124460" indent="41275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 CAPACITADOS</a:t>
              </a:r>
              <a:r>
                <a:rPr sz="1000" b="1" spc="-5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PARA 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403725" y="5349875"/>
              <a:ext cx="733425" cy="415925"/>
            </a:xfrm>
            <a:custGeom>
              <a:avLst/>
              <a:gdLst/>
              <a:ahLst/>
              <a:cxnLst/>
              <a:rect l="l" t="t" r="r" b="b"/>
              <a:pathLst>
                <a:path w="733425" h="415925">
                  <a:moveTo>
                    <a:pt x="688975" y="201549"/>
                  </a:moveTo>
                  <a:lnTo>
                    <a:pt x="0" y="201549"/>
                  </a:lnTo>
                  <a:lnTo>
                    <a:pt x="0" y="415925"/>
                  </a:lnTo>
                  <a:lnTo>
                    <a:pt x="12700" y="415925"/>
                  </a:lnTo>
                  <a:lnTo>
                    <a:pt x="12700" y="214249"/>
                  </a:lnTo>
                  <a:lnTo>
                    <a:pt x="6350" y="214249"/>
                  </a:lnTo>
                  <a:lnTo>
                    <a:pt x="12700" y="207899"/>
                  </a:lnTo>
                  <a:lnTo>
                    <a:pt x="688975" y="207899"/>
                  </a:lnTo>
                  <a:lnTo>
                    <a:pt x="688975" y="201549"/>
                  </a:lnTo>
                  <a:close/>
                </a:path>
                <a:path w="733425" h="415925">
                  <a:moveTo>
                    <a:pt x="12700" y="207899"/>
                  </a:moveTo>
                  <a:lnTo>
                    <a:pt x="6350" y="214249"/>
                  </a:lnTo>
                  <a:lnTo>
                    <a:pt x="12700" y="214249"/>
                  </a:lnTo>
                  <a:lnTo>
                    <a:pt x="12700" y="207899"/>
                  </a:lnTo>
                  <a:close/>
                </a:path>
                <a:path w="733425" h="415925">
                  <a:moveTo>
                    <a:pt x="701675" y="201549"/>
                  </a:moveTo>
                  <a:lnTo>
                    <a:pt x="695325" y="201549"/>
                  </a:lnTo>
                  <a:lnTo>
                    <a:pt x="688975" y="207899"/>
                  </a:lnTo>
                  <a:lnTo>
                    <a:pt x="12700" y="207899"/>
                  </a:lnTo>
                  <a:lnTo>
                    <a:pt x="12700" y="214249"/>
                  </a:lnTo>
                  <a:lnTo>
                    <a:pt x="701675" y="214249"/>
                  </a:lnTo>
                  <a:lnTo>
                    <a:pt x="701675" y="201549"/>
                  </a:lnTo>
                  <a:close/>
                </a:path>
                <a:path w="733425" h="415925">
                  <a:moveTo>
                    <a:pt x="701675" y="63500"/>
                  </a:moveTo>
                  <a:lnTo>
                    <a:pt x="688975" y="63500"/>
                  </a:lnTo>
                  <a:lnTo>
                    <a:pt x="688975" y="207899"/>
                  </a:lnTo>
                  <a:lnTo>
                    <a:pt x="695325" y="201549"/>
                  </a:lnTo>
                  <a:lnTo>
                    <a:pt x="701675" y="201549"/>
                  </a:lnTo>
                  <a:lnTo>
                    <a:pt x="701675" y="63500"/>
                  </a:lnTo>
                  <a:close/>
                </a:path>
                <a:path w="733425" h="415925">
                  <a:moveTo>
                    <a:pt x="695325" y="0"/>
                  </a:moveTo>
                  <a:lnTo>
                    <a:pt x="657225" y="76200"/>
                  </a:lnTo>
                  <a:lnTo>
                    <a:pt x="688975" y="76200"/>
                  </a:lnTo>
                  <a:lnTo>
                    <a:pt x="688975" y="63500"/>
                  </a:lnTo>
                  <a:lnTo>
                    <a:pt x="727075" y="63500"/>
                  </a:lnTo>
                  <a:lnTo>
                    <a:pt x="695325" y="0"/>
                  </a:lnTo>
                  <a:close/>
                </a:path>
                <a:path w="733425" h="415925">
                  <a:moveTo>
                    <a:pt x="727075" y="63500"/>
                  </a:moveTo>
                  <a:lnTo>
                    <a:pt x="701675" y="63500"/>
                  </a:lnTo>
                  <a:lnTo>
                    <a:pt x="701675" y="76200"/>
                  </a:lnTo>
                  <a:lnTo>
                    <a:pt x="733425" y="76200"/>
                  </a:lnTo>
                  <a:lnTo>
                    <a:pt x="727075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5316601" y="5765800"/>
              <a:ext cx="1325880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17</a:t>
              </a:r>
              <a:endParaRPr sz="1000">
                <a:latin typeface="Tahoma"/>
                <a:cs typeface="Tahoma"/>
              </a:endParaRPr>
            </a:p>
            <a:p>
              <a:pPr marL="95250" marR="86995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MEJORADAS  TECNOLOGÍAS  DE</a:t>
              </a:r>
              <a:r>
                <a:rPr sz="1000" b="1" spc="-6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060950" y="5349875"/>
              <a:ext cx="925830" cy="415925"/>
            </a:xfrm>
            <a:custGeom>
              <a:avLst/>
              <a:gdLst/>
              <a:ahLst/>
              <a:cxnLst/>
              <a:rect l="l" t="t" r="r" b="b"/>
              <a:pathLst>
                <a:path w="925829" h="415925">
                  <a:moveTo>
                    <a:pt x="912749" y="207899"/>
                  </a:moveTo>
                  <a:lnTo>
                    <a:pt x="912749" y="415925"/>
                  </a:lnTo>
                  <a:lnTo>
                    <a:pt x="925449" y="415925"/>
                  </a:lnTo>
                  <a:lnTo>
                    <a:pt x="925449" y="214249"/>
                  </a:lnTo>
                  <a:lnTo>
                    <a:pt x="919099" y="214249"/>
                  </a:lnTo>
                  <a:lnTo>
                    <a:pt x="912749" y="207899"/>
                  </a:lnTo>
                  <a:close/>
                </a:path>
                <a:path w="925829" h="415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14249"/>
                  </a:lnTo>
                  <a:lnTo>
                    <a:pt x="912749" y="214249"/>
                  </a:lnTo>
                  <a:lnTo>
                    <a:pt x="912749" y="207899"/>
                  </a:lnTo>
                  <a:lnTo>
                    <a:pt x="44450" y="207899"/>
                  </a:lnTo>
                  <a:lnTo>
                    <a:pt x="38100" y="201549"/>
                  </a:lnTo>
                  <a:lnTo>
                    <a:pt x="44450" y="201549"/>
                  </a:lnTo>
                  <a:lnTo>
                    <a:pt x="44450" y="63500"/>
                  </a:lnTo>
                  <a:close/>
                </a:path>
                <a:path w="925829" h="415925">
                  <a:moveTo>
                    <a:pt x="925449" y="201549"/>
                  </a:moveTo>
                  <a:lnTo>
                    <a:pt x="44450" y="201549"/>
                  </a:lnTo>
                  <a:lnTo>
                    <a:pt x="44450" y="207899"/>
                  </a:lnTo>
                  <a:lnTo>
                    <a:pt x="912749" y="207899"/>
                  </a:lnTo>
                  <a:lnTo>
                    <a:pt x="919099" y="214249"/>
                  </a:lnTo>
                  <a:lnTo>
                    <a:pt x="925449" y="214249"/>
                  </a:lnTo>
                  <a:lnTo>
                    <a:pt x="925449" y="201549"/>
                  </a:lnTo>
                  <a:close/>
                </a:path>
                <a:path w="925829" h="415925">
                  <a:moveTo>
                    <a:pt x="44450" y="201549"/>
                  </a:moveTo>
                  <a:lnTo>
                    <a:pt x="38100" y="201549"/>
                  </a:lnTo>
                  <a:lnTo>
                    <a:pt x="44450" y="207899"/>
                  </a:lnTo>
                  <a:lnTo>
                    <a:pt x="44450" y="201549"/>
                  </a:lnTo>
                  <a:close/>
                </a:path>
                <a:path w="925829" h="415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25829" h="415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781800" y="5791200"/>
              <a:ext cx="1374775" cy="7016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18</a:t>
              </a:r>
              <a:endParaRPr sz="1000">
                <a:latin typeface="Tahoma"/>
                <a:cs typeface="Tahoma"/>
              </a:endParaRPr>
            </a:p>
            <a:p>
              <a:pPr marL="94615" marR="85090" indent="-4254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INCENTIVOS  </a:t>
              </a:r>
              <a:r>
                <a:rPr sz="1000" b="1" spc="-5" dirty="0">
                  <a:latin typeface="Tahoma"/>
                  <a:cs typeface="Tahoma"/>
                </a:rPr>
                <a:t>ADECUADOS</a:t>
              </a:r>
              <a:r>
                <a:rPr sz="1000" b="1" spc="-70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PARA 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5060950" y="5349875"/>
              <a:ext cx="2414905" cy="441325"/>
            </a:xfrm>
            <a:custGeom>
              <a:avLst/>
              <a:gdLst/>
              <a:ahLst/>
              <a:cxnLst/>
              <a:rect l="l" t="t" r="r" b="b"/>
              <a:pathLst>
                <a:path w="2414904" h="441325">
                  <a:moveTo>
                    <a:pt x="2401824" y="220599"/>
                  </a:moveTo>
                  <a:lnTo>
                    <a:pt x="2401824" y="441325"/>
                  </a:lnTo>
                  <a:lnTo>
                    <a:pt x="2414524" y="441325"/>
                  </a:lnTo>
                  <a:lnTo>
                    <a:pt x="2414524" y="226949"/>
                  </a:lnTo>
                  <a:lnTo>
                    <a:pt x="2408174" y="226949"/>
                  </a:lnTo>
                  <a:lnTo>
                    <a:pt x="2401824" y="220599"/>
                  </a:lnTo>
                  <a:close/>
                </a:path>
                <a:path w="2414904" h="4413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6949"/>
                  </a:lnTo>
                  <a:lnTo>
                    <a:pt x="2401824" y="226949"/>
                  </a:lnTo>
                  <a:lnTo>
                    <a:pt x="2401824" y="220599"/>
                  </a:lnTo>
                  <a:lnTo>
                    <a:pt x="44450" y="220599"/>
                  </a:lnTo>
                  <a:lnTo>
                    <a:pt x="38100" y="214249"/>
                  </a:lnTo>
                  <a:lnTo>
                    <a:pt x="44450" y="214249"/>
                  </a:lnTo>
                  <a:lnTo>
                    <a:pt x="44450" y="63500"/>
                  </a:lnTo>
                  <a:close/>
                </a:path>
                <a:path w="2414904" h="441325">
                  <a:moveTo>
                    <a:pt x="2414524" y="214249"/>
                  </a:moveTo>
                  <a:lnTo>
                    <a:pt x="44450" y="214249"/>
                  </a:lnTo>
                  <a:lnTo>
                    <a:pt x="44450" y="220599"/>
                  </a:lnTo>
                  <a:lnTo>
                    <a:pt x="2401824" y="220599"/>
                  </a:lnTo>
                  <a:lnTo>
                    <a:pt x="2408174" y="226949"/>
                  </a:lnTo>
                  <a:lnTo>
                    <a:pt x="2414524" y="226949"/>
                  </a:lnTo>
                  <a:lnTo>
                    <a:pt x="2414524" y="214249"/>
                  </a:lnTo>
                  <a:close/>
                </a:path>
                <a:path w="2414904" h="441325">
                  <a:moveTo>
                    <a:pt x="44450" y="214249"/>
                  </a:moveTo>
                  <a:lnTo>
                    <a:pt x="38100" y="214249"/>
                  </a:lnTo>
                  <a:lnTo>
                    <a:pt x="44450" y="220599"/>
                  </a:lnTo>
                  <a:lnTo>
                    <a:pt x="44450" y="214249"/>
                  </a:lnTo>
                  <a:close/>
                </a:path>
                <a:path w="2414904" h="4413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14904" h="4413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62230" y="119380"/>
            <a:ext cx="72726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Versión </a:t>
            </a:r>
            <a:r>
              <a:rPr sz="2800" spc="-10" dirty="0"/>
              <a:t>ajustada del Arbol </a:t>
            </a:r>
            <a:r>
              <a:rPr sz="2800" spc="-5" dirty="0"/>
              <a:t>de </a:t>
            </a:r>
            <a:r>
              <a:rPr sz="2800" spc="-10" dirty="0"/>
              <a:t>Objetivos</a:t>
            </a:r>
            <a:r>
              <a:rPr sz="2800" spc="175" dirty="0"/>
              <a:t> </a:t>
            </a:r>
            <a:r>
              <a:rPr sz="2800" spc="-10" dirty="0"/>
              <a:t>(2)</a:t>
            </a:r>
            <a:endParaRPr sz="2800" dirty="0"/>
          </a:p>
        </p:txBody>
      </p:sp>
      <p:grpSp>
        <p:nvGrpSpPr>
          <p:cNvPr id="41" name="Grupo 40"/>
          <p:cNvGrpSpPr/>
          <p:nvPr/>
        </p:nvGrpSpPr>
        <p:grpSpPr>
          <a:xfrm>
            <a:off x="152400" y="914400"/>
            <a:ext cx="8651875" cy="5832475"/>
            <a:chOff x="228600" y="762000"/>
            <a:chExt cx="8651875" cy="5832475"/>
          </a:xfrm>
        </p:grpSpPr>
        <p:sp>
          <p:nvSpPr>
            <p:cNvPr id="2" name="object 2"/>
            <p:cNvSpPr/>
            <p:nvPr/>
          </p:nvSpPr>
          <p:spPr>
            <a:xfrm>
              <a:off x="3497579" y="3351276"/>
              <a:ext cx="1842515" cy="6766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594353" y="3386709"/>
              <a:ext cx="1657350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1</a:t>
              </a:r>
              <a:endParaRPr sz="1000">
                <a:latin typeface="Tahoma"/>
                <a:cs typeface="Tahoma"/>
              </a:endParaRPr>
            </a:p>
            <a:p>
              <a:pPr marL="12065" marR="508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NO </a:t>
              </a:r>
              <a:r>
                <a:rPr sz="1000" b="1" spc="-10" dirty="0">
                  <a:latin typeface="Tahoma"/>
                  <a:cs typeface="Tahoma"/>
                </a:rPr>
                <a:t>DETERIORADA  EN </a:t>
              </a:r>
              <a:r>
                <a:rPr sz="1000" b="1" spc="-5" dirty="0">
                  <a:latin typeface="Tahoma"/>
                  <a:cs typeface="Tahoma"/>
                </a:rPr>
                <a:t>LA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575050" y="762000"/>
              <a:ext cx="1698625" cy="5492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000" b="1" spc="-5" dirty="0">
                  <a:latin typeface="Tahoma"/>
                  <a:cs typeface="Tahoma"/>
                </a:rPr>
                <a:t>2</a:t>
              </a:r>
              <a:endParaRPr sz="1000">
                <a:latin typeface="Tahoma"/>
                <a:cs typeface="Tahoma"/>
              </a:endParaRPr>
            </a:p>
            <a:p>
              <a:pPr marL="95250" marR="88900" indent="-635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MAYORES </a:t>
              </a:r>
              <a:r>
                <a:rPr sz="1000" b="1" spc="-10" dirty="0">
                  <a:latin typeface="Tahoma"/>
                  <a:cs typeface="Tahoma"/>
                </a:rPr>
                <a:t>INGRESOS  DE </a:t>
              </a:r>
              <a:r>
                <a:rPr sz="1000" b="1" spc="-5" dirty="0">
                  <a:latin typeface="Tahoma"/>
                  <a:cs typeface="Tahoma"/>
                </a:rPr>
                <a:t>LOS</a:t>
              </a:r>
              <a:r>
                <a:rPr sz="1000" b="1" spc="-3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AGRICULTORES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581400" y="2438400"/>
              <a:ext cx="1720850" cy="549275"/>
            </a:xfrm>
            <a:custGeom>
              <a:avLst/>
              <a:gdLst/>
              <a:ahLst/>
              <a:cxnLst/>
              <a:rect l="l" t="t" r="r" b="b"/>
              <a:pathLst>
                <a:path w="1720850" h="549275">
                  <a:moveTo>
                    <a:pt x="0" y="549275"/>
                  </a:moveTo>
                  <a:lnTo>
                    <a:pt x="1720850" y="549275"/>
                  </a:lnTo>
                  <a:lnTo>
                    <a:pt x="1720850" y="0"/>
                  </a:lnTo>
                  <a:lnTo>
                    <a:pt x="0" y="0"/>
                  </a:lnTo>
                  <a:lnTo>
                    <a:pt x="0" y="549275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3581400" y="2472054"/>
              <a:ext cx="1720850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5</a:t>
              </a:r>
              <a:endParaRPr sz="1000">
                <a:latin typeface="Tahoma"/>
                <a:cs typeface="Tahoma"/>
              </a:endParaRPr>
            </a:p>
            <a:p>
              <a:pPr marL="93980" marR="87630" indent="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DISMINUIDAS  PÉRDIDAS 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COSECHA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905000" y="5181600"/>
              <a:ext cx="1101725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8</a:t>
              </a:r>
              <a:endParaRPr sz="900">
                <a:latin typeface="Tahoma"/>
                <a:cs typeface="Tahoma"/>
              </a:endParaRPr>
            </a:p>
            <a:p>
              <a:pPr marL="90170" marR="8318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MAQUINAS  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ECOLECT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  </a:t>
              </a:r>
              <a:r>
                <a:rPr sz="900" b="1" spc="-5" dirty="0">
                  <a:latin typeface="Tahoma"/>
                  <a:cs typeface="Tahoma"/>
                </a:rPr>
                <a:t>RENOVADAS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09600" y="4343400"/>
              <a:ext cx="1965325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94615" marR="8826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RECOLECTORAS  </a:t>
              </a:r>
              <a:r>
                <a:rPr sz="1000" b="1" spc="-5" dirty="0">
                  <a:latin typeface="Tahoma"/>
                  <a:cs typeface="Tahoma"/>
                </a:rPr>
                <a:t>CON </a:t>
              </a:r>
              <a:r>
                <a:rPr sz="1000" b="1" spc="-10" dirty="0">
                  <a:latin typeface="Tahoma"/>
                  <a:cs typeface="Tahoma"/>
                </a:rPr>
                <a:t>BUEN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DESEMPEÑO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810000" y="4343400"/>
              <a:ext cx="1816100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95250" marR="87630" indent="-1270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</a:t>
              </a:r>
              <a:r>
                <a:rPr sz="1000" b="1" spc="-10" dirty="0">
                  <a:latin typeface="Tahoma"/>
                  <a:cs typeface="Tahoma"/>
                </a:rPr>
                <a:t>TRATAN </a:t>
              </a:r>
              <a:r>
                <a:rPr sz="1000" b="1" spc="-5" dirty="0">
                  <a:latin typeface="Tahoma"/>
                  <a:cs typeface="Tahoma"/>
                </a:rPr>
                <a:t>BIEN  LA </a:t>
              </a: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AL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200400" y="5181600"/>
              <a:ext cx="139700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3</a:t>
              </a:r>
              <a:endParaRPr sz="900">
                <a:latin typeface="Tahoma"/>
                <a:cs typeface="Tahoma"/>
              </a:endParaRPr>
            </a:p>
            <a:p>
              <a:pPr marL="92710" marR="118110" indent="32384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OBREROS  CAPACITADOS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203325" y="2286000"/>
              <a:ext cx="1671955" cy="7016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0"/>
                </a:spcBef>
              </a:pPr>
              <a:r>
                <a:rPr sz="1000" b="1" spc="-5" dirty="0">
                  <a:latin typeface="Tahoma"/>
                  <a:cs typeface="Tahoma"/>
                </a:rPr>
                <a:t>15</a:t>
              </a:r>
              <a:endParaRPr sz="1000">
                <a:latin typeface="Tahoma"/>
                <a:cs typeface="Tahoma"/>
              </a:endParaRPr>
            </a:p>
            <a:p>
              <a:pPr marL="238125" marR="257810" indent="-1016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DISMINUCIÓN DE  C</a:t>
              </a:r>
              <a:r>
                <a:rPr sz="1000" b="1" spc="-5" dirty="0">
                  <a:latin typeface="Tahoma"/>
                  <a:cs typeface="Tahoma"/>
                </a:rPr>
                <a:t>ONTAMINA</a:t>
              </a:r>
              <a:r>
                <a:rPr sz="1000" b="1" spc="-10" dirty="0">
                  <a:latin typeface="Tahoma"/>
                  <a:cs typeface="Tahoma"/>
                </a:rPr>
                <a:t>CIÓN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POR </a:t>
              </a:r>
              <a:r>
                <a:rPr sz="1000" b="1" spc="-10" dirty="0">
                  <a:latin typeface="Tahoma"/>
                  <a:cs typeface="Tahoma"/>
                </a:rPr>
                <a:t>FRUTAS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DAÑADAS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1076325" y="1524000"/>
              <a:ext cx="1860550" cy="5492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000" b="1" spc="-5" dirty="0">
                  <a:latin typeface="Tahoma"/>
                  <a:cs typeface="Tahoma"/>
                </a:rPr>
                <a:t>6</a:t>
              </a:r>
              <a:endParaRPr sz="1000">
                <a:latin typeface="Tahoma"/>
                <a:cs typeface="Tahoma"/>
              </a:endParaRPr>
            </a:p>
            <a:p>
              <a:pPr marL="93345" marR="88265" indent="190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DISMINUCIÓN DE  </a:t>
              </a:r>
              <a:r>
                <a:rPr sz="1000" b="1" spc="-5" dirty="0">
                  <a:latin typeface="Tahoma"/>
                  <a:cs typeface="Tahoma"/>
                </a:rPr>
                <a:t>PLAGAS Y MALOS</a:t>
              </a:r>
              <a:r>
                <a:rPr sz="1000" b="1" spc="-4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OLORES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554099" y="4892675"/>
              <a:ext cx="106680" cy="1063625"/>
            </a:xfrm>
            <a:custGeom>
              <a:avLst/>
              <a:gdLst/>
              <a:ahLst/>
              <a:cxnLst/>
              <a:rect l="l" t="t" r="r" b="b"/>
              <a:pathLst>
                <a:path w="106680" h="1063625">
                  <a:moveTo>
                    <a:pt x="93725" y="531749"/>
                  </a:moveTo>
                  <a:lnTo>
                    <a:pt x="93725" y="1063625"/>
                  </a:lnTo>
                  <a:lnTo>
                    <a:pt x="106425" y="1063625"/>
                  </a:lnTo>
                  <a:lnTo>
                    <a:pt x="106425" y="538099"/>
                  </a:lnTo>
                  <a:lnTo>
                    <a:pt x="100075" y="538099"/>
                  </a:lnTo>
                  <a:lnTo>
                    <a:pt x="93725" y="531749"/>
                  </a:lnTo>
                  <a:close/>
                </a:path>
                <a:path w="106680" h="10636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8099"/>
                  </a:lnTo>
                  <a:lnTo>
                    <a:pt x="93725" y="538099"/>
                  </a:lnTo>
                  <a:lnTo>
                    <a:pt x="93725" y="531749"/>
                  </a:lnTo>
                  <a:lnTo>
                    <a:pt x="44450" y="531749"/>
                  </a:lnTo>
                  <a:lnTo>
                    <a:pt x="38100" y="525399"/>
                  </a:lnTo>
                  <a:lnTo>
                    <a:pt x="44450" y="525399"/>
                  </a:lnTo>
                  <a:lnTo>
                    <a:pt x="44450" y="63500"/>
                  </a:lnTo>
                  <a:close/>
                </a:path>
                <a:path w="106680" h="1063625">
                  <a:moveTo>
                    <a:pt x="106425" y="525399"/>
                  </a:moveTo>
                  <a:lnTo>
                    <a:pt x="44450" y="525399"/>
                  </a:lnTo>
                  <a:lnTo>
                    <a:pt x="44450" y="531749"/>
                  </a:lnTo>
                  <a:lnTo>
                    <a:pt x="93725" y="531749"/>
                  </a:lnTo>
                  <a:lnTo>
                    <a:pt x="100075" y="538099"/>
                  </a:lnTo>
                  <a:lnTo>
                    <a:pt x="106425" y="538099"/>
                  </a:lnTo>
                  <a:lnTo>
                    <a:pt x="106425" y="525399"/>
                  </a:lnTo>
                  <a:close/>
                </a:path>
                <a:path w="106680" h="1063625">
                  <a:moveTo>
                    <a:pt x="44450" y="525399"/>
                  </a:moveTo>
                  <a:lnTo>
                    <a:pt x="38100" y="525399"/>
                  </a:lnTo>
                  <a:lnTo>
                    <a:pt x="44450" y="531749"/>
                  </a:lnTo>
                  <a:lnTo>
                    <a:pt x="44450" y="525399"/>
                  </a:lnTo>
                  <a:close/>
                </a:path>
                <a:path w="106680" h="10636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6680" h="10636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54099" y="4892675"/>
              <a:ext cx="908050" cy="288925"/>
            </a:xfrm>
            <a:custGeom>
              <a:avLst/>
              <a:gdLst/>
              <a:ahLst/>
              <a:cxnLst/>
              <a:rect l="l" t="t" r="r" b="b"/>
              <a:pathLst>
                <a:path w="908050" h="288925">
                  <a:moveTo>
                    <a:pt x="895350" y="144399"/>
                  </a:moveTo>
                  <a:lnTo>
                    <a:pt x="895350" y="288925"/>
                  </a:lnTo>
                  <a:lnTo>
                    <a:pt x="908050" y="288925"/>
                  </a:lnTo>
                  <a:lnTo>
                    <a:pt x="908050" y="150749"/>
                  </a:lnTo>
                  <a:lnTo>
                    <a:pt x="901700" y="150749"/>
                  </a:lnTo>
                  <a:lnTo>
                    <a:pt x="895350" y="144399"/>
                  </a:lnTo>
                  <a:close/>
                </a:path>
                <a:path w="908050" h="288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50749"/>
                  </a:lnTo>
                  <a:lnTo>
                    <a:pt x="895350" y="150749"/>
                  </a:lnTo>
                  <a:lnTo>
                    <a:pt x="895350" y="144399"/>
                  </a:lnTo>
                  <a:lnTo>
                    <a:pt x="44450" y="144399"/>
                  </a:lnTo>
                  <a:lnTo>
                    <a:pt x="38100" y="138049"/>
                  </a:lnTo>
                  <a:lnTo>
                    <a:pt x="44450" y="138049"/>
                  </a:lnTo>
                  <a:lnTo>
                    <a:pt x="44450" y="63500"/>
                  </a:lnTo>
                  <a:close/>
                </a:path>
                <a:path w="908050" h="288925">
                  <a:moveTo>
                    <a:pt x="908050" y="138049"/>
                  </a:moveTo>
                  <a:lnTo>
                    <a:pt x="44450" y="138049"/>
                  </a:lnTo>
                  <a:lnTo>
                    <a:pt x="44450" y="144399"/>
                  </a:lnTo>
                  <a:lnTo>
                    <a:pt x="895350" y="144399"/>
                  </a:lnTo>
                  <a:lnTo>
                    <a:pt x="901700" y="150749"/>
                  </a:lnTo>
                  <a:lnTo>
                    <a:pt x="908050" y="150749"/>
                  </a:lnTo>
                  <a:lnTo>
                    <a:pt x="908050" y="138049"/>
                  </a:lnTo>
                  <a:close/>
                </a:path>
                <a:path w="908050" h="288925">
                  <a:moveTo>
                    <a:pt x="44450" y="138049"/>
                  </a:moveTo>
                  <a:lnTo>
                    <a:pt x="38100" y="138049"/>
                  </a:lnTo>
                  <a:lnTo>
                    <a:pt x="44450" y="144399"/>
                  </a:lnTo>
                  <a:lnTo>
                    <a:pt x="44450" y="138049"/>
                  </a:lnTo>
                  <a:close/>
                </a:path>
                <a:path w="908050" h="288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08050" h="288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92550" y="4892675"/>
              <a:ext cx="863600" cy="288925"/>
            </a:xfrm>
            <a:custGeom>
              <a:avLst/>
              <a:gdLst/>
              <a:ahLst/>
              <a:cxnLst/>
              <a:rect l="l" t="t" r="r" b="b"/>
              <a:pathLst>
                <a:path w="863600" h="288925">
                  <a:moveTo>
                    <a:pt x="819150" y="138049"/>
                  </a:moveTo>
                  <a:lnTo>
                    <a:pt x="0" y="138049"/>
                  </a:lnTo>
                  <a:lnTo>
                    <a:pt x="0" y="288925"/>
                  </a:lnTo>
                  <a:lnTo>
                    <a:pt x="12700" y="288925"/>
                  </a:lnTo>
                  <a:lnTo>
                    <a:pt x="12700" y="150749"/>
                  </a:lnTo>
                  <a:lnTo>
                    <a:pt x="6350" y="150749"/>
                  </a:lnTo>
                  <a:lnTo>
                    <a:pt x="12700" y="144399"/>
                  </a:lnTo>
                  <a:lnTo>
                    <a:pt x="819150" y="144399"/>
                  </a:lnTo>
                  <a:lnTo>
                    <a:pt x="819150" y="138049"/>
                  </a:lnTo>
                  <a:close/>
                </a:path>
                <a:path w="863600" h="288925">
                  <a:moveTo>
                    <a:pt x="12700" y="144399"/>
                  </a:moveTo>
                  <a:lnTo>
                    <a:pt x="6350" y="150749"/>
                  </a:lnTo>
                  <a:lnTo>
                    <a:pt x="12700" y="150749"/>
                  </a:lnTo>
                  <a:lnTo>
                    <a:pt x="12700" y="144399"/>
                  </a:lnTo>
                  <a:close/>
                </a:path>
                <a:path w="863600" h="288925">
                  <a:moveTo>
                    <a:pt x="831850" y="138049"/>
                  </a:moveTo>
                  <a:lnTo>
                    <a:pt x="825500" y="138049"/>
                  </a:lnTo>
                  <a:lnTo>
                    <a:pt x="819150" y="144399"/>
                  </a:lnTo>
                  <a:lnTo>
                    <a:pt x="12700" y="144399"/>
                  </a:lnTo>
                  <a:lnTo>
                    <a:pt x="12700" y="150749"/>
                  </a:lnTo>
                  <a:lnTo>
                    <a:pt x="831850" y="150749"/>
                  </a:lnTo>
                  <a:lnTo>
                    <a:pt x="831850" y="138049"/>
                  </a:lnTo>
                  <a:close/>
                </a:path>
                <a:path w="863600" h="288925">
                  <a:moveTo>
                    <a:pt x="831850" y="63500"/>
                  </a:moveTo>
                  <a:lnTo>
                    <a:pt x="819150" y="63500"/>
                  </a:lnTo>
                  <a:lnTo>
                    <a:pt x="819150" y="144399"/>
                  </a:lnTo>
                  <a:lnTo>
                    <a:pt x="825500" y="138049"/>
                  </a:lnTo>
                  <a:lnTo>
                    <a:pt x="831850" y="138049"/>
                  </a:lnTo>
                  <a:lnTo>
                    <a:pt x="831850" y="63500"/>
                  </a:lnTo>
                  <a:close/>
                </a:path>
                <a:path w="863600" h="288925">
                  <a:moveTo>
                    <a:pt x="825500" y="0"/>
                  </a:moveTo>
                  <a:lnTo>
                    <a:pt x="787400" y="76200"/>
                  </a:lnTo>
                  <a:lnTo>
                    <a:pt x="819150" y="76200"/>
                  </a:lnTo>
                  <a:lnTo>
                    <a:pt x="819150" y="63500"/>
                  </a:lnTo>
                  <a:lnTo>
                    <a:pt x="857250" y="63500"/>
                  </a:lnTo>
                  <a:lnTo>
                    <a:pt x="825500" y="0"/>
                  </a:lnTo>
                  <a:close/>
                </a:path>
                <a:path w="863600" h="288925">
                  <a:moveTo>
                    <a:pt x="857250" y="63500"/>
                  </a:moveTo>
                  <a:lnTo>
                    <a:pt x="831850" y="63500"/>
                  </a:lnTo>
                  <a:lnTo>
                    <a:pt x="831850" y="76200"/>
                  </a:lnTo>
                  <a:lnTo>
                    <a:pt x="863600" y="76200"/>
                  </a:lnTo>
                  <a:lnTo>
                    <a:pt x="8572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84675" y="3911600"/>
              <a:ext cx="339725" cy="431800"/>
            </a:xfrm>
            <a:custGeom>
              <a:avLst/>
              <a:gdLst/>
              <a:ahLst/>
              <a:cxnLst/>
              <a:rect l="l" t="t" r="r" b="b"/>
              <a:pathLst>
                <a:path w="339725" h="431800">
                  <a:moveTo>
                    <a:pt x="327025" y="215900"/>
                  </a:moveTo>
                  <a:lnTo>
                    <a:pt x="327025" y="431800"/>
                  </a:lnTo>
                  <a:lnTo>
                    <a:pt x="339725" y="431800"/>
                  </a:lnTo>
                  <a:lnTo>
                    <a:pt x="339725" y="222250"/>
                  </a:lnTo>
                  <a:lnTo>
                    <a:pt x="333375" y="222250"/>
                  </a:lnTo>
                  <a:lnTo>
                    <a:pt x="327025" y="215900"/>
                  </a:lnTo>
                  <a:close/>
                </a:path>
                <a:path w="339725" h="431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2250"/>
                  </a:lnTo>
                  <a:lnTo>
                    <a:pt x="327025" y="222250"/>
                  </a:lnTo>
                  <a:lnTo>
                    <a:pt x="327025" y="215900"/>
                  </a:lnTo>
                  <a:lnTo>
                    <a:pt x="44450" y="215900"/>
                  </a:lnTo>
                  <a:lnTo>
                    <a:pt x="38100" y="209550"/>
                  </a:lnTo>
                  <a:lnTo>
                    <a:pt x="44450" y="209550"/>
                  </a:lnTo>
                  <a:lnTo>
                    <a:pt x="44450" y="63500"/>
                  </a:lnTo>
                  <a:close/>
                </a:path>
                <a:path w="339725" h="431800">
                  <a:moveTo>
                    <a:pt x="339725" y="209550"/>
                  </a:moveTo>
                  <a:lnTo>
                    <a:pt x="44450" y="209550"/>
                  </a:lnTo>
                  <a:lnTo>
                    <a:pt x="44450" y="215900"/>
                  </a:lnTo>
                  <a:lnTo>
                    <a:pt x="327025" y="215900"/>
                  </a:lnTo>
                  <a:lnTo>
                    <a:pt x="333375" y="222250"/>
                  </a:lnTo>
                  <a:lnTo>
                    <a:pt x="339725" y="222250"/>
                  </a:lnTo>
                  <a:lnTo>
                    <a:pt x="339725" y="209550"/>
                  </a:lnTo>
                  <a:close/>
                </a:path>
                <a:path w="339725" h="431800">
                  <a:moveTo>
                    <a:pt x="44450" y="209550"/>
                  </a:moveTo>
                  <a:lnTo>
                    <a:pt x="38100" y="209550"/>
                  </a:lnTo>
                  <a:lnTo>
                    <a:pt x="44450" y="215900"/>
                  </a:lnTo>
                  <a:lnTo>
                    <a:pt x="44450" y="209550"/>
                  </a:lnTo>
                  <a:close/>
                </a:path>
                <a:path w="339725" h="431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39725" h="431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85849" y="3911600"/>
              <a:ext cx="2875280" cy="431800"/>
            </a:xfrm>
            <a:custGeom>
              <a:avLst/>
              <a:gdLst/>
              <a:ahLst/>
              <a:cxnLst/>
              <a:rect l="l" t="t" r="r" b="b"/>
              <a:pathLst>
                <a:path w="2875279" h="431800">
                  <a:moveTo>
                    <a:pt x="2830576" y="209550"/>
                  </a:moveTo>
                  <a:lnTo>
                    <a:pt x="0" y="209550"/>
                  </a:lnTo>
                  <a:lnTo>
                    <a:pt x="0" y="431800"/>
                  </a:lnTo>
                  <a:lnTo>
                    <a:pt x="12700" y="431800"/>
                  </a:lnTo>
                  <a:lnTo>
                    <a:pt x="12700" y="222250"/>
                  </a:lnTo>
                  <a:lnTo>
                    <a:pt x="6350" y="222250"/>
                  </a:lnTo>
                  <a:lnTo>
                    <a:pt x="12700" y="215900"/>
                  </a:lnTo>
                  <a:lnTo>
                    <a:pt x="2830576" y="215900"/>
                  </a:lnTo>
                  <a:lnTo>
                    <a:pt x="2830576" y="209550"/>
                  </a:lnTo>
                  <a:close/>
                </a:path>
                <a:path w="2875279" h="431800">
                  <a:moveTo>
                    <a:pt x="12700" y="215900"/>
                  </a:moveTo>
                  <a:lnTo>
                    <a:pt x="6350" y="222250"/>
                  </a:lnTo>
                  <a:lnTo>
                    <a:pt x="12700" y="222250"/>
                  </a:lnTo>
                  <a:lnTo>
                    <a:pt x="12700" y="215900"/>
                  </a:lnTo>
                  <a:close/>
                </a:path>
                <a:path w="2875279" h="431800">
                  <a:moveTo>
                    <a:pt x="2843276" y="209550"/>
                  </a:moveTo>
                  <a:lnTo>
                    <a:pt x="2836926" y="209550"/>
                  </a:lnTo>
                  <a:lnTo>
                    <a:pt x="2830576" y="215900"/>
                  </a:lnTo>
                  <a:lnTo>
                    <a:pt x="12700" y="215900"/>
                  </a:lnTo>
                  <a:lnTo>
                    <a:pt x="12700" y="222250"/>
                  </a:lnTo>
                  <a:lnTo>
                    <a:pt x="2843276" y="222250"/>
                  </a:lnTo>
                  <a:lnTo>
                    <a:pt x="2843276" y="209550"/>
                  </a:lnTo>
                  <a:close/>
                </a:path>
                <a:path w="2875279" h="431800">
                  <a:moveTo>
                    <a:pt x="2843276" y="63500"/>
                  </a:moveTo>
                  <a:lnTo>
                    <a:pt x="2830576" y="63500"/>
                  </a:lnTo>
                  <a:lnTo>
                    <a:pt x="2830576" y="215900"/>
                  </a:lnTo>
                  <a:lnTo>
                    <a:pt x="2836926" y="209550"/>
                  </a:lnTo>
                  <a:lnTo>
                    <a:pt x="2843276" y="209550"/>
                  </a:lnTo>
                  <a:lnTo>
                    <a:pt x="2843276" y="63500"/>
                  </a:lnTo>
                  <a:close/>
                </a:path>
                <a:path w="2875279" h="431800">
                  <a:moveTo>
                    <a:pt x="2836926" y="0"/>
                  </a:moveTo>
                  <a:lnTo>
                    <a:pt x="2798826" y="76200"/>
                  </a:lnTo>
                  <a:lnTo>
                    <a:pt x="2830576" y="76200"/>
                  </a:lnTo>
                  <a:lnTo>
                    <a:pt x="2830576" y="63500"/>
                  </a:lnTo>
                  <a:lnTo>
                    <a:pt x="2868676" y="63500"/>
                  </a:lnTo>
                  <a:lnTo>
                    <a:pt x="2836926" y="0"/>
                  </a:lnTo>
                  <a:close/>
                </a:path>
                <a:path w="2875279" h="431800">
                  <a:moveTo>
                    <a:pt x="2868676" y="63500"/>
                  </a:moveTo>
                  <a:lnTo>
                    <a:pt x="2843276" y="63500"/>
                  </a:lnTo>
                  <a:lnTo>
                    <a:pt x="2843276" y="76200"/>
                  </a:lnTo>
                  <a:lnTo>
                    <a:pt x="2875026" y="76200"/>
                  </a:lnTo>
                  <a:lnTo>
                    <a:pt x="286867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1773" y="2987675"/>
              <a:ext cx="2427605" cy="365125"/>
            </a:xfrm>
            <a:custGeom>
              <a:avLst/>
              <a:gdLst/>
              <a:ahLst/>
              <a:cxnLst/>
              <a:rect l="l" t="t" r="r" b="b"/>
              <a:pathLst>
                <a:path w="2427604" h="365125">
                  <a:moveTo>
                    <a:pt x="2414651" y="182499"/>
                  </a:moveTo>
                  <a:lnTo>
                    <a:pt x="2414651" y="365125"/>
                  </a:lnTo>
                  <a:lnTo>
                    <a:pt x="2427351" y="365125"/>
                  </a:lnTo>
                  <a:lnTo>
                    <a:pt x="2427351" y="188849"/>
                  </a:lnTo>
                  <a:lnTo>
                    <a:pt x="2421001" y="188849"/>
                  </a:lnTo>
                  <a:lnTo>
                    <a:pt x="2414651" y="182499"/>
                  </a:lnTo>
                  <a:close/>
                </a:path>
                <a:path w="2427604" h="365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8849"/>
                  </a:lnTo>
                  <a:lnTo>
                    <a:pt x="2414651" y="188849"/>
                  </a:lnTo>
                  <a:lnTo>
                    <a:pt x="2414651" y="182499"/>
                  </a:lnTo>
                  <a:lnTo>
                    <a:pt x="44450" y="182499"/>
                  </a:lnTo>
                  <a:lnTo>
                    <a:pt x="38100" y="176149"/>
                  </a:lnTo>
                  <a:lnTo>
                    <a:pt x="44450" y="176149"/>
                  </a:lnTo>
                  <a:lnTo>
                    <a:pt x="44450" y="63500"/>
                  </a:lnTo>
                  <a:close/>
                </a:path>
                <a:path w="2427604" h="365125">
                  <a:moveTo>
                    <a:pt x="2427351" y="176149"/>
                  </a:moveTo>
                  <a:lnTo>
                    <a:pt x="44450" y="176149"/>
                  </a:lnTo>
                  <a:lnTo>
                    <a:pt x="44450" y="182499"/>
                  </a:lnTo>
                  <a:lnTo>
                    <a:pt x="2414651" y="182499"/>
                  </a:lnTo>
                  <a:lnTo>
                    <a:pt x="2421001" y="188849"/>
                  </a:lnTo>
                  <a:lnTo>
                    <a:pt x="2427351" y="188849"/>
                  </a:lnTo>
                  <a:lnTo>
                    <a:pt x="2427351" y="176149"/>
                  </a:lnTo>
                  <a:close/>
                </a:path>
                <a:path w="2427604" h="365125">
                  <a:moveTo>
                    <a:pt x="44450" y="176149"/>
                  </a:moveTo>
                  <a:lnTo>
                    <a:pt x="38100" y="176149"/>
                  </a:lnTo>
                  <a:lnTo>
                    <a:pt x="44450" y="182499"/>
                  </a:lnTo>
                  <a:lnTo>
                    <a:pt x="44450" y="176149"/>
                  </a:lnTo>
                  <a:close/>
                </a:path>
                <a:path w="2427604" h="365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27604" h="365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3725" y="2987675"/>
              <a:ext cx="76200" cy="365125"/>
            </a:xfrm>
            <a:custGeom>
              <a:avLst/>
              <a:gdLst/>
              <a:ahLst/>
              <a:cxnLst/>
              <a:rect l="l" t="t" r="r" b="b"/>
              <a:pathLst>
                <a:path w="76200" h="365125">
                  <a:moveTo>
                    <a:pt x="31750" y="176149"/>
                  </a:moveTo>
                  <a:lnTo>
                    <a:pt x="12700" y="176149"/>
                  </a:lnTo>
                  <a:lnTo>
                    <a:pt x="12700" y="365125"/>
                  </a:lnTo>
                  <a:lnTo>
                    <a:pt x="25400" y="365125"/>
                  </a:lnTo>
                  <a:lnTo>
                    <a:pt x="25400" y="188849"/>
                  </a:lnTo>
                  <a:lnTo>
                    <a:pt x="19050" y="188849"/>
                  </a:lnTo>
                  <a:lnTo>
                    <a:pt x="25400" y="182499"/>
                  </a:lnTo>
                  <a:lnTo>
                    <a:pt x="31750" y="182499"/>
                  </a:lnTo>
                  <a:lnTo>
                    <a:pt x="31750" y="176149"/>
                  </a:lnTo>
                  <a:close/>
                </a:path>
                <a:path w="76200" h="365125">
                  <a:moveTo>
                    <a:pt x="25400" y="182499"/>
                  </a:moveTo>
                  <a:lnTo>
                    <a:pt x="19050" y="188849"/>
                  </a:lnTo>
                  <a:lnTo>
                    <a:pt x="25400" y="188849"/>
                  </a:lnTo>
                  <a:lnTo>
                    <a:pt x="25400" y="182499"/>
                  </a:lnTo>
                  <a:close/>
                </a:path>
                <a:path w="76200" h="365125">
                  <a:moveTo>
                    <a:pt x="44450" y="176149"/>
                  </a:moveTo>
                  <a:lnTo>
                    <a:pt x="38100" y="176149"/>
                  </a:lnTo>
                  <a:lnTo>
                    <a:pt x="31750" y="182499"/>
                  </a:lnTo>
                  <a:lnTo>
                    <a:pt x="25400" y="182499"/>
                  </a:lnTo>
                  <a:lnTo>
                    <a:pt x="25400" y="188849"/>
                  </a:lnTo>
                  <a:lnTo>
                    <a:pt x="44450" y="188849"/>
                  </a:lnTo>
                  <a:lnTo>
                    <a:pt x="44450" y="176149"/>
                  </a:lnTo>
                  <a:close/>
                </a:path>
                <a:path w="76200" h="365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2499"/>
                  </a:lnTo>
                  <a:lnTo>
                    <a:pt x="38100" y="176149"/>
                  </a:lnTo>
                  <a:lnTo>
                    <a:pt x="44450" y="176149"/>
                  </a:lnTo>
                  <a:lnTo>
                    <a:pt x="44450" y="63500"/>
                  </a:lnTo>
                  <a:close/>
                </a:path>
                <a:path w="76200" h="365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65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68500" y="2073275"/>
              <a:ext cx="77724" cy="2127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86198" y="1311275"/>
              <a:ext cx="76200" cy="1127125"/>
            </a:xfrm>
            <a:custGeom>
              <a:avLst/>
              <a:gdLst/>
              <a:ahLst/>
              <a:cxnLst/>
              <a:rect l="l" t="t" r="r" b="b"/>
              <a:pathLst>
                <a:path w="76200" h="1127125">
                  <a:moveTo>
                    <a:pt x="49275" y="563499"/>
                  </a:moveTo>
                  <a:lnTo>
                    <a:pt x="49275" y="1127125"/>
                  </a:lnTo>
                  <a:lnTo>
                    <a:pt x="61975" y="1127125"/>
                  </a:lnTo>
                  <a:lnTo>
                    <a:pt x="61975" y="569849"/>
                  </a:lnTo>
                  <a:lnTo>
                    <a:pt x="55625" y="569849"/>
                  </a:lnTo>
                  <a:lnTo>
                    <a:pt x="49275" y="563499"/>
                  </a:lnTo>
                  <a:close/>
                </a:path>
                <a:path w="76200" h="1127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69849"/>
                  </a:lnTo>
                  <a:lnTo>
                    <a:pt x="49275" y="569849"/>
                  </a:lnTo>
                  <a:lnTo>
                    <a:pt x="49275" y="563499"/>
                  </a:lnTo>
                  <a:lnTo>
                    <a:pt x="44450" y="563499"/>
                  </a:lnTo>
                  <a:lnTo>
                    <a:pt x="38100" y="557149"/>
                  </a:lnTo>
                  <a:lnTo>
                    <a:pt x="44450" y="557149"/>
                  </a:lnTo>
                  <a:lnTo>
                    <a:pt x="44450" y="63500"/>
                  </a:lnTo>
                  <a:close/>
                </a:path>
                <a:path w="76200" h="1127125">
                  <a:moveTo>
                    <a:pt x="61975" y="557149"/>
                  </a:moveTo>
                  <a:lnTo>
                    <a:pt x="44450" y="557149"/>
                  </a:lnTo>
                  <a:lnTo>
                    <a:pt x="44450" y="563499"/>
                  </a:lnTo>
                  <a:lnTo>
                    <a:pt x="49275" y="563499"/>
                  </a:lnTo>
                  <a:lnTo>
                    <a:pt x="55625" y="569849"/>
                  </a:lnTo>
                  <a:lnTo>
                    <a:pt x="61975" y="569849"/>
                  </a:lnTo>
                  <a:lnTo>
                    <a:pt x="61975" y="557149"/>
                  </a:lnTo>
                  <a:close/>
                </a:path>
                <a:path w="76200" h="1127125">
                  <a:moveTo>
                    <a:pt x="44450" y="557149"/>
                  </a:moveTo>
                  <a:lnTo>
                    <a:pt x="38100" y="557149"/>
                  </a:lnTo>
                  <a:lnTo>
                    <a:pt x="44450" y="563499"/>
                  </a:lnTo>
                  <a:lnTo>
                    <a:pt x="44450" y="557149"/>
                  </a:lnTo>
                  <a:close/>
                </a:path>
                <a:path w="76200" h="1127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127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5780151" y="2057400"/>
              <a:ext cx="1590675" cy="7016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0"/>
                </a:spcBef>
              </a:pPr>
              <a:r>
                <a:rPr sz="1000" b="1" spc="-5" dirty="0">
                  <a:latin typeface="Tahoma"/>
                  <a:cs typeface="Tahoma"/>
                </a:rPr>
                <a:t>16</a:t>
              </a:r>
              <a:endParaRPr sz="1000">
                <a:latin typeface="Tahoma"/>
                <a:cs typeface="Tahoma"/>
              </a:endParaRPr>
            </a:p>
            <a:p>
              <a:pPr marL="95885" marR="88265" indent="68580" algn="just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MENOR </a:t>
              </a:r>
              <a:r>
                <a:rPr sz="1000" b="1" spc="-5" dirty="0">
                  <a:latin typeface="Tahoma"/>
                  <a:cs typeface="Tahoma"/>
                </a:rPr>
                <a:t>COSTO POR  </a:t>
              </a:r>
              <a:r>
                <a:rPr sz="1000" b="1" spc="-10" dirty="0">
                  <a:latin typeface="Tahoma"/>
                  <a:cs typeface="Tahoma"/>
                </a:rPr>
                <a:t>MANIPULACIÓN DE  FRUTA</a:t>
              </a:r>
              <a:r>
                <a:rPr sz="1000" b="1" spc="-4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DETERIORADA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413250" y="2759075"/>
              <a:ext cx="2200275" cy="406400"/>
            </a:xfrm>
            <a:custGeom>
              <a:avLst/>
              <a:gdLst/>
              <a:ahLst/>
              <a:cxnLst/>
              <a:rect l="l" t="t" r="r" b="b"/>
              <a:pathLst>
                <a:path w="2200275" h="406400">
                  <a:moveTo>
                    <a:pt x="2155825" y="393700"/>
                  </a:moveTo>
                  <a:lnTo>
                    <a:pt x="0" y="393700"/>
                  </a:lnTo>
                  <a:lnTo>
                    <a:pt x="0" y="406400"/>
                  </a:lnTo>
                  <a:lnTo>
                    <a:pt x="2168525" y="406400"/>
                  </a:lnTo>
                  <a:lnTo>
                    <a:pt x="2168525" y="400050"/>
                  </a:lnTo>
                  <a:lnTo>
                    <a:pt x="2155825" y="400050"/>
                  </a:lnTo>
                  <a:lnTo>
                    <a:pt x="2155825" y="393700"/>
                  </a:lnTo>
                  <a:close/>
                </a:path>
                <a:path w="2200275" h="406400">
                  <a:moveTo>
                    <a:pt x="2168525" y="63500"/>
                  </a:moveTo>
                  <a:lnTo>
                    <a:pt x="2155825" y="63500"/>
                  </a:lnTo>
                  <a:lnTo>
                    <a:pt x="2155825" y="400050"/>
                  </a:lnTo>
                  <a:lnTo>
                    <a:pt x="2162175" y="393700"/>
                  </a:lnTo>
                  <a:lnTo>
                    <a:pt x="2168525" y="393700"/>
                  </a:lnTo>
                  <a:lnTo>
                    <a:pt x="2168525" y="63500"/>
                  </a:lnTo>
                  <a:close/>
                </a:path>
                <a:path w="2200275" h="406400">
                  <a:moveTo>
                    <a:pt x="2168525" y="393700"/>
                  </a:moveTo>
                  <a:lnTo>
                    <a:pt x="2162175" y="393700"/>
                  </a:lnTo>
                  <a:lnTo>
                    <a:pt x="2155825" y="400050"/>
                  </a:lnTo>
                  <a:lnTo>
                    <a:pt x="2168525" y="400050"/>
                  </a:lnTo>
                  <a:lnTo>
                    <a:pt x="2168525" y="393700"/>
                  </a:lnTo>
                  <a:close/>
                </a:path>
                <a:path w="2200275" h="406400">
                  <a:moveTo>
                    <a:pt x="2162175" y="0"/>
                  </a:moveTo>
                  <a:lnTo>
                    <a:pt x="2124075" y="76200"/>
                  </a:lnTo>
                  <a:lnTo>
                    <a:pt x="2155825" y="76200"/>
                  </a:lnTo>
                  <a:lnTo>
                    <a:pt x="2155825" y="63500"/>
                  </a:lnTo>
                  <a:lnTo>
                    <a:pt x="2193925" y="63500"/>
                  </a:lnTo>
                  <a:lnTo>
                    <a:pt x="2162175" y="0"/>
                  </a:lnTo>
                  <a:close/>
                </a:path>
                <a:path w="2200275" h="406400">
                  <a:moveTo>
                    <a:pt x="2193925" y="63500"/>
                  </a:moveTo>
                  <a:lnTo>
                    <a:pt x="2168525" y="63500"/>
                  </a:lnTo>
                  <a:lnTo>
                    <a:pt x="2168525" y="76200"/>
                  </a:lnTo>
                  <a:lnTo>
                    <a:pt x="2200275" y="76200"/>
                  </a:lnTo>
                  <a:lnTo>
                    <a:pt x="2193925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86198" y="1311275"/>
              <a:ext cx="2195830" cy="746125"/>
            </a:xfrm>
            <a:custGeom>
              <a:avLst/>
              <a:gdLst/>
              <a:ahLst/>
              <a:cxnLst/>
              <a:rect l="l" t="t" r="r" b="b"/>
              <a:pathLst>
                <a:path w="2195829" h="746125">
                  <a:moveTo>
                    <a:pt x="2182876" y="372999"/>
                  </a:moveTo>
                  <a:lnTo>
                    <a:pt x="2182876" y="746125"/>
                  </a:lnTo>
                  <a:lnTo>
                    <a:pt x="2195576" y="746125"/>
                  </a:lnTo>
                  <a:lnTo>
                    <a:pt x="2195576" y="379349"/>
                  </a:lnTo>
                  <a:lnTo>
                    <a:pt x="2189226" y="379349"/>
                  </a:lnTo>
                  <a:lnTo>
                    <a:pt x="2182876" y="372999"/>
                  </a:lnTo>
                  <a:close/>
                </a:path>
                <a:path w="2195829" h="746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79349"/>
                  </a:lnTo>
                  <a:lnTo>
                    <a:pt x="2182876" y="379349"/>
                  </a:lnTo>
                  <a:lnTo>
                    <a:pt x="2182876" y="372999"/>
                  </a:lnTo>
                  <a:lnTo>
                    <a:pt x="44450" y="372999"/>
                  </a:lnTo>
                  <a:lnTo>
                    <a:pt x="38100" y="366649"/>
                  </a:lnTo>
                  <a:lnTo>
                    <a:pt x="44450" y="366649"/>
                  </a:lnTo>
                  <a:lnTo>
                    <a:pt x="44450" y="63500"/>
                  </a:lnTo>
                  <a:close/>
                </a:path>
                <a:path w="2195829" h="746125">
                  <a:moveTo>
                    <a:pt x="2195576" y="366649"/>
                  </a:moveTo>
                  <a:lnTo>
                    <a:pt x="44450" y="366649"/>
                  </a:lnTo>
                  <a:lnTo>
                    <a:pt x="44450" y="372999"/>
                  </a:lnTo>
                  <a:lnTo>
                    <a:pt x="2182876" y="372999"/>
                  </a:lnTo>
                  <a:lnTo>
                    <a:pt x="2189226" y="379349"/>
                  </a:lnTo>
                  <a:lnTo>
                    <a:pt x="2195576" y="379349"/>
                  </a:lnTo>
                  <a:lnTo>
                    <a:pt x="2195576" y="366649"/>
                  </a:lnTo>
                  <a:close/>
                </a:path>
                <a:path w="2195829" h="746125">
                  <a:moveTo>
                    <a:pt x="44450" y="366649"/>
                  </a:moveTo>
                  <a:lnTo>
                    <a:pt x="38100" y="366649"/>
                  </a:lnTo>
                  <a:lnTo>
                    <a:pt x="44450" y="372999"/>
                  </a:lnTo>
                  <a:lnTo>
                    <a:pt x="44450" y="366649"/>
                  </a:lnTo>
                  <a:close/>
                </a:path>
                <a:path w="2195829" h="746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195829" h="746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5105400" y="5181600"/>
              <a:ext cx="1208405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17</a:t>
              </a:r>
              <a:endParaRPr sz="900">
                <a:latin typeface="Tahoma"/>
                <a:cs typeface="Tahoma"/>
              </a:endParaRPr>
            </a:p>
            <a:p>
              <a:pPr marL="92710" marR="82550" indent="-254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MEJORADAS  TECNOLOGÍAS  DE</a:t>
              </a:r>
              <a:r>
                <a:rPr sz="900" b="1" spc="-5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679950" y="4892675"/>
              <a:ext cx="1036955" cy="288925"/>
            </a:xfrm>
            <a:custGeom>
              <a:avLst/>
              <a:gdLst/>
              <a:ahLst/>
              <a:cxnLst/>
              <a:rect l="l" t="t" r="r" b="b"/>
              <a:pathLst>
                <a:path w="1036954" h="288925">
                  <a:moveTo>
                    <a:pt x="1023874" y="144399"/>
                  </a:moveTo>
                  <a:lnTo>
                    <a:pt x="1023874" y="288925"/>
                  </a:lnTo>
                  <a:lnTo>
                    <a:pt x="1036574" y="288925"/>
                  </a:lnTo>
                  <a:lnTo>
                    <a:pt x="1036574" y="150749"/>
                  </a:lnTo>
                  <a:lnTo>
                    <a:pt x="1030224" y="150749"/>
                  </a:lnTo>
                  <a:lnTo>
                    <a:pt x="1023874" y="144399"/>
                  </a:lnTo>
                  <a:close/>
                </a:path>
                <a:path w="1036954" h="288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50749"/>
                  </a:lnTo>
                  <a:lnTo>
                    <a:pt x="1023874" y="150749"/>
                  </a:lnTo>
                  <a:lnTo>
                    <a:pt x="1023874" y="144399"/>
                  </a:lnTo>
                  <a:lnTo>
                    <a:pt x="44450" y="144399"/>
                  </a:lnTo>
                  <a:lnTo>
                    <a:pt x="38100" y="138049"/>
                  </a:lnTo>
                  <a:lnTo>
                    <a:pt x="44450" y="138049"/>
                  </a:lnTo>
                  <a:lnTo>
                    <a:pt x="44450" y="63500"/>
                  </a:lnTo>
                  <a:close/>
                </a:path>
                <a:path w="1036954" h="288925">
                  <a:moveTo>
                    <a:pt x="1036574" y="138049"/>
                  </a:moveTo>
                  <a:lnTo>
                    <a:pt x="44450" y="138049"/>
                  </a:lnTo>
                  <a:lnTo>
                    <a:pt x="44450" y="144399"/>
                  </a:lnTo>
                  <a:lnTo>
                    <a:pt x="1023874" y="144399"/>
                  </a:lnTo>
                  <a:lnTo>
                    <a:pt x="1030224" y="150749"/>
                  </a:lnTo>
                  <a:lnTo>
                    <a:pt x="1036574" y="150749"/>
                  </a:lnTo>
                  <a:lnTo>
                    <a:pt x="1036574" y="138049"/>
                  </a:lnTo>
                  <a:close/>
                </a:path>
                <a:path w="1036954" h="288925">
                  <a:moveTo>
                    <a:pt x="44450" y="138049"/>
                  </a:moveTo>
                  <a:lnTo>
                    <a:pt x="38100" y="138049"/>
                  </a:lnTo>
                  <a:lnTo>
                    <a:pt x="44450" y="144399"/>
                  </a:lnTo>
                  <a:lnTo>
                    <a:pt x="44450" y="138049"/>
                  </a:lnTo>
                  <a:close/>
                </a:path>
                <a:path w="1036954" h="288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36954" h="288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4267200" y="5943600"/>
              <a:ext cx="125095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18</a:t>
              </a:r>
              <a:endParaRPr sz="900">
                <a:latin typeface="Tahoma"/>
                <a:cs typeface="Tahoma"/>
              </a:endParaRPr>
            </a:p>
            <a:p>
              <a:pPr marL="92075" marR="85090" indent="-29209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INCENTIVOS  ADECUADOS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4679950" y="4892675"/>
              <a:ext cx="219075" cy="1050925"/>
            </a:xfrm>
            <a:custGeom>
              <a:avLst/>
              <a:gdLst/>
              <a:ahLst/>
              <a:cxnLst/>
              <a:rect l="l" t="t" r="r" b="b"/>
              <a:pathLst>
                <a:path w="219075" h="1050925">
                  <a:moveTo>
                    <a:pt x="206375" y="525399"/>
                  </a:moveTo>
                  <a:lnTo>
                    <a:pt x="206375" y="1050925"/>
                  </a:lnTo>
                  <a:lnTo>
                    <a:pt x="219075" y="1050925"/>
                  </a:lnTo>
                  <a:lnTo>
                    <a:pt x="219075" y="531749"/>
                  </a:lnTo>
                  <a:lnTo>
                    <a:pt x="212725" y="531749"/>
                  </a:lnTo>
                  <a:lnTo>
                    <a:pt x="206375" y="525399"/>
                  </a:lnTo>
                  <a:close/>
                </a:path>
                <a:path w="219075" h="1050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1749"/>
                  </a:lnTo>
                  <a:lnTo>
                    <a:pt x="206375" y="531749"/>
                  </a:lnTo>
                  <a:lnTo>
                    <a:pt x="206375" y="525399"/>
                  </a:lnTo>
                  <a:lnTo>
                    <a:pt x="44450" y="525399"/>
                  </a:lnTo>
                  <a:lnTo>
                    <a:pt x="38100" y="519049"/>
                  </a:lnTo>
                  <a:lnTo>
                    <a:pt x="44450" y="519049"/>
                  </a:lnTo>
                  <a:lnTo>
                    <a:pt x="44450" y="63500"/>
                  </a:lnTo>
                  <a:close/>
                </a:path>
                <a:path w="219075" h="1050925">
                  <a:moveTo>
                    <a:pt x="219075" y="519049"/>
                  </a:moveTo>
                  <a:lnTo>
                    <a:pt x="44450" y="519049"/>
                  </a:lnTo>
                  <a:lnTo>
                    <a:pt x="44450" y="525399"/>
                  </a:lnTo>
                  <a:lnTo>
                    <a:pt x="206375" y="525399"/>
                  </a:lnTo>
                  <a:lnTo>
                    <a:pt x="212725" y="531749"/>
                  </a:lnTo>
                  <a:lnTo>
                    <a:pt x="219075" y="531749"/>
                  </a:lnTo>
                  <a:lnTo>
                    <a:pt x="219075" y="519049"/>
                  </a:lnTo>
                  <a:close/>
                </a:path>
                <a:path w="219075" h="1050925">
                  <a:moveTo>
                    <a:pt x="44450" y="519049"/>
                  </a:moveTo>
                  <a:lnTo>
                    <a:pt x="38100" y="519049"/>
                  </a:lnTo>
                  <a:lnTo>
                    <a:pt x="44450" y="525399"/>
                  </a:lnTo>
                  <a:lnTo>
                    <a:pt x="44450" y="519049"/>
                  </a:lnTo>
                  <a:close/>
                </a:path>
                <a:path w="219075" h="1050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19075" h="1050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050925" y="5956300"/>
              <a:ext cx="120523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13</a:t>
              </a:r>
              <a:endParaRPr sz="900">
                <a:latin typeface="Tahoma"/>
                <a:cs typeface="Tahoma"/>
              </a:endParaRPr>
            </a:p>
            <a:p>
              <a:pPr marL="90170" marR="8191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</a:t>
              </a:r>
              <a:r>
                <a:rPr sz="900" b="1" dirty="0">
                  <a:latin typeface="Tahoma"/>
                  <a:cs typeface="Tahoma"/>
                </a:rPr>
                <a:t>NT</a:t>
              </a:r>
              <a:r>
                <a:rPr sz="900" b="1" spc="-5" dirty="0">
                  <a:latin typeface="Tahoma"/>
                  <a:cs typeface="Tahoma"/>
                </a:rPr>
                <a:t>ENIMIENTO  ADECUADO DE  COSECHADORAS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287525" y="762000"/>
              <a:ext cx="1627505" cy="5492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000" b="1" spc="-5" dirty="0">
                  <a:latin typeface="Tahoma"/>
                  <a:cs typeface="Tahoma"/>
                </a:rPr>
                <a:t>19</a:t>
              </a:r>
              <a:endParaRPr sz="1000">
                <a:latin typeface="Tahoma"/>
                <a:cs typeface="Tahoma"/>
              </a:endParaRPr>
            </a:p>
            <a:p>
              <a:pPr marL="94615" marR="89535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AMENAZAS A LA  SALUD</a:t>
              </a:r>
              <a:r>
                <a:rPr sz="1000" b="1" spc="-7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CONTROLADAS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2000250" y="1311275"/>
              <a:ext cx="139700" cy="21272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228600" y="5181600"/>
              <a:ext cx="1139825" cy="638175"/>
            </a:xfrm>
            <a:prstGeom prst="rect">
              <a:avLst/>
            </a:prstGeom>
            <a:solidFill>
              <a:srgbClr val="99FFCC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20</a:t>
              </a:r>
              <a:endParaRPr sz="900">
                <a:latin typeface="Tahoma"/>
                <a:cs typeface="Tahoma"/>
              </a:endParaRPr>
            </a:p>
            <a:p>
              <a:pPr marL="91440" marR="83820" indent="-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ADECUADO  DISEÑO DE LAS  C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EC</a:t>
              </a:r>
              <a:r>
                <a:rPr sz="900" b="1" spc="-10" dirty="0">
                  <a:latin typeface="Tahoma"/>
                  <a:cs typeface="Tahoma"/>
                </a:rPr>
                <a:t>H</a:t>
              </a:r>
              <a:r>
                <a:rPr sz="900" b="1" spc="-5" dirty="0">
                  <a:latin typeface="Tahoma"/>
                  <a:cs typeface="Tahoma"/>
                </a:rPr>
                <a:t>AD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92162" y="4892675"/>
              <a:ext cx="838200" cy="288925"/>
            </a:xfrm>
            <a:custGeom>
              <a:avLst/>
              <a:gdLst/>
              <a:ahLst/>
              <a:cxnLst/>
              <a:rect l="l" t="t" r="r" b="b"/>
              <a:pathLst>
                <a:path w="838200" h="288925">
                  <a:moveTo>
                    <a:pt x="793686" y="138049"/>
                  </a:moveTo>
                  <a:lnTo>
                    <a:pt x="0" y="138049"/>
                  </a:lnTo>
                  <a:lnTo>
                    <a:pt x="0" y="288925"/>
                  </a:lnTo>
                  <a:lnTo>
                    <a:pt x="12700" y="288925"/>
                  </a:lnTo>
                  <a:lnTo>
                    <a:pt x="12700" y="150749"/>
                  </a:lnTo>
                  <a:lnTo>
                    <a:pt x="6350" y="150749"/>
                  </a:lnTo>
                  <a:lnTo>
                    <a:pt x="12700" y="144399"/>
                  </a:lnTo>
                  <a:lnTo>
                    <a:pt x="793686" y="144399"/>
                  </a:lnTo>
                  <a:lnTo>
                    <a:pt x="793686" y="138049"/>
                  </a:lnTo>
                  <a:close/>
                </a:path>
                <a:path w="838200" h="288925">
                  <a:moveTo>
                    <a:pt x="12700" y="144399"/>
                  </a:moveTo>
                  <a:lnTo>
                    <a:pt x="6350" y="150749"/>
                  </a:lnTo>
                  <a:lnTo>
                    <a:pt x="12700" y="150749"/>
                  </a:lnTo>
                  <a:lnTo>
                    <a:pt x="12700" y="144399"/>
                  </a:lnTo>
                  <a:close/>
                </a:path>
                <a:path w="838200" h="288925">
                  <a:moveTo>
                    <a:pt x="806386" y="138049"/>
                  </a:moveTo>
                  <a:lnTo>
                    <a:pt x="800036" y="138049"/>
                  </a:lnTo>
                  <a:lnTo>
                    <a:pt x="793686" y="144399"/>
                  </a:lnTo>
                  <a:lnTo>
                    <a:pt x="12700" y="144399"/>
                  </a:lnTo>
                  <a:lnTo>
                    <a:pt x="12700" y="150749"/>
                  </a:lnTo>
                  <a:lnTo>
                    <a:pt x="806386" y="150749"/>
                  </a:lnTo>
                  <a:lnTo>
                    <a:pt x="806386" y="138049"/>
                  </a:lnTo>
                  <a:close/>
                </a:path>
                <a:path w="838200" h="288925">
                  <a:moveTo>
                    <a:pt x="806386" y="63500"/>
                  </a:moveTo>
                  <a:lnTo>
                    <a:pt x="793686" y="63500"/>
                  </a:lnTo>
                  <a:lnTo>
                    <a:pt x="793686" y="144399"/>
                  </a:lnTo>
                  <a:lnTo>
                    <a:pt x="800036" y="138049"/>
                  </a:lnTo>
                  <a:lnTo>
                    <a:pt x="806386" y="138049"/>
                  </a:lnTo>
                  <a:lnTo>
                    <a:pt x="806386" y="63500"/>
                  </a:lnTo>
                  <a:close/>
                </a:path>
                <a:path w="838200" h="288925">
                  <a:moveTo>
                    <a:pt x="800036" y="0"/>
                  </a:moveTo>
                  <a:lnTo>
                    <a:pt x="761936" y="76200"/>
                  </a:lnTo>
                  <a:lnTo>
                    <a:pt x="793686" y="76200"/>
                  </a:lnTo>
                  <a:lnTo>
                    <a:pt x="793686" y="63500"/>
                  </a:lnTo>
                  <a:lnTo>
                    <a:pt x="831786" y="63500"/>
                  </a:lnTo>
                  <a:lnTo>
                    <a:pt x="800036" y="0"/>
                  </a:lnTo>
                  <a:close/>
                </a:path>
                <a:path w="838200" h="288925">
                  <a:moveTo>
                    <a:pt x="831786" y="63500"/>
                  </a:moveTo>
                  <a:lnTo>
                    <a:pt x="806386" y="63500"/>
                  </a:lnTo>
                  <a:lnTo>
                    <a:pt x="806386" y="76200"/>
                  </a:lnTo>
                  <a:lnTo>
                    <a:pt x="838136" y="76200"/>
                  </a:lnTo>
                  <a:lnTo>
                    <a:pt x="83178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6400800" y="4343400"/>
              <a:ext cx="2275205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21</a:t>
              </a:r>
              <a:endParaRPr sz="1000">
                <a:latin typeface="Tahoma"/>
                <a:cs typeface="Tahoma"/>
              </a:endParaRPr>
            </a:p>
            <a:p>
              <a:pPr marL="95885" marR="88900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NUEVA </a:t>
              </a:r>
              <a:r>
                <a:rPr sz="1000" b="1" spc="-5" dirty="0">
                  <a:latin typeface="Tahoma"/>
                  <a:cs typeface="Tahoma"/>
                </a:rPr>
                <a:t>VARIEDAD </a:t>
              </a:r>
              <a:r>
                <a:rPr sz="1000" b="1" spc="-10" dirty="0">
                  <a:latin typeface="Tahoma"/>
                  <a:cs typeface="Tahoma"/>
                </a:rPr>
                <a:t>DE FRUTA  RESISTENTE </a:t>
              </a:r>
              <a:r>
                <a:rPr sz="1000" b="1" spc="-5" dirty="0">
                  <a:latin typeface="Tahoma"/>
                  <a:cs typeface="Tahoma"/>
                </a:rPr>
                <a:t>A LA</a:t>
              </a:r>
              <a:r>
                <a:rPr sz="1000" b="1" spc="-1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384675" y="3911600"/>
              <a:ext cx="3161030" cy="431800"/>
            </a:xfrm>
            <a:custGeom>
              <a:avLst/>
              <a:gdLst/>
              <a:ahLst/>
              <a:cxnLst/>
              <a:rect l="l" t="t" r="r" b="b"/>
              <a:pathLst>
                <a:path w="3161029" h="431800">
                  <a:moveTo>
                    <a:pt x="3147949" y="215900"/>
                  </a:moveTo>
                  <a:lnTo>
                    <a:pt x="3147949" y="431800"/>
                  </a:lnTo>
                  <a:lnTo>
                    <a:pt x="3160649" y="431800"/>
                  </a:lnTo>
                  <a:lnTo>
                    <a:pt x="3160649" y="222250"/>
                  </a:lnTo>
                  <a:lnTo>
                    <a:pt x="3154299" y="222250"/>
                  </a:lnTo>
                  <a:lnTo>
                    <a:pt x="3147949" y="215900"/>
                  </a:lnTo>
                  <a:close/>
                </a:path>
                <a:path w="3161029" h="431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2250"/>
                  </a:lnTo>
                  <a:lnTo>
                    <a:pt x="3147949" y="222250"/>
                  </a:lnTo>
                  <a:lnTo>
                    <a:pt x="3147949" y="215900"/>
                  </a:lnTo>
                  <a:lnTo>
                    <a:pt x="44450" y="215900"/>
                  </a:lnTo>
                  <a:lnTo>
                    <a:pt x="38100" y="209550"/>
                  </a:lnTo>
                  <a:lnTo>
                    <a:pt x="44450" y="209550"/>
                  </a:lnTo>
                  <a:lnTo>
                    <a:pt x="44450" y="63500"/>
                  </a:lnTo>
                  <a:close/>
                </a:path>
                <a:path w="3161029" h="431800">
                  <a:moveTo>
                    <a:pt x="3160649" y="209550"/>
                  </a:moveTo>
                  <a:lnTo>
                    <a:pt x="44450" y="209550"/>
                  </a:lnTo>
                  <a:lnTo>
                    <a:pt x="44450" y="215900"/>
                  </a:lnTo>
                  <a:lnTo>
                    <a:pt x="3147949" y="215900"/>
                  </a:lnTo>
                  <a:lnTo>
                    <a:pt x="3154299" y="222250"/>
                  </a:lnTo>
                  <a:lnTo>
                    <a:pt x="3160649" y="222250"/>
                  </a:lnTo>
                  <a:lnTo>
                    <a:pt x="3160649" y="209550"/>
                  </a:lnTo>
                  <a:close/>
                </a:path>
                <a:path w="3161029" h="431800">
                  <a:moveTo>
                    <a:pt x="44450" y="209550"/>
                  </a:moveTo>
                  <a:lnTo>
                    <a:pt x="38100" y="209550"/>
                  </a:lnTo>
                  <a:lnTo>
                    <a:pt x="44450" y="215900"/>
                  </a:lnTo>
                  <a:lnTo>
                    <a:pt x="44450" y="209550"/>
                  </a:lnTo>
                  <a:close/>
                </a:path>
                <a:path w="3161029" h="431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161029" h="431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6477000" y="5257800"/>
              <a:ext cx="1174750" cy="774700"/>
            </a:xfrm>
            <a:prstGeom prst="rect">
              <a:avLst/>
            </a:prstGeom>
            <a:solidFill>
              <a:srgbClr val="99FFCC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22</a:t>
              </a:r>
              <a:endParaRPr sz="900">
                <a:latin typeface="Tahoma"/>
                <a:cs typeface="Tahoma"/>
              </a:endParaRPr>
            </a:p>
            <a:p>
              <a:pPr marL="92710" marR="8445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ADAPTADAS </a:t>
              </a:r>
              <a:r>
                <a:rPr sz="900" b="1" dirty="0">
                  <a:latin typeface="Tahoma"/>
                  <a:cs typeface="Tahoma"/>
                </a:rPr>
                <a:t>A</a:t>
              </a:r>
              <a:r>
                <a:rPr sz="900" b="1" spc="-10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LA  REGIÓN OTRAS  VARIEDADES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7762875" y="5257800"/>
              <a:ext cx="1117600" cy="638175"/>
            </a:xfrm>
            <a:prstGeom prst="rect">
              <a:avLst/>
            </a:prstGeom>
            <a:solidFill>
              <a:srgbClr val="99FFCC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23</a:t>
              </a:r>
              <a:endParaRPr sz="900">
                <a:latin typeface="Tahoma"/>
                <a:cs typeface="Tahoma"/>
              </a:endParaRPr>
            </a:p>
            <a:p>
              <a:pPr marL="93345" marR="8191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DE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spc="-10" dirty="0">
                  <a:latin typeface="Tahoma"/>
                  <a:cs typeface="Tahoma"/>
                </a:rPr>
                <a:t>RR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5" dirty="0">
                  <a:latin typeface="Tahoma"/>
                  <a:cs typeface="Tahoma"/>
                </a:rPr>
                <a:t>LLADA  NUEVA  VARIEDAD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7058025" y="4892675"/>
              <a:ext cx="519430" cy="365125"/>
            </a:xfrm>
            <a:custGeom>
              <a:avLst/>
              <a:gdLst/>
              <a:ahLst/>
              <a:cxnLst/>
              <a:rect l="l" t="t" r="r" b="b"/>
              <a:pathLst>
                <a:path w="519429" h="365125">
                  <a:moveTo>
                    <a:pt x="474599" y="176149"/>
                  </a:moveTo>
                  <a:lnTo>
                    <a:pt x="0" y="176149"/>
                  </a:lnTo>
                  <a:lnTo>
                    <a:pt x="0" y="365125"/>
                  </a:lnTo>
                  <a:lnTo>
                    <a:pt x="12700" y="365125"/>
                  </a:lnTo>
                  <a:lnTo>
                    <a:pt x="12700" y="188849"/>
                  </a:lnTo>
                  <a:lnTo>
                    <a:pt x="6350" y="188849"/>
                  </a:lnTo>
                  <a:lnTo>
                    <a:pt x="12700" y="182499"/>
                  </a:lnTo>
                  <a:lnTo>
                    <a:pt x="474599" y="182499"/>
                  </a:lnTo>
                  <a:lnTo>
                    <a:pt x="474599" y="176149"/>
                  </a:lnTo>
                  <a:close/>
                </a:path>
                <a:path w="519429" h="365125">
                  <a:moveTo>
                    <a:pt x="12700" y="182499"/>
                  </a:moveTo>
                  <a:lnTo>
                    <a:pt x="6350" y="188849"/>
                  </a:lnTo>
                  <a:lnTo>
                    <a:pt x="12700" y="188849"/>
                  </a:lnTo>
                  <a:lnTo>
                    <a:pt x="12700" y="182499"/>
                  </a:lnTo>
                  <a:close/>
                </a:path>
                <a:path w="519429" h="365125">
                  <a:moveTo>
                    <a:pt x="487299" y="176149"/>
                  </a:moveTo>
                  <a:lnTo>
                    <a:pt x="480949" y="176149"/>
                  </a:lnTo>
                  <a:lnTo>
                    <a:pt x="474599" y="182499"/>
                  </a:lnTo>
                  <a:lnTo>
                    <a:pt x="12700" y="182499"/>
                  </a:lnTo>
                  <a:lnTo>
                    <a:pt x="12700" y="188849"/>
                  </a:lnTo>
                  <a:lnTo>
                    <a:pt x="487299" y="188849"/>
                  </a:lnTo>
                  <a:lnTo>
                    <a:pt x="487299" y="176149"/>
                  </a:lnTo>
                  <a:close/>
                </a:path>
                <a:path w="519429" h="365125">
                  <a:moveTo>
                    <a:pt x="487299" y="63500"/>
                  </a:moveTo>
                  <a:lnTo>
                    <a:pt x="474599" y="63500"/>
                  </a:lnTo>
                  <a:lnTo>
                    <a:pt x="474599" y="182499"/>
                  </a:lnTo>
                  <a:lnTo>
                    <a:pt x="480949" y="176149"/>
                  </a:lnTo>
                  <a:lnTo>
                    <a:pt x="487299" y="176149"/>
                  </a:lnTo>
                  <a:lnTo>
                    <a:pt x="487299" y="63500"/>
                  </a:lnTo>
                  <a:close/>
                </a:path>
                <a:path w="519429" h="365125">
                  <a:moveTo>
                    <a:pt x="480949" y="0"/>
                  </a:moveTo>
                  <a:lnTo>
                    <a:pt x="442849" y="76200"/>
                  </a:lnTo>
                  <a:lnTo>
                    <a:pt x="474599" y="76200"/>
                  </a:lnTo>
                  <a:lnTo>
                    <a:pt x="474599" y="63500"/>
                  </a:lnTo>
                  <a:lnTo>
                    <a:pt x="512699" y="63500"/>
                  </a:lnTo>
                  <a:lnTo>
                    <a:pt x="480949" y="0"/>
                  </a:lnTo>
                  <a:close/>
                </a:path>
                <a:path w="519429" h="365125">
                  <a:moveTo>
                    <a:pt x="512699" y="63500"/>
                  </a:moveTo>
                  <a:lnTo>
                    <a:pt x="487299" y="63500"/>
                  </a:lnTo>
                  <a:lnTo>
                    <a:pt x="487299" y="76200"/>
                  </a:lnTo>
                  <a:lnTo>
                    <a:pt x="519049" y="76200"/>
                  </a:lnTo>
                  <a:lnTo>
                    <a:pt x="512699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00873" y="4892675"/>
              <a:ext cx="827405" cy="365125"/>
            </a:xfrm>
            <a:custGeom>
              <a:avLst/>
              <a:gdLst/>
              <a:ahLst/>
              <a:cxnLst/>
              <a:rect l="l" t="t" r="r" b="b"/>
              <a:pathLst>
                <a:path w="827404" h="365125">
                  <a:moveTo>
                    <a:pt x="814451" y="182499"/>
                  </a:moveTo>
                  <a:lnTo>
                    <a:pt x="814451" y="365125"/>
                  </a:lnTo>
                  <a:lnTo>
                    <a:pt x="827151" y="365125"/>
                  </a:lnTo>
                  <a:lnTo>
                    <a:pt x="827151" y="188849"/>
                  </a:lnTo>
                  <a:lnTo>
                    <a:pt x="820801" y="188849"/>
                  </a:lnTo>
                  <a:lnTo>
                    <a:pt x="814451" y="182499"/>
                  </a:lnTo>
                  <a:close/>
                </a:path>
                <a:path w="827404" h="365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8849"/>
                  </a:lnTo>
                  <a:lnTo>
                    <a:pt x="814451" y="188849"/>
                  </a:lnTo>
                  <a:lnTo>
                    <a:pt x="814451" y="182499"/>
                  </a:lnTo>
                  <a:lnTo>
                    <a:pt x="44450" y="182499"/>
                  </a:lnTo>
                  <a:lnTo>
                    <a:pt x="38100" y="176149"/>
                  </a:lnTo>
                  <a:lnTo>
                    <a:pt x="44450" y="176149"/>
                  </a:lnTo>
                  <a:lnTo>
                    <a:pt x="44450" y="63500"/>
                  </a:lnTo>
                  <a:close/>
                </a:path>
                <a:path w="827404" h="365125">
                  <a:moveTo>
                    <a:pt x="827151" y="176149"/>
                  </a:moveTo>
                  <a:lnTo>
                    <a:pt x="44450" y="176149"/>
                  </a:lnTo>
                  <a:lnTo>
                    <a:pt x="44450" y="182499"/>
                  </a:lnTo>
                  <a:lnTo>
                    <a:pt x="814451" y="182499"/>
                  </a:lnTo>
                  <a:lnTo>
                    <a:pt x="820801" y="188849"/>
                  </a:lnTo>
                  <a:lnTo>
                    <a:pt x="827151" y="188849"/>
                  </a:lnTo>
                  <a:lnTo>
                    <a:pt x="827151" y="176149"/>
                  </a:lnTo>
                  <a:close/>
                </a:path>
                <a:path w="827404" h="365125">
                  <a:moveTo>
                    <a:pt x="44450" y="176149"/>
                  </a:moveTo>
                  <a:lnTo>
                    <a:pt x="38100" y="176149"/>
                  </a:lnTo>
                  <a:lnTo>
                    <a:pt x="44450" y="182499"/>
                  </a:lnTo>
                  <a:lnTo>
                    <a:pt x="44450" y="176149"/>
                  </a:lnTo>
                  <a:close/>
                </a:path>
                <a:path w="827404" h="365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827404" h="365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238442" y="46038"/>
            <a:ext cx="6685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Versión </a:t>
            </a:r>
            <a:r>
              <a:rPr sz="2800" spc="-10" dirty="0"/>
              <a:t>ajustada del Arbol </a:t>
            </a:r>
            <a:r>
              <a:rPr sz="2800" spc="-5" dirty="0"/>
              <a:t>de</a:t>
            </a:r>
            <a:r>
              <a:rPr sz="2800" spc="125" dirty="0"/>
              <a:t> </a:t>
            </a:r>
            <a:r>
              <a:rPr sz="2800" spc="-10" dirty="0"/>
              <a:t>Objetivos</a:t>
            </a:r>
            <a:endParaRPr sz="2800" dirty="0"/>
          </a:p>
        </p:txBody>
      </p:sp>
      <p:grpSp>
        <p:nvGrpSpPr>
          <p:cNvPr id="41" name="Grupo 40"/>
          <p:cNvGrpSpPr/>
          <p:nvPr/>
        </p:nvGrpSpPr>
        <p:grpSpPr>
          <a:xfrm>
            <a:off x="228600" y="762000"/>
            <a:ext cx="8661400" cy="5832475"/>
            <a:chOff x="228600" y="762000"/>
            <a:chExt cx="8661400" cy="5832475"/>
          </a:xfrm>
        </p:grpSpPr>
        <p:sp>
          <p:nvSpPr>
            <p:cNvPr id="2" name="object 2"/>
            <p:cNvSpPr/>
            <p:nvPr/>
          </p:nvSpPr>
          <p:spPr>
            <a:xfrm>
              <a:off x="3497579" y="3351276"/>
              <a:ext cx="1842515" cy="6766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594353" y="3386709"/>
              <a:ext cx="1657350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1</a:t>
              </a:r>
              <a:endParaRPr sz="1000">
                <a:latin typeface="Tahoma"/>
                <a:cs typeface="Tahoma"/>
              </a:endParaRPr>
            </a:p>
            <a:p>
              <a:pPr marL="12065" marR="508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NO </a:t>
              </a:r>
              <a:r>
                <a:rPr sz="1000" b="1" spc="-10" dirty="0">
                  <a:latin typeface="Tahoma"/>
                  <a:cs typeface="Tahoma"/>
                </a:rPr>
                <a:t>DETERIORADA  EN </a:t>
              </a:r>
              <a:r>
                <a:rPr sz="1000" b="1" spc="-5" dirty="0">
                  <a:latin typeface="Tahoma"/>
                  <a:cs typeface="Tahoma"/>
                </a:rPr>
                <a:t>LA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575050" y="762000"/>
              <a:ext cx="1698625" cy="5492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000" b="1" spc="-5" dirty="0">
                  <a:latin typeface="Tahoma"/>
                  <a:cs typeface="Tahoma"/>
                </a:rPr>
                <a:t>2</a:t>
              </a:r>
              <a:endParaRPr sz="1000">
                <a:latin typeface="Tahoma"/>
                <a:cs typeface="Tahoma"/>
              </a:endParaRPr>
            </a:p>
            <a:p>
              <a:pPr marL="95250" marR="88900" indent="-635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MAYORES </a:t>
              </a:r>
              <a:r>
                <a:rPr sz="1000" b="1" spc="-10" dirty="0">
                  <a:latin typeface="Tahoma"/>
                  <a:cs typeface="Tahoma"/>
                </a:rPr>
                <a:t>INGRESOS  DE </a:t>
              </a:r>
              <a:r>
                <a:rPr sz="1000" b="1" spc="-5" dirty="0">
                  <a:latin typeface="Tahoma"/>
                  <a:cs typeface="Tahoma"/>
                </a:rPr>
                <a:t>LOS</a:t>
              </a:r>
              <a:r>
                <a:rPr sz="1000" b="1" spc="-3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AGRICULTORES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581400" y="2438400"/>
              <a:ext cx="1720850" cy="549275"/>
            </a:xfrm>
            <a:custGeom>
              <a:avLst/>
              <a:gdLst/>
              <a:ahLst/>
              <a:cxnLst/>
              <a:rect l="l" t="t" r="r" b="b"/>
              <a:pathLst>
                <a:path w="1720850" h="549275">
                  <a:moveTo>
                    <a:pt x="0" y="549275"/>
                  </a:moveTo>
                  <a:lnTo>
                    <a:pt x="1720850" y="549275"/>
                  </a:lnTo>
                  <a:lnTo>
                    <a:pt x="1720850" y="0"/>
                  </a:lnTo>
                  <a:lnTo>
                    <a:pt x="0" y="0"/>
                  </a:lnTo>
                  <a:lnTo>
                    <a:pt x="0" y="549275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3581400" y="2472054"/>
              <a:ext cx="1720850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5</a:t>
              </a:r>
              <a:endParaRPr sz="1000">
                <a:latin typeface="Tahoma"/>
                <a:cs typeface="Tahoma"/>
              </a:endParaRPr>
            </a:p>
            <a:p>
              <a:pPr marL="93980" marR="87630" indent="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DISMINUIDAS  PÉRDIDAS 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COSECHA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905000" y="5181600"/>
              <a:ext cx="1101725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8</a:t>
              </a:r>
              <a:endParaRPr sz="900">
                <a:latin typeface="Tahoma"/>
                <a:cs typeface="Tahoma"/>
              </a:endParaRPr>
            </a:p>
            <a:p>
              <a:pPr marL="90170" marR="8318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MAQUINAS  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ECOLECT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  </a:t>
              </a:r>
              <a:r>
                <a:rPr sz="900" b="1" spc="-5" dirty="0">
                  <a:latin typeface="Tahoma"/>
                  <a:cs typeface="Tahoma"/>
                </a:rPr>
                <a:t>RENOVADAS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09600" y="4343400"/>
              <a:ext cx="1965325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94615" marR="8826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RECOLECTORAS  </a:t>
              </a:r>
              <a:r>
                <a:rPr sz="1000" b="1" spc="-5" dirty="0">
                  <a:latin typeface="Tahoma"/>
                  <a:cs typeface="Tahoma"/>
                </a:rPr>
                <a:t>CON </a:t>
              </a:r>
              <a:r>
                <a:rPr sz="1000" b="1" spc="-10" dirty="0">
                  <a:latin typeface="Tahoma"/>
                  <a:cs typeface="Tahoma"/>
                </a:rPr>
                <a:t>BUEN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DESEMPEÑO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810000" y="4343400"/>
              <a:ext cx="1816100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95250" marR="87630" indent="-1270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</a:t>
              </a:r>
              <a:r>
                <a:rPr sz="1000" b="1" spc="-10" dirty="0">
                  <a:latin typeface="Tahoma"/>
                  <a:cs typeface="Tahoma"/>
                </a:rPr>
                <a:t>TRATAN </a:t>
              </a:r>
              <a:r>
                <a:rPr sz="1000" b="1" spc="-5" dirty="0">
                  <a:latin typeface="Tahoma"/>
                  <a:cs typeface="Tahoma"/>
                </a:rPr>
                <a:t>BIEN  LA </a:t>
              </a: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AL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200400" y="5181600"/>
              <a:ext cx="139700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3</a:t>
              </a:r>
              <a:endParaRPr sz="900">
                <a:latin typeface="Tahoma"/>
                <a:cs typeface="Tahoma"/>
              </a:endParaRPr>
            </a:p>
            <a:p>
              <a:pPr marL="92710" marR="118110" indent="32384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OBREROS  CAPACITADOS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203325" y="2286000"/>
              <a:ext cx="1671955" cy="7016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0"/>
                </a:spcBef>
              </a:pPr>
              <a:r>
                <a:rPr sz="1000" b="1" spc="-5" dirty="0">
                  <a:latin typeface="Tahoma"/>
                  <a:cs typeface="Tahoma"/>
                </a:rPr>
                <a:t>15</a:t>
              </a:r>
              <a:endParaRPr sz="1000">
                <a:latin typeface="Tahoma"/>
                <a:cs typeface="Tahoma"/>
              </a:endParaRPr>
            </a:p>
            <a:p>
              <a:pPr marL="238125" marR="257810" indent="-1016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DISMINUCIÓN DE  C</a:t>
              </a:r>
              <a:r>
                <a:rPr sz="1000" b="1" spc="-5" dirty="0">
                  <a:latin typeface="Tahoma"/>
                  <a:cs typeface="Tahoma"/>
                </a:rPr>
                <a:t>ONTAMINA</a:t>
              </a:r>
              <a:r>
                <a:rPr sz="1000" b="1" spc="-10" dirty="0">
                  <a:latin typeface="Tahoma"/>
                  <a:cs typeface="Tahoma"/>
                </a:rPr>
                <a:t>CIÓN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POR </a:t>
              </a:r>
              <a:r>
                <a:rPr sz="1000" b="1" spc="-10" dirty="0">
                  <a:latin typeface="Tahoma"/>
                  <a:cs typeface="Tahoma"/>
                </a:rPr>
                <a:t>FRUTAS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DAÑADAS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1076325" y="1524000"/>
              <a:ext cx="1860550" cy="5492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000" b="1" spc="-5" dirty="0">
                  <a:latin typeface="Tahoma"/>
                  <a:cs typeface="Tahoma"/>
                </a:rPr>
                <a:t>6</a:t>
              </a:r>
              <a:endParaRPr sz="1000">
                <a:latin typeface="Tahoma"/>
                <a:cs typeface="Tahoma"/>
              </a:endParaRPr>
            </a:p>
            <a:p>
              <a:pPr marL="93345" marR="88265" indent="190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DISMINUCIÓN DE  </a:t>
              </a:r>
              <a:r>
                <a:rPr sz="1000" b="1" spc="-5" dirty="0">
                  <a:latin typeface="Tahoma"/>
                  <a:cs typeface="Tahoma"/>
                </a:rPr>
                <a:t>PLAGAS Y MALOS</a:t>
              </a:r>
              <a:r>
                <a:rPr sz="1000" b="1" spc="-4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OLORES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554099" y="4892675"/>
              <a:ext cx="106680" cy="1063625"/>
            </a:xfrm>
            <a:custGeom>
              <a:avLst/>
              <a:gdLst/>
              <a:ahLst/>
              <a:cxnLst/>
              <a:rect l="l" t="t" r="r" b="b"/>
              <a:pathLst>
                <a:path w="106680" h="1063625">
                  <a:moveTo>
                    <a:pt x="93725" y="531749"/>
                  </a:moveTo>
                  <a:lnTo>
                    <a:pt x="93725" y="1063625"/>
                  </a:lnTo>
                  <a:lnTo>
                    <a:pt x="106425" y="1063625"/>
                  </a:lnTo>
                  <a:lnTo>
                    <a:pt x="106425" y="538099"/>
                  </a:lnTo>
                  <a:lnTo>
                    <a:pt x="100075" y="538099"/>
                  </a:lnTo>
                  <a:lnTo>
                    <a:pt x="93725" y="531749"/>
                  </a:lnTo>
                  <a:close/>
                </a:path>
                <a:path w="106680" h="10636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8099"/>
                  </a:lnTo>
                  <a:lnTo>
                    <a:pt x="93725" y="538099"/>
                  </a:lnTo>
                  <a:lnTo>
                    <a:pt x="93725" y="531749"/>
                  </a:lnTo>
                  <a:lnTo>
                    <a:pt x="44450" y="531749"/>
                  </a:lnTo>
                  <a:lnTo>
                    <a:pt x="38100" y="525399"/>
                  </a:lnTo>
                  <a:lnTo>
                    <a:pt x="44450" y="525399"/>
                  </a:lnTo>
                  <a:lnTo>
                    <a:pt x="44450" y="63500"/>
                  </a:lnTo>
                  <a:close/>
                </a:path>
                <a:path w="106680" h="1063625">
                  <a:moveTo>
                    <a:pt x="106425" y="525399"/>
                  </a:moveTo>
                  <a:lnTo>
                    <a:pt x="44450" y="525399"/>
                  </a:lnTo>
                  <a:lnTo>
                    <a:pt x="44450" y="531749"/>
                  </a:lnTo>
                  <a:lnTo>
                    <a:pt x="93725" y="531749"/>
                  </a:lnTo>
                  <a:lnTo>
                    <a:pt x="100075" y="538099"/>
                  </a:lnTo>
                  <a:lnTo>
                    <a:pt x="106425" y="538099"/>
                  </a:lnTo>
                  <a:lnTo>
                    <a:pt x="106425" y="525399"/>
                  </a:lnTo>
                  <a:close/>
                </a:path>
                <a:path w="106680" h="1063625">
                  <a:moveTo>
                    <a:pt x="44450" y="525399"/>
                  </a:moveTo>
                  <a:lnTo>
                    <a:pt x="38100" y="525399"/>
                  </a:lnTo>
                  <a:lnTo>
                    <a:pt x="44450" y="531749"/>
                  </a:lnTo>
                  <a:lnTo>
                    <a:pt x="44450" y="525399"/>
                  </a:lnTo>
                  <a:close/>
                </a:path>
                <a:path w="106680" h="10636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6680" h="10636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54099" y="4892675"/>
              <a:ext cx="908050" cy="288925"/>
            </a:xfrm>
            <a:custGeom>
              <a:avLst/>
              <a:gdLst/>
              <a:ahLst/>
              <a:cxnLst/>
              <a:rect l="l" t="t" r="r" b="b"/>
              <a:pathLst>
                <a:path w="908050" h="288925">
                  <a:moveTo>
                    <a:pt x="895350" y="144399"/>
                  </a:moveTo>
                  <a:lnTo>
                    <a:pt x="895350" y="288925"/>
                  </a:lnTo>
                  <a:lnTo>
                    <a:pt x="908050" y="288925"/>
                  </a:lnTo>
                  <a:lnTo>
                    <a:pt x="908050" y="150749"/>
                  </a:lnTo>
                  <a:lnTo>
                    <a:pt x="901700" y="150749"/>
                  </a:lnTo>
                  <a:lnTo>
                    <a:pt x="895350" y="144399"/>
                  </a:lnTo>
                  <a:close/>
                </a:path>
                <a:path w="908050" h="288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50749"/>
                  </a:lnTo>
                  <a:lnTo>
                    <a:pt x="895350" y="150749"/>
                  </a:lnTo>
                  <a:lnTo>
                    <a:pt x="895350" y="144399"/>
                  </a:lnTo>
                  <a:lnTo>
                    <a:pt x="44450" y="144399"/>
                  </a:lnTo>
                  <a:lnTo>
                    <a:pt x="38100" y="138049"/>
                  </a:lnTo>
                  <a:lnTo>
                    <a:pt x="44450" y="138049"/>
                  </a:lnTo>
                  <a:lnTo>
                    <a:pt x="44450" y="63500"/>
                  </a:lnTo>
                  <a:close/>
                </a:path>
                <a:path w="908050" h="288925">
                  <a:moveTo>
                    <a:pt x="908050" y="138049"/>
                  </a:moveTo>
                  <a:lnTo>
                    <a:pt x="44450" y="138049"/>
                  </a:lnTo>
                  <a:lnTo>
                    <a:pt x="44450" y="144399"/>
                  </a:lnTo>
                  <a:lnTo>
                    <a:pt x="895350" y="144399"/>
                  </a:lnTo>
                  <a:lnTo>
                    <a:pt x="901700" y="150749"/>
                  </a:lnTo>
                  <a:lnTo>
                    <a:pt x="908050" y="150749"/>
                  </a:lnTo>
                  <a:lnTo>
                    <a:pt x="908050" y="138049"/>
                  </a:lnTo>
                  <a:close/>
                </a:path>
                <a:path w="908050" h="288925">
                  <a:moveTo>
                    <a:pt x="44450" y="138049"/>
                  </a:moveTo>
                  <a:lnTo>
                    <a:pt x="38100" y="138049"/>
                  </a:lnTo>
                  <a:lnTo>
                    <a:pt x="44450" y="144399"/>
                  </a:lnTo>
                  <a:lnTo>
                    <a:pt x="44450" y="138049"/>
                  </a:lnTo>
                  <a:close/>
                </a:path>
                <a:path w="908050" h="288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08050" h="288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92550" y="4892675"/>
              <a:ext cx="863600" cy="288925"/>
            </a:xfrm>
            <a:custGeom>
              <a:avLst/>
              <a:gdLst/>
              <a:ahLst/>
              <a:cxnLst/>
              <a:rect l="l" t="t" r="r" b="b"/>
              <a:pathLst>
                <a:path w="863600" h="288925">
                  <a:moveTo>
                    <a:pt x="819150" y="138049"/>
                  </a:moveTo>
                  <a:lnTo>
                    <a:pt x="0" y="138049"/>
                  </a:lnTo>
                  <a:lnTo>
                    <a:pt x="0" y="288925"/>
                  </a:lnTo>
                  <a:lnTo>
                    <a:pt x="12700" y="288925"/>
                  </a:lnTo>
                  <a:lnTo>
                    <a:pt x="12700" y="150749"/>
                  </a:lnTo>
                  <a:lnTo>
                    <a:pt x="6350" y="150749"/>
                  </a:lnTo>
                  <a:lnTo>
                    <a:pt x="12700" y="144399"/>
                  </a:lnTo>
                  <a:lnTo>
                    <a:pt x="819150" y="144399"/>
                  </a:lnTo>
                  <a:lnTo>
                    <a:pt x="819150" y="138049"/>
                  </a:lnTo>
                  <a:close/>
                </a:path>
                <a:path w="863600" h="288925">
                  <a:moveTo>
                    <a:pt x="12700" y="144399"/>
                  </a:moveTo>
                  <a:lnTo>
                    <a:pt x="6350" y="150749"/>
                  </a:lnTo>
                  <a:lnTo>
                    <a:pt x="12700" y="150749"/>
                  </a:lnTo>
                  <a:lnTo>
                    <a:pt x="12700" y="144399"/>
                  </a:lnTo>
                  <a:close/>
                </a:path>
                <a:path w="863600" h="288925">
                  <a:moveTo>
                    <a:pt x="831850" y="138049"/>
                  </a:moveTo>
                  <a:lnTo>
                    <a:pt x="825500" y="138049"/>
                  </a:lnTo>
                  <a:lnTo>
                    <a:pt x="819150" y="144399"/>
                  </a:lnTo>
                  <a:lnTo>
                    <a:pt x="12700" y="144399"/>
                  </a:lnTo>
                  <a:lnTo>
                    <a:pt x="12700" y="150749"/>
                  </a:lnTo>
                  <a:lnTo>
                    <a:pt x="831850" y="150749"/>
                  </a:lnTo>
                  <a:lnTo>
                    <a:pt x="831850" y="138049"/>
                  </a:lnTo>
                  <a:close/>
                </a:path>
                <a:path w="863600" h="288925">
                  <a:moveTo>
                    <a:pt x="831850" y="63500"/>
                  </a:moveTo>
                  <a:lnTo>
                    <a:pt x="819150" y="63500"/>
                  </a:lnTo>
                  <a:lnTo>
                    <a:pt x="819150" y="144399"/>
                  </a:lnTo>
                  <a:lnTo>
                    <a:pt x="825500" y="138049"/>
                  </a:lnTo>
                  <a:lnTo>
                    <a:pt x="831850" y="138049"/>
                  </a:lnTo>
                  <a:lnTo>
                    <a:pt x="831850" y="63500"/>
                  </a:lnTo>
                  <a:close/>
                </a:path>
                <a:path w="863600" h="288925">
                  <a:moveTo>
                    <a:pt x="825500" y="0"/>
                  </a:moveTo>
                  <a:lnTo>
                    <a:pt x="787400" y="76200"/>
                  </a:lnTo>
                  <a:lnTo>
                    <a:pt x="819150" y="76200"/>
                  </a:lnTo>
                  <a:lnTo>
                    <a:pt x="819150" y="63500"/>
                  </a:lnTo>
                  <a:lnTo>
                    <a:pt x="857250" y="63500"/>
                  </a:lnTo>
                  <a:lnTo>
                    <a:pt x="825500" y="0"/>
                  </a:lnTo>
                  <a:close/>
                </a:path>
                <a:path w="863600" h="288925">
                  <a:moveTo>
                    <a:pt x="857250" y="63500"/>
                  </a:moveTo>
                  <a:lnTo>
                    <a:pt x="831850" y="63500"/>
                  </a:lnTo>
                  <a:lnTo>
                    <a:pt x="831850" y="76200"/>
                  </a:lnTo>
                  <a:lnTo>
                    <a:pt x="863600" y="76200"/>
                  </a:lnTo>
                  <a:lnTo>
                    <a:pt x="8572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84675" y="3911600"/>
              <a:ext cx="339725" cy="431800"/>
            </a:xfrm>
            <a:custGeom>
              <a:avLst/>
              <a:gdLst/>
              <a:ahLst/>
              <a:cxnLst/>
              <a:rect l="l" t="t" r="r" b="b"/>
              <a:pathLst>
                <a:path w="339725" h="431800">
                  <a:moveTo>
                    <a:pt x="327025" y="215900"/>
                  </a:moveTo>
                  <a:lnTo>
                    <a:pt x="327025" y="431800"/>
                  </a:lnTo>
                  <a:lnTo>
                    <a:pt x="339725" y="431800"/>
                  </a:lnTo>
                  <a:lnTo>
                    <a:pt x="339725" y="222250"/>
                  </a:lnTo>
                  <a:lnTo>
                    <a:pt x="333375" y="222250"/>
                  </a:lnTo>
                  <a:lnTo>
                    <a:pt x="327025" y="215900"/>
                  </a:lnTo>
                  <a:close/>
                </a:path>
                <a:path w="339725" h="431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2250"/>
                  </a:lnTo>
                  <a:lnTo>
                    <a:pt x="327025" y="222250"/>
                  </a:lnTo>
                  <a:lnTo>
                    <a:pt x="327025" y="215900"/>
                  </a:lnTo>
                  <a:lnTo>
                    <a:pt x="44450" y="215900"/>
                  </a:lnTo>
                  <a:lnTo>
                    <a:pt x="38100" y="209550"/>
                  </a:lnTo>
                  <a:lnTo>
                    <a:pt x="44450" y="209550"/>
                  </a:lnTo>
                  <a:lnTo>
                    <a:pt x="44450" y="63500"/>
                  </a:lnTo>
                  <a:close/>
                </a:path>
                <a:path w="339725" h="431800">
                  <a:moveTo>
                    <a:pt x="339725" y="209550"/>
                  </a:moveTo>
                  <a:lnTo>
                    <a:pt x="44450" y="209550"/>
                  </a:lnTo>
                  <a:lnTo>
                    <a:pt x="44450" y="215900"/>
                  </a:lnTo>
                  <a:lnTo>
                    <a:pt x="327025" y="215900"/>
                  </a:lnTo>
                  <a:lnTo>
                    <a:pt x="333375" y="222250"/>
                  </a:lnTo>
                  <a:lnTo>
                    <a:pt x="339725" y="222250"/>
                  </a:lnTo>
                  <a:lnTo>
                    <a:pt x="339725" y="209550"/>
                  </a:lnTo>
                  <a:close/>
                </a:path>
                <a:path w="339725" h="431800">
                  <a:moveTo>
                    <a:pt x="44450" y="209550"/>
                  </a:moveTo>
                  <a:lnTo>
                    <a:pt x="38100" y="209550"/>
                  </a:lnTo>
                  <a:lnTo>
                    <a:pt x="44450" y="215900"/>
                  </a:lnTo>
                  <a:lnTo>
                    <a:pt x="44450" y="209550"/>
                  </a:lnTo>
                  <a:close/>
                </a:path>
                <a:path w="339725" h="431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39725" h="431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85849" y="3911600"/>
              <a:ext cx="2875280" cy="431800"/>
            </a:xfrm>
            <a:custGeom>
              <a:avLst/>
              <a:gdLst/>
              <a:ahLst/>
              <a:cxnLst/>
              <a:rect l="l" t="t" r="r" b="b"/>
              <a:pathLst>
                <a:path w="2875279" h="431800">
                  <a:moveTo>
                    <a:pt x="2830576" y="209550"/>
                  </a:moveTo>
                  <a:lnTo>
                    <a:pt x="0" y="209550"/>
                  </a:lnTo>
                  <a:lnTo>
                    <a:pt x="0" y="431800"/>
                  </a:lnTo>
                  <a:lnTo>
                    <a:pt x="12700" y="431800"/>
                  </a:lnTo>
                  <a:lnTo>
                    <a:pt x="12700" y="222250"/>
                  </a:lnTo>
                  <a:lnTo>
                    <a:pt x="6350" y="222250"/>
                  </a:lnTo>
                  <a:lnTo>
                    <a:pt x="12700" y="215900"/>
                  </a:lnTo>
                  <a:lnTo>
                    <a:pt x="2830576" y="215900"/>
                  </a:lnTo>
                  <a:lnTo>
                    <a:pt x="2830576" y="209550"/>
                  </a:lnTo>
                  <a:close/>
                </a:path>
                <a:path w="2875279" h="431800">
                  <a:moveTo>
                    <a:pt x="12700" y="215900"/>
                  </a:moveTo>
                  <a:lnTo>
                    <a:pt x="6350" y="222250"/>
                  </a:lnTo>
                  <a:lnTo>
                    <a:pt x="12700" y="222250"/>
                  </a:lnTo>
                  <a:lnTo>
                    <a:pt x="12700" y="215900"/>
                  </a:lnTo>
                  <a:close/>
                </a:path>
                <a:path w="2875279" h="431800">
                  <a:moveTo>
                    <a:pt x="2843276" y="209550"/>
                  </a:moveTo>
                  <a:lnTo>
                    <a:pt x="2836926" y="209550"/>
                  </a:lnTo>
                  <a:lnTo>
                    <a:pt x="2830576" y="215900"/>
                  </a:lnTo>
                  <a:lnTo>
                    <a:pt x="12700" y="215900"/>
                  </a:lnTo>
                  <a:lnTo>
                    <a:pt x="12700" y="222250"/>
                  </a:lnTo>
                  <a:lnTo>
                    <a:pt x="2843276" y="222250"/>
                  </a:lnTo>
                  <a:lnTo>
                    <a:pt x="2843276" y="209550"/>
                  </a:lnTo>
                  <a:close/>
                </a:path>
                <a:path w="2875279" h="431800">
                  <a:moveTo>
                    <a:pt x="2843276" y="63500"/>
                  </a:moveTo>
                  <a:lnTo>
                    <a:pt x="2830576" y="63500"/>
                  </a:lnTo>
                  <a:lnTo>
                    <a:pt x="2830576" y="215900"/>
                  </a:lnTo>
                  <a:lnTo>
                    <a:pt x="2836926" y="209550"/>
                  </a:lnTo>
                  <a:lnTo>
                    <a:pt x="2843276" y="209550"/>
                  </a:lnTo>
                  <a:lnTo>
                    <a:pt x="2843276" y="63500"/>
                  </a:lnTo>
                  <a:close/>
                </a:path>
                <a:path w="2875279" h="431800">
                  <a:moveTo>
                    <a:pt x="2836926" y="0"/>
                  </a:moveTo>
                  <a:lnTo>
                    <a:pt x="2798826" y="76200"/>
                  </a:lnTo>
                  <a:lnTo>
                    <a:pt x="2830576" y="76200"/>
                  </a:lnTo>
                  <a:lnTo>
                    <a:pt x="2830576" y="63500"/>
                  </a:lnTo>
                  <a:lnTo>
                    <a:pt x="2868676" y="63500"/>
                  </a:lnTo>
                  <a:lnTo>
                    <a:pt x="2836926" y="0"/>
                  </a:lnTo>
                  <a:close/>
                </a:path>
                <a:path w="2875279" h="431800">
                  <a:moveTo>
                    <a:pt x="2868676" y="63500"/>
                  </a:moveTo>
                  <a:lnTo>
                    <a:pt x="2843276" y="63500"/>
                  </a:lnTo>
                  <a:lnTo>
                    <a:pt x="2843276" y="76200"/>
                  </a:lnTo>
                  <a:lnTo>
                    <a:pt x="2875026" y="76200"/>
                  </a:lnTo>
                  <a:lnTo>
                    <a:pt x="286867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1773" y="2987675"/>
              <a:ext cx="2427605" cy="365125"/>
            </a:xfrm>
            <a:custGeom>
              <a:avLst/>
              <a:gdLst/>
              <a:ahLst/>
              <a:cxnLst/>
              <a:rect l="l" t="t" r="r" b="b"/>
              <a:pathLst>
                <a:path w="2427604" h="365125">
                  <a:moveTo>
                    <a:pt x="2414651" y="182499"/>
                  </a:moveTo>
                  <a:lnTo>
                    <a:pt x="2414651" y="365125"/>
                  </a:lnTo>
                  <a:lnTo>
                    <a:pt x="2427351" y="365125"/>
                  </a:lnTo>
                  <a:lnTo>
                    <a:pt x="2427351" y="188849"/>
                  </a:lnTo>
                  <a:lnTo>
                    <a:pt x="2421001" y="188849"/>
                  </a:lnTo>
                  <a:lnTo>
                    <a:pt x="2414651" y="182499"/>
                  </a:lnTo>
                  <a:close/>
                </a:path>
                <a:path w="2427604" h="365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8849"/>
                  </a:lnTo>
                  <a:lnTo>
                    <a:pt x="2414651" y="188849"/>
                  </a:lnTo>
                  <a:lnTo>
                    <a:pt x="2414651" y="182499"/>
                  </a:lnTo>
                  <a:lnTo>
                    <a:pt x="44450" y="182499"/>
                  </a:lnTo>
                  <a:lnTo>
                    <a:pt x="38100" y="176149"/>
                  </a:lnTo>
                  <a:lnTo>
                    <a:pt x="44450" y="176149"/>
                  </a:lnTo>
                  <a:lnTo>
                    <a:pt x="44450" y="63500"/>
                  </a:lnTo>
                  <a:close/>
                </a:path>
                <a:path w="2427604" h="365125">
                  <a:moveTo>
                    <a:pt x="2427351" y="176149"/>
                  </a:moveTo>
                  <a:lnTo>
                    <a:pt x="44450" y="176149"/>
                  </a:lnTo>
                  <a:lnTo>
                    <a:pt x="44450" y="182499"/>
                  </a:lnTo>
                  <a:lnTo>
                    <a:pt x="2414651" y="182499"/>
                  </a:lnTo>
                  <a:lnTo>
                    <a:pt x="2421001" y="188849"/>
                  </a:lnTo>
                  <a:lnTo>
                    <a:pt x="2427351" y="188849"/>
                  </a:lnTo>
                  <a:lnTo>
                    <a:pt x="2427351" y="176149"/>
                  </a:lnTo>
                  <a:close/>
                </a:path>
                <a:path w="2427604" h="365125">
                  <a:moveTo>
                    <a:pt x="44450" y="176149"/>
                  </a:moveTo>
                  <a:lnTo>
                    <a:pt x="38100" y="176149"/>
                  </a:lnTo>
                  <a:lnTo>
                    <a:pt x="44450" y="182499"/>
                  </a:lnTo>
                  <a:lnTo>
                    <a:pt x="44450" y="176149"/>
                  </a:lnTo>
                  <a:close/>
                </a:path>
                <a:path w="2427604" h="365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27604" h="365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3725" y="2987675"/>
              <a:ext cx="76200" cy="365125"/>
            </a:xfrm>
            <a:custGeom>
              <a:avLst/>
              <a:gdLst/>
              <a:ahLst/>
              <a:cxnLst/>
              <a:rect l="l" t="t" r="r" b="b"/>
              <a:pathLst>
                <a:path w="76200" h="365125">
                  <a:moveTo>
                    <a:pt x="31750" y="176149"/>
                  </a:moveTo>
                  <a:lnTo>
                    <a:pt x="12700" y="176149"/>
                  </a:lnTo>
                  <a:lnTo>
                    <a:pt x="12700" y="365125"/>
                  </a:lnTo>
                  <a:lnTo>
                    <a:pt x="25400" y="365125"/>
                  </a:lnTo>
                  <a:lnTo>
                    <a:pt x="25400" y="188849"/>
                  </a:lnTo>
                  <a:lnTo>
                    <a:pt x="19050" y="188849"/>
                  </a:lnTo>
                  <a:lnTo>
                    <a:pt x="25400" y="182499"/>
                  </a:lnTo>
                  <a:lnTo>
                    <a:pt x="31750" y="182499"/>
                  </a:lnTo>
                  <a:lnTo>
                    <a:pt x="31750" y="176149"/>
                  </a:lnTo>
                  <a:close/>
                </a:path>
                <a:path w="76200" h="365125">
                  <a:moveTo>
                    <a:pt x="25400" y="182499"/>
                  </a:moveTo>
                  <a:lnTo>
                    <a:pt x="19050" y="188849"/>
                  </a:lnTo>
                  <a:lnTo>
                    <a:pt x="25400" y="188849"/>
                  </a:lnTo>
                  <a:lnTo>
                    <a:pt x="25400" y="182499"/>
                  </a:lnTo>
                  <a:close/>
                </a:path>
                <a:path w="76200" h="365125">
                  <a:moveTo>
                    <a:pt x="44450" y="176149"/>
                  </a:moveTo>
                  <a:lnTo>
                    <a:pt x="38100" y="176149"/>
                  </a:lnTo>
                  <a:lnTo>
                    <a:pt x="31750" y="182499"/>
                  </a:lnTo>
                  <a:lnTo>
                    <a:pt x="25400" y="182499"/>
                  </a:lnTo>
                  <a:lnTo>
                    <a:pt x="25400" y="188849"/>
                  </a:lnTo>
                  <a:lnTo>
                    <a:pt x="44450" y="188849"/>
                  </a:lnTo>
                  <a:lnTo>
                    <a:pt x="44450" y="176149"/>
                  </a:lnTo>
                  <a:close/>
                </a:path>
                <a:path w="76200" h="365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2499"/>
                  </a:lnTo>
                  <a:lnTo>
                    <a:pt x="38100" y="176149"/>
                  </a:lnTo>
                  <a:lnTo>
                    <a:pt x="44450" y="176149"/>
                  </a:lnTo>
                  <a:lnTo>
                    <a:pt x="44450" y="63500"/>
                  </a:lnTo>
                  <a:close/>
                </a:path>
                <a:path w="76200" h="365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65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68500" y="2073275"/>
              <a:ext cx="77724" cy="2127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86198" y="1311275"/>
              <a:ext cx="76200" cy="1127125"/>
            </a:xfrm>
            <a:custGeom>
              <a:avLst/>
              <a:gdLst/>
              <a:ahLst/>
              <a:cxnLst/>
              <a:rect l="l" t="t" r="r" b="b"/>
              <a:pathLst>
                <a:path w="76200" h="1127125">
                  <a:moveTo>
                    <a:pt x="49275" y="563499"/>
                  </a:moveTo>
                  <a:lnTo>
                    <a:pt x="49275" y="1127125"/>
                  </a:lnTo>
                  <a:lnTo>
                    <a:pt x="61975" y="1127125"/>
                  </a:lnTo>
                  <a:lnTo>
                    <a:pt x="61975" y="569849"/>
                  </a:lnTo>
                  <a:lnTo>
                    <a:pt x="55625" y="569849"/>
                  </a:lnTo>
                  <a:lnTo>
                    <a:pt x="49275" y="563499"/>
                  </a:lnTo>
                  <a:close/>
                </a:path>
                <a:path w="76200" h="1127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69849"/>
                  </a:lnTo>
                  <a:lnTo>
                    <a:pt x="49275" y="569849"/>
                  </a:lnTo>
                  <a:lnTo>
                    <a:pt x="49275" y="563499"/>
                  </a:lnTo>
                  <a:lnTo>
                    <a:pt x="44450" y="563499"/>
                  </a:lnTo>
                  <a:lnTo>
                    <a:pt x="38100" y="557149"/>
                  </a:lnTo>
                  <a:lnTo>
                    <a:pt x="44450" y="557149"/>
                  </a:lnTo>
                  <a:lnTo>
                    <a:pt x="44450" y="63500"/>
                  </a:lnTo>
                  <a:close/>
                </a:path>
                <a:path w="76200" h="1127125">
                  <a:moveTo>
                    <a:pt x="61975" y="557149"/>
                  </a:moveTo>
                  <a:lnTo>
                    <a:pt x="44450" y="557149"/>
                  </a:lnTo>
                  <a:lnTo>
                    <a:pt x="44450" y="563499"/>
                  </a:lnTo>
                  <a:lnTo>
                    <a:pt x="49275" y="563499"/>
                  </a:lnTo>
                  <a:lnTo>
                    <a:pt x="55625" y="569849"/>
                  </a:lnTo>
                  <a:lnTo>
                    <a:pt x="61975" y="569849"/>
                  </a:lnTo>
                  <a:lnTo>
                    <a:pt x="61975" y="557149"/>
                  </a:lnTo>
                  <a:close/>
                </a:path>
                <a:path w="76200" h="1127125">
                  <a:moveTo>
                    <a:pt x="44450" y="557149"/>
                  </a:moveTo>
                  <a:lnTo>
                    <a:pt x="38100" y="557149"/>
                  </a:lnTo>
                  <a:lnTo>
                    <a:pt x="44450" y="563499"/>
                  </a:lnTo>
                  <a:lnTo>
                    <a:pt x="44450" y="557149"/>
                  </a:lnTo>
                  <a:close/>
                </a:path>
                <a:path w="76200" h="1127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127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5780151" y="2057400"/>
              <a:ext cx="1590675" cy="7016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0"/>
                </a:spcBef>
              </a:pPr>
              <a:r>
                <a:rPr sz="1000" b="1" spc="-5" dirty="0">
                  <a:latin typeface="Tahoma"/>
                  <a:cs typeface="Tahoma"/>
                </a:rPr>
                <a:t>16</a:t>
              </a:r>
              <a:endParaRPr sz="1000">
                <a:latin typeface="Tahoma"/>
                <a:cs typeface="Tahoma"/>
              </a:endParaRPr>
            </a:p>
            <a:p>
              <a:pPr marL="95885" marR="88265" indent="68580" algn="just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MENOR </a:t>
              </a:r>
              <a:r>
                <a:rPr sz="1000" b="1" spc="-5" dirty="0">
                  <a:latin typeface="Tahoma"/>
                  <a:cs typeface="Tahoma"/>
                </a:rPr>
                <a:t>COSTO POR  </a:t>
              </a:r>
              <a:r>
                <a:rPr sz="1000" b="1" spc="-10" dirty="0">
                  <a:latin typeface="Tahoma"/>
                  <a:cs typeface="Tahoma"/>
                </a:rPr>
                <a:t>MANIPULACIÓN DE  FRUTA</a:t>
              </a:r>
              <a:r>
                <a:rPr sz="1000" b="1" spc="-4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DETERIORADA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413250" y="2759075"/>
              <a:ext cx="2200275" cy="406400"/>
            </a:xfrm>
            <a:custGeom>
              <a:avLst/>
              <a:gdLst/>
              <a:ahLst/>
              <a:cxnLst/>
              <a:rect l="l" t="t" r="r" b="b"/>
              <a:pathLst>
                <a:path w="2200275" h="406400">
                  <a:moveTo>
                    <a:pt x="2155825" y="393700"/>
                  </a:moveTo>
                  <a:lnTo>
                    <a:pt x="0" y="393700"/>
                  </a:lnTo>
                  <a:lnTo>
                    <a:pt x="0" y="406400"/>
                  </a:lnTo>
                  <a:lnTo>
                    <a:pt x="2168525" y="406400"/>
                  </a:lnTo>
                  <a:lnTo>
                    <a:pt x="2168525" y="400050"/>
                  </a:lnTo>
                  <a:lnTo>
                    <a:pt x="2155825" y="400050"/>
                  </a:lnTo>
                  <a:lnTo>
                    <a:pt x="2155825" y="393700"/>
                  </a:lnTo>
                  <a:close/>
                </a:path>
                <a:path w="2200275" h="406400">
                  <a:moveTo>
                    <a:pt x="2168525" y="63500"/>
                  </a:moveTo>
                  <a:lnTo>
                    <a:pt x="2155825" y="63500"/>
                  </a:lnTo>
                  <a:lnTo>
                    <a:pt x="2155825" y="400050"/>
                  </a:lnTo>
                  <a:lnTo>
                    <a:pt x="2162175" y="393700"/>
                  </a:lnTo>
                  <a:lnTo>
                    <a:pt x="2168525" y="393700"/>
                  </a:lnTo>
                  <a:lnTo>
                    <a:pt x="2168525" y="63500"/>
                  </a:lnTo>
                  <a:close/>
                </a:path>
                <a:path w="2200275" h="406400">
                  <a:moveTo>
                    <a:pt x="2168525" y="393700"/>
                  </a:moveTo>
                  <a:lnTo>
                    <a:pt x="2162175" y="393700"/>
                  </a:lnTo>
                  <a:lnTo>
                    <a:pt x="2155825" y="400050"/>
                  </a:lnTo>
                  <a:lnTo>
                    <a:pt x="2168525" y="400050"/>
                  </a:lnTo>
                  <a:lnTo>
                    <a:pt x="2168525" y="393700"/>
                  </a:lnTo>
                  <a:close/>
                </a:path>
                <a:path w="2200275" h="406400">
                  <a:moveTo>
                    <a:pt x="2162175" y="0"/>
                  </a:moveTo>
                  <a:lnTo>
                    <a:pt x="2124075" y="76200"/>
                  </a:lnTo>
                  <a:lnTo>
                    <a:pt x="2155825" y="76200"/>
                  </a:lnTo>
                  <a:lnTo>
                    <a:pt x="2155825" y="63500"/>
                  </a:lnTo>
                  <a:lnTo>
                    <a:pt x="2193925" y="63500"/>
                  </a:lnTo>
                  <a:lnTo>
                    <a:pt x="2162175" y="0"/>
                  </a:lnTo>
                  <a:close/>
                </a:path>
                <a:path w="2200275" h="406400">
                  <a:moveTo>
                    <a:pt x="2193925" y="63500"/>
                  </a:moveTo>
                  <a:lnTo>
                    <a:pt x="2168525" y="63500"/>
                  </a:lnTo>
                  <a:lnTo>
                    <a:pt x="2168525" y="76200"/>
                  </a:lnTo>
                  <a:lnTo>
                    <a:pt x="2200275" y="76200"/>
                  </a:lnTo>
                  <a:lnTo>
                    <a:pt x="2193925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86198" y="1311275"/>
              <a:ext cx="2195830" cy="746125"/>
            </a:xfrm>
            <a:custGeom>
              <a:avLst/>
              <a:gdLst/>
              <a:ahLst/>
              <a:cxnLst/>
              <a:rect l="l" t="t" r="r" b="b"/>
              <a:pathLst>
                <a:path w="2195829" h="746125">
                  <a:moveTo>
                    <a:pt x="2182876" y="372999"/>
                  </a:moveTo>
                  <a:lnTo>
                    <a:pt x="2182876" y="746125"/>
                  </a:lnTo>
                  <a:lnTo>
                    <a:pt x="2195576" y="746125"/>
                  </a:lnTo>
                  <a:lnTo>
                    <a:pt x="2195576" y="379349"/>
                  </a:lnTo>
                  <a:lnTo>
                    <a:pt x="2189226" y="379349"/>
                  </a:lnTo>
                  <a:lnTo>
                    <a:pt x="2182876" y="372999"/>
                  </a:lnTo>
                  <a:close/>
                </a:path>
                <a:path w="2195829" h="746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79349"/>
                  </a:lnTo>
                  <a:lnTo>
                    <a:pt x="2182876" y="379349"/>
                  </a:lnTo>
                  <a:lnTo>
                    <a:pt x="2182876" y="372999"/>
                  </a:lnTo>
                  <a:lnTo>
                    <a:pt x="44450" y="372999"/>
                  </a:lnTo>
                  <a:lnTo>
                    <a:pt x="38100" y="366649"/>
                  </a:lnTo>
                  <a:lnTo>
                    <a:pt x="44450" y="366649"/>
                  </a:lnTo>
                  <a:lnTo>
                    <a:pt x="44450" y="63500"/>
                  </a:lnTo>
                  <a:close/>
                </a:path>
                <a:path w="2195829" h="746125">
                  <a:moveTo>
                    <a:pt x="2195576" y="366649"/>
                  </a:moveTo>
                  <a:lnTo>
                    <a:pt x="44450" y="366649"/>
                  </a:lnTo>
                  <a:lnTo>
                    <a:pt x="44450" y="372999"/>
                  </a:lnTo>
                  <a:lnTo>
                    <a:pt x="2182876" y="372999"/>
                  </a:lnTo>
                  <a:lnTo>
                    <a:pt x="2189226" y="379349"/>
                  </a:lnTo>
                  <a:lnTo>
                    <a:pt x="2195576" y="379349"/>
                  </a:lnTo>
                  <a:lnTo>
                    <a:pt x="2195576" y="366649"/>
                  </a:lnTo>
                  <a:close/>
                </a:path>
                <a:path w="2195829" h="746125">
                  <a:moveTo>
                    <a:pt x="44450" y="366649"/>
                  </a:moveTo>
                  <a:lnTo>
                    <a:pt x="38100" y="366649"/>
                  </a:lnTo>
                  <a:lnTo>
                    <a:pt x="44450" y="372999"/>
                  </a:lnTo>
                  <a:lnTo>
                    <a:pt x="44450" y="366649"/>
                  </a:lnTo>
                  <a:close/>
                </a:path>
                <a:path w="2195829" h="746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195829" h="746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5105400" y="5181600"/>
              <a:ext cx="1208405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17</a:t>
              </a:r>
              <a:endParaRPr sz="900">
                <a:latin typeface="Tahoma"/>
                <a:cs typeface="Tahoma"/>
              </a:endParaRPr>
            </a:p>
            <a:p>
              <a:pPr marL="92710" marR="82550" indent="-254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MEJORADAS  TECNOLOGÍAS  DE</a:t>
              </a:r>
              <a:r>
                <a:rPr sz="900" b="1" spc="-5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679950" y="4892675"/>
              <a:ext cx="1036955" cy="288925"/>
            </a:xfrm>
            <a:custGeom>
              <a:avLst/>
              <a:gdLst/>
              <a:ahLst/>
              <a:cxnLst/>
              <a:rect l="l" t="t" r="r" b="b"/>
              <a:pathLst>
                <a:path w="1036954" h="288925">
                  <a:moveTo>
                    <a:pt x="1023874" y="144399"/>
                  </a:moveTo>
                  <a:lnTo>
                    <a:pt x="1023874" y="288925"/>
                  </a:lnTo>
                  <a:lnTo>
                    <a:pt x="1036574" y="288925"/>
                  </a:lnTo>
                  <a:lnTo>
                    <a:pt x="1036574" y="150749"/>
                  </a:lnTo>
                  <a:lnTo>
                    <a:pt x="1030224" y="150749"/>
                  </a:lnTo>
                  <a:lnTo>
                    <a:pt x="1023874" y="144399"/>
                  </a:lnTo>
                  <a:close/>
                </a:path>
                <a:path w="1036954" h="288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50749"/>
                  </a:lnTo>
                  <a:lnTo>
                    <a:pt x="1023874" y="150749"/>
                  </a:lnTo>
                  <a:lnTo>
                    <a:pt x="1023874" y="144399"/>
                  </a:lnTo>
                  <a:lnTo>
                    <a:pt x="44450" y="144399"/>
                  </a:lnTo>
                  <a:lnTo>
                    <a:pt x="38100" y="138049"/>
                  </a:lnTo>
                  <a:lnTo>
                    <a:pt x="44450" y="138049"/>
                  </a:lnTo>
                  <a:lnTo>
                    <a:pt x="44450" y="63500"/>
                  </a:lnTo>
                  <a:close/>
                </a:path>
                <a:path w="1036954" h="288925">
                  <a:moveTo>
                    <a:pt x="1036574" y="138049"/>
                  </a:moveTo>
                  <a:lnTo>
                    <a:pt x="44450" y="138049"/>
                  </a:lnTo>
                  <a:lnTo>
                    <a:pt x="44450" y="144399"/>
                  </a:lnTo>
                  <a:lnTo>
                    <a:pt x="1023874" y="144399"/>
                  </a:lnTo>
                  <a:lnTo>
                    <a:pt x="1030224" y="150749"/>
                  </a:lnTo>
                  <a:lnTo>
                    <a:pt x="1036574" y="150749"/>
                  </a:lnTo>
                  <a:lnTo>
                    <a:pt x="1036574" y="138049"/>
                  </a:lnTo>
                  <a:close/>
                </a:path>
                <a:path w="1036954" h="288925">
                  <a:moveTo>
                    <a:pt x="44450" y="138049"/>
                  </a:moveTo>
                  <a:lnTo>
                    <a:pt x="38100" y="138049"/>
                  </a:lnTo>
                  <a:lnTo>
                    <a:pt x="44450" y="144399"/>
                  </a:lnTo>
                  <a:lnTo>
                    <a:pt x="44450" y="138049"/>
                  </a:lnTo>
                  <a:close/>
                </a:path>
                <a:path w="1036954" h="288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36954" h="288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4267200" y="5943600"/>
              <a:ext cx="125095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18</a:t>
              </a:r>
              <a:endParaRPr sz="900">
                <a:latin typeface="Tahoma"/>
                <a:cs typeface="Tahoma"/>
              </a:endParaRPr>
            </a:p>
            <a:p>
              <a:pPr marL="92075" marR="85090" indent="-29209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INCENTIVOS  ADECUADOS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4679950" y="4892675"/>
              <a:ext cx="219075" cy="1050925"/>
            </a:xfrm>
            <a:custGeom>
              <a:avLst/>
              <a:gdLst/>
              <a:ahLst/>
              <a:cxnLst/>
              <a:rect l="l" t="t" r="r" b="b"/>
              <a:pathLst>
                <a:path w="219075" h="1050925">
                  <a:moveTo>
                    <a:pt x="206375" y="525399"/>
                  </a:moveTo>
                  <a:lnTo>
                    <a:pt x="206375" y="1050925"/>
                  </a:lnTo>
                  <a:lnTo>
                    <a:pt x="219075" y="1050925"/>
                  </a:lnTo>
                  <a:lnTo>
                    <a:pt x="219075" y="531749"/>
                  </a:lnTo>
                  <a:lnTo>
                    <a:pt x="212725" y="531749"/>
                  </a:lnTo>
                  <a:lnTo>
                    <a:pt x="206375" y="525399"/>
                  </a:lnTo>
                  <a:close/>
                </a:path>
                <a:path w="219075" h="1050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1749"/>
                  </a:lnTo>
                  <a:lnTo>
                    <a:pt x="206375" y="531749"/>
                  </a:lnTo>
                  <a:lnTo>
                    <a:pt x="206375" y="525399"/>
                  </a:lnTo>
                  <a:lnTo>
                    <a:pt x="44450" y="525399"/>
                  </a:lnTo>
                  <a:lnTo>
                    <a:pt x="38100" y="519049"/>
                  </a:lnTo>
                  <a:lnTo>
                    <a:pt x="44450" y="519049"/>
                  </a:lnTo>
                  <a:lnTo>
                    <a:pt x="44450" y="63500"/>
                  </a:lnTo>
                  <a:close/>
                </a:path>
                <a:path w="219075" h="1050925">
                  <a:moveTo>
                    <a:pt x="219075" y="519049"/>
                  </a:moveTo>
                  <a:lnTo>
                    <a:pt x="44450" y="519049"/>
                  </a:lnTo>
                  <a:lnTo>
                    <a:pt x="44450" y="525399"/>
                  </a:lnTo>
                  <a:lnTo>
                    <a:pt x="206375" y="525399"/>
                  </a:lnTo>
                  <a:lnTo>
                    <a:pt x="212725" y="531749"/>
                  </a:lnTo>
                  <a:lnTo>
                    <a:pt x="219075" y="531749"/>
                  </a:lnTo>
                  <a:lnTo>
                    <a:pt x="219075" y="519049"/>
                  </a:lnTo>
                  <a:close/>
                </a:path>
                <a:path w="219075" h="1050925">
                  <a:moveTo>
                    <a:pt x="44450" y="519049"/>
                  </a:moveTo>
                  <a:lnTo>
                    <a:pt x="38100" y="519049"/>
                  </a:lnTo>
                  <a:lnTo>
                    <a:pt x="44450" y="525399"/>
                  </a:lnTo>
                  <a:lnTo>
                    <a:pt x="44450" y="519049"/>
                  </a:lnTo>
                  <a:close/>
                </a:path>
                <a:path w="219075" h="1050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19075" h="1050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050925" y="5956300"/>
              <a:ext cx="120523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13</a:t>
              </a:r>
              <a:endParaRPr sz="900">
                <a:latin typeface="Tahoma"/>
                <a:cs typeface="Tahoma"/>
              </a:endParaRPr>
            </a:p>
            <a:p>
              <a:pPr marL="90170" marR="8191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</a:t>
              </a:r>
              <a:r>
                <a:rPr sz="900" b="1" dirty="0">
                  <a:latin typeface="Tahoma"/>
                  <a:cs typeface="Tahoma"/>
                </a:rPr>
                <a:t>NT</a:t>
              </a:r>
              <a:r>
                <a:rPr sz="900" b="1" spc="-5" dirty="0">
                  <a:latin typeface="Tahoma"/>
                  <a:cs typeface="Tahoma"/>
                </a:rPr>
                <a:t>ENIMIENTO  ADECUADO DE  COSECHADORAS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287525" y="762000"/>
              <a:ext cx="1627505" cy="5492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000" b="1" spc="-5" dirty="0">
                  <a:latin typeface="Tahoma"/>
                  <a:cs typeface="Tahoma"/>
                </a:rPr>
                <a:t>19</a:t>
              </a:r>
              <a:endParaRPr sz="1000">
                <a:latin typeface="Tahoma"/>
                <a:cs typeface="Tahoma"/>
              </a:endParaRPr>
            </a:p>
            <a:p>
              <a:pPr marL="94615" marR="89535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AMENAZAS A LA  SALUD</a:t>
              </a:r>
              <a:r>
                <a:rPr sz="1000" b="1" spc="-7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CONTROLADAS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2000250" y="1311275"/>
              <a:ext cx="139700" cy="21272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228600" y="5181600"/>
              <a:ext cx="1139825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20</a:t>
              </a:r>
              <a:endParaRPr sz="900">
                <a:latin typeface="Tahoma"/>
                <a:cs typeface="Tahoma"/>
              </a:endParaRPr>
            </a:p>
            <a:p>
              <a:pPr marL="91440" marR="83820" indent="-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ADECUADO  DISEÑO DE LAS  C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EC</a:t>
              </a:r>
              <a:r>
                <a:rPr sz="900" b="1" spc="-10" dirty="0">
                  <a:latin typeface="Tahoma"/>
                  <a:cs typeface="Tahoma"/>
                </a:rPr>
                <a:t>H</a:t>
              </a:r>
              <a:r>
                <a:rPr sz="900" b="1" spc="-5" dirty="0">
                  <a:latin typeface="Tahoma"/>
                  <a:cs typeface="Tahoma"/>
                </a:rPr>
                <a:t>AD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92162" y="4892675"/>
              <a:ext cx="838200" cy="288925"/>
            </a:xfrm>
            <a:custGeom>
              <a:avLst/>
              <a:gdLst/>
              <a:ahLst/>
              <a:cxnLst/>
              <a:rect l="l" t="t" r="r" b="b"/>
              <a:pathLst>
                <a:path w="838200" h="288925">
                  <a:moveTo>
                    <a:pt x="793686" y="138049"/>
                  </a:moveTo>
                  <a:lnTo>
                    <a:pt x="0" y="138049"/>
                  </a:lnTo>
                  <a:lnTo>
                    <a:pt x="0" y="288925"/>
                  </a:lnTo>
                  <a:lnTo>
                    <a:pt x="12700" y="288925"/>
                  </a:lnTo>
                  <a:lnTo>
                    <a:pt x="12700" y="150749"/>
                  </a:lnTo>
                  <a:lnTo>
                    <a:pt x="6350" y="150749"/>
                  </a:lnTo>
                  <a:lnTo>
                    <a:pt x="12700" y="144399"/>
                  </a:lnTo>
                  <a:lnTo>
                    <a:pt x="793686" y="144399"/>
                  </a:lnTo>
                  <a:lnTo>
                    <a:pt x="793686" y="138049"/>
                  </a:lnTo>
                  <a:close/>
                </a:path>
                <a:path w="838200" h="288925">
                  <a:moveTo>
                    <a:pt x="12700" y="144399"/>
                  </a:moveTo>
                  <a:lnTo>
                    <a:pt x="6350" y="150749"/>
                  </a:lnTo>
                  <a:lnTo>
                    <a:pt x="12700" y="150749"/>
                  </a:lnTo>
                  <a:lnTo>
                    <a:pt x="12700" y="144399"/>
                  </a:lnTo>
                  <a:close/>
                </a:path>
                <a:path w="838200" h="288925">
                  <a:moveTo>
                    <a:pt x="806386" y="138049"/>
                  </a:moveTo>
                  <a:lnTo>
                    <a:pt x="800036" y="138049"/>
                  </a:lnTo>
                  <a:lnTo>
                    <a:pt x="793686" y="144399"/>
                  </a:lnTo>
                  <a:lnTo>
                    <a:pt x="12700" y="144399"/>
                  </a:lnTo>
                  <a:lnTo>
                    <a:pt x="12700" y="150749"/>
                  </a:lnTo>
                  <a:lnTo>
                    <a:pt x="806386" y="150749"/>
                  </a:lnTo>
                  <a:lnTo>
                    <a:pt x="806386" y="138049"/>
                  </a:lnTo>
                  <a:close/>
                </a:path>
                <a:path w="838200" h="288925">
                  <a:moveTo>
                    <a:pt x="806386" y="63500"/>
                  </a:moveTo>
                  <a:lnTo>
                    <a:pt x="793686" y="63500"/>
                  </a:lnTo>
                  <a:lnTo>
                    <a:pt x="793686" y="144399"/>
                  </a:lnTo>
                  <a:lnTo>
                    <a:pt x="800036" y="138049"/>
                  </a:lnTo>
                  <a:lnTo>
                    <a:pt x="806386" y="138049"/>
                  </a:lnTo>
                  <a:lnTo>
                    <a:pt x="806386" y="63500"/>
                  </a:lnTo>
                  <a:close/>
                </a:path>
                <a:path w="838200" h="288925">
                  <a:moveTo>
                    <a:pt x="800036" y="0"/>
                  </a:moveTo>
                  <a:lnTo>
                    <a:pt x="761936" y="76200"/>
                  </a:lnTo>
                  <a:lnTo>
                    <a:pt x="793686" y="76200"/>
                  </a:lnTo>
                  <a:lnTo>
                    <a:pt x="793686" y="63500"/>
                  </a:lnTo>
                  <a:lnTo>
                    <a:pt x="831786" y="63500"/>
                  </a:lnTo>
                  <a:lnTo>
                    <a:pt x="800036" y="0"/>
                  </a:lnTo>
                  <a:close/>
                </a:path>
                <a:path w="838200" h="288925">
                  <a:moveTo>
                    <a:pt x="831786" y="63500"/>
                  </a:moveTo>
                  <a:lnTo>
                    <a:pt x="806386" y="63500"/>
                  </a:lnTo>
                  <a:lnTo>
                    <a:pt x="806386" y="76200"/>
                  </a:lnTo>
                  <a:lnTo>
                    <a:pt x="838136" y="76200"/>
                  </a:lnTo>
                  <a:lnTo>
                    <a:pt x="83178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6400800" y="4343400"/>
              <a:ext cx="2275205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21</a:t>
              </a:r>
              <a:endParaRPr sz="1000">
                <a:latin typeface="Tahoma"/>
                <a:cs typeface="Tahoma"/>
              </a:endParaRPr>
            </a:p>
            <a:p>
              <a:pPr marL="95885" marR="88900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NUEVA </a:t>
              </a:r>
              <a:r>
                <a:rPr sz="1000" b="1" spc="-5" dirty="0">
                  <a:latin typeface="Tahoma"/>
                  <a:cs typeface="Tahoma"/>
                </a:rPr>
                <a:t>VARIEDAD </a:t>
              </a:r>
              <a:r>
                <a:rPr sz="1000" b="1" spc="-10" dirty="0">
                  <a:latin typeface="Tahoma"/>
                  <a:cs typeface="Tahoma"/>
                </a:rPr>
                <a:t>DE FRUTA  RESISTENTE </a:t>
              </a:r>
              <a:r>
                <a:rPr sz="1000" b="1" spc="-5" dirty="0">
                  <a:latin typeface="Tahoma"/>
                  <a:cs typeface="Tahoma"/>
                </a:rPr>
                <a:t>A LA</a:t>
              </a:r>
              <a:r>
                <a:rPr sz="1000" b="1" spc="-1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384675" y="3911600"/>
              <a:ext cx="3161030" cy="431800"/>
            </a:xfrm>
            <a:custGeom>
              <a:avLst/>
              <a:gdLst/>
              <a:ahLst/>
              <a:cxnLst/>
              <a:rect l="l" t="t" r="r" b="b"/>
              <a:pathLst>
                <a:path w="3161029" h="431800">
                  <a:moveTo>
                    <a:pt x="3147949" y="215900"/>
                  </a:moveTo>
                  <a:lnTo>
                    <a:pt x="3147949" y="431800"/>
                  </a:lnTo>
                  <a:lnTo>
                    <a:pt x="3160649" y="431800"/>
                  </a:lnTo>
                  <a:lnTo>
                    <a:pt x="3160649" y="222250"/>
                  </a:lnTo>
                  <a:lnTo>
                    <a:pt x="3154299" y="222250"/>
                  </a:lnTo>
                  <a:lnTo>
                    <a:pt x="3147949" y="215900"/>
                  </a:lnTo>
                  <a:close/>
                </a:path>
                <a:path w="3161029" h="431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2250"/>
                  </a:lnTo>
                  <a:lnTo>
                    <a:pt x="3147949" y="222250"/>
                  </a:lnTo>
                  <a:lnTo>
                    <a:pt x="3147949" y="215900"/>
                  </a:lnTo>
                  <a:lnTo>
                    <a:pt x="44450" y="215900"/>
                  </a:lnTo>
                  <a:lnTo>
                    <a:pt x="38100" y="209550"/>
                  </a:lnTo>
                  <a:lnTo>
                    <a:pt x="44450" y="209550"/>
                  </a:lnTo>
                  <a:lnTo>
                    <a:pt x="44450" y="63500"/>
                  </a:lnTo>
                  <a:close/>
                </a:path>
                <a:path w="3161029" h="431800">
                  <a:moveTo>
                    <a:pt x="3160649" y="209550"/>
                  </a:moveTo>
                  <a:lnTo>
                    <a:pt x="44450" y="209550"/>
                  </a:lnTo>
                  <a:lnTo>
                    <a:pt x="44450" y="215900"/>
                  </a:lnTo>
                  <a:lnTo>
                    <a:pt x="3147949" y="215900"/>
                  </a:lnTo>
                  <a:lnTo>
                    <a:pt x="3154299" y="222250"/>
                  </a:lnTo>
                  <a:lnTo>
                    <a:pt x="3160649" y="222250"/>
                  </a:lnTo>
                  <a:lnTo>
                    <a:pt x="3160649" y="209550"/>
                  </a:lnTo>
                  <a:close/>
                </a:path>
                <a:path w="3161029" h="431800">
                  <a:moveTo>
                    <a:pt x="44450" y="209550"/>
                  </a:moveTo>
                  <a:lnTo>
                    <a:pt x="38100" y="209550"/>
                  </a:lnTo>
                  <a:lnTo>
                    <a:pt x="44450" y="215900"/>
                  </a:lnTo>
                  <a:lnTo>
                    <a:pt x="44450" y="209550"/>
                  </a:lnTo>
                  <a:close/>
                </a:path>
                <a:path w="3161029" h="431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161029" h="431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772400" y="5257800"/>
              <a:ext cx="111760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23</a:t>
              </a:r>
              <a:endParaRPr sz="900">
                <a:latin typeface="Tahoma"/>
                <a:cs typeface="Tahoma"/>
              </a:endParaRPr>
            </a:p>
            <a:p>
              <a:pPr marL="92710" marR="8191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DE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spc="-10" dirty="0">
                  <a:latin typeface="Tahoma"/>
                  <a:cs typeface="Tahoma"/>
                </a:rPr>
                <a:t>RR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5" dirty="0">
                  <a:latin typeface="Tahoma"/>
                  <a:cs typeface="Tahoma"/>
                </a:rPr>
                <a:t>LLADA  NUEVA  VARIEDAD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865873" y="4892675"/>
              <a:ext cx="711200" cy="365125"/>
            </a:xfrm>
            <a:custGeom>
              <a:avLst/>
              <a:gdLst/>
              <a:ahLst/>
              <a:cxnLst/>
              <a:rect l="l" t="t" r="r" b="b"/>
              <a:pathLst>
                <a:path w="711200" h="365125">
                  <a:moveTo>
                    <a:pt x="666750" y="176149"/>
                  </a:moveTo>
                  <a:lnTo>
                    <a:pt x="0" y="176149"/>
                  </a:lnTo>
                  <a:lnTo>
                    <a:pt x="0" y="365125"/>
                  </a:lnTo>
                  <a:lnTo>
                    <a:pt x="12700" y="365125"/>
                  </a:lnTo>
                  <a:lnTo>
                    <a:pt x="12700" y="188849"/>
                  </a:lnTo>
                  <a:lnTo>
                    <a:pt x="6350" y="188849"/>
                  </a:lnTo>
                  <a:lnTo>
                    <a:pt x="12700" y="182499"/>
                  </a:lnTo>
                  <a:lnTo>
                    <a:pt x="666750" y="182499"/>
                  </a:lnTo>
                  <a:lnTo>
                    <a:pt x="666750" y="176149"/>
                  </a:lnTo>
                  <a:close/>
                </a:path>
                <a:path w="711200" h="365125">
                  <a:moveTo>
                    <a:pt x="12700" y="182499"/>
                  </a:moveTo>
                  <a:lnTo>
                    <a:pt x="6350" y="188849"/>
                  </a:lnTo>
                  <a:lnTo>
                    <a:pt x="12700" y="188849"/>
                  </a:lnTo>
                  <a:lnTo>
                    <a:pt x="12700" y="182499"/>
                  </a:lnTo>
                  <a:close/>
                </a:path>
                <a:path w="711200" h="365125">
                  <a:moveTo>
                    <a:pt x="679450" y="176149"/>
                  </a:moveTo>
                  <a:lnTo>
                    <a:pt x="673100" y="176149"/>
                  </a:lnTo>
                  <a:lnTo>
                    <a:pt x="666750" y="182499"/>
                  </a:lnTo>
                  <a:lnTo>
                    <a:pt x="12700" y="182499"/>
                  </a:lnTo>
                  <a:lnTo>
                    <a:pt x="12700" y="188849"/>
                  </a:lnTo>
                  <a:lnTo>
                    <a:pt x="679450" y="188849"/>
                  </a:lnTo>
                  <a:lnTo>
                    <a:pt x="679450" y="176149"/>
                  </a:lnTo>
                  <a:close/>
                </a:path>
                <a:path w="711200" h="365125">
                  <a:moveTo>
                    <a:pt x="679450" y="63500"/>
                  </a:moveTo>
                  <a:lnTo>
                    <a:pt x="666750" y="63500"/>
                  </a:lnTo>
                  <a:lnTo>
                    <a:pt x="666750" y="182499"/>
                  </a:lnTo>
                  <a:lnTo>
                    <a:pt x="673100" y="176149"/>
                  </a:lnTo>
                  <a:lnTo>
                    <a:pt x="679450" y="176149"/>
                  </a:lnTo>
                  <a:lnTo>
                    <a:pt x="679450" y="63500"/>
                  </a:lnTo>
                  <a:close/>
                </a:path>
                <a:path w="711200" h="365125">
                  <a:moveTo>
                    <a:pt x="673100" y="0"/>
                  </a:moveTo>
                  <a:lnTo>
                    <a:pt x="635000" y="76200"/>
                  </a:lnTo>
                  <a:lnTo>
                    <a:pt x="666750" y="76200"/>
                  </a:lnTo>
                  <a:lnTo>
                    <a:pt x="666750" y="63500"/>
                  </a:lnTo>
                  <a:lnTo>
                    <a:pt x="704850" y="63500"/>
                  </a:lnTo>
                  <a:lnTo>
                    <a:pt x="673100" y="0"/>
                  </a:lnTo>
                  <a:close/>
                </a:path>
                <a:path w="711200" h="365125">
                  <a:moveTo>
                    <a:pt x="704850" y="63500"/>
                  </a:moveTo>
                  <a:lnTo>
                    <a:pt x="679450" y="63500"/>
                  </a:lnTo>
                  <a:lnTo>
                    <a:pt x="679450" y="76200"/>
                  </a:lnTo>
                  <a:lnTo>
                    <a:pt x="711200" y="76200"/>
                  </a:lnTo>
                  <a:lnTo>
                    <a:pt x="704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500873" y="4892675"/>
              <a:ext cx="836930" cy="365125"/>
            </a:xfrm>
            <a:custGeom>
              <a:avLst/>
              <a:gdLst/>
              <a:ahLst/>
              <a:cxnLst/>
              <a:rect l="l" t="t" r="r" b="b"/>
              <a:pathLst>
                <a:path w="836929" h="365125">
                  <a:moveTo>
                    <a:pt x="823976" y="182499"/>
                  </a:moveTo>
                  <a:lnTo>
                    <a:pt x="823976" y="365125"/>
                  </a:lnTo>
                  <a:lnTo>
                    <a:pt x="836676" y="365125"/>
                  </a:lnTo>
                  <a:lnTo>
                    <a:pt x="836676" y="188849"/>
                  </a:lnTo>
                  <a:lnTo>
                    <a:pt x="830326" y="188849"/>
                  </a:lnTo>
                  <a:lnTo>
                    <a:pt x="823976" y="182499"/>
                  </a:lnTo>
                  <a:close/>
                </a:path>
                <a:path w="836929" h="365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8849"/>
                  </a:lnTo>
                  <a:lnTo>
                    <a:pt x="823976" y="188849"/>
                  </a:lnTo>
                  <a:lnTo>
                    <a:pt x="823976" y="182499"/>
                  </a:lnTo>
                  <a:lnTo>
                    <a:pt x="44450" y="182499"/>
                  </a:lnTo>
                  <a:lnTo>
                    <a:pt x="38100" y="176149"/>
                  </a:lnTo>
                  <a:lnTo>
                    <a:pt x="44450" y="176149"/>
                  </a:lnTo>
                  <a:lnTo>
                    <a:pt x="44450" y="63500"/>
                  </a:lnTo>
                  <a:close/>
                </a:path>
                <a:path w="836929" h="365125">
                  <a:moveTo>
                    <a:pt x="836676" y="176149"/>
                  </a:moveTo>
                  <a:lnTo>
                    <a:pt x="44450" y="176149"/>
                  </a:lnTo>
                  <a:lnTo>
                    <a:pt x="44450" y="182499"/>
                  </a:lnTo>
                  <a:lnTo>
                    <a:pt x="823976" y="182499"/>
                  </a:lnTo>
                  <a:lnTo>
                    <a:pt x="830326" y="188849"/>
                  </a:lnTo>
                  <a:lnTo>
                    <a:pt x="836676" y="188849"/>
                  </a:lnTo>
                  <a:lnTo>
                    <a:pt x="836676" y="176149"/>
                  </a:lnTo>
                  <a:close/>
                </a:path>
                <a:path w="836929" h="365125">
                  <a:moveTo>
                    <a:pt x="44450" y="176149"/>
                  </a:moveTo>
                  <a:lnTo>
                    <a:pt x="38100" y="176149"/>
                  </a:lnTo>
                  <a:lnTo>
                    <a:pt x="44450" y="182499"/>
                  </a:lnTo>
                  <a:lnTo>
                    <a:pt x="44450" y="176149"/>
                  </a:lnTo>
                  <a:close/>
                </a:path>
                <a:path w="836929" h="365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836929" h="365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6477000" y="5257800"/>
              <a:ext cx="1174750" cy="774700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22</a:t>
              </a:r>
              <a:endParaRPr sz="900">
                <a:latin typeface="Tahoma"/>
                <a:cs typeface="Tahoma"/>
              </a:endParaRPr>
            </a:p>
            <a:p>
              <a:pPr marL="92710" marR="8445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ADAPTADAS </a:t>
              </a:r>
              <a:r>
                <a:rPr sz="900" b="1" dirty="0">
                  <a:latin typeface="Tahoma"/>
                  <a:cs typeface="Tahoma"/>
                </a:rPr>
                <a:t>A</a:t>
              </a:r>
              <a:r>
                <a:rPr sz="900" b="1" spc="-10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LA  REGIÓN OTRAS  VARIEDADES</a:t>
              </a:r>
              <a:endParaRPr sz="900">
                <a:latin typeface="Tahoma"/>
                <a:cs typeface="Tahoma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5800"/>
            <a:ext cx="382651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4800" spc="-5" dirty="0"/>
              <a:t>Paso 5:</a:t>
            </a:r>
            <a:endParaRPr sz="4800" dirty="0"/>
          </a:p>
        </p:txBody>
      </p:sp>
      <p:sp>
        <p:nvSpPr>
          <p:cNvPr id="4" name="object 4"/>
          <p:cNvSpPr txBox="1"/>
          <p:nvPr/>
        </p:nvSpPr>
        <p:spPr>
          <a:xfrm>
            <a:off x="3200400" y="3138650"/>
            <a:ext cx="3810000" cy="94961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065" marR="5080" algn="ctr">
              <a:lnSpc>
                <a:spcPts val="3240"/>
              </a:lnSpc>
              <a:spcBef>
                <a:spcPts val="505"/>
              </a:spcBef>
              <a:buClr>
                <a:srgbClr val="333399"/>
              </a:buClr>
              <a:tabLst>
                <a:tab pos="393065" algn="l"/>
              </a:tabLst>
            </a:pPr>
            <a:r>
              <a:rPr lang="es-419" sz="28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Generar alternativas</a:t>
            </a:r>
          </a:p>
          <a:p>
            <a:pPr marL="12065" marR="5080" algn="ctr">
              <a:lnSpc>
                <a:spcPts val="3240"/>
              </a:lnSpc>
              <a:spcBef>
                <a:spcPts val="505"/>
              </a:spcBef>
              <a:buClr>
                <a:srgbClr val="333399"/>
              </a:buClr>
              <a:tabLst>
                <a:tab pos="393065" algn="l"/>
              </a:tabLst>
            </a:pPr>
            <a:r>
              <a:rPr lang="es-419" sz="2800" spc="-5" dirty="0">
                <a:solidFill>
                  <a:schemeClr val="bg2">
                    <a:lumMod val="25000"/>
                  </a:schemeClr>
                </a:solidFill>
                <a:latin typeface="+mj-lt"/>
                <a:cs typeface="Comic Sans MS"/>
              </a:rPr>
              <a:t>de solución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74" t="32217" r="22759" b="33572"/>
          <a:stretch/>
        </p:blipFill>
        <p:spPr>
          <a:xfrm>
            <a:off x="609600" y="2491184"/>
            <a:ext cx="2743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71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13029" y="154997"/>
            <a:ext cx="67691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Explorar combinaciones </a:t>
            </a:r>
            <a:r>
              <a:rPr sz="2400" spc="-5" dirty="0"/>
              <a:t>de medios </a:t>
            </a:r>
            <a:r>
              <a:rPr sz="2400" dirty="0"/>
              <a:t>para</a:t>
            </a:r>
            <a:r>
              <a:rPr sz="2400" spc="-95" dirty="0"/>
              <a:t> </a:t>
            </a:r>
            <a:r>
              <a:rPr sz="2400" dirty="0" err="1"/>
              <a:t>generar</a:t>
            </a:r>
            <a:br>
              <a:rPr lang="es-419" sz="2400" dirty="0"/>
            </a:br>
            <a:r>
              <a:rPr lang="es-419" sz="2400" dirty="0"/>
              <a:t>alternativas de solución</a:t>
            </a:r>
            <a:endParaRPr sz="2400" dirty="0"/>
          </a:p>
        </p:txBody>
      </p:sp>
      <p:grpSp>
        <p:nvGrpSpPr>
          <p:cNvPr id="42" name="Grupo 41"/>
          <p:cNvGrpSpPr/>
          <p:nvPr/>
        </p:nvGrpSpPr>
        <p:grpSpPr>
          <a:xfrm>
            <a:off x="228600" y="949325"/>
            <a:ext cx="8651875" cy="5832475"/>
            <a:chOff x="228600" y="762000"/>
            <a:chExt cx="8651875" cy="5832475"/>
          </a:xfrm>
        </p:grpSpPr>
        <p:sp>
          <p:nvSpPr>
            <p:cNvPr id="2" name="object 2"/>
            <p:cNvSpPr/>
            <p:nvPr/>
          </p:nvSpPr>
          <p:spPr>
            <a:xfrm>
              <a:off x="3497579" y="3351276"/>
              <a:ext cx="1842515" cy="6766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594353" y="3386709"/>
              <a:ext cx="1657350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1</a:t>
              </a:r>
              <a:endParaRPr sz="1000">
                <a:latin typeface="Tahoma"/>
                <a:cs typeface="Tahoma"/>
              </a:endParaRPr>
            </a:p>
            <a:p>
              <a:pPr marL="12065" marR="508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NO </a:t>
              </a:r>
              <a:r>
                <a:rPr sz="1000" b="1" spc="-10" dirty="0">
                  <a:latin typeface="Tahoma"/>
                  <a:cs typeface="Tahoma"/>
                </a:rPr>
                <a:t>DETERIORADA  EN </a:t>
              </a:r>
              <a:r>
                <a:rPr sz="1000" b="1" spc="-5" dirty="0">
                  <a:latin typeface="Tahoma"/>
                  <a:cs typeface="Tahoma"/>
                </a:rPr>
                <a:t>LA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575050" y="762000"/>
              <a:ext cx="1698625" cy="5492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000" b="1" spc="-5" dirty="0">
                  <a:latin typeface="Tahoma"/>
                  <a:cs typeface="Tahoma"/>
                </a:rPr>
                <a:t>2</a:t>
              </a:r>
              <a:endParaRPr sz="1000">
                <a:latin typeface="Tahoma"/>
                <a:cs typeface="Tahoma"/>
              </a:endParaRPr>
            </a:p>
            <a:p>
              <a:pPr marL="95250" marR="88900" indent="-635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MAYORES </a:t>
              </a:r>
              <a:r>
                <a:rPr sz="1000" b="1" spc="-10" dirty="0">
                  <a:latin typeface="Tahoma"/>
                  <a:cs typeface="Tahoma"/>
                </a:rPr>
                <a:t>INGRESOS  DE </a:t>
              </a:r>
              <a:r>
                <a:rPr sz="1000" b="1" spc="-5" dirty="0">
                  <a:latin typeface="Tahoma"/>
                  <a:cs typeface="Tahoma"/>
                </a:rPr>
                <a:t>LOS</a:t>
              </a:r>
              <a:r>
                <a:rPr sz="1000" b="1" spc="-3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AGRICULTORES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581400" y="2438400"/>
              <a:ext cx="1720850" cy="549275"/>
            </a:xfrm>
            <a:custGeom>
              <a:avLst/>
              <a:gdLst/>
              <a:ahLst/>
              <a:cxnLst/>
              <a:rect l="l" t="t" r="r" b="b"/>
              <a:pathLst>
                <a:path w="1720850" h="549275">
                  <a:moveTo>
                    <a:pt x="0" y="549275"/>
                  </a:moveTo>
                  <a:lnTo>
                    <a:pt x="1720850" y="549275"/>
                  </a:lnTo>
                  <a:lnTo>
                    <a:pt x="1720850" y="0"/>
                  </a:lnTo>
                  <a:lnTo>
                    <a:pt x="0" y="0"/>
                  </a:lnTo>
                  <a:lnTo>
                    <a:pt x="0" y="549275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3581400" y="2472054"/>
              <a:ext cx="1720850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5</a:t>
              </a:r>
              <a:endParaRPr sz="1000">
                <a:latin typeface="Tahoma"/>
                <a:cs typeface="Tahoma"/>
              </a:endParaRPr>
            </a:p>
            <a:p>
              <a:pPr marL="93980" marR="87630" indent="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DISMINUIDAS  PÉRDIDAS 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COSECHA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905000" y="5181600"/>
              <a:ext cx="1101725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8</a:t>
              </a:r>
              <a:endParaRPr sz="900">
                <a:latin typeface="Tahoma"/>
                <a:cs typeface="Tahoma"/>
              </a:endParaRPr>
            </a:p>
            <a:p>
              <a:pPr marL="90170" marR="8318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MAQUINAS  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ECOLECT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  </a:t>
              </a:r>
              <a:r>
                <a:rPr sz="900" b="1" spc="-5" dirty="0">
                  <a:latin typeface="Tahoma"/>
                  <a:cs typeface="Tahoma"/>
                </a:rPr>
                <a:t>RENOVADAS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09600" y="4343400"/>
              <a:ext cx="1965325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94615" marR="8826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RECOLECTORAS  </a:t>
              </a:r>
              <a:r>
                <a:rPr sz="1000" b="1" spc="-5" dirty="0">
                  <a:latin typeface="Tahoma"/>
                  <a:cs typeface="Tahoma"/>
                </a:rPr>
                <a:t>CON </a:t>
              </a:r>
              <a:r>
                <a:rPr sz="1000" b="1" spc="-10" dirty="0">
                  <a:latin typeface="Tahoma"/>
                  <a:cs typeface="Tahoma"/>
                </a:rPr>
                <a:t>BUEN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DESEMPEÑO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810000" y="4343400"/>
              <a:ext cx="1816100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95250" marR="87630" indent="-1270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</a:t>
              </a:r>
              <a:r>
                <a:rPr sz="1000" b="1" spc="-10" dirty="0">
                  <a:latin typeface="Tahoma"/>
                  <a:cs typeface="Tahoma"/>
                </a:rPr>
                <a:t>TRATAN </a:t>
              </a:r>
              <a:r>
                <a:rPr sz="1000" b="1" spc="-5" dirty="0">
                  <a:latin typeface="Tahoma"/>
                  <a:cs typeface="Tahoma"/>
                </a:rPr>
                <a:t>BIEN  LA </a:t>
              </a: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AL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200400" y="5181600"/>
              <a:ext cx="139700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3</a:t>
              </a:r>
              <a:endParaRPr sz="900">
                <a:latin typeface="Tahoma"/>
                <a:cs typeface="Tahoma"/>
              </a:endParaRPr>
            </a:p>
            <a:p>
              <a:pPr marL="92710" marR="118110" indent="32384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OBREROS  CAPACITADOS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203325" y="2286000"/>
              <a:ext cx="1671955" cy="7016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0"/>
                </a:spcBef>
              </a:pPr>
              <a:r>
                <a:rPr sz="1000" b="1" spc="-5" dirty="0">
                  <a:latin typeface="Tahoma"/>
                  <a:cs typeface="Tahoma"/>
                </a:rPr>
                <a:t>15</a:t>
              </a:r>
              <a:endParaRPr sz="1000">
                <a:latin typeface="Tahoma"/>
                <a:cs typeface="Tahoma"/>
              </a:endParaRPr>
            </a:p>
            <a:p>
              <a:pPr marL="238125" marR="257810" indent="-1016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DISMINUCIÓN DE  C</a:t>
              </a:r>
              <a:r>
                <a:rPr sz="1000" b="1" spc="-5" dirty="0">
                  <a:latin typeface="Tahoma"/>
                  <a:cs typeface="Tahoma"/>
                </a:rPr>
                <a:t>ONTAMINA</a:t>
              </a:r>
              <a:r>
                <a:rPr sz="1000" b="1" spc="-10" dirty="0">
                  <a:latin typeface="Tahoma"/>
                  <a:cs typeface="Tahoma"/>
                </a:rPr>
                <a:t>CIÓN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POR </a:t>
              </a:r>
              <a:r>
                <a:rPr sz="1000" b="1" spc="-10" dirty="0">
                  <a:latin typeface="Tahoma"/>
                  <a:cs typeface="Tahoma"/>
                </a:rPr>
                <a:t>FRUTAS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DAÑADAS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1076325" y="1524000"/>
              <a:ext cx="1860550" cy="5492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000" b="1" spc="-5" dirty="0">
                  <a:latin typeface="Tahoma"/>
                  <a:cs typeface="Tahoma"/>
                </a:rPr>
                <a:t>6</a:t>
              </a:r>
              <a:endParaRPr sz="1000">
                <a:latin typeface="Tahoma"/>
                <a:cs typeface="Tahoma"/>
              </a:endParaRPr>
            </a:p>
            <a:p>
              <a:pPr marL="93345" marR="88265" indent="190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DISMINUCIÓN DE  </a:t>
              </a:r>
              <a:r>
                <a:rPr sz="1000" b="1" spc="-5" dirty="0">
                  <a:latin typeface="Tahoma"/>
                  <a:cs typeface="Tahoma"/>
                </a:rPr>
                <a:t>PLAGAS Y MALOS</a:t>
              </a:r>
              <a:r>
                <a:rPr sz="1000" b="1" spc="-4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OLORES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554099" y="4892675"/>
              <a:ext cx="106680" cy="1063625"/>
            </a:xfrm>
            <a:custGeom>
              <a:avLst/>
              <a:gdLst/>
              <a:ahLst/>
              <a:cxnLst/>
              <a:rect l="l" t="t" r="r" b="b"/>
              <a:pathLst>
                <a:path w="106680" h="1063625">
                  <a:moveTo>
                    <a:pt x="93725" y="531749"/>
                  </a:moveTo>
                  <a:lnTo>
                    <a:pt x="93725" y="1063625"/>
                  </a:lnTo>
                  <a:lnTo>
                    <a:pt x="106425" y="1063625"/>
                  </a:lnTo>
                  <a:lnTo>
                    <a:pt x="106425" y="538099"/>
                  </a:lnTo>
                  <a:lnTo>
                    <a:pt x="100075" y="538099"/>
                  </a:lnTo>
                  <a:lnTo>
                    <a:pt x="93725" y="531749"/>
                  </a:lnTo>
                  <a:close/>
                </a:path>
                <a:path w="106680" h="10636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8099"/>
                  </a:lnTo>
                  <a:lnTo>
                    <a:pt x="93725" y="538099"/>
                  </a:lnTo>
                  <a:lnTo>
                    <a:pt x="93725" y="531749"/>
                  </a:lnTo>
                  <a:lnTo>
                    <a:pt x="44450" y="531749"/>
                  </a:lnTo>
                  <a:lnTo>
                    <a:pt x="38100" y="525399"/>
                  </a:lnTo>
                  <a:lnTo>
                    <a:pt x="44450" y="525399"/>
                  </a:lnTo>
                  <a:lnTo>
                    <a:pt x="44450" y="63500"/>
                  </a:lnTo>
                  <a:close/>
                </a:path>
                <a:path w="106680" h="1063625">
                  <a:moveTo>
                    <a:pt x="106425" y="525399"/>
                  </a:moveTo>
                  <a:lnTo>
                    <a:pt x="44450" y="525399"/>
                  </a:lnTo>
                  <a:lnTo>
                    <a:pt x="44450" y="531749"/>
                  </a:lnTo>
                  <a:lnTo>
                    <a:pt x="93725" y="531749"/>
                  </a:lnTo>
                  <a:lnTo>
                    <a:pt x="100075" y="538099"/>
                  </a:lnTo>
                  <a:lnTo>
                    <a:pt x="106425" y="538099"/>
                  </a:lnTo>
                  <a:lnTo>
                    <a:pt x="106425" y="525399"/>
                  </a:lnTo>
                  <a:close/>
                </a:path>
                <a:path w="106680" h="1063625">
                  <a:moveTo>
                    <a:pt x="44450" y="525399"/>
                  </a:moveTo>
                  <a:lnTo>
                    <a:pt x="38100" y="525399"/>
                  </a:lnTo>
                  <a:lnTo>
                    <a:pt x="44450" y="531749"/>
                  </a:lnTo>
                  <a:lnTo>
                    <a:pt x="44450" y="525399"/>
                  </a:lnTo>
                  <a:close/>
                </a:path>
                <a:path w="106680" h="10636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6680" h="10636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54099" y="4892675"/>
              <a:ext cx="908050" cy="288925"/>
            </a:xfrm>
            <a:custGeom>
              <a:avLst/>
              <a:gdLst/>
              <a:ahLst/>
              <a:cxnLst/>
              <a:rect l="l" t="t" r="r" b="b"/>
              <a:pathLst>
                <a:path w="908050" h="288925">
                  <a:moveTo>
                    <a:pt x="895350" y="144399"/>
                  </a:moveTo>
                  <a:lnTo>
                    <a:pt x="895350" y="288925"/>
                  </a:lnTo>
                  <a:lnTo>
                    <a:pt x="908050" y="288925"/>
                  </a:lnTo>
                  <a:lnTo>
                    <a:pt x="908050" y="150749"/>
                  </a:lnTo>
                  <a:lnTo>
                    <a:pt x="901700" y="150749"/>
                  </a:lnTo>
                  <a:lnTo>
                    <a:pt x="895350" y="144399"/>
                  </a:lnTo>
                  <a:close/>
                </a:path>
                <a:path w="908050" h="288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50749"/>
                  </a:lnTo>
                  <a:lnTo>
                    <a:pt x="895350" y="150749"/>
                  </a:lnTo>
                  <a:lnTo>
                    <a:pt x="895350" y="144399"/>
                  </a:lnTo>
                  <a:lnTo>
                    <a:pt x="44450" y="144399"/>
                  </a:lnTo>
                  <a:lnTo>
                    <a:pt x="38100" y="138049"/>
                  </a:lnTo>
                  <a:lnTo>
                    <a:pt x="44450" y="138049"/>
                  </a:lnTo>
                  <a:lnTo>
                    <a:pt x="44450" y="63500"/>
                  </a:lnTo>
                  <a:close/>
                </a:path>
                <a:path w="908050" h="288925">
                  <a:moveTo>
                    <a:pt x="908050" y="138049"/>
                  </a:moveTo>
                  <a:lnTo>
                    <a:pt x="44450" y="138049"/>
                  </a:lnTo>
                  <a:lnTo>
                    <a:pt x="44450" y="144399"/>
                  </a:lnTo>
                  <a:lnTo>
                    <a:pt x="895350" y="144399"/>
                  </a:lnTo>
                  <a:lnTo>
                    <a:pt x="901700" y="150749"/>
                  </a:lnTo>
                  <a:lnTo>
                    <a:pt x="908050" y="150749"/>
                  </a:lnTo>
                  <a:lnTo>
                    <a:pt x="908050" y="138049"/>
                  </a:lnTo>
                  <a:close/>
                </a:path>
                <a:path w="908050" h="288925">
                  <a:moveTo>
                    <a:pt x="44450" y="138049"/>
                  </a:moveTo>
                  <a:lnTo>
                    <a:pt x="38100" y="138049"/>
                  </a:lnTo>
                  <a:lnTo>
                    <a:pt x="44450" y="144399"/>
                  </a:lnTo>
                  <a:lnTo>
                    <a:pt x="44450" y="138049"/>
                  </a:lnTo>
                  <a:close/>
                </a:path>
                <a:path w="908050" h="288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08050" h="288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92550" y="4892675"/>
              <a:ext cx="863600" cy="288925"/>
            </a:xfrm>
            <a:custGeom>
              <a:avLst/>
              <a:gdLst/>
              <a:ahLst/>
              <a:cxnLst/>
              <a:rect l="l" t="t" r="r" b="b"/>
              <a:pathLst>
                <a:path w="863600" h="288925">
                  <a:moveTo>
                    <a:pt x="819150" y="138049"/>
                  </a:moveTo>
                  <a:lnTo>
                    <a:pt x="0" y="138049"/>
                  </a:lnTo>
                  <a:lnTo>
                    <a:pt x="0" y="288925"/>
                  </a:lnTo>
                  <a:lnTo>
                    <a:pt x="12700" y="288925"/>
                  </a:lnTo>
                  <a:lnTo>
                    <a:pt x="12700" y="150749"/>
                  </a:lnTo>
                  <a:lnTo>
                    <a:pt x="6350" y="150749"/>
                  </a:lnTo>
                  <a:lnTo>
                    <a:pt x="12700" y="144399"/>
                  </a:lnTo>
                  <a:lnTo>
                    <a:pt x="819150" y="144399"/>
                  </a:lnTo>
                  <a:lnTo>
                    <a:pt x="819150" y="138049"/>
                  </a:lnTo>
                  <a:close/>
                </a:path>
                <a:path w="863600" h="288925">
                  <a:moveTo>
                    <a:pt x="12700" y="144399"/>
                  </a:moveTo>
                  <a:lnTo>
                    <a:pt x="6350" y="150749"/>
                  </a:lnTo>
                  <a:lnTo>
                    <a:pt x="12700" y="150749"/>
                  </a:lnTo>
                  <a:lnTo>
                    <a:pt x="12700" y="144399"/>
                  </a:lnTo>
                  <a:close/>
                </a:path>
                <a:path w="863600" h="288925">
                  <a:moveTo>
                    <a:pt x="831850" y="138049"/>
                  </a:moveTo>
                  <a:lnTo>
                    <a:pt x="825500" y="138049"/>
                  </a:lnTo>
                  <a:lnTo>
                    <a:pt x="819150" y="144399"/>
                  </a:lnTo>
                  <a:lnTo>
                    <a:pt x="12700" y="144399"/>
                  </a:lnTo>
                  <a:lnTo>
                    <a:pt x="12700" y="150749"/>
                  </a:lnTo>
                  <a:lnTo>
                    <a:pt x="831850" y="150749"/>
                  </a:lnTo>
                  <a:lnTo>
                    <a:pt x="831850" y="138049"/>
                  </a:lnTo>
                  <a:close/>
                </a:path>
                <a:path w="863600" h="288925">
                  <a:moveTo>
                    <a:pt x="831850" y="63500"/>
                  </a:moveTo>
                  <a:lnTo>
                    <a:pt x="819150" y="63500"/>
                  </a:lnTo>
                  <a:lnTo>
                    <a:pt x="819150" y="144399"/>
                  </a:lnTo>
                  <a:lnTo>
                    <a:pt x="825500" y="138049"/>
                  </a:lnTo>
                  <a:lnTo>
                    <a:pt x="831850" y="138049"/>
                  </a:lnTo>
                  <a:lnTo>
                    <a:pt x="831850" y="63500"/>
                  </a:lnTo>
                  <a:close/>
                </a:path>
                <a:path w="863600" h="288925">
                  <a:moveTo>
                    <a:pt x="825500" y="0"/>
                  </a:moveTo>
                  <a:lnTo>
                    <a:pt x="787400" y="76200"/>
                  </a:lnTo>
                  <a:lnTo>
                    <a:pt x="819150" y="76200"/>
                  </a:lnTo>
                  <a:lnTo>
                    <a:pt x="819150" y="63500"/>
                  </a:lnTo>
                  <a:lnTo>
                    <a:pt x="857250" y="63500"/>
                  </a:lnTo>
                  <a:lnTo>
                    <a:pt x="825500" y="0"/>
                  </a:lnTo>
                  <a:close/>
                </a:path>
                <a:path w="863600" h="288925">
                  <a:moveTo>
                    <a:pt x="857250" y="63500"/>
                  </a:moveTo>
                  <a:lnTo>
                    <a:pt x="831850" y="63500"/>
                  </a:lnTo>
                  <a:lnTo>
                    <a:pt x="831850" y="76200"/>
                  </a:lnTo>
                  <a:lnTo>
                    <a:pt x="863600" y="76200"/>
                  </a:lnTo>
                  <a:lnTo>
                    <a:pt x="8572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84675" y="3911600"/>
              <a:ext cx="339725" cy="431800"/>
            </a:xfrm>
            <a:custGeom>
              <a:avLst/>
              <a:gdLst/>
              <a:ahLst/>
              <a:cxnLst/>
              <a:rect l="l" t="t" r="r" b="b"/>
              <a:pathLst>
                <a:path w="339725" h="431800">
                  <a:moveTo>
                    <a:pt x="327025" y="215900"/>
                  </a:moveTo>
                  <a:lnTo>
                    <a:pt x="327025" y="431800"/>
                  </a:lnTo>
                  <a:lnTo>
                    <a:pt x="339725" y="431800"/>
                  </a:lnTo>
                  <a:lnTo>
                    <a:pt x="339725" y="222250"/>
                  </a:lnTo>
                  <a:lnTo>
                    <a:pt x="333375" y="222250"/>
                  </a:lnTo>
                  <a:lnTo>
                    <a:pt x="327025" y="215900"/>
                  </a:lnTo>
                  <a:close/>
                </a:path>
                <a:path w="339725" h="431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2250"/>
                  </a:lnTo>
                  <a:lnTo>
                    <a:pt x="327025" y="222250"/>
                  </a:lnTo>
                  <a:lnTo>
                    <a:pt x="327025" y="215900"/>
                  </a:lnTo>
                  <a:lnTo>
                    <a:pt x="44450" y="215900"/>
                  </a:lnTo>
                  <a:lnTo>
                    <a:pt x="38100" y="209550"/>
                  </a:lnTo>
                  <a:lnTo>
                    <a:pt x="44450" y="209550"/>
                  </a:lnTo>
                  <a:lnTo>
                    <a:pt x="44450" y="63500"/>
                  </a:lnTo>
                  <a:close/>
                </a:path>
                <a:path w="339725" h="431800">
                  <a:moveTo>
                    <a:pt x="339725" y="209550"/>
                  </a:moveTo>
                  <a:lnTo>
                    <a:pt x="44450" y="209550"/>
                  </a:lnTo>
                  <a:lnTo>
                    <a:pt x="44450" y="215900"/>
                  </a:lnTo>
                  <a:lnTo>
                    <a:pt x="327025" y="215900"/>
                  </a:lnTo>
                  <a:lnTo>
                    <a:pt x="333375" y="222250"/>
                  </a:lnTo>
                  <a:lnTo>
                    <a:pt x="339725" y="222250"/>
                  </a:lnTo>
                  <a:lnTo>
                    <a:pt x="339725" y="209550"/>
                  </a:lnTo>
                  <a:close/>
                </a:path>
                <a:path w="339725" h="431800">
                  <a:moveTo>
                    <a:pt x="44450" y="209550"/>
                  </a:moveTo>
                  <a:lnTo>
                    <a:pt x="38100" y="209550"/>
                  </a:lnTo>
                  <a:lnTo>
                    <a:pt x="44450" y="215900"/>
                  </a:lnTo>
                  <a:lnTo>
                    <a:pt x="44450" y="209550"/>
                  </a:lnTo>
                  <a:close/>
                </a:path>
                <a:path w="339725" h="431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39725" h="431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85849" y="3911600"/>
              <a:ext cx="2875280" cy="431800"/>
            </a:xfrm>
            <a:custGeom>
              <a:avLst/>
              <a:gdLst/>
              <a:ahLst/>
              <a:cxnLst/>
              <a:rect l="l" t="t" r="r" b="b"/>
              <a:pathLst>
                <a:path w="2875279" h="431800">
                  <a:moveTo>
                    <a:pt x="2830576" y="209550"/>
                  </a:moveTo>
                  <a:lnTo>
                    <a:pt x="0" y="209550"/>
                  </a:lnTo>
                  <a:lnTo>
                    <a:pt x="0" y="431800"/>
                  </a:lnTo>
                  <a:lnTo>
                    <a:pt x="12700" y="431800"/>
                  </a:lnTo>
                  <a:lnTo>
                    <a:pt x="12700" y="222250"/>
                  </a:lnTo>
                  <a:lnTo>
                    <a:pt x="6350" y="222250"/>
                  </a:lnTo>
                  <a:lnTo>
                    <a:pt x="12700" y="215900"/>
                  </a:lnTo>
                  <a:lnTo>
                    <a:pt x="2830576" y="215900"/>
                  </a:lnTo>
                  <a:lnTo>
                    <a:pt x="2830576" y="209550"/>
                  </a:lnTo>
                  <a:close/>
                </a:path>
                <a:path w="2875279" h="431800">
                  <a:moveTo>
                    <a:pt x="12700" y="215900"/>
                  </a:moveTo>
                  <a:lnTo>
                    <a:pt x="6350" y="222250"/>
                  </a:lnTo>
                  <a:lnTo>
                    <a:pt x="12700" y="222250"/>
                  </a:lnTo>
                  <a:lnTo>
                    <a:pt x="12700" y="215900"/>
                  </a:lnTo>
                  <a:close/>
                </a:path>
                <a:path w="2875279" h="431800">
                  <a:moveTo>
                    <a:pt x="2843276" y="209550"/>
                  </a:moveTo>
                  <a:lnTo>
                    <a:pt x="2836926" y="209550"/>
                  </a:lnTo>
                  <a:lnTo>
                    <a:pt x="2830576" y="215900"/>
                  </a:lnTo>
                  <a:lnTo>
                    <a:pt x="12700" y="215900"/>
                  </a:lnTo>
                  <a:lnTo>
                    <a:pt x="12700" y="222250"/>
                  </a:lnTo>
                  <a:lnTo>
                    <a:pt x="2843276" y="222250"/>
                  </a:lnTo>
                  <a:lnTo>
                    <a:pt x="2843276" y="209550"/>
                  </a:lnTo>
                  <a:close/>
                </a:path>
                <a:path w="2875279" h="431800">
                  <a:moveTo>
                    <a:pt x="2843276" y="63500"/>
                  </a:moveTo>
                  <a:lnTo>
                    <a:pt x="2830576" y="63500"/>
                  </a:lnTo>
                  <a:lnTo>
                    <a:pt x="2830576" y="215900"/>
                  </a:lnTo>
                  <a:lnTo>
                    <a:pt x="2836926" y="209550"/>
                  </a:lnTo>
                  <a:lnTo>
                    <a:pt x="2843276" y="209550"/>
                  </a:lnTo>
                  <a:lnTo>
                    <a:pt x="2843276" y="63500"/>
                  </a:lnTo>
                  <a:close/>
                </a:path>
                <a:path w="2875279" h="431800">
                  <a:moveTo>
                    <a:pt x="2836926" y="0"/>
                  </a:moveTo>
                  <a:lnTo>
                    <a:pt x="2798826" y="76200"/>
                  </a:lnTo>
                  <a:lnTo>
                    <a:pt x="2830576" y="76200"/>
                  </a:lnTo>
                  <a:lnTo>
                    <a:pt x="2830576" y="63500"/>
                  </a:lnTo>
                  <a:lnTo>
                    <a:pt x="2868676" y="63500"/>
                  </a:lnTo>
                  <a:lnTo>
                    <a:pt x="2836926" y="0"/>
                  </a:lnTo>
                  <a:close/>
                </a:path>
                <a:path w="2875279" h="431800">
                  <a:moveTo>
                    <a:pt x="2868676" y="63500"/>
                  </a:moveTo>
                  <a:lnTo>
                    <a:pt x="2843276" y="63500"/>
                  </a:lnTo>
                  <a:lnTo>
                    <a:pt x="2843276" y="76200"/>
                  </a:lnTo>
                  <a:lnTo>
                    <a:pt x="2875026" y="76200"/>
                  </a:lnTo>
                  <a:lnTo>
                    <a:pt x="286867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1773" y="2987675"/>
              <a:ext cx="2427605" cy="365125"/>
            </a:xfrm>
            <a:custGeom>
              <a:avLst/>
              <a:gdLst/>
              <a:ahLst/>
              <a:cxnLst/>
              <a:rect l="l" t="t" r="r" b="b"/>
              <a:pathLst>
                <a:path w="2427604" h="365125">
                  <a:moveTo>
                    <a:pt x="2414651" y="182499"/>
                  </a:moveTo>
                  <a:lnTo>
                    <a:pt x="2414651" y="365125"/>
                  </a:lnTo>
                  <a:lnTo>
                    <a:pt x="2427351" y="365125"/>
                  </a:lnTo>
                  <a:lnTo>
                    <a:pt x="2427351" y="188849"/>
                  </a:lnTo>
                  <a:lnTo>
                    <a:pt x="2421001" y="188849"/>
                  </a:lnTo>
                  <a:lnTo>
                    <a:pt x="2414651" y="182499"/>
                  </a:lnTo>
                  <a:close/>
                </a:path>
                <a:path w="2427604" h="365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8849"/>
                  </a:lnTo>
                  <a:lnTo>
                    <a:pt x="2414651" y="188849"/>
                  </a:lnTo>
                  <a:lnTo>
                    <a:pt x="2414651" y="182499"/>
                  </a:lnTo>
                  <a:lnTo>
                    <a:pt x="44450" y="182499"/>
                  </a:lnTo>
                  <a:lnTo>
                    <a:pt x="38100" y="176149"/>
                  </a:lnTo>
                  <a:lnTo>
                    <a:pt x="44450" y="176149"/>
                  </a:lnTo>
                  <a:lnTo>
                    <a:pt x="44450" y="63500"/>
                  </a:lnTo>
                  <a:close/>
                </a:path>
                <a:path w="2427604" h="365125">
                  <a:moveTo>
                    <a:pt x="2427351" y="176149"/>
                  </a:moveTo>
                  <a:lnTo>
                    <a:pt x="44450" y="176149"/>
                  </a:lnTo>
                  <a:lnTo>
                    <a:pt x="44450" y="182499"/>
                  </a:lnTo>
                  <a:lnTo>
                    <a:pt x="2414651" y="182499"/>
                  </a:lnTo>
                  <a:lnTo>
                    <a:pt x="2421001" y="188849"/>
                  </a:lnTo>
                  <a:lnTo>
                    <a:pt x="2427351" y="188849"/>
                  </a:lnTo>
                  <a:lnTo>
                    <a:pt x="2427351" y="176149"/>
                  </a:lnTo>
                  <a:close/>
                </a:path>
                <a:path w="2427604" h="365125">
                  <a:moveTo>
                    <a:pt x="44450" y="176149"/>
                  </a:moveTo>
                  <a:lnTo>
                    <a:pt x="38100" y="176149"/>
                  </a:lnTo>
                  <a:lnTo>
                    <a:pt x="44450" y="182499"/>
                  </a:lnTo>
                  <a:lnTo>
                    <a:pt x="44450" y="176149"/>
                  </a:lnTo>
                  <a:close/>
                </a:path>
                <a:path w="2427604" h="365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27604" h="365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3725" y="2987675"/>
              <a:ext cx="76200" cy="365125"/>
            </a:xfrm>
            <a:custGeom>
              <a:avLst/>
              <a:gdLst/>
              <a:ahLst/>
              <a:cxnLst/>
              <a:rect l="l" t="t" r="r" b="b"/>
              <a:pathLst>
                <a:path w="76200" h="365125">
                  <a:moveTo>
                    <a:pt x="31750" y="176149"/>
                  </a:moveTo>
                  <a:lnTo>
                    <a:pt x="12700" y="176149"/>
                  </a:lnTo>
                  <a:lnTo>
                    <a:pt x="12700" y="365125"/>
                  </a:lnTo>
                  <a:lnTo>
                    <a:pt x="25400" y="365125"/>
                  </a:lnTo>
                  <a:lnTo>
                    <a:pt x="25400" y="188849"/>
                  </a:lnTo>
                  <a:lnTo>
                    <a:pt x="19050" y="188849"/>
                  </a:lnTo>
                  <a:lnTo>
                    <a:pt x="25400" y="182499"/>
                  </a:lnTo>
                  <a:lnTo>
                    <a:pt x="31750" y="182499"/>
                  </a:lnTo>
                  <a:lnTo>
                    <a:pt x="31750" y="176149"/>
                  </a:lnTo>
                  <a:close/>
                </a:path>
                <a:path w="76200" h="365125">
                  <a:moveTo>
                    <a:pt x="25400" y="182499"/>
                  </a:moveTo>
                  <a:lnTo>
                    <a:pt x="19050" y="188849"/>
                  </a:lnTo>
                  <a:lnTo>
                    <a:pt x="25400" y="188849"/>
                  </a:lnTo>
                  <a:lnTo>
                    <a:pt x="25400" y="182499"/>
                  </a:lnTo>
                  <a:close/>
                </a:path>
                <a:path w="76200" h="365125">
                  <a:moveTo>
                    <a:pt x="44450" y="176149"/>
                  </a:moveTo>
                  <a:lnTo>
                    <a:pt x="38100" y="176149"/>
                  </a:lnTo>
                  <a:lnTo>
                    <a:pt x="31750" y="182499"/>
                  </a:lnTo>
                  <a:lnTo>
                    <a:pt x="25400" y="182499"/>
                  </a:lnTo>
                  <a:lnTo>
                    <a:pt x="25400" y="188849"/>
                  </a:lnTo>
                  <a:lnTo>
                    <a:pt x="44450" y="188849"/>
                  </a:lnTo>
                  <a:lnTo>
                    <a:pt x="44450" y="176149"/>
                  </a:lnTo>
                  <a:close/>
                </a:path>
                <a:path w="76200" h="365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2499"/>
                  </a:lnTo>
                  <a:lnTo>
                    <a:pt x="38100" y="176149"/>
                  </a:lnTo>
                  <a:lnTo>
                    <a:pt x="44450" y="176149"/>
                  </a:lnTo>
                  <a:lnTo>
                    <a:pt x="44450" y="63500"/>
                  </a:lnTo>
                  <a:close/>
                </a:path>
                <a:path w="76200" h="365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65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68500" y="2073275"/>
              <a:ext cx="77724" cy="2127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86198" y="1311275"/>
              <a:ext cx="76200" cy="1127125"/>
            </a:xfrm>
            <a:custGeom>
              <a:avLst/>
              <a:gdLst/>
              <a:ahLst/>
              <a:cxnLst/>
              <a:rect l="l" t="t" r="r" b="b"/>
              <a:pathLst>
                <a:path w="76200" h="1127125">
                  <a:moveTo>
                    <a:pt x="49275" y="563499"/>
                  </a:moveTo>
                  <a:lnTo>
                    <a:pt x="49275" y="1127125"/>
                  </a:lnTo>
                  <a:lnTo>
                    <a:pt x="61975" y="1127125"/>
                  </a:lnTo>
                  <a:lnTo>
                    <a:pt x="61975" y="569849"/>
                  </a:lnTo>
                  <a:lnTo>
                    <a:pt x="55625" y="569849"/>
                  </a:lnTo>
                  <a:lnTo>
                    <a:pt x="49275" y="563499"/>
                  </a:lnTo>
                  <a:close/>
                </a:path>
                <a:path w="76200" h="1127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69849"/>
                  </a:lnTo>
                  <a:lnTo>
                    <a:pt x="49275" y="569849"/>
                  </a:lnTo>
                  <a:lnTo>
                    <a:pt x="49275" y="563499"/>
                  </a:lnTo>
                  <a:lnTo>
                    <a:pt x="44450" y="563499"/>
                  </a:lnTo>
                  <a:lnTo>
                    <a:pt x="38100" y="557149"/>
                  </a:lnTo>
                  <a:lnTo>
                    <a:pt x="44450" y="557149"/>
                  </a:lnTo>
                  <a:lnTo>
                    <a:pt x="44450" y="63500"/>
                  </a:lnTo>
                  <a:close/>
                </a:path>
                <a:path w="76200" h="1127125">
                  <a:moveTo>
                    <a:pt x="61975" y="557149"/>
                  </a:moveTo>
                  <a:lnTo>
                    <a:pt x="44450" y="557149"/>
                  </a:lnTo>
                  <a:lnTo>
                    <a:pt x="44450" y="563499"/>
                  </a:lnTo>
                  <a:lnTo>
                    <a:pt x="49275" y="563499"/>
                  </a:lnTo>
                  <a:lnTo>
                    <a:pt x="55625" y="569849"/>
                  </a:lnTo>
                  <a:lnTo>
                    <a:pt x="61975" y="569849"/>
                  </a:lnTo>
                  <a:lnTo>
                    <a:pt x="61975" y="557149"/>
                  </a:lnTo>
                  <a:close/>
                </a:path>
                <a:path w="76200" h="1127125">
                  <a:moveTo>
                    <a:pt x="44450" y="557149"/>
                  </a:moveTo>
                  <a:lnTo>
                    <a:pt x="38100" y="557149"/>
                  </a:lnTo>
                  <a:lnTo>
                    <a:pt x="44450" y="563499"/>
                  </a:lnTo>
                  <a:lnTo>
                    <a:pt x="44450" y="557149"/>
                  </a:lnTo>
                  <a:close/>
                </a:path>
                <a:path w="76200" h="1127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127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5780151" y="2057400"/>
              <a:ext cx="1590675" cy="7016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0"/>
                </a:spcBef>
              </a:pPr>
              <a:r>
                <a:rPr sz="1000" b="1" spc="-5" dirty="0">
                  <a:latin typeface="Tahoma"/>
                  <a:cs typeface="Tahoma"/>
                </a:rPr>
                <a:t>16</a:t>
              </a:r>
              <a:endParaRPr sz="1000">
                <a:latin typeface="Tahoma"/>
                <a:cs typeface="Tahoma"/>
              </a:endParaRPr>
            </a:p>
            <a:p>
              <a:pPr marL="95885" marR="88265" indent="68580" algn="just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MENOR </a:t>
              </a:r>
              <a:r>
                <a:rPr sz="1000" b="1" spc="-5" dirty="0">
                  <a:latin typeface="Tahoma"/>
                  <a:cs typeface="Tahoma"/>
                </a:rPr>
                <a:t>COSTO POR  </a:t>
              </a:r>
              <a:r>
                <a:rPr sz="1000" b="1" spc="-10" dirty="0">
                  <a:latin typeface="Tahoma"/>
                  <a:cs typeface="Tahoma"/>
                </a:rPr>
                <a:t>MANIPULACIÓN DE  FRUTA</a:t>
              </a:r>
              <a:r>
                <a:rPr sz="1000" b="1" spc="-4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DETERIORADA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413250" y="2759075"/>
              <a:ext cx="2200275" cy="406400"/>
            </a:xfrm>
            <a:custGeom>
              <a:avLst/>
              <a:gdLst/>
              <a:ahLst/>
              <a:cxnLst/>
              <a:rect l="l" t="t" r="r" b="b"/>
              <a:pathLst>
                <a:path w="2200275" h="406400">
                  <a:moveTo>
                    <a:pt x="2155825" y="393700"/>
                  </a:moveTo>
                  <a:lnTo>
                    <a:pt x="0" y="393700"/>
                  </a:lnTo>
                  <a:lnTo>
                    <a:pt x="0" y="406400"/>
                  </a:lnTo>
                  <a:lnTo>
                    <a:pt x="2168525" y="406400"/>
                  </a:lnTo>
                  <a:lnTo>
                    <a:pt x="2168525" y="400050"/>
                  </a:lnTo>
                  <a:lnTo>
                    <a:pt x="2155825" y="400050"/>
                  </a:lnTo>
                  <a:lnTo>
                    <a:pt x="2155825" y="393700"/>
                  </a:lnTo>
                  <a:close/>
                </a:path>
                <a:path w="2200275" h="406400">
                  <a:moveTo>
                    <a:pt x="2168525" y="63500"/>
                  </a:moveTo>
                  <a:lnTo>
                    <a:pt x="2155825" y="63500"/>
                  </a:lnTo>
                  <a:lnTo>
                    <a:pt x="2155825" y="400050"/>
                  </a:lnTo>
                  <a:lnTo>
                    <a:pt x="2162175" y="393700"/>
                  </a:lnTo>
                  <a:lnTo>
                    <a:pt x="2168525" y="393700"/>
                  </a:lnTo>
                  <a:lnTo>
                    <a:pt x="2168525" y="63500"/>
                  </a:lnTo>
                  <a:close/>
                </a:path>
                <a:path w="2200275" h="406400">
                  <a:moveTo>
                    <a:pt x="2168525" y="393700"/>
                  </a:moveTo>
                  <a:lnTo>
                    <a:pt x="2162175" y="393700"/>
                  </a:lnTo>
                  <a:lnTo>
                    <a:pt x="2155825" y="400050"/>
                  </a:lnTo>
                  <a:lnTo>
                    <a:pt x="2168525" y="400050"/>
                  </a:lnTo>
                  <a:lnTo>
                    <a:pt x="2168525" y="393700"/>
                  </a:lnTo>
                  <a:close/>
                </a:path>
                <a:path w="2200275" h="406400">
                  <a:moveTo>
                    <a:pt x="2162175" y="0"/>
                  </a:moveTo>
                  <a:lnTo>
                    <a:pt x="2124075" y="76200"/>
                  </a:lnTo>
                  <a:lnTo>
                    <a:pt x="2155825" y="76200"/>
                  </a:lnTo>
                  <a:lnTo>
                    <a:pt x="2155825" y="63500"/>
                  </a:lnTo>
                  <a:lnTo>
                    <a:pt x="2193925" y="63500"/>
                  </a:lnTo>
                  <a:lnTo>
                    <a:pt x="2162175" y="0"/>
                  </a:lnTo>
                  <a:close/>
                </a:path>
                <a:path w="2200275" h="406400">
                  <a:moveTo>
                    <a:pt x="2193925" y="63500"/>
                  </a:moveTo>
                  <a:lnTo>
                    <a:pt x="2168525" y="63500"/>
                  </a:lnTo>
                  <a:lnTo>
                    <a:pt x="2168525" y="76200"/>
                  </a:lnTo>
                  <a:lnTo>
                    <a:pt x="2200275" y="76200"/>
                  </a:lnTo>
                  <a:lnTo>
                    <a:pt x="2193925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86198" y="1311275"/>
              <a:ext cx="2195830" cy="746125"/>
            </a:xfrm>
            <a:custGeom>
              <a:avLst/>
              <a:gdLst/>
              <a:ahLst/>
              <a:cxnLst/>
              <a:rect l="l" t="t" r="r" b="b"/>
              <a:pathLst>
                <a:path w="2195829" h="746125">
                  <a:moveTo>
                    <a:pt x="2182876" y="372999"/>
                  </a:moveTo>
                  <a:lnTo>
                    <a:pt x="2182876" y="746125"/>
                  </a:lnTo>
                  <a:lnTo>
                    <a:pt x="2195576" y="746125"/>
                  </a:lnTo>
                  <a:lnTo>
                    <a:pt x="2195576" y="379349"/>
                  </a:lnTo>
                  <a:lnTo>
                    <a:pt x="2189226" y="379349"/>
                  </a:lnTo>
                  <a:lnTo>
                    <a:pt x="2182876" y="372999"/>
                  </a:lnTo>
                  <a:close/>
                </a:path>
                <a:path w="2195829" h="746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79349"/>
                  </a:lnTo>
                  <a:lnTo>
                    <a:pt x="2182876" y="379349"/>
                  </a:lnTo>
                  <a:lnTo>
                    <a:pt x="2182876" y="372999"/>
                  </a:lnTo>
                  <a:lnTo>
                    <a:pt x="44450" y="372999"/>
                  </a:lnTo>
                  <a:lnTo>
                    <a:pt x="38100" y="366649"/>
                  </a:lnTo>
                  <a:lnTo>
                    <a:pt x="44450" y="366649"/>
                  </a:lnTo>
                  <a:lnTo>
                    <a:pt x="44450" y="63500"/>
                  </a:lnTo>
                  <a:close/>
                </a:path>
                <a:path w="2195829" h="746125">
                  <a:moveTo>
                    <a:pt x="2195576" y="366649"/>
                  </a:moveTo>
                  <a:lnTo>
                    <a:pt x="44450" y="366649"/>
                  </a:lnTo>
                  <a:lnTo>
                    <a:pt x="44450" y="372999"/>
                  </a:lnTo>
                  <a:lnTo>
                    <a:pt x="2182876" y="372999"/>
                  </a:lnTo>
                  <a:lnTo>
                    <a:pt x="2189226" y="379349"/>
                  </a:lnTo>
                  <a:lnTo>
                    <a:pt x="2195576" y="379349"/>
                  </a:lnTo>
                  <a:lnTo>
                    <a:pt x="2195576" y="366649"/>
                  </a:lnTo>
                  <a:close/>
                </a:path>
                <a:path w="2195829" h="746125">
                  <a:moveTo>
                    <a:pt x="44450" y="366649"/>
                  </a:moveTo>
                  <a:lnTo>
                    <a:pt x="38100" y="366649"/>
                  </a:lnTo>
                  <a:lnTo>
                    <a:pt x="44450" y="372999"/>
                  </a:lnTo>
                  <a:lnTo>
                    <a:pt x="44450" y="366649"/>
                  </a:lnTo>
                  <a:close/>
                </a:path>
                <a:path w="2195829" h="746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195829" h="746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5105400" y="5181600"/>
              <a:ext cx="1208405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17</a:t>
              </a:r>
              <a:endParaRPr sz="900">
                <a:latin typeface="Tahoma"/>
                <a:cs typeface="Tahoma"/>
              </a:endParaRPr>
            </a:p>
            <a:p>
              <a:pPr marL="92710" marR="82550" indent="-254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MEJORADAS  TECNOLOGÍAS  DE</a:t>
              </a:r>
              <a:r>
                <a:rPr sz="900" b="1" spc="-5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679950" y="4892675"/>
              <a:ext cx="1036955" cy="288925"/>
            </a:xfrm>
            <a:custGeom>
              <a:avLst/>
              <a:gdLst/>
              <a:ahLst/>
              <a:cxnLst/>
              <a:rect l="l" t="t" r="r" b="b"/>
              <a:pathLst>
                <a:path w="1036954" h="288925">
                  <a:moveTo>
                    <a:pt x="1023874" y="144399"/>
                  </a:moveTo>
                  <a:lnTo>
                    <a:pt x="1023874" y="288925"/>
                  </a:lnTo>
                  <a:lnTo>
                    <a:pt x="1036574" y="288925"/>
                  </a:lnTo>
                  <a:lnTo>
                    <a:pt x="1036574" y="150749"/>
                  </a:lnTo>
                  <a:lnTo>
                    <a:pt x="1030224" y="150749"/>
                  </a:lnTo>
                  <a:lnTo>
                    <a:pt x="1023874" y="144399"/>
                  </a:lnTo>
                  <a:close/>
                </a:path>
                <a:path w="1036954" h="288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50749"/>
                  </a:lnTo>
                  <a:lnTo>
                    <a:pt x="1023874" y="150749"/>
                  </a:lnTo>
                  <a:lnTo>
                    <a:pt x="1023874" y="144399"/>
                  </a:lnTo>
                  <a:lnTo>
                    <a:pt x="44450" y="144399"/>
                  </a:lnTo>
                  <a:lnTo>
                    <a:pt x="38100" y="138049"/>
                  </a:lnTo>
                  <a:lnTo>
                    <a:pt x="44450" y="138049"/>
                  </a:lnTo>
                  <a:lnTo>
                    <a:pt x="44450" y="63500"/>
                  </a:lnTo>
                  <a:close/>
                </a:path>
                <a:path w="1036954" h="288925">
                  <a:moveTo>
                    <a:pt x="1036574" y="138049"/>
                  </a:moveTo>
                  <a:lnTo>
                    <a:pt x="44450" y="138049"/>
                  </a:lnTo>
                  <a:lnTo>
                    <a:pt x="44450" y="144399"/>
                  </a:lnTo>
                  <a:lnTo>
                    <a:pt x="1023874" y="144399"/>
                  </a:lnTo>
                  <a:lnTo>
                    <a:pt x="1030224" y="150749"/>
                  </a:lnTo>
                  <a:lnTo>
                    <a:pt x="1036574" y="150749"/>
                  </a:lnTo>
                  <a:lnTo>
                    <a:pt x="1036574" y="138049"/>
                  </a:lnTo>
                  <a:close/>
                </a:path>
                <a:path w="1036954" h="288925">
                  <a:moveTo>
                    <a:pt x="44450" y="138049"/>
                  </a:moveTo>
                  <a:lnTo>
                    <a:pt x="38100" y="138049"/>
                  </a:lnTo>
                  <a:lnTo>
                    <a:pt x="44450" y="144399"/>
                  </a:lnTo>
                  <a:lnTo>
                    <a:pt x="44450" y="138049"/>
                  </a:lnTo>
                  <a:close/>
                </a:path>
                <a:path w="1036954" h="288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36954" h="288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4267200" y="5943600"/>
              <a:ext cx="125095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18</a:t>
              </a:r>
              <a:endParaRPr sz="900">
                <a:latin typeface="Tahoma"/>
                <a:cs typeface="Tahoma"/>
              </a:endParaRPr>
            </a:p>
            <a:p>
              <a:pPr marL="92075" marR="85090" indent="-29209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INCENTIVOS  ADECUADOS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679950" y="4892675"/>
              <a:ext cx="219075" cy="1050925"/>
            </a:xfrm>
            <a:custGeom>
              <a:avLst/>
              <a:gdLst/>
              <a:ahLst/>
              <a:cxnLst/>
              <a:rect l="l" t="t" r="r" b="b"/>
              <a:pathLst>
                <a:path w="219075" h="1050925">
                  <a:moveTo>
                    <a:pt x="206375" y="525399"/>
                  </a:moveTo>
                  <a:lnTo>
                    <a:pt x="206375" y="1050925"/>
                  </a:lnTo>
                  <a:lnTo>
                    <a:pt x="219075" y="1050925"/>
                  </a:lnTo>
                  <a:lnTo>
                    <a:pt x="219075" y="531749"/>
                  </a:lnTo>
                  <a:lnTo>
                    <a:pt x="212725" y="531749"/>
                  </a:lnTo>
                  <a:lnTo>
                    <a:pt x="206375" y="525399"/>
                  </a:lnTo>
                  <a:close/>
                </a:path>
                <a:path w="219075" h="1050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1749"/>
                  </a:lnTo>
                  <a:lnTo>
                    <a:pt x="206375" y="531749"/>
                  </a:lnTo>
                  <a:lnTo>
                    <a:pt x="206375" y="525399"/>
                  </a:lnTo>
                  <a:lnTo>
                    <a:pt x="44450" y="525399"/>
                  </a:lnTo>
                  <a:lnTo>
                    <a:pt x="38100" y="519049"/>
                  </a:lnTo>
                  <a:lnTo>
                    <a:pt x="44450" y="519049"/>
                  </a:lnTo>
                  <a:lnTo>
                    <a:pt x="44450" y="63500"/>
                  </a:lnTo>
                  <a:close/>
                </a:path>
                <a:path w="219075" h="1050925">
                  <a:moveTo>
                    <a:pt x="219075" y="519049"/>
                  </a:moveTo>
                  <a:lnTo>
                    <a:pt x="44450" y="519049"/>
                  </a:lnTo>
                  <a:lnTo>
                    <a:pt x="44450" y="525399"/>
                  </a:lnTo>
                  <a:lnTo>
                    <a:pt x="206375" y="525399"/>
                  </a:lnTo>
                  <a:lnTo>
                    <a:pt x="212725" y="531749"/>
                  </a:lnTo>
                  <a:lnTo>
                    <a:pt x="219075" y="531749"/>
                  </a:lnTo>
                  <a:lnTo>
                    <a:pt x="219075" y="519049"/>
                  </a:lnTo>
                  <a:close/>
                </a:path>
                <a:path w="219075" h="1050925">
                  <a:moveTo>
                    <a:pt x="44450" y="519049"/>
                  </a:moveTo>
                  <a:lnTo>
                    <a:pt x="38100" y="519049"/>
                  </a:lnTo>
                  <a:lnTo>
                    <a:pt x="44450" y="525399"/>
                  </a:lnTo>
                  <a:lnTo>
                    <a:pt x="44450" y="519049"/>
                  </a:lnTo>
                  <a:close/>
                </a:path>
                <a:path w="219075" h="1050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19075" h="1050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050925" y="5956300"/>
              <a:ext cx="120523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13</a:t>
              </a:r>
              <a:endParaRPr sz="900">
                <a:latin typeface="Tahoma"/>
                <a:cs typeface="Tahoma"/>
              </a:endParaRPr>
            </a:p>
            <a:p>
              <a:pPr marL="90170" marR="8191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</a:t>
              </a:r>
              <a:r>
                <a:rPr sz="900" b="1" dirty="0">
                  <a:latin typeface="Tahoma"/>
                  <a:cs typeface="Tahoma"/>
                </a:rPr>
                <a:t>NT</a:t>
              </a:r>
              <a:r>
                <a:rPr sz="900" b="1" spc="-5" dirty="0">
                  <a:latin typeface="Tahoma"/>
                  <a:cs typeface="Tahoma"/>
                </a:rPr>
                <a:t>ENIMIENTO  ADECUADO DE  COSECHADORAS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1287525" y="762000"/>
              <a:ext cx="1627505" cy="5492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08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5"/>
                </a:spcBef>
              </a:pPr>
              <a:r>
                <a:rPr sz="1000" b="1" spc="-5" dirty="0">
                  <a:latin typeface="Tahoma"/>
                  <a:cs typeface="Tahoma"/>
                </a:rPr>
                <a:t>19</a:t>
              </a:r>
              <a:endParaRPr sz="1000">
                <a:latin typeface="Tahoma"/>
                <a:cs typeface="Tahoma"/>
              </a:endParaRPr>
            </a:p>
            <a:p>
              <a:pPr marL="94615" marR="89535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AMENAZAS A LA  SALUD</a:t>
              </a:r>
              <a:r>
                <a:rPr sz="1000" b="1" spc="-75" dirty="0">
                  <a:latin typeface="Tahoma"/>
                  <a:cs typeface="Tahoma"/>
                </a:rPr>
                <a:t> </a:t>
              </a:r>
              <a:r>
                <a:rPr sz="1000" b="1" spc="-5" dirty="0">
                  <a:latin typeface="Tahoma"/>
                  <a:cs typeface="Tahoma"/>
                </a:rPr>
                <a:t>CONTROLADAS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2000250" y="1311275"/>
              <a:ext cx="139700" cy="21272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228600" y="5181600"/>
              <a:ext cx="1139825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20</a:t>
              </a:r>
              <a:endParaRPr sz="900">
                <a:latin typeface="Tahoma"/>
                <a:cs typeface="Tahoma"/>
              </a:endParaRPr>
            </a:p>
            <a:p>
              <a:pPr marL="91440" marR="83820" indent="-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ADECUADO  DISEÑO DE LAS  C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EC</a:t>
              </a:r>
              <a:r>
                <a:rPr sz="900" b="1" spc="-10" dirty="0">
                  <a:latin typeface="Tahoma"/>
                  <a:cs typeface="Tahoma"/>
                </a:rPr>
                <a:t>H</a:t>
              </a:r>
              <a:r>
                <a:rPr sz="900" b="1" spc="-5" dirty="0">
                  <a:latin typeface="Tahoma"/>
                  <a:cs typeface="Tahoma"/>
                </a:rPr>
                <a:t>AD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92162" y="4892675"/>
              <a:ext cx="838200" cy="288925"/>
            </a:xfrm>
            <a:custGeom>
              <a:avLst/>
              <a:gdLst/>
              <a:ahLst/>
              <a:cxnLst/>
              <a:rect l="l" t="t" r="r" b="b"/>
              <a:pathLst>
                <a:path w="838200" h="288925">
                  <a:moveTo>
                    <a:pt x="793686" y="138049"/>
                  </a:moveTo>
                  <a:lnTo>
                    <a:pt x="0" y="138049"/>
                  </a:lnTo>
                  <a:lnTo>
                    <a:pt x="0" y="288925"/>
                  </a:lnTo>
                  <a:lnTo>
                    <a:pt x="12700" y="288925"/>
                  </a:lnTo>
                  <a:lnTo>
                    <a:pt x="12700" y="150749"/>
                  </a:lnTo>
                  <a:lnTo>
                    <a:pt x="6350" y="150749"/>
                  </a:lnTo>
                  <a:lnTo>
                    <a:pt x="12700" y="144399"/>
                  </a:lnTo>
                  <a:lnTo>
                    <a:pt x="793686" y="144399"/>
                  </a:lnTo>
                  <a:lnTo>
                    <a:pt x="793686" y="138049"/>
                  </a:lnTo>
                  <a:close/>
                </a:path>
                <a:path w="838200" h="288925">
                  <a:moveTo>
                    <a:pt x="12700" y="144399"/>
                  </a:moveTo>
                  <a:lnTo>
                    <a:pt x="6350" y="150749"/>
                  </a:lnTo>
                  <a:lnTo>
                    <a:pt x="12700" y="150749"/>
                  </a:lnTo>
                  <a:lnTo>
                    <a:pt x="12700" y="144399"/>
                  </a:lnTo>
                  <a:close/>
                </a:path>
                <a:path w="838200" h="288925">
                  <a:moveTo>
                    <a:pt x="806386" y="138049"/>
                  </a:moveTo>
                  <a:lnTo>
                    <a:pt x="800036" y="138049"/>
                  </a:lnTo>
                  <a:lnTo>
                    <a:pt x="793686" y="144399"/>
                  </a:lnTo>
                  <a:lnTo>
                    <a:pt x="12700" y="144399"/>
                  </a:lnTo>
                  <a:lnTo>
                    <a:pt x="12700" y="150749"/>
                  </a:lnTo>
                  <a:lnTo>
                    <a:pt x="806386" y="150749"/>
                  </a:lnTo>
                  <a:lnTo>
                    <a:pt x="806386" y="138049"/>
                  </a:lnTo>
                  <a:close/>
                </a:path>
                <a:path w="838200" h="288925">
                  <a:moveTo>
                    <a:pt x="806386" y="63500"/>
                  </a:moveTo>
                  <a:lnTo>
                    <a:pt x="793686" y="63500"/>
                  </a:lnTo>
                  <a:lnTo>
                    <a:pt x="793686" y="144399"/>
                  </a:lnTo>
                  <a:lnTo>
                    <a:pt x="800036" y="138049"/>
                  </a:lnTo>
                  <a:lnTo>
                    <a:pt x="806386" y="138049"/>
                  </a:lnTo>
                  <a:lnTo>
                    <a:pt x="806386" y="63500"/>
                  </a:lnTo>
                  <a:close/>
                </a:path>
                <a:path w="838200" h="288925">
                  <a:moveTo>
                    <a:pt x="800036" y="0"/>
                  </a:moveTo>
                  <a:lnTo>
                    <a:pt x="761936" y="76200"/>
                  </a:lnTo>
                  <a:lnTo>
                    <a:pt x="793686" y="76200"/>
                  </a:lnTo>
                  <a:lnTo>
                    <a:pt x="793686" y="63500"/>
                  </a:lnTo>
                  <a:lnTo>
                    <a:pt x="831786" y="63500"/>
                  </a:lnTo>
                  <a:lnTo>
                    <a:pt x="800036" y="0"/>
                  </a:lnTo>
                  <a:close/>
                </a:path>
                <a:path w="838200" h="288925">
                  <a:moveTo>
                    <a:pt x="831786" y="63500"/>
                  </a:moveTo>
                  <a:lnTo>
                    <a:pt x="806386" y="63500"/>
                  </a:lnTo>
                  <a:lnTo>
                    <a:pt x="806386" y="76200"/>
                  </a:lnTo>
                  <a:lnTo>
                    <a:pt x="838136" y="76200"/>
                  </a:lnTo>
                  <a:lnTo>
                    <a:pt x="83178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6400800" y="4343400"/>
              <a:ext cx="2275205" cy="5492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21</a:t>
              </a:r>
              <a:endParaRPr sz="1000">
                <a:latin typeface="Tahoma"/>
                <a:cs typeface="Tahoma"/>
              </a:endParaRPr>
            </a:p>
            <a:p>
              <a:pPr marL="95885" marR="88900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NUEVA </a:t>
              </a:r>
              <a:r>
                <a:rPr sz="1000" b="1" spc="-5" dirty="0">
                  <a:latin typeface="Tahoma"/>
                  <a:cs typeface="Tahoma"/>
                </a:rPr>
                <a:t>VARIEDAD </a:t>
              </a:r>
              <a:r>
                <a:rPr sz="1000" b="1" spc="-10" dirty="0">
                  <a:latin typeface="Tahoma"/>
                  <a:cs typeface="Tahoma"/>
                </a:rPr>
                <a:t>DE FRUTA  RESISTENTE </a:t>
              </a:r>
              <a:r>
                <a:rPr sz="1000" b="1" spc="-5" dirty="0">
                  <a:latin typeface="Tahoma"/>
                  <a:cs typeface="Tahoma"/>
                </a:rPr>
                <a:t>A LA</a:t>
              </a:r>
              <a:r>
                <a:rPr sz="1000" b="1" spc="-1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384675" y="3911600"/>
              <a:ext cx="3161030" cy="431800"/>
            </a:xfrm>
            <a:custGeom>
              <a:avLst/>
              <a:gdLst/>
              <a:ahLst/>
              <a:cxnLst/>
              <a:rect l="l" t="t" r="r" b="b"/>
              <a:pathLst>
                <a:path w="3161029" h="431800">
                  <a:moveTo>
                    <a:pt x="3147949" y="215900"/>
                  </a:moveTo>
                  <a:lnTo>
                    <a:pt x="3147949" y="431800"/>
                  </a:lnTo>
                  <a:lnTo>
                    <a:pt x="3160649" y="431800"/>
                  </a:lnTo>
                  <a:lnTo>
                    <a:pt x="3160649" y="222250"/>
                  </a:lnTo>
                  <a:lnTo>
                    <a:pt x="3154299" y="222250"/>
                  </a:lnTo>
                  <a:lnTo>
                    <a:pt x="3147949" y="215900"/>
                  </a:lnTo>
                  <a:close/>
                </a:path>
                <a:path w="3161029" h="431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2250"/>
                  </a:lnTo>
                  <a:lnTo>
                    <a:pt x="3147949" y="222250"/>
                  </a:lnTo>
                  <a:lnTo>
                    <a:pt x="3147949" y="215900"/>
                  </a:lnTo>
                  <a:lnTo>
                    <a:pt x="44450" y="215900"/>
                  </a:lnTo>
                  <a:lnTo>
                    <a:pt x="38100" y="209550"/>
                  </a:lnTo>
                  <a:lnTo>
                    <a:pt x="44450" y="209550"/>
                  </a:lnTo>
                  <a:lnTo>
                    <a:pt x="44450" y="63500"/>
                  </a:lnTo>
                  <a:close/>
                </a:path>
                <a:path w="3161029" h="431800">
                  <a:moveTo>
                    <a:pt x="3160649" y="209550"/>
                  </a:moveTo>
                  <a:lnTo>
                    <a:pt x="44450" y="209550"/>
                  </a:lnTo>
                  <a:lnTo>
                    <a:pt x="44450" y="215900"/>
                  </a:lnTo>
                  <a:lnTo>
                    <a:pt x="3147949" y="215900"/>
                  </a:lnTo>
                  <a:lnTo>
                    <a:pt x="3154299" y="222250"/>
                  </a:lnTo>
                  <a:lnTo>
                    <a:pt x="3160649" y="222250"/>
                  </a:lnTo>
                  <a:lnTo>
                    <a:pt x="3160649" y="209550"/>
                  </a:lnTo>
                  <a:close/>
                </a:path>
                <a:path w="3161029" h="431800">
                  <a:moveTo>
                    <a:pt x="44450" y="209550"/>
                  </a:moveTo>
                  <a:lnTo>
                    <a:pt x="38100" y="209550"/>
                  </a:lnTo>
                  <a:lnTo>
                    <a:pt x="44450" y="215900"/>
                  </a:lnTo>
                  <a:lnTo>
                    <a:pt x="44450" y="209550"/>
                  </a:lnTo>
                  <a:close/>
                </a:path>
                <a:path w="3161029" h="431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3161029" h="431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6477000" y="5257800"/>
              <a:ext cx="117475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22</a:t>
              </a:r>
              <a:endParaRPr sz="900">
                <a:latin typeface="Tahoma"/>
                <a:cs typeface="Tahoma"/>
              </a:endParaRPr>
            </a:p>
            <a:p>
              <a:pPr marL="92710" marR="8445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ADAPTADAS </a:t>
              </a:r>
              <a:r>
                <a:rPr sz="900" b="1" dirty="0">
                  <a:latin typeface="Tahoma"/>
                  <a:cs typeface="Tahoma"/>
                </a:rPr>
                <a:t>A</a:t>
              </a:r>
              <a:r>
                <a:rPr sz="900" b="1" spc="-10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LA  REGIÓN OTRAS  VARIEDADES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7762875" y="5257800"/>
              <a:ext cx="1117600" cy="638175"/>
            </a:xfrm>
            <a:prstGeom prst="rect">
              <a:avLst/>
            </a:prstGeom>
            <a:solidFill>
              <a:srgbClr val="CCCCFF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23</a:t>
              </a:r>
              <a:endParaRPr sz="900">
                <a:latin typeface="Tahoma"/>
                <a:cs typeface="Tahoma"/>
              </a:endParaRPr>
            </a:p>
            <a:p>
              <a:pPr marL="93345" marR="8191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DE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spc="-10" dirty="0">
                  <a:latin typeface="Tahoma"/>
                  <a:cs typeface="Tahoma"/>
                </a:rPr>
                <a:t>RR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5" dirty="0">
                  <a:latin typeface="Tahoma"/>
                  <a:cs typeface="Tahoma"/>
                </a:rPr>
                <a:t>LLADA  NUEVA  VARIEDAD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7058025" y="4892675"/>
              <a:ext cx="519430" cy="365125"/>
            </a:xfrm>
            <a:custGeom>
              <a:avLst/>
              <a:gdLst/>
              <a:ahLst/>
              <a:cxnLst/>
              <a:rect l="l" t="t" r="r" b="b"/>
              <a:pathLst>
                <a:path w="519429" h="365125">
                  <a:moveTo>
                    <a:pt x="474599" y="176149"/>
                  </a:moveTo>
                  <a:lnTo>
                    <a:pt x="0" y="176149"/>
                  </a:lnTo>
                  <a:lnTo>
                    <a:pt x="0" y="365125"/>
                  </a:lnTo>
                  <a:lnTo>
                    <a:pt x="12700" y="365125"/>
                  </a:lnTo>
                  <a:lnTo>
                    <a:pt x="12700" y="188849"/>
                  </a:lnTo>
                  <a:lnTo>
                    <a:pt x="6350" y="188849"/>
                  </a:lnTo>
                  <a:lnTo>
                    <a:pt x="12700" y="182499"/>
                  </a:lnTo>
                  <a:lnTo>
                    <a:pt x="474599" y="182499"/>
                  </a:lnTo>
                  <a:lnTo>
                    <a:pt x="474599" y="176149"/>
                  </a:lnTo>
                  <a:close/>
                </a:path>
                <a:path w="519429" h="365125">
                  <a:moveTo>
                    <a:pt x="12700" y="182499"/>
                  </a:moveTo>
                  <a:lnTo>
                    <a:pt x="6350" y="188849"/>
                  </a:lnTo>
                  <a:lnTo>
                    <a:pt x="12700" y="188849"/>
                  </a:lnTo>
                  <a:lnTo>
                    <a:pt x="12700" y="182499"/>
                  </a:lnTo>
                  <a:close/>
                </a:path>
                <a:path w="519429" h="365125">
                  <a:moveTo>
                    <a:pt x="487299" y="176149"/>
                  </a:moveTo>
                  <a:lnTo>
                    <a:pt x="480949" y="176149"/>
                  </a:lnTo>
                  <a:lnTo>
                    <a:pt x="474599" y="182499"/>
                  </a:lnTo>
                  <a:lnTo>
                    <a:pt x="12700" y="182499"/>
                  </a:lnTo>
                  <a:lnTo>
                    <a:pt x="12700" y="188849"/>
                  </a:lnTo>
                  <a:lnTo>
                    <a:pt x="487299" y="188849"/>
                  </a:lnTo>
                  <a:lnTo>
                    <a:pt x="487299" y="176149"/>
                  </a:lnTo>
                  <a:close/>
                </a:path>
                <a:path w="519429" h="365125">
                  <a:moveTo>
                    <a:pt x="487299" y="63500"/>
                  </a:moveTo>
                  <a:lnTo>
                    <a:pt x="474599" y="63500"/>
                  </a:lnTo>
                  <a:lnTo>
                    <a:pt x="474599" y="182499"/>
                  </a:lnTo>
                  <a:lnTo>
                    <a:pt x="480949" y="176149"/>
                  </a:lnTo>
                  <a:lnTo>
                    <a:pt x="487299" y="176149"/>
                  </a:lnTo>
                  <a:lnTo>
                    <a:pt x="487299" y="63500"/>
                  </a:lnTo>
                  <a:close/>
                </a:path>
                <a:path w="519429" h="365125">
                  <a:moveTo>
                    <a:pt x="480949" y="0"/>
                  </a:moveTo>
                  <a:lnTo>
                    <a:pt x="442849" y="76200"/>
                  </a:lnTo>
                  <a:lnTo>
                    <a:pt x="474599" y="76200"/>
                  </a:lnTo>
                  <a:lnTo>
                    <a:pt x="474599" y="63500"/>
                  </a:lnTo>
                  <a:lnTo>
                    <a:pt x="512699" y="63500"/>
                  </a:lnTo>
                  <a:lnTo>
                    <a:pt x="480949" y="0"/>
                  </a:lnTo>
                  <a:close/>
                </a:path>
                <a:path w="519429" h="365125">
                  <a:moveTo>
                    <a:pt x="512699" y="63500"/>
                  </a:moveTo>
                  <a:lnTo>
                    <a:pt x="487299" y="63500"/>
                  </a:lnTo>
                  <a:lnTo>
                    <a:pt x="487299" y="76200"/>
                  </a:lnTo>
                  <a:lnTo>
                    <a:pt x="519049" y="76200"/>
                  </a:lnTo>
                  <a:lnTo>
                    <a:pt x="512699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00873" y="4892675"/>
              <a:ext cx="827405" cy="365125"/>
            </a:xfrm>
            <a:custGeom>
              <a:avLst/>
              <a:gdLst/>
              <a:ahLst/>
              <a:cxnLst/>
              <a:rect l="l" t="t" r="r" b="b"/>
              <a:pathLst>
                <a:path w="827404" h="365125">
                  <a:moveTo>
                    <a:pt x="814451" y="182499"/>
                  </a:moveTo>
                  <a:lnTo>
                    <a:pt x="814451" y="365125"/>
                  </a:lnTo>
                  <a:lnTo>
                    <a:pt x="827151" y="365125"/>
                  </a:lnTo>
                  <a:lnTo>
                    <a:pt x="827151" y="188849"/>
                  </a:lnTo>
                  <a:lnTo>
                    <a:pt x="820801" y="188849"/>
                  </a:lnTo>
                  <a:lnTo>
                    <a:pt x="814451" y="182499"/>
                  </a:lnTo>
                  <a:close/>
                </a:path>
                <a:path w="827404" h="365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8849"/>
                  </a:lnTo>
                  <a:lnTo>
                    <a:pt x="814451" y="188849"/>
                  </a:lnTo>
                  <a:lnTo>
                    <a:pt x="814451" y="182499"/>
                  </a:lnTo>
                  <a:lnTo>
                    <a:pt x="44450" y="182499"/>
                  </a:lnTo>
                  <a:lnTo>
                    <a:pt x="38100" y="176149"/>
                  </a:lnTo>
                  <a:lnTo>
                    <a:pt x="44450" y="176149"/>
                  </a:lnTo>
                  <a:lnTo>
                    <a:pt x="44450" y="63500"/>
                  </a:lnTo>
                  <a:close/>
                </a:path>
                <a:path w="827404" h="365125">
                  <a:moveTo>
                    <a:pt x="827151" y="176149"/>
                  </a:moveTo>
                  <a:lnTo>
                    <a:pt x="44450" y="176149"/>
                  </a:lnTo>
                  <a:lnTo>
                    <a:pt x="44450" y="182499"/>
                  </a:lnTo>
                  <a:lnTo>
                    <a:pt x="814451" y="182499"/>
                  </a:lnTo>
                  <a:lnTo>
                    <a:pt x="820801" y="188849"/>
                  </a:lnTo>
                  <a:lnTo>
                    <a:pt x="827151" y="188849"/>
                  </a:lnTo>
                  <a:lnTo>
                    <a:pt x="827151" y="176149"/>
                  </a:lnTo>
                  <a:close/>
                </a:path>
                <a:path w="827404" h="365125">
                  <a:moveTo>
                    <a:pt x="44450" y="176149"/>
                  </a:moveTo>
                  <a:lnTo>
                    <a:pt x="38100" y="176149"/>
                  </a:lnTo>
                  <a:lnTo>
                    <a:pt x="44450" y="182499"/>
                  </a:lnTo>
                  <a:lnTo>
                    <a:pt x="44450" y="176149"/>
                  </a:lnTo>
                  <a:close/>
                </a:path>
                <a:path w="827404" h="365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827404" h="365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615188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Arial"/>
                <a:cs typeface="Arial"/>
              </a:rPr>
              <a:t>Supuesto para</a:t>
            </a:r>
            <a:r>
              <a:rPr sz="4000" spc="-55" dirty="0">
                <a:latin typeface="Arial"/>
                <a:cs typeface="Arial"/>
              </a:rPr>
              <a:t> </a:t>
            </a:r>
            <a:r>
              <a:rPr sz="4000" dirty="0">
                <a:latin typeface="Arial"/>
                <a:cs typeface="Arial"/>
              </a:rPr>
              <a:t>discusión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905000"/>
            <a:ext cx="5999480" cy="37478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234950" algn="just">
              <a:lnSpc>
                <a:spcPct val="100000"/>
              </a:lnSpc>
              <a:spcBef>
                <a:spcPts val="105"/>
              </a:spcBef>
              <a:tabLst>
                <a:tab pos="355600" algn="l"/>
                <a:tab pos="356235" algn="l"/>
              </a:tabLst>
            </a:pPr>
            <a:r>
              <a:rPr sz="2400" dirty="0">
                <a:latin typeface="+mj-lt"/>
                <a:cs typeface="Arial"/>
              </a:rPr>
              <a:t>Con la </a:t>
            </a:r>
            <a:r>
              <a:rPr sz="2400" spc="-5" dirty="0">
                <a:latin typeface="+mj-lt"/>
                <a:cs typeface="Arial"/>
              </a:rPr>
              <a:t>actual variedad </a:t>
            </a:r>
            <a:r>
              <a:rPr sz="2400" dirty="0">
                <a:latin typeface="+mj-lt"/>
                <a:cs typeface="Arial"/>
              </a:rPr>
              <a:t>de </a:t>
            </a:r>
            <a:r>
              <a:rPr sz="2400" spc="-5" dirty="0">
                <a:latin typeface="+mj-lt"/>
                <a:cs typeface="Arial"/>
              </a:rPr>
              <a:t>fruta </a:t>
            </a:r>
            <a:r>
              <a:rPr sz="2400" dirty="0">
                <a:latin typeface="+mj-lt"/>
                <a:cs typeface="Arial"/>
              </a:rPr>
              <a:t>no se  </a:t>
            </a:r>
            <a:r>
              <a:rPr sz="2400" spc="-5" dirty="0">
                <a:latin typeface="+mj-lt"/>
                <a:cs typeface="Arial"/>
              </a:rPr>
              <a:t>logrará </a:t>
            </a:r>
            <a:r>
              <a:rPr sz="2400" dirty="0">
                <a:latin typeface="+mj-lt"/>
                <a:cs typeface="Arial"/>
              </a:rPr>
              <a:t>recolección </a:t>
            </a:r>
            <a:r>
              <a:rPr sz="2400" spc="-5" dirty="0">
                <a:latin typeface="+mj-lt"/>
                <a:cs typeface="Arial"/>
              </a:rPr>
              <a:t>plena </a:t>
            </a:r>
            <a:r>
              <a:rPr sz="2400" dirty="0">
                <a:latin typeface="+mj-lt"/>
                <a:cs typeface="Arial"/>
              </a:rPr>
              <a:t>sin</a:t>
            </a:r>
            <a:r>
              <a:rPr sz="2400" spc="-100" dirty="0">
                <a:latin typeface="+mj-lt"/>
                <a:cs typeface="Arial"/>
              </a:rPr>
              <a:t> </a:t>
            </a:r>
            <a:r>
              <a:rPr sz="2400" spc="-5" dirty="0">
                <a:latin typeface="+mj-lt"/>
                <a:cs typeface="Arial"/>
              </a:rPr>
              <a:t>deterioro.</a:t>
            </a:r>
            <a:endParaRPr sz="2400" dirty="0">
              <a:latin typeface="+mj-lt"/>
              <a:cs typeface="Arial"/>
            </a:endParaRPr>
          </a:p>
          <a:p>
            <a:pPr marL="12065" marR="5080" algn="just">
              <a:lnSpc>
                <a:spcPct val="100000"/>
              </a:lnSpc>
              <a:spcBef>
                <a:spcPts val="770"/>
              </a:spcBef>
              <a:tabLst>
                <a:tab pos="355600" algn="l"/>
                <a:tab pos="356235" algn="l"/>
              </a:tabLst>
            </a:pPr>
            <a:endParaRPr lang="es-419" sz="2400" dirty="0">
              <a:latin typeface="+mj-lt"/>
              <a:cs typeface="Arial"/>
            </a:endParaRPr>
          </a:p>
          <a:p>
            <a:pPr marL="12065" marR="5080" algn="just">
              <a:lnSpc>
                <a:spcPct val="100000"/>
              </a:lnSpc>
              <a:spcBef>
                <a:spcPts val="770"/>
              </a:spcBef>
              <a:tabLst>
                <a:tab pos="355600" algn="l"/>
                <a:tab pos="356235" algn="l"/>
              </a:tabLst>
            </a:pPr>
            <a:r>
              <a:rPr sz="2400" dirty="0" err="1">
                <a:latin typeface="+mj-lt"/>
                <a:cs typeface="Arial"/>
              </a:rPr>
              <a:t>Es</a:t>
            </a:r>
            <a:r>
              <a:rPr sz="2400" dirty="0">
                <a:latin typeface="+mj-lt"/>
                <a:cs typeface="Arial"/>
              </a:rPr>
              <a:t> </a:t>
            </a:r>
            <a:r>
              <a:rPr sz="2400" spc="-5" dirty="0">
                <a:latin typeface="+mj-lt"/>
                <a:cs typeface="Arial"/>
              </a:rPr>
              <a:t>decir, cualquier </a:t>
            </a:r>
            <a:r>
              <a:rPr sz="2400" dirty="0">
                <a:latin typeface="+mj-lt"/>
                <a:cs typeface="Arial"/>
              </a:rPr>
              <a:t>forma de</a:t>
            </a:r>
            <a:r>
              <a:rPr sz="2400" spc="-95" dirty="0">
                <a:latin typeface="+mj-lt"/>
                <a:cs typeface="Arial"/>
              </a:rPr>
              <a:t> </a:t>
            </a:r>
            <a:r>
              <a:rPr sz="2400" dirty="0">
                <a:latin typeface="+mj-lt"/>
                <a:cs typeface="Arial"/>
              </a:rPr>
              <a:t>recolección  </a:t>
            </a:r>
            <a:r>
              <a:rPr sz="2400" spc="-5" dirty="0">
                <a:latin typeface="+mj-lt"/>
                <a:cs typeface="Arial"/>
              </a:rPr>
              <a:t>requiere </a:t>
            </a:r>
            <a:r>
              <a:rPr sz="2400" dirty="0">
                <a:latin typeface="+mj-lt"/>
                <a:cs typeface="Arial"/>
              </a:rPr>
              <a:t>de </a:t>
            </a:r>
            <a:r>
              <a:rPr sz="2400" spc="-5" dirty="0">
                <a:latin typeface="+mj-lt"/>
                <a:cs typeface="Arial"/>
              </a:rPr>
              <a:t>nueva variedad </a:t>
            </a:r>
            <a:r>
              <a:rPr sz="2400" dirty="0">
                <a:latin typeface="+mj-lt"/>
                <a:cs typeface="Arial"/>
              </a:rPr>
              <a:t>de </a:t>
            </a:r>
            <a:r>
              <a:rPr sz="2400" spc="-5" dirty="0">
                <a:latin typeface="+mj-lt"/>
                <a:cs typeface="Arial"/>
              </a:rPr>
              <a:t>fruta  para asegurar una </a:t>
            </a:r>
            <a:r>
              <a:rPr sz="2400" dirty="0">
                <a:latin typeface="+mj-lt"/>
                <a:cs typeface="Arial"/>
              </a:rPr>
              <a:t>cosecha sin  </a:t>
            </a:r>
            <a:r>
              <a:rPr sz="2400" spc="-5" dirty="0">
                <a:latin typeface="+mj-lt"/>
                <a:cs typeface="Arial"/>
              </a:rPr>
              <a:t>deterioro.</a:t>
            </a:r>
            <a:endParaRPr sz="2400" dirty="0">
              <a:latin typeface="+mj-lt"/>
              <a:cs typeface="Arial"/>
            </a:endParaRPr>
          </a:p>
          <a:p>
            <a:pPr marL="12065" marR="118745" algn="just">
              <a:lnSpc>
                <a:spcPct val="100000"/>
              </a:lnSpc>
              <a:spcBef>
                <a:spcPts val="770"/>
              </a:spcBef>
              <a:tabLst>
                <a:tab pos="355600" algn="l"/>
                <a:tab pos="356235" algn="l"/>
              </a:tabLst>
            </a:pPr>
            <a:endParaRPr lang="es-419" sz="2400" dirty="0">
              <a:latin typeface="+mj-lt"/>
              <a:cs typeface="Arial"/>
            </a:endParaRPr>
          </a:p>
          <a:p>
            <a:pPr marL="12065" marR="118745" algn="just">
              <a:lnSpc>
                <a:spcPct val="100000"/>
              </a:lnSpc>
              <a:spcBef>
                <a:spcPts val="770"/>
              </a:spcBef>
              <a:tabLst>
                <a:tab pos="355600" algn="l"/>
                <a:tab pos="356235" algn="l"/>
              </a:tabLst>
            </a:pPr>
            <a:r>
              <a:rPr sz="2400" dirty="0" err="1">
                <a:latin typeface="+mj-lt"/>
                <a:cs typeface="Arial"/>
              </a:rPr>
              <a:t>Esto</a:t>
            </a:r>
            <a:r>
              <a:rPr sz="2400" dirty="0">
                <a:latin typeface="+mj-lt"/>
                <a:cs typeface="Arial"/>
              </a:rPr>
              <a:t> </a:t>
            </a:r>
            <a:r>
              <a:rPr sz="2400" spc="-5" dirty="0">
                <a:latin typeface="+mj-lt"/>
                <a:cs typeface="Arial"/>
              </a:rPr>
              <a:t>abre la posibilidad </a:t>
            </a:r>
            <a:r>
              <a:rPr sz="2400" dirty="0">
                <a:latin typeface="+mj-lt"/>
                <a:cs typeface="Arial"/>
              </a:rPr>
              <a:t>a las</a:t>
            </a:r>
            <a:r>
              <a:rPr sz="2400" spc="-45" dirty="0">
                <a:latin typeface="+mj-lt"/>
                <a:cs typeface="Arial"/>
              </a:rPr>
              <a:t> </a:t>
            </a:r>
            <a:r>
              <a:rPr sz="2400" spc="-5" dirty="0">
                <a:latin typeface="+mj-lt"/>
                <a:cs typeface="Arial"/>
              </a:rPr>
              <a:t>siguientes  </a:t>
            </a:r>
            <a:r>
              <a:rPr sz="2400" spc="-5" dirty="0" err="1">
                <a:latin typeface="+mj-lt"/>
                <a:cs typeface="Arial"/>
              </a:rPr>
              <a:t>alternativas</a:t>
            </a:r>
            <a:r>
              <a:rPr sz="2400" spc="-5" dirty="0">
                <a:latin typeface="+mj-lt"/>
                <a:cs typeface="Arial"/>
              </a:rPr>
              <a:t>:</a:t>
            </a:r>
            <a:endParaRPr sz="2400" dirty="0">
              <a:latin typeface="+mj-lt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" y="14858"/>
            <a:ext cx="6932930" cy="802911"/>
          </a:xfrm>
          <a:prstGeom prst="rect">
            <a:avLst/>
          </a:prstGeom>
        </p:spPr>
        <p:txBody>
          <a:bodyPr vert="horz" wrap="square" lIns="0" tIns="636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Alternativa</a:t>
            </a:r>
            <a:r>
              <a:rPr sz="2400" spc="-50" dirty="0"/>
              <a:t> </a:t>
            </a:r>
            <a:r>
              <a:rPr sz="2400" dirty="0"/>
              <a:t>1</a:t>
            </a:r>
          </a:p>
          <a:p>
            <a:pPr algn="ctr">
              <a:lnSpc>
                <a:spcPct val="100000"/>
              </a:lnSpc>
            </a:pPr>
            <a:r>
              <a:rPr sz="2400" spc="-5" dirty="0"/>
              <a:t>Recolección manual </a:t>
            </a:r>
            <a:r>
              <a:rPr sz="2400" dirty="0"/>
              <a:t>+ </a:t>
            </a:r>
            <a:r>
              <a:rPr sz="2400" spc="-5" dirty="0"/>
              <a:t>Adaptación de</a:t>
            </a:r>
            <a:r>
              <a:rPr sz="2400" spc="-30" dirty="0"/>
              <a:t> </a:t>
            </a:r>
            <a:r>
              <a:rPr sz="2400" spc="-5" dirty="0"/>
              <a:t>variedad</a:t>
            </a:r>
            <a:endParaRPr sz="2400" dirty="0"/>
          </a:p>
        </p:txBody>
      </p:sp>
      <p:grpSp>
        <p:nvGrpSpPr>
          <p:cNvPr id="40" name="Grupo 39"/>
          <p:cNvGrpSpPr/>
          <p:nvPr/>
        </p:nvGrpSpPr>
        <p:grpSpPr>
          <a:xfrm>
            <a:off x="223837" y="1160437"/>
            <a:ext cx="8661464" cy="5621363"/>
            <a:chOff x="223837" y="687958"/>
            <a:chExt cx="8661464" cy="5621363"/>
          </a:xfrm>
        </p:grpSpPr>
        <p:sp>
          <p:nvSpPr>
            <p:cNvPr id="2" name="object 2"/>
            <p:cNvSpPr/>
            <p:nvPr/>
          </p:nvSpPr>
          <p:spPr>
            <a:xfrm>
              <a:off x="3803903" y="3058667"/>
              <a:ext cx="1842516" cy="6766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899153" y="3096513"/>
              <a:ext cx="1657985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1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NO</a:t>
              </a:r>
              <a:r>
                <a:rPr sz="1000" b="1" spc="-2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DETERIORADA</a:t>
              </a:r>
              <a:endParaRPr sz="10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EN </a:t>
              </a:r>
              <a:r>
                <a:rPr sz="1000" b="1" spc="-5" dirty="0">
                  <a:latin typeface="Tahoma"/>
                  <a:cs typeface="Tahoma"/>
                </a:rPr>
                <a:t>LA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960876" y="916558"/>
              <a:ext cx="1543050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0"/>
                </a:spcBef>
              </a:pPr>
              <a:r>
                <a:rPr sz="900" b="1" dirty="0">
                  <a:latin typeface="Tahoma"/>
                  <a:cs typeface="Tahoma"/>
                </a:rPr>
                <a:t>2</a:t>
              </a:r>
              <a:endParaRPr sz="900">
                <a:latin typeface="Tahoma"/>
                <a:cs typeface="Tahoma"/>
              </a:endParaRPr>
            </a:p>
            <a:p>
              <a:pPr marL="92710" marR="85725" indent="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MAYORES INGRESOS  DE LOS</a:t>
              </a:r>
              <a:r>
                <a:rPr sz="900" b="1" spc="-50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AGRICULTORES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962400" y="2148458"/>
              <a:ext cx="156400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5</a:t>
              </a:r>
              <a:endParaRPr sz="900">
                <a:latin typeface="Tahoma"/>
                <a:cs typeface="Tahoma"/>
              </a:endParaRPr>
            </a:p>
            <a:p>
              <a:pPr marL="92075" marR="83820" indent="-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DISMINUIDAS  PÉRDIDAS EN</a:t>
              </a:r>
              <a:r>
                <a:rPr sz="900" b="1" spc="-8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COSECHA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1900301" y="4886959"/>
              <a:ext cx="1111250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8</a:t>
              </a:r>
              <a:endParaRPr sz="900">
                <a:latin typeface="Tahoma"/>
                <a:cs typeface="Tahoma"/>
              </a:endParaRPr>
            </a:p>
            <a:p>
              <a:pPr marL="95250" marR="8826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MAQUINAS  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ECOLECT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  </a:t>
              </a:r>
              <a:r>
                <a:rPr sz="900" b="1" spc="-5" dirty="0">
                  <a:latin typeface="Tahoma"/>
                  <a:cs typeface="Tahoma"/>
                </a:rPr>
                <a:t>RENOVADAS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04837" y="4048759"/>
              <a:ext cx="1974850" cy="5588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99695" marR="9271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RECOLECTORAS  </a:t>
              </a:r>
              <a:r>
                <a:rPr sz="1000" b="1" spc="-5" dirty="0">
                  <a:latin typeface="Tahoma"/>
                  <a:cs typeface="Tahoma"/>
                </a:rPr>
                <a:t>CON </a:t>
              </a:r>
              <a:r>
                <a:rPr sz="1000" b="1" spc="-10" dirty="0">
                  <a:latin typeface="Tahoma"/>
                  <a:cs typeface="Tahoma"/>
                </a:rPr>
                <a:t>BUEN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DESEMPEÑO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810000" y="4053459"/>
              <a:ext cx="1816100" cy="549275"/>
            </a:xfrm>
            <a:prstGeom prst="rect">
              <a:avLst/>
            </a:prstGeom>
            <a:solidFill>
              <a:srgbClr val="00FF00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0"/>
                </a:spcBef>
              </a:pPr>
              <a:r>
                <a:rPr sz="1000" b="1" spc="-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95250" marR="87630" indent="-1270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</a:t>
              </a:r>
              <a:r>
                <a:rPr sz="1000" b="1" spc="-10" dirty="0">
                  <a:latin typeface="Tahoma"/>
                  <a:cs typeface="Tahoma"/>
                </a:rPr>
                <a:t>TRATAN </a:t>
              </a:r>
              <a:r>
                <a:rPr sz="1000" b="1" spc="-5" dirty="0">
                  <a:latin typeface="Tahoma"/>
                  <a:cs typeface="Tahoma"/>
                </a:rPr>
                <a:t>BIEN  LA </a:t>
              </a: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AL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200400" y="4891659"/>
              <a:ext cx="1397000" cy="638175"/>
            </a:xfrm>
            <a:prstGeom prst="rect">
              <a:avLst/>
            </a:prstGeom>
            <a:solidFill>
              <a:srgbClr val="00FF00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3</a:t>
              </a:r>
              <a:endParaRPr sz="900">
                <a:latin typeface="Tahoma"/>
                <a:cs typeface="Tahoma"/>
              </a:endParaRPr>
            </a:p>
            <a:p>
              <a:pPr marL="92710" marR="118110" indent="32384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OBREROS  CAPACITADOS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582800" y="1996058"/>
              <a:ext cx="1517650" cy="638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15</a:t>
              </a:r>
              <a:endParaRPr sz="900">
                <a:latin typeface="Tahoma"/>
                <a:cs typeface="Tahoma"/>
              </a:endParaRPr>
            </a:p>
            <a:p>
              <a:pPr marL="221615" marR="235585" indent="-139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DISMINUCIÓN DE  C</a:t>
              </a:r>
              <a:r>
                <a:rPr sz="900" b="1" dirty="0">
                  <a:latin typeface="Tahoma"/>
                  <a:cs typeface="Tahoma"/>
                </a:rPr>
                <a:t>ONT</a:t>
              </a:r>
              <a:r>
                <a:rPr sz="900" b="1" spc="-5" dirty="0">
                  <a:latin typeface="Tahoma"/>
                  <a:cs typeface="Tahoma"/>
                </a:rPr>
                <a:t>AMINACI</a:t>
              </a:r>
              <a:r>
                <a:rPr sz="900" b="1" dirty="0">
                  <a:latin typeface="Tahoma"/>
                  <a:cs typeface="Tahoma"/>
                </a:rPr>
                <a:t>ÓN</a:t>
              </a:r>
              <a:endParaRPr sz="9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POR FRUTAS</a:t>
              </a:r>
              <a:r>
                <a:rPr sz="900" b="1" spc="-5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DAÑADAS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522475" y="1373758"/>
              <a:ext cx="168465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0"/>
                </a:spcBef>
              </a:pPr>
              <a:r>
                <a:rPr sz="900" b="1" dirty="0">
                  <a:latin typeface="Tahoma"/>
                  <a:cs typeface="Tahoma"/>
                </a:rPr>
                <a:t>6</a:t>
              </a:r>
              <a:endParaRPr sz="900">
                <a:latin typeface="Tahoma"/>
                <a:cs typeface="Tahoma"/>
              </a:endParaRPr>
            </a:p>
            <a:p>
              <a:pPr marL="92075" marR="8445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DISMINUCIÓN DE  PLAGAS </a:t>
              </a:r>
              <a:r>
                <a:rPr sz="900" b="1" dirty="0">
                  <a:latin typeface="Tahoma"/>
                  <a:cs typeface="Tahoma"/>
                </a:rPr>
                <a:t>Y </a:t>
              </a:r>
              <a:r>
                <a:rPr sz="900" b="1" spc="-5" dirty="0">
                  <a:latin typeface="Tahoma"/>
                  <a:cs typeface="Tahoma"/>
                </a:rPr>
                <a:t>MALOS</a:t>
              </a:r>
              <a:r>
                <a:rPr sz="900" b="1" spc="-11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OLORES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554099" y="4607559"/>
              <a:ext cx="106680" cy="1054100"/>
            </a:xfrm>
            <a:custGeom>
              <a:avLst/>
              <a:gdLst/>
              <a:ahLst/>
              <a:cxnLst/>
              <a:rect l="l" t="t" r="r" b="b"/>
              <a:pathLst>
                <a:path w="106680" h="1054100">
                  <a:moveTo>
                    <a:pt x="93725" y="527050"/>
                  </a:moveTo>
                  <a:lnTo>
                    <a:pt x="93725" y="1054061"/>
                  </a:lnTo>
                  <a:lnTo>
                    <a:pt x="106425" y="1054061"/>
                  </a:lnTo>
                  <a:lnTo>
                    <a:pt x="106425" y="533400"/>
                  </a:lnTo>
                  <a:lnTo>
                    <a:pt x="100075" y="533400"/>
                  </a:lnTo>
                  <a:lnTo>
                    <a:pt x="93725" y="527050"/>
                  </a:lnTo>
                  <a:close/>
                </a:path>
                <a:path w="106680" h="10541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3400"/>
                  </a:lnTo>
                  <a:lnTo>
                    <a:pt x="93725" y="533400"/>
                  </a:lnTo>
                  <a:lnTo>
                    <a:pt x="93725" y="527050"/>
                  </a:lnTo>
                  <a:lnTo>
                    <a:pt x="44450" y="527050"/>
                  </a:lnTo>
                  <a:lnTo>
                    <a:pt x="38100" y="520700"/>
                  </a:lnTo>
                  <a:lnTo>
                    <a:pt x="44450" y="520700"/>
                  </a:lnTo>
                  <a:lnTo>
                    <a:pt x="44450" y="63500"/>
                  </a:lnTo>
                  <a:close/>
                </a:path>
                <a:path w="106680" h="1054100">
                  <a:moveTo>
                    <a:pt x="106425" y="520700"/>
                  </a:moveTo>
                  <a:lnTo>
                    <a:pt x="44450" y="520700"/>
                  </a:lnTo>
                  <a:lnTo>
                    <a:pt x="44450" y="527050"/>
                  </a:lnTo>
                  <a:lnTo>
                    <a:pt x="93725" y="527050"/>
                  </a:lnTo>
                  <a:lnTo>
                    <a:pt x="100075" y="533400"/>
                  </a:lnTo>
                  <a:lnTo>
                    <a:pt x="106425" y="533400"/>
                  </a:lnTo>
                  <a:lnTo>
                    <a:pt x="106425" y="520700"/>
                  </a:lnTo>
                  <a:close/>
                </a:path>
                <a:path w="106680" h="1054100">
                  <a:moveTo>
                    <a:pt x="44450" y="520700"/>
                  </a:moveTo>
                  <a:lnTo>
                    <a:pt x="38100" y="520700"/>
                  </a:lnTo>
                  <a:lnTo>
                    <a:pt x="44450" y="527050"/>
                  </a:lnTo>
                  <a:lnTo>
                    <a:pt x="44450" y="520700"/>
                  </a:lnTo>
                  <a:close/>
                </a:path>
                <a:path w="106680" h="10541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6680" h="10541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54099" y="4607559"/>
              <a:ext cx="908050" cy="279400"/>
            </a:xfrm>
            <a:custGeom>
              <a:avLst/>
              <a:gdLst/>
              <a:ahLst/>
              <a:cxnLst/>
              <a:rect l="l" t="t" r="r" b="b"/>
              <a:pathLst>
                <a:path w="908050" h="279400">
                  <a:moveTo>
                    <a:pt x="895350" y="139700"/>
                  </a:moveTo>
                  <a:lnTo>
                    <a:pt x="895350" y="279400"/>
                  </a:lnTo>
                  <a:lnTo>
                    <a:pt x="908050" y="279400"/>
                  </a:lnTo>
                  <a:lnTo>
                    <a:pt x="908050" y="146050"/>
                  </a:lnTo>
                  <a:lnTo>
                    <a:pt x="901700" y="146050"/>
                  </a:lnTo>
                  <a:lnTo>
                    <a:pt x="895350" y="139700"/>
                  </a:lnTo>
                  <a:close/>
                </a:path>
                <a:path w="908050" h="2794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46050"/>
                  </a:lnTo>
                  <a:lnTo>
                    <a:pt x="895350" y="146050"/>
                  </a:lnTo>
                  <a:lnTo>
                    <a:pt x="895350" y="139700"/>
                  </a:lnTo>
                  <a:lnTo>
                    <a:pt x="44450" y="139700"/>
                  </a:lnTo>
                  <a:lnTo>
                    <a:pt x="38100" y="133350"/>
                  </a:lnTo>
                  <a:lnTo>
                    <a:pt x="44450" y="133350"/>
                  </a:lnTo>
                  <a:lnTo>
                    <a:pt x="44450" y="63500"/>
                  </a:lnTo>
                  <a:close/>
                </a:path>
                <a:path w="908050" h="279400">
                  <a:moveTo>
                    <a:pt x="908050" y="133350"/>
                  </a:moveTo>
                  <a:lnTo>
                    <a:pt x="44450" y="133350"/>
                  </a:lnTo>
                  <a:lnTo>
                    <a:pt x="44450" y="139700"/>
                  </a:lnTo>
                  <a:lnTo>
                    <a:pt x="895350" y="139700"/>
                  </a:lnTo>
                  <a:lnTo>
                    <a:pt x="901700" y="146050"/>
                  </a:lnTo>
                  <a:lnTo>
                    <a:pt x="908050" y="146050"/>
                  </a:lnTo>
                  <a:lnTo>
                    <a:pt x="908050" y="133350"/>
                  </a:lnTo>
                  <a:close/>
                </a:path>
                <a:path w="908050" h="279400">
                  <a:moveTo>
                    <a:pt x="44450" y="133350"/>
                  </a:moveTo>
                  <a:lnTo>
                    <a:pt x="38100" y="133350"/>
                  </a:lnTo>
                  <a:lnTo>
                    <a:pt x="44450" y="139700"/>
                  </a:lnTo>
                  <a:lnTo>
                    <a:pt x="44450" y="133350"/>
                  </a:lnTo>
                  <a:close/>
                </a:path>
                <a:path w="908050" h="2794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08050" h="2794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92550" y="4602734"/>
              <a:ext cx="863600" cy="288925"/>
            </a:xfrm>
            <a:custGeom>
              <a:avLst/>
              <a:gdLst/>
              <a:ahLst/>
              <a:cxnLst/>
              <a:rect l="l" t="t" r="r" b="b"/>
              <a:pathLst>
                <a:path w="863600" h="288925">
                  <a:moveTo>
                    <a:pt x="819150" y="138176"/>
                  </a:moveTo>
                  <a:lnTo>
                    <a:pt x="0" y="138176"/>
                  </a:lnTo>
                  <a:lnTo>
                    <a:pt x="0" y="288925"/>
                  </a:lnTo>
                  <a:lnTo>
                    <a:pt x="12700" y="288925"/>
                  </a:lnTo>
                  <a:lnTo>
                    <a:pt x="12700" y="150876"/>
                  </a:lnTo>
                  <a:lnTo>
                    <a:pt x="6350" y="150876"/>
                  </a:lnTo>
                  <a:lnTo>
                    <a:pt x="12700" y="144526"/>
                  </a:lnTo>
                  <a:lnTo>
                    <a:pt x="819150" y="144526"/>
                  </a:lnTo>
                  <a:lnTo>
                    <a:pt x="819150" y="138176"/>
                  </a:lnTo>
                  <a:close/>
                </a:path>
                <a:path w="863600" h="288925">
                  <a:moveTo>
                    <a:pt x="12700" y="144526"/>
                  </a:moveTo>
                  <a:lnTo>
                    <a:pt x="6350" y="150876"/>
                  </a:lnTo>
                  <a:lnTo>
                    <a:pt x="12700" y="150876"/>
                  </a:lnTo>
                  <a:lnTo>
                    <a:pt x="12700" y="144526"/>
                  </a:lnTo>
                  <a:close/>
                </a:path>
                <a:path w="863600" h="288925">
                  <a:moveTo>
                    <a:pt x="831850" y="138176"/>
                  </a:moveTo>
                  <a:lnTo>
                    <a:pt x="825500" y="138176"/>
                  </a:lnTo>
                  <a:lnTo>
                    <a:pt x="819150" y="144526"/>
                  </a:lnTo>
                  <a:lnTo>
                    <a:pt x="12700" y="144526"/>
                  </a:lnTo>
                  <a:lnTo>
                    <a:pt x="12700" y="150876"/>
                  </a:lnTo>
                  <a:lnTo>
                    <a:pt x="831850" y="150876"/>
                  </a:lnTo>
                  <a:lnTo>
                    <a:pt x="831850" y="138176"/>
                  </a:lnTo>
                  <a:close/>
                </a:path>
                <a:path w="863600" h="288925">
                  <a:moveTo>
                    <a:pt x="831850" y="63500"/>
                  </a:moveTo>
                  <a:lnTo>
                    <a:pt x="819150" y="63500"/>
                  </a:lnTo>
                  <a:lnTo>
                    <a:pt x="819150" y="144526"/>
                  </a:lnTo>
                  <a:lnTo>
                    <a:pt x="825500" y="138176"/>
                  </a:lnTo>
                  <a:lnTo>
                    <a:pt x="831850" y="138176"/>
                  </a:lnTo>
                  <a:lnTo>
                    <a:pt x="831850" y="63500"/>
                  </a:lnTo>
                  <a:close/>
                </a:path>
                <a:path w="863600" h="288925">
                  <a:moveTo>
                    <a:pt x="825500" y="0"/>
                  </a:moveTo>
                  <a:lnTo>
                    <a:pt x="787400" y="76200"/>
                  </a:lnTo>
                  <a:lnTo>
                    <a:pt x="819150" y="76200"/>
                  </a:lnTo>
                  <a:lnTo>
                    <a:pt x="819150" y="63500"/>
                  </a:lnTo>
                  <a:lnTo>
                    <a:pt x="857250" y="63500"/>
                  </a:lnTo>
                  <a:lnTo>
                    <a:pt x="825500" y="0"/>
                  </a:lnTo>
                  <a:close/>
                </a:path>
                <a:path w="863600" h="288925">
                  <a:moveTo>
                    <a:pt x="857250" y="63500"/>
                  </a:moveTo>
                  <a:lnTo>
                    <a:pt x="831850" y="63500"/>
                  </a:lnTo>
                  <a:lnTo>
                    <a:pt x="831850" y="76200"/>
                  </a:lnTo>
                  <a:lnTo>
                    <a:pt x="863600" y="76200"/>
                  </a:lnTo>
                  <a:lnTo>
                    <a:pt x="8572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9475" y="3621659"/>
              <a:ext cx="76200" cy="431800"/>
            </a:xfrm>
            <a:custGeom>
              <a:avLst/>
              <a:gdLst/>
              <a:ahLst/>
              <a:cxnLst/>
              <a:rect l="l" t="t" r="r" b="b"/>
              <a:pathLst>
                <a:path w="76200" h="431800">
                  <a:moveTo>
                    <a:pt x="31750" y="209550"/>
                  </a:moveTo>
                  <a:lnTo>
                    <a:pt x="22225" y="209550"/>
                  </a:lnTo>
                  <a:lnTo>
                    <a:pt x="22225" y="431800"/>
                  </a:lnTo>
                  <a:lnTo>
                    <a:pt x="34925" y="431800"/>
                  </a:lnTo>
                  <a:lnTo>
                    <a:pt x="34925" y="222250"/>
                  </a:lnTo>
                  <a:lnTo>
                    <a:pt x="28575" y="222250"/>
                  </a:lnTo>
                  <a:lnTo>
                    <a:pt x="34925" y="215900"/>
                  </a:lnTo>
                  <a:lnTo>
                    <a:pt x="31750" y="215900"/>
                  </a:lnTo>
                  <a:lnTo>
                    <a:pt x="31750" y="209550"/>
                  </a:lnTo>
                  <a:close/>
                </a:path>
                <a:path w="76200" h="431800">
                  <a:moveTo>
                    <a:pt x="34925" y="215900"/>
                  </a:moveTo>
                  <a:lnTo>
                    <a:pt x="28575" y="222250"/>
                  </a:lnTo>
                  <a:lnTo>
                    <a:pt x="34925" y="222250"/>
                  </a:lnTo>
                  <a:lnTo>
                    <a:pt x="34925" y="215900"/>
                  </a:lnTo>
                  <a:close/>
                </a:path>
                <a:path w="76200" h="431800">
                  <a:moveTo>
                    <a:pt x="44450" y="209550"/>
                  </a:moveTo>
                  <a:lnTo>
                    <a:pt x="38100" y="209550"/>
                  </a:lnTo>
                  <a:lnTo>
                    <a:pt x="31750" y="215900"/>
                  </a:lnTo>
                  <a:lnTo>
                    <a:pt x="34925" y="215900"/>
                  </a:lnTo>
                  <a:lnTo>
                    <a:pt x="34925" y="222250"/>
                  </a:lnTo>
                  <a:lnTo>
                    <a:pt x="44450" y="222250"/>
                  </a:lnTo>
                  <a:lnTo>
                    <a:pt x="44450" y="209550"/>
                  </a:lnTo>
                  <a:close/>
                </a:path>
                <a:path w="76200" h="431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15900"/>
                  </a:lnTo>
                  <a:lnTo>
                    <a:pt x="38100" y="209550"/>
                  </a:lnTo>
                  <a:lnTo>
                    <a:pt x="44450" y="209550"/>
                  </a:lnTo>
                  <a:lnTo>
                    <a:pt x="44450" y="63500"/>
                  </a:lnTo>
                  <a:close/>
                </a:path>
                <a:path w="76200" h="431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31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85849" y="3621659"/>
              <a:ext cx="3180080" cy="427355"/>
            </a:xfrm>
            <a:custGeom>
              <a:avLst/>
              <a:gdLst/>
              <a:ahLst/>
              <a:cxnLst/>
              <a:rect l="l" t="t" r="r" b="b"/>
              <a:pathLst>
                <a:path w="3180079" h="427354">
                  <a:moveTo>
                    <a:pt x="3135376" y="208026"/>
                  </a:moveTo>
                  <a:lnTo>
                    <a:pt x="0" y="208026"/>
                  </a:lnTo>
                  <a:lnTo>
                    <a:pt x="0" y="427101"/>
                  </a:lnTo>
                  <a:lnTo>
                    <a:pt x="12700" y="427101"/>
                  </a:lnTo>
                  <a:lnTo>
                    <a:pt x="12700" y="220726"/>
                  </a:lnTo>
                  <a:lnTo>
                    <a:pt x="6350" y="220726"/>
                  </a:lnTo>
                  <a:lnTo>
                    <a:pt x="12700" y="214376"/>
                  </a:lnTo>
                  <a:lnTo>
                    <a:pt x="3135376" y="214376"/>
                  </a:lnTo>
                  <a:lnTo>
                    <a:pt x="3135376" y="208026"/>
                  </a:lnTo>
                  <a:close/>
                </a:path>
                <a:path w="3180079" h="427354">
                  <a:moveTo>
                    <a:pt x="12700" y="214376"/>
                  </a:moveTo>
                  <a:lnTo>
                    <a:pt x="6350" y="220726"/>
                  </a:lnTo>
                  <a:lnTo>
                    <a:pt x="12700" y="220726"/>
                  </a:lnTo>
                  <a:lnTo>
                    <a:pt x="12700" y="214376"/>
                  </a:lnTo>
                  <a:close/>
                </a:path>
                <a:path w="3180079" h="427354">
                  <a:moveTo>
                    <a:pt x="3148076" y="208026"/>
                  </a:moveTo>
                  <a:lnTo>
                    <a:pt x="3141726" y="208026"/>
                  </a:lnTo>
                  <a:lnTo>
                    <a:pt x="3135376" y="214376"/>
                  </a:lnTo>
                  <a:lnTo>
                    <a:pt x="12700" y="214376"/>
                  </a:lnTo>
                  <a:lnTo>
                    <a:pt x="12700" y="220726"/>
                  </a:lnTo>
                  <a:lnTo>
                    <a:pt x="3148076" y="220726"/>
                  </a:lnTo>
                  <a:lnTo>
                    <a:pt x="3148076" y="208026"/>
                  </a:lnTo>
                  <a:close/>
                </a:path>
                <a:path w="3180079" h="427354">
                  <a:moveTo>
                    <a:pt x="3148076" y="63500"/>
                  </a:moveTo>
                  <a:lnTo>
                    <a:pt x="3135376" y="63500"/>
                  </a:lnTo>
                  <a:lnTo>
                    <a:pt x="3135376" y="214376"/>
                  </a:lnTo>
                  <a:lnTo>
                    <a:pt x="3141726" y="208026"/>
                  </a:lnTo>
                  <a:lnTo>
                    <a:pt x="3148076" y="208026"/>
                  </a:lnTo>
                  <a:lnTo>
                    <a:pt x="3148076" y="63500"/>
                  </a:lnTo>
                  <a:close/>
                </a:path>
                <a:path w="3180079" h="427354">
                  <a:moveTo>
                    <a:pt x="3141726" y="0"/>
                  </a:moveTo>
                  <a:lnTo>
                    <a:pt x="3103626" y="76200"/>
                  </a:lnTo>
                  <a:lnTo>
                    <a:pt x="3135376" y="76200"/>
                  </a:lnTo>
                  <a:lnTo>
                    <a:pt x="3135376" y="63500"/>
                  </a:lnTo>
                  <a:lnTo>
                    <a:pt x="3173476" y="63500"/>
                  </a:lnTo>
                  <a:lnTo>
                    <a:pt x="3141726" y="0"/>
                  </a:lnTo>
                  <a:close/>
                </a:path>
                <a:path w="3180079" h="427354">
                  <a:moveTo>
                    <a:pt x="3173476" y="63500"/>
                  </a:moveTo>
                  <a:lnTo>
                    <a:pt x="3148076" y="63500"/>
                  </a:lnTo>
                  <a:lnTo>
                    <a:pt x="3148076" y="76200"/>
                  </a:lnTo>
                  <a:lnTo>
                    <a:pt x="3179826" y="76200"/>
                  </a:lnTo>
                  <a:lnTo>
                    <a:pt x="317347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03398" y="2634233"/>
              <a:ext cx="2430780" cy="428625"/>
            </a:xfrm>
            <a:custGeom>
              <a:avLst/>
              <a:gdLst/>
              <a:ahLst/>
              <a:cxnLst/>
              <a:rect l="l" t="t" r="r" b="b"/>
              <a:pathLst>
                <a:path w="2430779" h="428625">
                  <a:moveTo>
                    <a:pt x="2417826" y="214375"/>
                  </a:moveTo>
                  <a:lnTo>
                    <a:pt x="2417826" y="428625"/>
                  </a:lnTo>
                  <a:lnTo>
                    <a:pt x="2430526" y="428625"/>
                  </a:lnTo>
                  <a:lnTo>
                    <a:pt x="2430526" y="220725"/>
                  </a:lnTo>
                  <a:lnTo>
                    <a:pt x="2424176" y="220725"/>
                  </a:lnTo>
                  <a:lnTo>
                    <a:pt x="2417826" y="214375"/>
                  </a:lnTo>
                  <a:close/>
                </a:path>
                <a:path w="2430779" h="4286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0725"/>
                  </a:lnTo>
                  <a:lnTo>
                    <a:pt x="2417826" y="220725"/>
                  </a:lnTo>
                  <a:lnTo>
                    <a:pt x="2417826" y="214375"/>
                  </a:lnTo>
                  <a:lnTo>
                    <a:pt x="44450" y="214375"/>
                  </a:lnTo>
                  <a:lnTo>
                    <a:pt x="38100" y="208025"/>
                  </a:lnTo>
                  <a:lnTo>
                    <a:pt x="44450" y="208025"/>
                  </a:lnTo>
                  <a:lnTo>
                    <a:pt x="44450" y="63500"/>
                  </a:lnTo>
                  <a:close/>
                </a:path>
                <a:path w="2430779" h="428625">
                  <a:moveTo>
                    <a:pt x="2430526" y="208025"/>
                  </a:moveTo>
                  <a:lnTo>
                    <a:pt x="44450" y="208025"/>
                  </a:lnTo>
                  <a:lnTo>
                    <a:pt x="44450" y="214375"/>
                  </a:lnTo>
                  <a:lnTo>
                    <a:pt x="2417826" y="214375"/>
                  </a:lnTo>
                  <a:lnTo>
                    <a:pt x="2424176" y="220725"/>
                  </a:lnTo>
                  <a:lnTo>
                    <a:pt x="2430526" y="220725"/>
                  </a:lnTo>
                  <a:lnTo>
                    <a:pt x="2430526" y="208025"/>
                  </a:lnTo>
                  <a:close/>
                </a:path>
                <a:path w="2430779" h="428625">
                  <a:moveTo>
                    <a:pt x="44450" y="208025"/>
                  </a:moveTo>
                  <a:lnTo>
                    <a:pt x="38100" y="208025"/>
                  </a:lnTo>
                  <a:lnTo>
                    <a:pt x="44450" y="214375"/>
                  </a:lnTo>
                  <a:lnTo>
                    <a:pt x="44450" y="208025"/>
                  </a:lnTo>
                  <a:close/>
                </a:path>
                <a:path w="2430779" h="4286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30779" h="4286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06873" y="2650108"/>
              <a:ext cx="76200" cy="412750"/>
            </a:xfrm>
            <a:custGeom>
              <a:avLst/>
              <a:gdLst/>
              <a:ahLst/>
              <a:cxnLst/>
              <a:rect l="l" t="t" r="r" b="b"/>
              <a:pathLst>
                <a:path w="76200" h="412750">
                  <a:moveTo>
                    <a:pt x="31750" y="200025"/>
                  </a:moveTo>
                  <a:lnTo>
                    <a:pt x="14350" y="200025"/>
                  </a:lnTo>
                  <a:lnTo>
                    <a:pt x="14350" y="412750"/>
                  </a:lnTo>
                  <a:lnTo>
                    <a:pt x="27050" y="412750"/>
                  </a:lnTo>
                  <a:lnTo>
                    <a:pt x="27050" y="212725"/>
                  </a:lnTo>
                  <a:lnTo>
                    <a:pt x="20700" y="212725"/>
                  </a:lnTo>
                  <a:lnTo>
                    <a:pt x="27050" y="206375"/>
                  </a:lnTo>
                  <a:lnTo>
                    <a:pt x="31750" y="206375"/>
                  </a:lnTo>
                  <a:lnTo>
                    <a:pt x="31750" y="200025"/>
                  </a:lnTo>
                  <a:close/>
                </a:path>
                <a:path w="76200" h="412750">
                  <a:moveTo>
                    <a:pt x="27050" y="206375"/>
                  </a:moveTo>
                  <a:lnTo>
                    <a:pt x="20700" y="212725"/>
                  </a:lnTo>
                  <a:lnTo>
                    <a:pt x="27050" y="212725"/>
                  </a:lnTo>
                  <a:lnTo>
                    <a:pt x="27050" y="206375"/>
                  </a:lnTo>
                  <a:close/>
                </a:path>
                <a:path w="76200" h="412750">
                  <a:moveTo>
                    <a:pt x="44450" y="200025"/>
                  </a:moveTo>
                  <a:lnTo>
                    <a:pt x="38100" y="200025"/>
                  </a:lnTo>
                  <a:lnTo>
                    <a:pt x="31750" y="206375"/>
                  </a:lnTo>
                  <a:lnTo>
                    <a:pt x="27050" y="206375"/>
                  </a:lnTo>
                  <a:lnTo>
                    <a:pt x="27050" y="212725"/>
                  </a:lnTo>
                  <a:lnTo>
                    <a:pt x="44450" y="212725"/>
                  </a:lnTo>
                  <a:lnTo>
                    <a:pt x="44450" y="200025"/>
                  </a:lnTo>
                  <a:close/>
                </a:path>
                <a:path w="76200" h="4127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06375"/>
                  </a:lnTo>
                  <a:lnTo>
                    <a:pt x="38100" y="200025"/>
                  </a:lnTo>
                  <a:lnTo>
                    <a:pt x="44450" y="200025"/>
                  </a:lnTo>
                  <a:lnTo>
                    <a:pt x="44450" y="63500"/>
                  </a:lnTo>
                  <a:close/>
                </a:path>
                <a:path w="76200" h="4127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27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05430" y="1875408"/>
              <a:ext cx="72262" cy="121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4173" y="1418208"/>
              <a:ext cx="76200" cy="730250"/>
            </a:xfrm>
            <a:custGeom>
              <a:avLst/>
              <a:gdLst/>
              <a:ahLst/>
              <a:cxnLst/>
              <a:rect l="l" t="t" r="r" b="b"/>
              <a:pathLst>
                <a:path w="76200" h="730250">
                  <a:moveTo>
                    <a:pt x="44450" y="365125"/>
                  </a:moveTo>
                  <a:lnTo>
                    <a:pt x="44450" y="730250"/>
                  </a:lnTo>
                  <a:lnTo>
                    <a:pt x="57150" y="730250"/>
                  </a:lnTo>
                  <a:lnTo>
                    <a:pt x="57150" y="371475"/>
                  </a:lnTo>
                  <a:lnTo>
                    <a:pt x="50800" y="371475"/>
                  </a:lnTo>
                  <a:lnTo>
                    <a:pt x="44450" y="365125"/>
                  </a:lnTo>
                  <a:close/>
                </a:path>
                <a:path w="76200" h="7302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71475"/>
                  </a:lnTo>
                  <a:lnTo>
                    <a:pt x="44450" y="371475"/>
                  </a:lnTo>
                  <a:lnTo>
                    <a:pt x="44450" y="365125"/>
                  </a:lnTo>
                  <a:lnTo>
                    <a:pt x="38100" y="358775"/>
                  </a:lnTo>
                  <a:lnTo>
                    <a:pt x="44450" y="358775"/>
                  </a:lnTo>
                  <a:lnTo>
                    <a:pt x="44450" y="63500"/>
                  </a:lnTo>
                  <a:close/>
                </a:path>
                <a:path w="76200" h="730250">
                  <a:moveTo>
                    <a:pt x="57150" y="358775"/>
                  </a:moveTo>
                  <a:lnTo>
                    <a:pt x="44450" y="358775"/>
                  </a:lnTo>
                  <a:lnTo>
                    <a:pt x="44450" y="365125"/>
                  </a:lnTo>
                  <a:lnTo>
                    <a:pt x="50800" y="371475"/>
                  </a:lnTo>
                  <a:lnTo>
                    <a:pt x="57150" y="371475"/>
                  </a:lnTo>
                  <a:lnTo>
                    <a:pt x="57150" y="358775"/>
                  </a:lnTo>
                  <a:close/>
                </a:path>
                <a:path w="76200" h="730250">
                  <a:moveTo>
                    <a:pt x="44450" y="358775"/>
                  </a:moveTo>
                  <a:lnTo>
                    <a:pt x="38100" y="358775"/>
                  </a:lnTo>
                  <a:lnTo>
                    <a:pt x="44450" y="365125"/>
                  </a:lnTo>
                  <a:lnTo>
                    <a:pt x="44450" y="358775"/>
                  </a:lnTo>
                  <a:close/>
                </a:path>
                <a:path w="76200" h="7302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7302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6170676" y="1983358"/>
              <a:ext cx="1446530" cy="638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16</a:t>
              </a:r>
              <a:endParaRPr sz="900">
                <a:latin typeface="Tahoma"/>
                <a:cs typeface="Tahoma"/>
              </a:endParaRPr>
            </a:p>
            <a:p>
              <a:pPr marL="92710" marR="8509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MENOR COSTO POR  MANIPULACIÓN DE  FRUTA</a:t>
              </a:r>
              <a:r>
                <a:rPr sz="900" b="1" spc="-6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DETERIORADA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4721225" y="2621533"/>
              <a:ext cx="2211705" cy="441325"/>
            </a:xfrm>
            <a:custGeom>
              <a:avLst/>
              <a:gdLst/>
              <a:ahLst/>
              <a:cxnLst/>
              <a:rect l="l" t="t" r="r" b="b"/>
              <a:pathLst>
                <a:path w="2211704" h="441325">
                  <a:moveTo>
                    <a:pt x="2166874" y="214375"/>
                  </a:moveTo>
                  <a:lnTo>
                    <a:pt x="0" y="214375"/>
                  </a:lnTo>
                  <a:lnTo>
                    <a:pt x="0" y="441325"/>
                  </a:lnTo>
                  <a:lnTo>
                    <a:pt x="12700" y="441325"/>
                  </a:lnTo>
                  <a:lnTo>
                    <a:pt x="12700" y="227075"/>
                  </a:lnTo>
                  <a:lnTo>
                    <a:pt x="6350" y="227075"/>
                  </a:lnTo>
                  <a:lnTo>
                    <a:pt x="12700" y="220725"/>
                  </a:lnTo>
                  <a:lnTo>
                    <a:pt x="2166874" y="220725"/>
                  </a:lnTo>
                  <a:lnTo>
                    <a:pt x="2166874" y="214375"/>
                  </a:lnTo>
                  <a:close/>
                </a:path>
                <a:path w="2211704" h="441325">
                  <a:moveTo>
                    <a:pt x="12700" y="220725"/>
                  </a:moveTo>
                  <a:lnTo>
                    <a:pt x="6350" y="227075"/>
                  </a:lnTo>
                  <a:lnTo>
                    <a:pt x="12700" y="227075"/>
                  </a:lnTo>
                  <a:lnTo>
                    <a:pt x="12700" y="220725"/>
                  </a:lnTo>
                  <a:close/>
                </a:path>
                <a:path w="2211704" h="441325">
                  <a:moveTo>
                    <a:pt x="2179574" y="214375"/>
                  </a:moveTo>
                  <a:lnTo>
                    <a:pt x="2173224" y="214375"/>
                  </a:lnTo>
                  <a:lnTo>
                    <a:pt x="2166874" y="220725"/>
                  </a:lnTo>
                  <a:lnTo>
                    <a:pt x="12700" y="220725"/>
                  </a:lnTo>
                  <a:lnTo>
                    <a:pt x="12700" y="227075"/>
                  </a:lnTo>
                  <a:lnTo>
                    <a:pt x="2179574" y="227075"/>
                  </a:lnTo>
                  <a:lnTo>
                    <a:pt x="2179574" y="214375"/>
                  </a:lnTo>
                  <a:close/>
                </a:path>
                <a:path w="2211704" h="441325">
                  <a:moveTo>
                    <a:pt x="2179574" y="63500"/>
                  </a:moveTo>
                  <a:lnTo>
                    <a:pt x="2166874" y="63500"/>
                  </a:lnTo>
                  <a:lnTo>
                    <a:pt x="2166874" y="220725"/>
                  </a:lnTo>
                  <a:lnTo>
                    <a:pt x="2173224" y="214375"/>
                  </a:lnTo>
                  <a:lnTo>
                    <a:pt x="2179574" y="214375"/>
                  </a:lnTo>
                  <a:lnTo>
                    <a:pt x="2179574" y="63500"/>
                  </a:lnTo>
                  <a:close/>
                </a:path>
                <a:path w="2211704" h="441325">
                  <a:moveTo>
                    <a:pt x="2173224" y="0"/>
                  </a:moveTo>
                  <a:lnTo>
                    <a:pt x="2135124" y="76200"/>
                  </a:lnTo>
                  <a:lnTo>
                    <a:pt x="2166874" y="76200"/>
                  </a:lnTo>
                  <a:lnTo>
                    <a:pt x="2166874" y="63500"/>
                  </a:lnTo>
                  <a:lnTo>
                    <a:pt x="2204974" y="63500"/>
                  </a:lnTo>
                  <a:lnTo>
                    <a:pt x="2173224" y="0"/>
                  </a:lnTo>
                  <a:close/>
                </a:path>
                <a:path w="2211704" h="441325">
                  <a:moveTo>
                    <a:pt x="2204974" y="63500"/>
                  </a:moveTo>
                  <a:lnTo>
                    <a:pt x="2179574" y="63500"/>
                  </a:lnTo>
                  <a:lnTo>
                    <a:pt x="2179574" y="76200"/>
                  </a:lnTo>
                  <a:lnTo>
                    <a:pt x="2211324" y="76200"/>
                  </a:lnTo>
                  <a:lnTo>
                    <a:pt x="2204974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94173" y="1418208"/>
              <a:ext cx="2206625" cy="565150"/>
            </a:xfrm>
            <a:custGeom>
              <a:avLst/>
              <a:gdLst/>
              <a:ahLst/>
              <a:cxnLst/>
              <a:rect l="l" t="t" r="r" b="b"/>
              <a:pathLst>
                <a:path w="2206625" h="565150">
                  <a:moveTo>
                    <a:pt x="2193925" y="282575"/>
                  </a:moveTo>
                  <a:lnTo>
                    <a:pt x="2193925" y="565150"/>
                  </a:lnTo>
                  <a:lnTo>
                    <a:pt x="2206625" y="565150"/>
                  </a:lnTo>
                  <a:lnTo>
                    <a:pt x="2206625" y="288925"/>
                  </a:lnTo>
                  <a:lnTo>
                    <a:pt x="2200275" y="288925"/>
                  </a:lnTo>
                  <a:lnTo>
                    <a:pt x="2193925" y="282575"/>
                  </a:lnTo>
                  <a:close/>
                </a:path>
                <a:path w="2206625" h="5651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88925"/>
                  </a:lnTo>
                  <a:lnTo>
                    <a:pt x="2193925" y="288925"/>
                  </a:lnTo>
                  <a:lnTo>
                    <a:pt x="2193925" y="282575"/>
                  </a:lnTo>
                  <a:lnTo>
                    <a:pt x="44450" y="282575"/>
                  </a:lnTo>
                  <a:lnTo>
                    <a:pt x="38100" y="276225"/>
                  </a:lnTo>
                  <a:lnTo>
                    <a:pt x="44450" y="276225"/>
                  </a:lnTo>
                  <a:lnTo>
                    <a:pt x="44450" y="63500"/>
                  </a:lnTo>
                  <a:close/>
                </a:path>
                <a:path w="2206625" h="565150">
                  <a:moveTo>
                    <a:pt x="2206625" y="276225"/>
                  </a:moveTo>
                  <a:lnTo>
                    <a:pt x="44450" y="276225"/>
                  </a:lnTo>
                  <a:lnTo>
                    <a:pt x="44450" y="282575"/>
                  </a:lnTo>
                  <a:lnTo>
                    <a:pt x="2193925" y="282575"/>
                  </a:lnTo>
                  <a:lnTo>
                    <a:pt x="2200275" y="288925"/>
                  </a:lnTo>
                  <a:lnTo>
                    <a:pt x="2206625" y="288925"/>
                  </a:lnTo>
                  <a:lnTo>
                    <a:pt x="2206625" y="276225"/>
                  </a:lnTo>
                  <a:close/>
                </a:path>
                <a:path w="2206625" h="565150">
                  <a:moveTo>
                    <a:pt x="44450" y="276225"/>
                  </a:moveTo>
                  <a:lnTo>
                    <a:pt x="38100" y="276225"/>
                  </a:lnTo>
                  <a:lnTo>
                    <a:pt x="44450" y="282575"/>
                  </a:lnTo>
                  <a:lnTo>
                    <a:pt x="44450" y="276225"/>
                  </a:lnTo>
                  <a:close/>
                </a:path>
                <a:path w="2206625" h="5651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206625" h="5651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5105400" y="4891659"/>
              <a:ext cx="1208405" cy="638175"/>
            </a:xfrm>
            <a:prstGeom prst="rect">
              <a:avLst/>
            </a:prstGeom>
            <a:solidFill>
              <a:srgbClr val="00FF00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17</a:t>
              </a:r>
              <a:endParaRPr sz="900">
                <a:latin typeface="Tahoma"/>
                <a:cs typeface="Tahoma"/>
              </a:endParaRPr>
            </a:p>
            <a:p>
              <a:pPr marL="92710" marR="82550" indent="-254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MEJORADAS  TECNOLOGÍAS  DE</a:t>
              </a:r>
              <a:r>
                <a:rPr sz="900" b="1" spc="-5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679950" y="4602734"/>
              <a:ext cx="1036955" cy="288925"/>
            </a:xfrm>
            <a:custGeom>
              <a:avLst/>
              <a:gdLst/>
              <a:ahLst/>
              <a:cxnLst/>
              <a:rect l="l" t="t" r="r" b="b"/>
              <a:pathLst>
                <a:path w="1036954" h="288925">
                  <a:moveTo>
                    <a:pt x="1023874" y="144526"/>
                  </a:moveTo>
                  <a:lnTo>
                    <a:pt x="1023874" y="288925"/>
                  </a:lnTo>
                  <a:lnTo>
                    <a:pt x="1036574" y="288925"/>
                  </a:lnTo>
                  <a:lnTo>
                    <a:pt x="1036574" y="150876"/>
                  </a:lnTo>
                  <a:lnTo>
                    <a:pt x="1030224" y="150876"/>
                  </a:lnTo>
                  <a:lnTo>
                    <a:pt x="1023874" y="144526"/>
                  </a:lnTo>
                  <a:close/>
                </a:path>
                <a:path w="1036954" h="288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50876"/>
                  </a:lnTo>
                  <a:lnTo>
                    <a:pt x="1023874" y="150876"/>
                  </a:lnTo>
                  <a:lnTo>
                    <a:pt x="1023874" y="144526"/>
                  </a:lnTo>
                  <a:lnTo>
                    <a:pt x="44450" y="144526"/>
                  </a:lnTo>
                  <a:lnTo>
                    <a:pt x="38100" y="138176"/>
                  </a:lnTo>
                  <a:lnTo>
                    <a:pt x="44450" y="138176"/>
                  </a:lnTo>
                  <a:lnTo>
                    <a:pt x="44450" y="63500"/>
                  </a:lnTo>
                  <a:close/>
                </a:path>
                <a:path w="1036954" h="288925">
                  <a:moveTo>
                    <a:pt x="1036574" y="138176"/>
                  </a:moveTo>
                  <a:lnTo>
                    <a:pt x="44450" y="138176"/>
                  </a:lnTo>
                  <a:lnTo>
                    <a:pt x="44450" y="144526"/>
                  </a:lnTo>
                  <a:lnTo>
                    <a:pt x="1023874" y="144526"/>
                  </a:lnTo>
                  <a:lnTo>
                    <a:pt x="1030224" y="150876"/>
                  </a:lnTo>
                  <a:lnTo>
                    <a:pt x="1036574" y="150876"/>
                  </a:lnTo>
                  <a:lnTo>
                    <a:pt x="1036574" y="138176"/>
                  </a:lnTo>
                  <a:close/>
                </a:path>
                <a:path w="1036954" h="288925">
                  <a:moveTo>
                    <a:pt x="44450" y="138176"/>
                  </a:moveTo>
                  <a:lnTo>
                    <a:pt x="38100" y="138176"/>
                  </a:lnTo>
                  <a:lnTo>
                    <a:pt x="44450" y="144526"/>
                  </a:lnTo>
                  <a:lnTo>
                    <a:pt x="44450" y="138176"/>
                  </a:lnTo>
                  <a:close/>
                </a:path>
                <a:path w="1036954" h="288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36954" h="288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4267200" y="5653684"/>
              <a:ext cx="1250950" cy="638175"/>
            </a:xfrm>
            <a:prstGeom prst="rect">
              <a:avLst/>
            </a:prstGeom>
            <a:solidFill>
              <a:srgbClr val="00FF00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18</a:t>
              </a:r>
              <a:endParaRPr sz="900">
                <a:latin typeface="Tahoma"/>
                <a:cs typeface="Tahoma"/>
              </a:endParaRPr>
            </a:p>
            <a:p>
              <a:pPr marL="92075" marR="85090" indent="-29209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INCENTIVOS  ADECUADOS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679950" y="4602734"/>
              <a:ext cx="219075" cy="1051560"/>
            </a:xfrm>
            <a:custGeom>
              <a:avLst/>
              <a:gdLst/>
              <a:ahLst/>
              <a:cxnLst/>
              <a:rect l="l" t="t" r="r" b="b"/>
              <a:pathLst>
                <a:path w="219075" h="1051560">
                  <a:moveTo>
                    <a:pt x="206375" y="525526"/>
                  </a:moveTo>
                  <a:lnTo>
                    <a:pt x="206375" y="1050950"/>
                  </a:lnTo>
                  <a:lnTo>
                    <a:pt x="219075" y="1050950"/>
                  </a:lnTo>
                  <a:lnTo>
                    <a:pt x="219075" y="531876"/>
                  </a:lnTo>
                  <a:lnTo>
                    <a:pt x="212725" y="531876"/>
                  </a:lnTo>
                  <a:lnTo>
                    <a:pt x="206375" y="525526"/>
                  </a:lnTo>
                  <a:close/>
                </a:path>
                <a:path w="219075" h="105156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1876"/>
                  </a:lnTo>
                  <a:lnTo>
                    <a:pt x="206375" y="531876"/>
                  </a:lnTo>
                  <a:lnTo>
                    <a:pt x="206375" y="525526"/>
                  </a:lnTo>
                  <a:lnTo>
                    <a:pt x="44450" y="525526"/>
                  </a:lnTo>
                  <a:lnTo>
                    <a:pt x="38100" y="519176"/>
                  </a:lnTo>
                  <a:lnTo>
                    <a:pt x="44450" y="519176"/>
                  </a:lnTo>
                  <a:lnTo>
                    <a:pt x="44450" y="63500"/>
                  </a:lnTo>
                  <a:close/>
                </a:path>
                <a:path w="219075" h="1051560">
                  <a:moveTo>
                    <a:pt x="219075" y="519176"/>
                  </a:moveTo>
                  <a:lnTo>
                    <a:pt x="44450" y="519176"/>
                  </a:lnTo>
                  <a:lnTo>
                    <a:pt x="44450" y="525526"/>
                  </a:lnTo>
                  <a:lnTo>
                    <a:pt x="206375" y="525526"/>
                  </a:lnTo>
                  <a:lnTo>
                    <a:pt x="212725" y="531876"/>
                  </a:lnTo>
                  <a:lnTo>
                    <a:pt x="219075" y="531876"/>
                  </a:lnTo>
                  <a:lnTo>
                    <a:pt x="219075" y="519176"/>
                  </a:lnTo>
                  <a:close/>
                </a:path>
                <a:path w="219075" h="1051560">
                  <a:moveTo>
                    <a:pt x="44450" y="519176"/>
                  </a:moveTo>
                  <a:lnTo>
                    <a:pt x="38100" y="519176"/>
                  </a:lnTo>
                  <a:lnTo>
                    <a:pt x="44450" y="525526"/>
                  </a:lnTo>
                  <a:lnTo>
                    <a:pt x="44450" y="519176"/>
                  </a:lnTo>
                  <a:close/>
                </a:path>
                <a:path w="219075" h="105156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19075" h="105156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1046162" y="5661621"/>
              <a:ext cx="1214755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13</a:t>
              </a:r>
              <a:endParaRPr sz="900">
                <a:latin typeface="Tahoma"/>
                <a:cs typeface="Tahoma"/>
              </a:endParaRPr>
            </a:p>
            <a:p>
              <a:pPr marL="93345" marR="8763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</a:t>
              </a:r>
              <a:r>
                <a:rPr sz="900" b="1" dirty="0">
                  <a:latin typeface="Tahoma"/>
                  <a:cs typeface="Tahoma"/>
                </a:rPr>
                <a:t>NT</a:t>
              </a:r>
              <a:r>
                <a:rPr sz="900" b="1" spc="-5" dirty="0">
                  <a:latin typeface="Tahoma"/>
                  <a:cs typeface="Tahoma"/>
                </a:rPr>
                <a:t>ENIMIENTO  ADECUADO DE  COSECHADORAS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674876" y="687958"/>
              <a:ext cx="147637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0"/>
                </a:spcBef>
              </a:pPr>
              <a:r>
                <a:rPr sz="900" b="1" dirty="0">
                  <a:latin typeface="Tahoma"/>
                  <a:cs typeface="Tahoma"/>
                </a:rPr>
                <a:t>19</a:t>
              </a:r>
              <a:endParaRPr sz="900">
                <a:latin typeface="Tahoma"/>
                <a:cs typeface="Tahoma"/>
              </a:endParaRPr>
            </a:p>
            <a:p>
              <a:pPr marL="92075" marR="83185" indent="-190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AMENAZAS </a:t>
              </a:r>
              <a:r>
                <a:rPr sz="900" b="1" dirty="0">
                  <a:latin typeface="Tahoma"/>
                  <a:cs typeface="Tahoma"/>
                </a:rPr>
                <a:t>A </a:t>
              </a:r>
              <a:r>
                <a:rPr sz="900" b="1" spc="-5" dirty="0">
                  <a:latin typeface="Tahoma"/>
                  <a:cs typeface="Tahoma"/>
                </a:rPr>
                <a:t>LA  SALUD</a:t>
              </a:r>
              <a:r>
                <a:rPr sz="900" b="1" spc="-7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CONTROLADAS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9025" y="1189608"/>
              <a:ext cx="92075" cy="1841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223837" y="4886959"/>
              <a:ext cx="1149350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20</a:t>
              </a:r>
              <a:endParaRPr sz="900">
                <a:latin typeface="Tahoma"/>
                <a:cs typeface="Tahoma"/>
              </a:endParaRPr>
            </a:p>
            <a:p>
              <a:pPr marL="95250" marR="90170" indent="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ADECUADO  DISEÑO DE LAS  C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EC</a:t>
              </a:r>
              <a:r>
                <a:rPr sz="900" b="1" spc="-10" dirty="0">
                  <a:latin typeface="Tahoma"/>
                  <a:cs typeface="Tahoma"/>
                </a:rPr>
                <a:t>H</a:t>
              </a:r>
              <a:r>
                <a:rPr sz="900" b="1" spc="-5" dirty="0">
                  <a:latin typeface="Tahoma"/>
                  <a:cs typeface="Tahoma"/>
                </a:rPr>
                <a:t>AD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92162" y="4607559"/>
              <a:ext cx="838200" cy="279400"/>
            </a:xfrm>
            <a:custGeom>
              <a:avLst/>
              <a:gdLst/>
              <a:ahLst/>
              <a:cxnLst/>
              <a:rect l="l" t="t" r="r" b="b"/>
              <a:pathLst>
                <a:path w="838200" h="279400">
                  <a:moveTo>
                    <a:pt x="793686" y="133350"/>
                  </a:moveTo>
                  <a:lnTo>
                    <a:pt x="0" y="133350"/>
                  </a:lnTo>
                  <a:lnTo>
                    <a:pt x="0" y="279400"/>
                  </a:lnTo>
                  <a:lnTo>
                    <a:pt x="12700" y="279400"/>
                  </a:lnTo>
                  <a:lnTo>
                    <a:pt x="12700" y="146050"/>
                  </a:lnTo>
                  <a:lnTo>
                    <a:pt x="6350" y="146050"/>
                  </a:lnTo>
                  <a:lnTo>
                    <a:pt x="12700" y="139700"/>
                  </a:lnTo>
                  <a:lnTo>
                    <a:pt x="793686" y="139700"/>
                  </a:lnTo>
                  <a:lnTo>
                    <a:pt x="793686" y="133350"/>
                  </a:lnTo>
                  <a:close/>
                </a:path>
                <a:path w="838200" h="279400">
                  <a:moveTo>
                    <a:pt x="12700" y="139700"/>
                  </a:moveTo>
                  <a:lnTo>
                    <a:pt x="6350" y="146050"/>
                  </a:lnTo>
                  <a:lnTo>
                    <a:pt x="12700" y="146050"/>
                  </a:lnTo>
                  <a:lnTo>
                    <a:pt x="12700" y="139700"/>
                  </a:lnTo>
                  <a:close/>
                </a:path>
                <a:path w="838200" h="279400">
                  <a:moveTo>
                    <a:pt x="806386" y="133350"/>
                  </a:moveTo>
                  <a:lnTo>
                    <a:pt x="800036" y="133350"/>
                  </a:lnTo>
                  <a:lnTo>
                    <a:pt x="793686" y="139700"/>
                  </a:lnTo>
                  <a:lnTo>
                    <a:pt x="12700" y="139700"/>
                  </a:lnTo>
                  <a:lnTo>
                    <a:pt x="12700" y="146050"/>
                  </a:lnTo>
                  <a:lnTo>
                    <a:pt x="806386" y="146050"/>
                  </a:lnTo>
                  <a:lnTo>
                    <a:pt x="806386" y="133350"/>
                  </a:lnTo>
                  <a:close/>
                </a:path>
                <a:path w="838200" h="279400">
                  <a:moveTo>
                    <a:pt x="806386" y="63500"/>
                  </a:moveTo>
                  <a:lnTo>
                    <a:pt x="793686" y="63500"/>
                  </a:lnTo>
                  <a:lnTo>
                    <a:pt x="793686" y="139700"/>
                  </a:lnTo>
                  <a:lnTo>
                    <a:pt x="800036" y="133350"/>
                  </a:lnTo>
                  <a:lnTo>
                    <a:pt x="806386" y="133350"/>
                  </a:lnTo>
                  <a:lnTo>
                    <a:pt x="806386" y="63500"/>
                  </a:lnTo>
                  <a:close/>
                </a:path>
                <a:path w="838200" h="279400">
                  <a:moveTo>
                    <a:pt x="800036" y="0"/>
                  </a:moveTo>
                  <a:lnTo>
                    <a:pt x="761936" y="76200"/>
                  </a:lnTo>
                  <a:lnTo>
                    <a:pt x="793686" y="76200"/>
                  </a:lnTo>
                  <a:lnTo>
                    <a:pt x="793686" y="63500"/>
                  </a:lnTo>
                  <a:lnTo>
                    <a:pt x="831786" y="63500"/>
                  </a:lnTo>
                  <a:lnTo>
                    <a:pt x="800036" y="0"/>
                  </a:lnTo>
                  <a:close/>
                </a:path>
                <a:path w="838200" h="279400">
                  <a:moveTo>
                    <a:pt x="831786" y="63500"/>
                  </a:moveTo>
                  <a:lnTo>
                    <a:pt x="806386" y="63500"/>
                  </a:lnTo>
                  <a:lnTo>
                    <a:pt x="806386" y="76200"/>
                  </a:lnTo>
                  <a:lnTo>
                    <a:pt x="838136" y="76200"/>
                  </a:lnTo>
                  <a:lnTo>
                    <a:pt x="83178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6400800" y="4053459"/>
              <a:ext cx="2275205" cy="549275"/>
            </a:xfrm>
            <a:prstGeom prst="rect">
              <a:avLst/>
            </a:prstGeom>
            <a:solidFill>
              <a:srgbClr val="00FF00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60"/>
                </a:spcBef>
              </a:pPr>
              <a:r>
                <a:rPr sz="1000" b="1" spc="-5" dirty="0">
                  <a:latin typeface="Tahoma"/>
                  <a:cs typeface="Tahoma"/>
                </a:rPr>
                <a:t>21</a:t>
              </a:r>
              <a:endParaRPr sz="1000">
                <a:latin typeface="Tahoma"/>
                <a:cs typeface="Tahoma"/>
              </a:endParaRPr>
            </a:p>
            <a:p>
              <a:pPr marL="95885" marR="88900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NUEVA </a:t>
              </a:r>
              <a:r>
                <a:rPr sz="1000" b="1" spc="-5" dirty="0">
                  <a:latin typeface="Tahoma"/>
                  <a:cs typeface="Tahoma"/>
                </a:rPr>
                <a:t>VARIEDAD </a:t>
              </a:r>
              <a:r>
                <a:rPr sz="1000" b="1" spc="-10" dirty="0">
                  <a:latin typeface="Tahoma"/>
                  <a:cs typeface="Tahoma"/>
                </a:rPr>
                <a:t>DE FRUTA  RESISTENTE </a:t>
              </a:r>
              <a:r>
                <a:rPr sz="1000" b="1" spc="-5" dirty="0">
                  <a:latin typeface="Tahoma"/>
                  <a:cs typeface="Tahoma"/>
                </a:rPr>
                <a:t>A LA</a:t>
              </a:r>
              <a:r>
                <a:rPr sz="1000" b="1" spc="-1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689475" y="3621659"/>
              <a:ext cx="2856230" cy="431800"/>
            </a:xfrm>
            <a:custGeom>
              <a:avLst/>
              <a:gdLst/>
              <a:ahLst/>
              <a:cxnLst/>
              <a:rect l="l" t="t" r="r" b="b"/>
              <a:pathLst>
                <a:path w="2856229" h="431800">
                  <a:moveTo>
                    <a:pt x="2843149" y="215900"/>
                  </a:moveTo>
                  <a:lnTo>
                    <a:pt x="2843149" y="431800"/>
                  </a:lnTo>
                  <a:lnTo>
                    <a:pt x="2855849" y="431800"/>
                  </a:lnTo>
                  <a:lnTo>
                    <a:pt x="2855849" y="222250"/>
                  </a:lnTo>
                  <a:lnTo>
                    <a:pt x="2849499" y="222250"/>
                  </a:lnTo>
                  <a:lnTo>
                    <a:pt x="2843149" y="215900"/>
                  </a:lnTo>
                  <a:close/>
                </a:path>
                <a:path w="2856229" h="431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2250"/>
                  </a:lnTo>
                  <a:lnTo>
                    <a:pt x="2843149" y="222250"/>
                  </a:lnTo>
                  <a:lnTo>
                    <a:pt x="2843149" y="215900"/>
                  </a:lnTo>
                  <a:lnTo>
                    <a:pt x="44450" y="215900"/>
                  </a:lnTo>
                  <a:lnTo>
                    <a:pt x="38100" y="209550"/>
                  </a:lnTo>
                  <a:lnTo>
                    <a:pt x="44450" y="209550"/>
                  </a:lnTo>
                  <a:lnTo>
                    <a:pt x="44450" y="63500"/>
                  </a:lnTo>
                  <a:close/>
                </a:path>
                <a:path w="2856229" h="431800">
                  <a:moveTo>
                    <a:pt x="2855849" y="209550"/>
                  </a:moveTo>
                  <a:lnTo>
                    <a:pt x="44450" y="209550"/>
                  </a:lnTo>
                  <a:lnTo>
                    <a:pt x="44450" y="215900"/>
                  </a:lnTo>
                  <a:lnTo>
                    <a:pt x="2843149" y="215900"/>
                  </a:lnTo>
                  <a:lnTo>
                    <a:pt x="2849499" y="222250"/>
                  </a:lnTo>
                  <a:lnTo>
                    <a:pt x="2855849" y="222250"/>
                  </a:lnTo>
                  <a:lnTo>
                    <a:pt x="2855849" y="209550"/>
                  </a:lnTo>
                  <a:close/>
                </a:path>
                <a:path w="2856229" h="431800">
                  <a:moveTo>
                    <a:pt x="44450" y="209550"/>
                  </a:moveTo>
                  <a:lnTo>
                    <a:pt x="38100" y="209550"/>
                  </a:lnTo>
                  <a:lnTo>
                    <a:pt x="44450" y="215900"/>
                  </a:lnTo>
                  <a:lnTo>
                    <a:pt x="44450" y="209550"/>
                  </a:lnTo>
                  <a:close/>
                </a:path>
                <a:path w="2856229" h="431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856229" h="431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6477000" y="4967884"/>
              <a:ext cx="1174750" cy="638175"/>
            </a:xfrm>
            <a:prstGeom prst="rect">
              <a:avLst/>
            </a:prstGeom>
            <a:solidFill>
              <a:srgbClr val="00FF00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22</a:t>
              </a:r>
              <a:endParaRPr sz="900">
                <a:latin typeface="Tahoma"/>
                <a:cs typeface="Tahoma"/>
              </a:endParaRPr>
            </a:p>
            <a:p>
              <a:pPr marL="92710" marR="8445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ADAPTADAS </a:t>
              </a:r>
              <a:r>
                <a:rPr sz="900" b="1" dirty="0">
                  <a:latin typeface="Tahoma"/>
                  <a:cs typeface="Tahoma"/>
                </a:rPr>
                <a:t>A</a:t>
              </a:r>
              <a:r>
                <a:rPr sz="900" b="1" spc="-10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LA  REGIÓN OTRAS  VARIEDADES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758176" y="4963121"/>
              <a:ext cx="1127125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23</a:t>
              </a:r>
              <a:endParaRPr sz="900">
                <a:latin typeface="Tahoma"/>
                <a:cs typeface="Tahoma"/>
              </a:endParaRPr>
            </a:p>
            <a:p>
              <a:pPr marL="97790" marR="8699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DE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spc="-10" dirty="0">
                  <a:latin typeface="Tahoma"/>
                  <a:cs typeface="Tahoma"/>
                </a:rPr>
                <a:t>RR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5" dirty="0">
                  <a:latin typeface="Tahoma"/>
                  <a:cs typeface="Tahoma"/>
                </a:rPr>
                <a:t>LLADA  NUEVA  VARIEDAD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7058025" y="4602734"/>
              <a:ext cx="519430" cy="365125"/>
            </a:xfrm>
            <a:custGeom>
              <a:avLst/>
              <a:gdLst/>
              <a:ahLst/>
              <a:cxnLst/>
              <a:rect l="l" t="t" r="r" b="b"/>
              <a:pathLst>
                <a:path w="519429" h="365125">
                  <a:moveTo>
                    <a:pt x="474599" y="176276"/>
                  </a:moveTo>
                  <a:lnTo>
                    <a:pt x="0" y="176276"/>
                  </a:lnTo>
                  <a:lnTo>
                    <a:pt x="0" y="365125"/>
                  </a:lnTo>
                  <a:lnTo>
                    <a:pt x="12700" y="365125"/>
                  </a:lnTo>
                  <a:lnTo>
                    <a:pt x="12700" y="188976"/>
                  </a:lnTo>
                  <a:lnTo>
                    <a:pt x="6350" y="188976"/>
                  </a:lnTo>
                  <a:lnTo>
                    <a:pt x="12700" y="182626"/>
                  </a:lnTo>
                  <a:lnTo>
                    <a:pt x="474599" y="182626"/>
                  </a:lnTo>
                  <a:lnTo>
                    <a:pt x="474599" y="176276"/>
                  </a:lnTo>
                  <a:close/>
                </a:path>
                <a:path w="519429" h="365125">
                  <a:moveTo>
                    <a:pt x="12700" y="182626"/>
                  </a:moveTo>
                  <a:lnTo>
                    <a:pt x="6350" y="188976"/>
                  </a:lnTo>
                  <a:lnTo>
                    <a:pt x="12700" y="188976"/>
                  </a:lnTo>
                  <a:lnTo>
                    <a:pt x="12700" y="182626"/>
                  </a:lnTo>
                  <a:close/>
                </a:path>
                <a:path w="519429" h="365125">
                  <a:moveTo>
                    <a:pt x="487299" y="176276"/>
                  </a:moveTo>
                  <a:lnTo>
                    <a:pt x="480949" y="176276"/>
                  </a:lnTo>
                  <a:lnTo>
                    <a:pt x="474599" y="182626"/>
                  </a:lnTo>
                  <a:lnTo>
                    <a:pt x="12700" y="182626"/>
                  </a:lnTo>
                  <a:lnTo>
                    <a:pt x="12700" y="188976"/>
                  </a:lnTo>
                  <a:lnTo>
                    <a:pt x="487299" y="188976"/>
                  </a:lnTo>
                  <a:lnTo>
                    <a:pt x="487299" y="176276"/>
                  </a:lnTo>
                  <a:close/>
                </a:path>
                <a:path w="519429" h="365125">
                  <a:moveTo>
                    <a:pt x="487299" y="63500"/>
                  </a:moveTo>
                  <a:lnTo>
                    <a:pt x="474599" y="63500"/>
                  </a:lnTo>
                  <a:lnTo>
                    <a:pt x="474599" y="182626"/>
                  </a:lnTo>
                  <a:lnTo>
                    <a:pt x="480949" y="176276"/>
                  </a:lnTo>
                  <a:lnTo>
                    <a:pt x="487299" y="176276"/>
                  </a:lnTo>
                  <a:lnTo>
                    <a:pt x="487299" y="63500"/>
                  </a:lnTo>
                  <a:close/>
                </a:path>
                <a:path w="519429" h="365125">
                  <a:moveTo>
                    <a:pt x="480949" y="0"/>
                  </a:moveTo>
                  <a:lnTo>
                    <a:pt x="442849" y="76200"/>
                  </a:lnTo>
                  <a:lnTo>
                    <a:pt x="474599" y="76200"/>
                  </a:lnTo>
                  <a:lnTo>
                    <a:pt x="474599" y="63500"/>
                  </a:lnTo>
                  <a:lnTo>
                    <a:pt x="512699" y="63500"/>
                  </a:lnTo>
                  <a:lnTo>
                    <a:pt x="480949" y="0"/>
                  </a:lnTo>
                  <a:close/>
                </a:path>
                <a:path w="519429" h="365125">
                  <a:moveTo>
                    <a:pt x="512699" y="63500"/>
                  </a:moveTo>
                  <a:lnTo>
                    <a:pt x="487299" y="63500"/>
                  </a:lnTo>
                  <a:lnTo>
                    <a:pt x="487299" y="76200"/>
                  </a:lnTo>
                  <a:lnTo>
                    <a:pt x="519049" y="76200"/>
                  </a:lnTo>
                  <a:lnTo>
                    <a:pt x="512699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500873" y="4602734"/>
              <a:ext cx="827405" cy="360680"/>
            </a:xfrm>
            <a:custGeom>
              <a:avLst/>
              <a:gdLst/>
              <a:ahLst/>
              <a:cxnLst/>
              <a:rect l="l" t="t" r="r" b="b"/>
              <a:pathLst>
                <a:path w="827404" h="360679">
                  <a:moveTo>
                    <a:pt x="814451" y="180975"/>
                  </a:moveTo>
                  <a:lnTo>
                    <a:pt x="814451" y="360426"/>
                  </a:lnTo>
                  <a:lnTo>
                    <a:pt x="827151" y="360426"/>
                  </a:lnTo>
                  <a:lnTo>
                    <a:pt x="827151" y="187325"/>
                  </a:lnTo>
                  <a:lnTo>
                    <a:pt x="820801" y="187325"/>
                  </a:lnTo>
                  <a:lnTo>
                    <a:pt x="814451" y="180975"/>
                  </a:lnTo>
                  <a:close/>
                </a:path>
                <a:path w="827404" h="360679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7325"/>
                  </a:lnTo>
                  <a:lnTo>
                    <a:pt x="814451" y="187325"/>
                  </a:lnTo>
                  <a:lnTo>
                    <a:pt x="814451" y="180975"/>
                  </a:lnTo>
                  <a:lnTo>
                    <a:pt x="44450" y="180975"/>
                  </a:lnTo>
                  <a:lnTo>
                    <a:pt x="38100" y="174625"/>
                  </a:lnTo>
                  <a:lnTo>
                    <a:pt x="44450" y="174625"/>
                  </a:lnTo>
                  <a:lnTo>
                    <a:pt x="44450" y="63500"/>
                  </a:lnTo>
                  <a:close/>
                </a:path>
                <a:path w="827404" h="360679">
                  <a:moveTo>
                    <a:pt x="827151" y="174625"/>
                  </a:moveTo>
                  <a:lnTo>
                    <a:pt x="44450" y="174625"/>
                  </a:lnTo>
                  <a:lnTo>
                    <a:pt x="44450" y="180975"/>
                  </a:lnTo>
                  <a:lnTo>
                    <a:pt x="814451" y="180975"/>
                  </a:lnTo>
                  <a:lnTo>
                    <a:pt x="820801" y="187325"/>
                  </a:lnTo>
                  <a:lnTo>
                    <a:pt x="827151" y="187325"/>
                  </a:lnTo>
                  <a:lnTo>
                    <a:pt x="827151" y="174625"/>
                  </a:lnTo>
                  <a:close/>
                </a:path>
                <a:path w="827404" h="360679">
                  <a:moveTo>
                    <a:pt x="44450" y="174625"/>
                  </a:moveTo>
                  <a:lnTo>
                    <a:pt x="38100" y="174625"/>
                  </a:lnTo>
                  <a:lnTo>
                    <a:pt x="44450" y="180975"/>
                  </a:lnTo>
                  <a:lnTo>
                    <a:pt x="44450" y="174625"/>
                  </a:lnTo>
                  <a:close/>
                </a:path>
                <a:path w="827404" h="360679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827404" h="360679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0" y="29845"/>
            <a:ext cx="693292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Alternativa</a:t>
            </a:r>
            <a:r>
              <a:rPr sz="2400" spc="-35" dirty="0"/>
              <a:t> </a:t>
            </a:r>
            <a:r>
              <a:rPr sz="2400" dirty="0"/>
              <a:t>2</a:t>
            </a:r>
          </a:p>
          <a:p>
            <a:pPr algn="ctr">
              <a:lnSpc>
                <a:spcPct val="100000"/>
              </a:lnSpc>
            </a:pPr>
            <a:r>
              <a:rPr sz="2400" dirty="0"/>
              <a:t>Recolección </a:t>
            </a:r>
            <a:r>
              <a:rPr sz="2400" spc="-5" dirty="0"/>
              <a:t>mecánica </a:t>
            </a:r>
            <a:r>
              <a:rPr sz="2400" dirty="0"/>
              <a:t>+ </a:t>
            </a:r>
            <a:r>
              <a:rPr sz="2400" spc="-5" dirty="0"/>
              <a:t>Adaptación de</a:t>
            </a:r>
            <a:r>
              <a:rPr sz="2400" spc="-45" dirty="0"/>
              <a:t> </a:t>
            </a:r>
            <a:r>
              <a:rPr sz="2400" spc="-10" dirty="0"/>
              <a:t>variedad</a:t>
            </a:r>
          </a:p>
        </p:txBody>
      </p:sp>
      <p:grpSp>
        <p:nvGrpSpPr>
          <p:cNvPr id="40" name="Grupo 39"/>
          <p:cNvGrpSpPr/>
          <p:nvPr/>
        </p:nvGrpSpPr>
        <p:grpSpPr>
          <a:xfrm>
            <a:off x="228600" y="990600"/>
            <a:ext cx="8656701" cy="5835475"/>
            <a:chOff x="228600" y="977900"/>
            <a:chExt cx="8656701" cy="5835475"/>
          </a:xfrm>
        </p:grpSpPr>
        <p:sp>
          <p:nvSpPr>
            <p:cNvPr id="2" name="object 2"/>
            <p:cNvSpPr/>
            <p:nvPr/>
          </p:nvSpPr>
          <p:spPr>
            <a:xfrm>
              <a:off x="3803903" y="3351276"/>
              <a:ext cx="1842516" cy="6766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899153" y="3386709"/>
              <a:ext cx="1657350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1</a:t>
              </a:r>
              <a:endParaRPr sz="1000">
                <a:latin typeface="Tahoma"/>
                <a:cs typeface="Tahoma"/>
              </a:endParaRPr>
            </a:p>
            <a:p>
              <a:pPr marL="12065" marR="508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NO </a:t>
              </a:r>
              <a:r>
                <a:rPr sz="1000" b="1" spc="-10" dirty="0">
                  <a:latin typeface="Tahoma"/>
                  <a:cs typeface="Tahoma"/>
                </a:rPr>
                <a:t>DETERIORADA  EN </a:t>
              </a:r>
              <a:r>
                <a:rPr sz="1000" b="1" spc="-5" dirty="0">
                  <a:latin typeface="Tahoma"/>
                  <a:cs typeface="Tahoma"/>
                </a:rPr>
                <a:t>LA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960876" y="1206500"/>
              <a:ext cx="1543050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0"/>
                </a:spcBef>
              </a:pPr>
              <a:r>
                <a:rPr sz="900" b="1" dirty="0">
                  <a:latin typeface="Tahoma"/>
                  <a:cs typeface="Tahoma"/>
                </a:rPr>
                <a:t>2</a:t>
              </a:r>
              <a:endParaRPr sz="900">
                <a:latin typeface="Tahoma"/>
                <a:cs typeface="Tahoma"/>
              </a:endParaRPr>
            </a:p>
            <a:p>
              <a:pPr marL="635" algn="ctr">
                <a:lnSpc>
                  <a:spcPct val="100000"/>
                </a:lnSpc>
                <a:spcBef>
                  <a:spcPts val="5"/>
                </a:spcBef>
              </a:pPr>
              <a:r>
                <a:rPr sz="900" b="1" spc="-5" dirty="0">
                  <a:latin typeface="Tahoma"/>
                  <a:cs typeface="Tahoma"/>
                </a:rPr>
                <a:t>MAYORES</a:t>
              </a:r>
              <a:r>
                <a:rPr sz="900" b="1" spc="-3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INGRESOS</a:t>
              </a:r>
              <a:endParaRPr sz="9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DE LOS</a:t>
              </a:r>
              <a:r>
                <a:rPr sz="900" b="1" spc="-3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AGRICULTORES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962400" y="2438400"/>
              <a:ext cx="156400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5</a:t>
              </a:r>
              <a:endParaRPr sz="900">
                <a:latin typeface="Tahoma"/>
                <a:cs typeface="Tahoma"/>
              </a:endParaRPr>
            </a:p>
            <a:p>
              <a:pPr marL="92075" marR="83820" indent="-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DISMINUIDAS  PÉRDIDAS EN</a:t>
              </a:r>
              <a:r>
                <a:rPr sz="900" b="1" spc="-8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COSECHA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1905000" y="5181600"/>
              <a:ext cx="1101725" cy="638175"/>
            </a:xfrm>
            <a:prstGeom prst="rect">
              <a:avLst/>
            </a:prstGeom>
            <a:solidFill>
              <a:srgbClr val="FFFF66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8</a:t>
              </a:r>
              <a:endParaRPr sz="900">
                <a:latin typeface="Tahoma"/>
                <a:cs typeface="Tahoma"/>
              </a:endParaRPr>
            </a:p>
            <a:p>
              <a:pPr marL="90170" marR="8318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MAQUINAS  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ECOLECT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  </a:t>
              </a:r>
              <a:r>
                <a:rPr sz="900" b="1" spc="-5" dirty="0">
                  <a:latin typeface="Tahoma"/>
                  <a:cs typeface="Tahoma"/>
                </a:rPr>
                <a:t>RENOVADAS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09600" y="4343400"/>
              <a:ext cx="1965325" cy="549275"/>
            </a:xfrm>
            <a:prstGeom prst="rect">
              <a:avLst/>
            </a:prstGeom>
            <a:solidFill>
              <a:srgbClr val="FFFF66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94615" marR="8826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RECOLECTORAS  </a:t>
              </a:r>
              <a:r>
                <a:rPr sz="1000" b="1" spc="-5" dirty="0">
                  <a:latin typeface="Tahoma"/>
                  <a:cs typeface="Tahoma"/>
                </a:rPr>
                <a:t>CON </a:t>
              </a:r>
              <a:r>
                <a:rPr sz="1000" b="1" spc="-10" dirty="0">
                  <a:latin typeface="Tahoma"/>
                  <a:cs typeface="Tahoma"/>
                </a:rPr>
                <a:t>BUEN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DESEMPEÑO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805301" y="4338573"/>
              <a:ext cx="1825625" cy="5588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35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100330" marR="92075" indent="-1270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</a:t>
              </a:r>
              <a:r>
                <a:rPr sz="1000" b="1" spc="-10" dirty="0">
                  <a:latin typeface="Tahoma"/>
                  <a:cs typeface="Tahoma"/>
                </a:rPr>
                <a:t>TRATAN </a:t>
              </a:r>
              <a:r>
                <a:rPr sz="1000" b="1" spc="-5" dirty="0">
                  <a:latin typeface="Tahoma"/>
                  <a:cs typeface="Tahoma"/>
                </a:rPr>
                <a:t>BIEN  LA </a:t>
              </a: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AL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195701" y="5176837"/>
              <a:ext cx="1406525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3</a:t>
              </a:r>
              <a:endParaRPr sz="900">
                <a:latin typeface="Tahoma"/>
                <a:cs typeface="Tahoma"/>
              </a:endParaRPr>
            </a:p>
            <a:p>
              <a:pPr marL="96520" marR="123825" indent="32384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OBREROS  CAPACITADOS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582800" y="2286000"/>
              <a:ext cx="1517650" cy="638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15</a:t>
              </a:r>
              <a:endParaRPr sz="900">
                <a:latin typeface="Tahoma"/>
                <a:cs typeface="Tahoma"/>
              </a:endParaRPr>
            </a:p>
            <a:p>
              <a:pPr marL="221615" marR="235585" indent="-139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DISMINUCIÓN DE  C</a:t>
              </a:r>
              <a:r>
                <a:rPr sz="900" b="1" dirty="0">
                  <a:latin typeface="Tahoma"/>
                  <a:cs typeface="Tahoma"/>
                </a:rPr>
                <a:t>ONT</a:t>
              </a:r>
              <a:r>
                <a:rPr sz="900" b="1" spc="-5" dirty="0">
                  <a:latin typeface="Tahoma"/>
                  <a:cs typeface="Tahoma"/>
                </a:rPr>
                <a:t>AMINACI</a:t>
              </a:r>
              <a:r>
                <a:rPr sz="900" b="1" dirty="0">
                  <a:latin typeface="Tahoma"/>
                  <a:cs typeface="Tahoma"/>
                </a:rPr>
                <a:t>ÓN</a:t>
              </a:r>
              <a:endParaRPr sz="9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POR FRUTAS</a:t>
              </a:r>
              <a:r>
                <a:rPr sz="900" b="1" spc="-5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DAÑADAS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522475" y="1663700"/>
              <a:ext cx="168465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6</a:t>
              </a:r>
              <a:endParaRPr sz="900">
                <a:latin typeface="Tahoma"/>
                <a:cs typeface="Tahoma"/>
              </a:endParaRPr>
            </a:p>
            <a:p>
              <a:pPr marL="92075" marR="8445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DISMINUCIÓN DE  PLAGAS </a:t>
              </a:r>
              <a:r>
                <a:rPr sz="900" b="1" dirty="0">
                  <a:latin typeface="Tahoma"/>
                  <a:cs typeface="Tahoma"/>
                </a:rPr>
                <a:t>Y </a:t>
              </a:r>
              <a:r>
                <a:rPr sz="900" b="1" spc="-5" dirty="0">
                  <a:latin typeface="Tahoma"/>
                  <a:cs typeface="Tahoma"/>
                </a:rPr>
                <a:t>MALOS</a:t>
              </a:r>
              <a:r>
                <a:rPr sz="900" b="1" spc="-11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OLORES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554099" y="4892675"/>
              <a:ext cx="106680" cy="1063625"/>
            </a:xfrm>
            <a:custGeom>
              <a:avLst/>
              <a:gdLst/>
              <a:ahLst/>
              <a:cxnLst/>
              <a:rect l="l" t="t" r="r" b="b"/>
              <a:pathLst>
                <a:path w="106680" h="1063625">
                  <a:moveTo>
                    <a:pt x="93725" y="531749"/>
                  </a:moveTo>
                  <a:lnTo>
                    <a:pt x="93725" y="1063625"/>
                  </a:lnTo>
                  <a:lnTo>
                    <a:pt x="106425" y="1063625"/>
                  </a:lnTo>
                  <a:lnTo>
                    <a:pt x="106425" y="538099"/>
                  </a:lnTo>
                  <a:lnTo>
                    <a:pt x="100075" y="538099"/>
                  </a:lnTo>
                  <a:lnTo>
                    <a:pt x="93725" y="531749"/>
                  </a:lnTo>
                  <a:close/>
                </a:path>
                <a:path w="106680" h="10636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8099"/>
                  </a:lnTo>
                  <a:lnTo>
                    <a:pt x="93725" y="538099"/>
                  </a:lnTo>
                  <a:lnTo>
                    <a:pt x="93725" y="531749"/>
                  </a:lnTo>
                  <a:lnTo>
                    <a:pt x="44450" y="531749"/>
                  </a:lnTo>
                  <a:lnTo>
                    <a:pt x="38100" y="525399"/>
                  </a:lnTo>
                  <a:lnTo>
                    <a:pt x="44450" y="525399"/>
                  </a:lnTo>
                  <a:lnTo>
                    <a:pt x="44450" y="63500"/>
                  </a:lnTo>
                  <a:close/>
                </a:path>
                <a:path w="106680" h="1063625">
                  <a:moveTo>
                    <a:pt x="106425" y="525399"/>
                  </a:moveTo>
                  <a:lnTo>
                    <a:pt x="44450" y="525399"/>
                  </a:lnTo>
                  <a:lnTo>
                    <a:pt x="44450" y="531749"/>
                  </a:lnTo>
                  <a:lnTo>
                    <a:pt x="93725" y="531749"/>
                  </a:lnTo>
                  <a:lnTo>
                    <a:pt x="100075" y="538099"/>
                  </a:lnTo>
                  <a:lnTo>
                    <a:pt x="106425" y="538099"/>
                  </a:lnTo>
                  <a:lnTo>
                    <a:pt x="106425" y="525399"/>
                  </a:lnTo>
                  <a:close/>
                </a:path>
                <a:path w="106680" h="1063625">
                  <a:moveTo>
                    <a:pt x="44450" y="525399"/>
                  </a:moveTo>
                  <a:lnTo>
                    <a:pt x="38100" y="525399"/>
                  </a:lnTo>
                  <a:lnTo>
                    <a:pt x="44450" y="531749"/>
                  </a:lnTo>
                  <a:lnTo>
                    <a:pt x="44450" y="525399"/>
                  </a:lnTo>
                  <a:close/>
                </a:path>
                <a:path w="106680" h="10636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6680" h="10636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54099" y="4892675"/>
              <a:ext cx="908050" cy="288925"/>
            </a:xfrm>
            <a:custGeom>
              <a:avLst/>
              <a:gdLst/>
              <a:ahLst/>
              <a:cxnLst/>
              <a:rect l="l" t="t" r="r" b="b"/>
              <a:pathLst>
                <a:path w="908050" h="288925">
                  <a:moveTo>
                    <a:pt x="895350" y="144399"/>
                  </a:moveTo>
                  <a:lnTo>
                    <a:pt x="895350" y="288925"/>
                  </a:lnTo>
                  <a:lnTo>
                    <a:pt x="908050" y="288925"/>
                  </a:lnTo>
                  <a:lnTo>
                    <a:pt x="908050" y="150749"/>
                  </a:lnTo>
                  <a:lnTo>
                    <a:pt x="901700" y="150749"/>
                  </a:lnTo>
                  <a:lnTo>
                    <a:pt x="895350" y="144399"/>
                  </a:lnTo>
                  <a:close/>
                </a:path>
                <a:path w="908050" h="288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50749"/>
                  </a:lnTo>
                  <a:lnTo>
                    <a:pt x="895350" y="150749"/>
                  </a:lnTo>
                  <a:lnTo>
                    <a:pt x="895350" y="144399"/>
                  </a:lnTo>
                  <a:lnTo>
                    <a:pt x="44450" y="144399"/>
                  </a:lnTo>
                  <a:lnTo>
                    <a:pt x="38100" y="138049"/>
                  </a:lnTo>
                  <a:lnTo>
                    <a:pt x="44450" y="138049"/>
                  </a:lnTo>
                  <a:lnTo>
                    <a:pt x="44450" y="63500"/>
                  </a:lnTo>
                  <a:close/>
                </a:path>
                <a:path w="908050" h="288925">
                  <a:moveTo>
                    <a:pt x="908050" y="138049"/>
                  </a:moveTo>
                  <a:lnTo>
                    <a:pt x="44450" y="138049"/>
                  </a:lnTo>
                  <a:lnTo>
                    <a:pt x="44450" y="144399"/>
                  </a:lnTo>
                  <a:lnTo>
                    <a:pt x="895350" y="144399"/>
                  </a:lnTo>
                  <a:lnTo>
                    <a:pt x="901700" y="150749"/>
                  </a:lnTo>
                  <a:lnTo>
                    <a:pt x="908050" y="150749"/>
                  </a:lnTo>
                  <a:lnTo>
                    <a:pt x="908050" y="138049"/>
                  </a:lnTo>
                  <a:close/>
                </a:path>
                <a:path w="908050" h="288925">
                  <a:moveTo>
                    <a:pt x="44450" y="138049"/>
                  </a:moveTo>
                  <a:lnTo>
                    <a:pt x="38100" y="138049"/>
                  </a:lnTo>
                  <a:lnTo>
                    <a:pt x="44450" y="144399"/>
                  </a:lnTo>
                  <a:lnTo>
                    <a:pt x="44450" y="138049"/>
                  </a:lnTo>
                  <a:close/>
                </a:path>
                <a:path w="908050" h="288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08050" h="288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92550" y="4897373"/>
              <a:ext cx="863600" cy="279400"/>
            </a:xfrm>
            <a:custGeom>
              <a:avLst/>
              <a:gdLst/>
              <a:ahLst/>
              <a:cxnLst/>
              <a:rect l="l" t="t" r="r" b="b"/>
              <a:pathLst>
                <a:path w="863600" h="279400">
                  <a:moveTo>
                    <a:pt x="819150" y="133350"/>
                  </a:moveTo>
                  <a:lnTo>
                    <a:pt x="0" y="133350"/>
                  </a:lnTo>
                  <a:lnTo>
                    <a:pt x="0" y="279400"/>
                  </a:lnTo>
                  <a:lnTo>
                    <a:pt x="12700" y="279400"/>
                  </a:lnTo>
                  <a:lnTo>
                    <a:pt x="12700" y="146050"/>
                  </a:lnTo>
                  <a:lnTo>
                    <a:pt x="6350" y="146050"/>
                  </a:lnTo>
                  <a:lnTo>
                    <a:pt x="12700" y="139700"/>
                  </a:lnTo>
                  <a:lnTo>
                    <a:pt x="819150" y="139700"/>
                  </a:lnTo>
                  <a:lnTo>
                    <a:pt x="819150" y="133350"/>
                  </a:lnTo>
                  <a:close/>
                </a:path>
                <a:path w="863600" h="279400">
                  <a:moveTo>
                    <a:pt x="12700" y="139700"/>
                  </a:moveTo>
                  <a:lnTo>
                    <a:pt x="6350" y="146050"/>
                  </a:lnTo>
                  <a:lnTo>
                    <a:pt x="12700" y="146050"/>
                  </a:lnTo>
                  <a:lnTo>
                    <a:pt x="12700" y="139700"/>
                  </a:lnTo>
                  <a:close/>
                </a:path>
                <a:path w="863600" h="279400">
                  <a:moveTo>
                    <a:pt x="831850" y="133350"/>
                  </a:moveTo>
                  <a:lnTo>
                    <a:pt x="825500" y="133350"/>
                  </a:lnTo>
                  <a:lnTo>
                    <a:pt x="819150" y="139700"/>
                  </a:lnTo>
                  <a:lnTo>
                    <a:pt x="12700" y="139700"/>
                  </a:lnTo>
                  <a:lnTo>
                    <a:pt x="12700" y="146050"/>
                  </a:lnTo>
                  <a:lnTo>
                    <a:pt x="831850" y="146050"/>
                  </a:lnTo>
                  <a:lnTo>
                    <a:pt x="831850" y="133350"/>
                  </a:lnTo>
                  <a:close/>
                </a:path>
                <a:path w="863600" h="279400">
                  <a:moveTo>
                    <a:pt x="831850" y="63500"/>
                  </a:moveTo>
                  <a:lnTo>
                    <a:pt x="819150" y="63500"/>
                  </a:lnTo>
                  <a:lnTo>
                    <a:pt x="819150" y="139700"/>
                  </a:lnTo>
                  <a:lnTo>
                    <a:pt x="825500" y="133350"/>
                  </a:lnTo>
                  <a:lnTo>
                    <a:pt x="831850" y="133350"/>
                  </a:lnTo>
                  <a:lnTo>
                    <a:pt x="831850" y="63500"/>
                  </a:lnTo>
                  <a:close/>
                </a:path>
                <a:path w="863600" h="279400">
                  <a:moveTo>
                    <a:pt x="825500" y="0"/>
                  </a:moveTo>
                  <a:lnTo>
                    <a:pt x="787400" y="76200"/>
                  </a:lnTo>
                  <a:lnTo>
                    <a:pt x="819150" y="76200"/>
                  </a:lnTo>
                  <a:lnTo>
                    <a:pt x="819150" y="63500"/>
                  </a:lnTo>
                  <a:lnTo>
                    <a:pt x="857250" y="63500"/>
                  </a:lnTo>
                  <a:lnTo>
                    <a:pt x="825500" y="0"/>
                  </a:lnTo>
                  <a:close/>
                </a:path>
                <a:path w="863600" h="279400">
                  <a:moveTo>
                    <a:pt x="857250" y="63500"/>
                  </a:moveTo>
                  <a:lnTo>
                    <a:pt x="831850" y="63500"/>
                  </a:lnTo>
                  <a:lnTo>
                    <a:pt x="831850" y="76200"/>
                  </a:lnTo>
                  <a:lnTo>
                    <a:pt x="863600" y="76200"/>
                  </a:lnTo>
                  <a:lnTo>
                    <a:pt x="8572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9475" y="3911600"/>
              <a:ext cx="76200" cy="427355"/>
            </a:xfrm>
            <a:custGeom>
              <a:avLst/>
              <a:gdLst/>
              <a:ahLst/>
              <a:cxnLst/>
              <a:rect l="l" t="t" r="r" b="b"/>
              <a:pathLst>
                <a:path w="76200" h="427354">
                  <a:moveTo>
                    <a:pt x="31750" y="207899"/>
                  </a:moveTo>
                  <a:lnTo>
                    <a:pt x="22225" y="207899"/>
                  </a:lnTo>
                  <a:lnTo>
                    <a:pt x="22225" y="426974"/>
                  </a:lnTo>
                  <a:lnTo>
                    <a:pt x="34925" y="426974"/>
                  </a:lnTo>
                  <a:lnTo>
                    <a:pt x="34925" y="220599"/>
                  </a:lnTo>
                  <a:lnTo>
                    <a:pt x="28575" y="220599"/>
                  </a:lnTo>
                  <a:lnTo>
                    <a:pt x="34925" y="214249"/>
                  </a:lnTo>
                  <a:lnTo>
                    <a:pt x="31750" y="214249"/>
                  </a:lnTo>
                  <a:lnTo>
                    <a:pt x="31750" y="207899"/>
                  </a:lnTo>
                  <a:close/>
                </a:path>
                <a:path w="76200" h="427354">
                  <a:moveTo>
                    <a:pt x="34925" y="214249"/>
                  </a:moveTo>
                  <a:lnTo>
                    <a:pt x="28575" y="220599"/>
                  </a:lnTo>
                  <a:lnTo>
                    <a:pt x="34925" y="220599"/>
                  </a:lnTo>
                  <a:lnTo>
                    <a:pt x="34925" y="214249"/>
                  </a:lnTo>
                  <a:close/>
                </a:path>
                <a:path w="76200" h="427354">
                  <a:moveTo>
                    <a:pt x="44450" y="207899"/>
                  </a:moveTo>
                  <a:lnTo>
                    <a:pt x="38100" y="207899"/>
                  </a:lnTo>
                  <a:lnTo>
                    <a:pt x="31750" y="214249"/>
                  </a:lnTo>
                  <a:lnTo>
                    <a:pt x="34925" y="214249"/>
                  </a:lnTo>
                  <a:lnTo>
                    <a:pt x="34925" y="220599"/>
                  </a:lnTo>
                  <a:lnTo>
                    <a:pt x="44450" y="220599"/>
                  </a:lnTo>
                  <a:lnTo>
                    <a:pt x="44450" y="207899"/>
                  </a:lnTo>
                  <a:close/>
                </a:path>
                <a:path w="76200" h="4273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14249"/>
                  </a:lnTo>
                  <a:lnTo>
                    <a:pt x="38100" y="207899"/>
                  </a:lnTo>
                  <a:lnTo>
                    <a:pt x="44450" y="207899"/>
                  </a:lnTo>
                  <a:lnTo>
                    <a:pt x="44450" y="63500"/>
                  </a:lnTo>
                  <a:close/>
                </a:path>
                <a:path w="76200" h="4273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73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85849" y="3911600"/>
              <a:ext cx="3180080" cy="431800"/>
            </a:xfrm>
            <a:custGeom>
              <a:avLst/>
              <a:gdLst/>
              <a:ahLst/>
              <a:cxnLst/>
              <a:rect l="l" t="t" r="r" b="b"/>
              <a:pathLst>
                <a:path w="3180079" h="431800">
                  <a:moveTo>
                    <a:pt x="3135376" y="209550"/>
                  </a:moveTo>
                  <a:lnTo>
                    <a:pt x="0" y="209550"/>
                  </a:lnTo>
                  <a:lnTo>
                    <a:pt x="0" y="431800"/>
                  </a:lnTo>
                  <a:lnTo>
                    <a:pt x="12700" y="431800"/>
                  </a:lnTo>
                  <a:lnTo>
                    <a:pt x="12700" y="222250"/>
                  </a:lnTo>
                  <a:lnTo>
                    <a:pt x="6350" y="222250"/>
                  </a:lnTo>
                  <a:lnTo>
                    <a:pt x="12700" y="215900"/>
                  </a:lnTo>
                  <a:lnTo>
                    <a:pt x="3135376" y="215900"/>
                  </a:lnTo>
                  <a:lnTo>
                    <a:pt x="3135376" y="209550"/>
                  </a:lnTo>
                  <a:close/>
                </a:path>
                <a:path w="3180079" h="431800">
                  <a:moveTo>
                    <a:pt x="12700" y="215900"/>
                  </a:moveTo>
                  <a:lnTo>
                    <a:pt x="6350" y="222250"/>
                  </a:lnTo>
                  <a:lnTo>
                    <a:pt x="12700" y="222250"/>
                  </a:lnTo>
                  <a:lnTo>
                    <a:pt x="12700" y="215900"/>
                  </a:lnTo>
                  <a:close/>
                </a:path>
                <a:path w="3180079" h="431800">
                  <a:moveTo>
                    <a:pt x="3148076" y="209550"/>
                  </a:moveTo>
                  <a:lnTo>
                    <a:pt x="3141726" y="209550"/>
                  </a:lnTo>
                  <a:lnTo>
                    <a:pt x="3135376" y="215900"/>
                  </a:lnTo>
                  <a:lnTo>
                    <a:pt x="12700" y="215900"/>
                  </a:lnTo>
                  <a:lnTo>
                    <a:pt x="12700" y="222250"/>
                  </a:lnTo>
                  <a:lnTo>
                    <a:pt x="3148076" y="222250"/>
                  </a:lnTo>
                  <a:lnTo>
                    <a:pt x="3148076" y="209550"/>
                  </a:lnTo>
                  <a:close/>
                </a:path>
                <a:path w="3180079" h="431800">
                  <a:moveTo>
                    <a:pt x="3148076" y="63500"/>
                  </a:moveTo>
                  <a:lnTo>
                    <a:pt x="3135376" y="63500"/>
                  </a:lnTo>
                  <a:lnTo>
                    <a:pt x="3135376" y="215900"/>
                  </a:lnTo>
                  <a:lnTo>
                    <a:pt x="3141726" y="209550"/>
                  </a:lnTo>
                  <a:lnTo>
                    <a:pt x="3148076" y="209550"/>
                  </a:lnTo>
                  <a:lnTo>
                    <a:pt x="3148076" y="63500"/>
                  </a:lnTo>
                  <a:close/>
                </a:path>
                <a:path w="3180079" h="431800">
                  <a:moveTo>
                    <a:pt x="3141726" y="0"/>
                  </a:moveTo>
                  <a:lnTo>
                    <a:pt x="3103626" y="76200"/>
                  </a:lnTo>
                  <a:lnTo>
                    <a:pt x="3135376" y="76200"/>
                  </a:lnTo>
                  <a:lnTo>
                    <a:pt x="3135376" y="63500"/>
                  </a:lnTo>
                  <a:lnTo>
                    <a:pt x="3173476" y="63500"/>
                  </a:lnTo>
                  <a:lnTo>
                    <a:pt x="3141726" y="0"/>
                  </a:lnTo>
                  <a:close/>
                </a:path>
                <a:path w="3180079" h="431800">
                  <a:moveTo>
                    <a:pt x="3173476" y="63500"/>
                  </a:moveTo>
                  <a:lnTo>
                    <a:pt x="3148076" y="63500"/>
                  </a:lnTo>
                  <a:lnTo>
                    <a:pt x="3148076" y="76200"/>
                  </a:lnTo>
                  <a:lnTo>
                    <a:pt x="3179826" y="76200"/>
                  </a:lnTo>
                  <a:lnTo>
                    <a:pt x="317347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03398" y="2924175"/>
              <a:ext cx="2430780" cy="428625"/>
            </a:xfrm>
            <a:custGeom>
              <a:avLst/>
              <a:gdLst/>
              <a:ahLst/>
              <a:cxnLst/>
              <a:rect l="l" t="t" r="r" b="b"/>
              <a:pathLst>
                <a:path w="2430779" h="428625">
                  <a:moveTo>
                    <a:pt x="2417826" y="214249"/>
                  </a:moveTo>
                  <a:lnTo>
                    <a:pt x="2417826" y="428625"/>
                  </a:lnTo>
                  <a:lnTo>
                    <a:pt x="2430526" y="428625"/>
                  </a:lnTo>
                  <a:lnTo>
                    <a:pt x="2430526" y="220599"/>
                  </a:lnTo>
                  <a:lnTo>
                    <a:pt x="2424176" y="220599"/>
                  </a:lnTo>
                  <a:lnTo>
                    <a:pt x="2417826" y="214249"/>
                  </a:lnTo>
                  <a:close/>
                </a:path>
                <a:path w="2430779" h="4286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0599"/>
                  </a:lnTo>
                  <a:lnTo>
                    <a:pt x="2417826" y="220599"/>
                  </a:lnTo>
                  <a:lnTo>
                    <a:pt x="2417826" y="214249"/>
                  </a:lnTo>
                  <a:lnTo>
                    <a:pt x="44450" y="214249"/>
                  </a:lnTo>
                  <a:lnTo>
                    <a:pt x="38100" y="207899"/>
                  </a:lnTo>
                  <a:lnTo>
                    <a:pt x="44450" y="207899"/>
                  </a:lnTo>
                  <a:lnTo>
                    <a:pt x="44450" y="63500"/>
                  </a:lnTo>
                  <a:close/>
                </a:path>
                <a:path w="2430779" h="428625">
                  <a:moveTo>
                    <a:pt x="2430526" y="207899"/>
                  </a:moveTo>
                  <a:lnTo>
                    <a:pt x="44450" y="207899"/>
                  </a:lnTo>
                  <a:lnTo>
                    <a:pt x="44450" y="214249"/>
                  </a:lnTo>
                  <a:lnTo>
                    <a:pt x="2417826" y="214249"/>
                  </a:lnTo>
                  <a:lnTo>
                    <a:pt x="2424176" y="220599"/>
                  </a:lnTo>
                  <a:lnTo>
                    <a:pt x="2430526" y="220599"/>
                  </a:lnTo>
                  <a:lnTo>
                    <a:pt x="2430526" y="207899"/>
                  </a:lnTo>
                  <a:close/>
                </a:path>
                <a:path w="2430779" h="428625">
                  <a:moveTo>
                    <a:pt x="44450" y="207899"/>
                  </a:moveTo>
                  <a:lnTo>
                    <a:pt x="38100" y="207899"/>
                  </a:lnTo>
                  <a:lnTo>
                    <a:pt x="44450" y="214249"/>
                  </a:lnTo>
                  <a:lnTo>
                    <a:pt x="44450" y="207899"/>
                  </a:lnTo>
                  <a:close/>
                </a:path>
                <a:path w="2430779" h="4286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30779" h="4286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06873" y="2940050"/>
              <a:ext cx="76200" cy="412750"/>
            </a:xfrm>
            <a:custGeom>
              <a:avLst/>
              <a:gdLst/>
              <a:ahLst/>
              <a:cxnLst/>
              <a:rect l="l" t="t" r="r" b="b"/>
              <a:pathLst>
                <a:path w="76200" h="412750">
                  <a:moveTo>
                    <a:pt x="31750" y="200025"/>
                  </a:moveTo>
                  <a:lnTo>
                    <a:pt x="14350" y="200025"/>
                  </a:lnTo>
                  <a:lnTo>
                    <a:pt x="14350" y="412750"/>
                  </a:lnTo>
                  <a:lnTo>
                    <a:pt x="27050" y="412750"/>
                  </a:lnTo>
                  <a:lnTo>
                    <a:pt x="27050" y="212725"/>
                  </a:lnTo>
                  <a:lnTo>
                    <a:pt x="20700" y="212725"/>
                  </a:lnTo>
                  <a:lnTo>
                    <a:pt x="27050" y="206375"/>
                  </a:lnTo>
                  <a:lnTo>
                    <a:pt x="31750" y="206375"/>
                  </a:lnTo>
                  <a:lnTo>
                    <a:pt x="31750" y="200025"/>
                  </a:lnTo>
                  <a:close/>
                </a:path>
                <a:path w="76200" h="412750">
                  <a:moveTo>
                    <a:pt x="27050" y="206375"/>
                  </a:moveTo>
                  <a:lnTo>
                    <a:pt x="20700" y="212725"/>
                  </a:lnTo>
                  <a:lnTo>
                    <a:pt x="27050" y="212725"/>
                  </a:lnTo>
                  <a:lnTo>
                    <a:pt x="27050" y="206375"/>
                  </a:lnTo>
                  <a:close/>
                </a:path>
                <a:path w="76200" h="412750">
                  <a:moveTo>
                    <a:pt x="44450" y="200025"/>
                  </a:moveTo>
                  <a:lnTo>
                    <a:pt x="38100" y="200025"/>
                  </a:lnTo>
                  <a:lnTo>
                    <a:pt x="31750" y="206375"/>
                  </a:lnTo>
                  <a:lnTo>
                    <a:pt x="27050" y="206375"/>
                  </a:lnTo>
                  <a:lnTo>
                    <a:pt x="27050" y="212725"/>
                  </a:lnTo>
                  <a:lnTo>
                    <a:pt x="44450" y="212725"/>
                  </a:lnTo>
                  <a:lnTo>
                    <a:pt x="44450" y="200025"/>
                  </a:lnTo>
                  <a:close/>
                </a:path>
                <a:path w="76200" h="4127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06375"/>
                  </a:lnTo>
                  <a:lnTo>
                    <a:pt x="38100" y="200025"/>
                  </a:lnTo>
                  <a:lnTo>
                    <a:pt x="44450" y="200025"/>
                  </a:lnTo>
                  <a:lnTo>
                    <a:pt x="44450" y="63500"/>
                  </a:lnTo>
                  <a:close/>
                </a:path>
                <a:path w="76200" h="4127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27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05430" y="2165350"/>
              <a:ext cx="72262" cy="121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4173" y="1708150"/>
              <a:ext cx="76200" cy="730250"/>
            </a:xfrm>
            <a:custGeom>
              <a:avLst/>
              <a:gdLst/>
              <a:ahLst/>
              <a:cxnLst/>
              <a:rect l="l" t="t" r="r" b="b"/>
              <a:pathLst>
                <a:path w="76200" h="730250">
                  <a:moveTo>
                    <a:pt x="44450" y="365125"/>
                  </a:moveTo>
                  <a:lnTo>
                    <a:pt x="44450" y="730250"/>
                  </a:lnTo>
                  <a:lnTo>
                    <a:pt x="57150" y="730250"/>
                  </a:lnTo>
                  <a:lnTo>
                    <a:pt x="57150" y="371475"/>
                  </a:lnTo>
                  <a:lnTo>
                    <a:pt x="50800" y="371475"/>
                  </a:lnTo>
                  <a:lnTo>
                    <a:pt x="44450" y="365125"/>
                  </a:lnTo>
                  <a:close/>
                </a:path>
                <a:path w="76200" h="7302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71475"/>
                  </a:lnTo>
                  <a:lnTo>
                    <a:pt x="44450" y="371475"/>
                  </a:lnTo>
                  <a:lnTo>
                    <a:pt x="44450" y="365125"/>
                  </a:lnTo>
                  <a:lnTo>
                    <a:pt x="38100" y="358775"/>
                  </a:lnTo>
                  <a:lnTo>
                    <a:pt x="44450" y="358775"/>
                  </a:lnTo>
                  <a:lnTo>
                    <a:pt x="44450" y="63500"/>
                  </a:lnTo>
                  <a:close/>
                </a:path>
                <a:path w="76200" h="730250">
                  <a:moveTo>
                    <a:pt x="57150" y="358775"/>
                  </a:moveTo>
                  <a:lnTo>
                    <a:pt x="44450" y="358775"/>
                  </a:lnTo>
                  <a:lnTo>
                    <a:pt x="44450" y="365125"/>
                  </a:lnTo>
                  <a:lnTo>
                    <a:pt x="50800" y="371475"/>
                  </a:lnTo>
                  <a:lnTo>
                    <a:pt x="57150" y="371475"/>
                  </a:lnTo>
                  <a:lnTo>
                    <a:pt x="57150" y="358775"/>
                  </a:lnTo>
                  <a:close/>
                </a:path>
                <a:path w="76200" h="730250">
                  <a:moveTo>
                    <a:pt x="44450" y="358775"/>
                  </a:moveTo>
                  <a:lnTo>
                    <a:pt x="38100" y="358775"/>
                  </a:lnTo>
                  <a:lnTo>
                    <a:pt x="44450" y="365125"/>
                  </a:lnTo>
                  <a:lnTo>
                    <a:pt x="44450" y="358775"/>
                  </a:lnTo>
                  <a:close/>
                </a:path>
                <a:path w="76200" h="7302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7302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6170676" y="2273300"/>
              <a:ext cx="1446530" cy="638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16</a:t>
              </a:r>
              <a:endParaRPr sz="900">
                <a:latin typeface="Tahoma"/>
                <a:cs typeface="Tahoma"/>
              </a:endParaRPr>
            </a:p>
            <a:p>
              <a:pPr marL="92710" marR="8509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MENOR COSTO POR  MANIPULACIÓN DE  FRUTA</a:t>
              </a:r>
              <a:r>
                <a:rPr sz="900" b="1" spc="-6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DETERIORADA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4721225" y="2911475"/>
              <a:ext cx="2211705" cy="441325"/>
            </a:xfrm>
            <a:custGeom>
              <a:avLst/>
              <a:gdLst/>
              <a:ahLst/>
              <a:cxnLst/>
              <a:rect l="l" t="t" r="r" b="b"/>
              <a:pathLst>
                <a:path w="2211704" h="441325">
                  <a:moveTo>
                    <a:pt x="2166874" y="214249"/>
                  </a:moveTo>
                  <a:lnTo>
                    <a:pt x="0" y="214249"/>
                  </a:lnTo>
                  <a:lnTo>
                    <a:pt x="0" y="441325"/>
                  </a:lnTo>
                  <a:lnTo>
                    <a:pt x="12700" y="441325"/>
                  </a:lnTo>
                  <a:lnTo>
                    <a:pt x="12700" y="226949"/>
                  </a:lnTo>
                  <a:lnTo>
                    <a:pt x="6350" y="226949"/>
                  </a:lnTo>
                  <a:lnTo>
                    <a:pt x="12700" y="220599"/>
                  </a:lnTo>
                  <a:lnTo>
                    <a:pt x="2166874" y="220599"/>
                  </a:lnTo>
                  <a:lnTo>
                    <a:pt x="2166874" y="214249"/>
                  </a:lnTo>
                  <a:close/>
                </a:path>
                <a:path w="2211704" h="441325">
                  <a:moveTo>
                    <a:pt x="12700" y="220599"/>
                  </a:moveTo>
                  <a:lnTo>
                    <a:pt x="6350" y="226949"/>
                  </a:lnTo>
                  <a:lnTo>
                    <a:pt x="12700" y="226949"/>
                  </a:lnTo>
                  <a:lnTo>
                    <a:pt x="12700" y="220599"/>
                  </a:lnTo>
                  <a:close/>
                </a:path>
                <a:path w="2211704" h="441325">
                  <a:moveTo>
                    <a:pt x="2179574" y="214249"/>
                  </a:moveTo>
                  <a:lnTo>
                    <a:pt x="2173224" y="214249"/>
                  </a:lnTo>
                  <a:lnTo>
                    <a:pt x="2166874" y="220599"/>
                  </a:lnTo>
                  <a:lnTo>
                    <a:pt x="12700" y="220599"/>
                  </a:lnTo>
                  <a:lnTo>
                    <a:pt x="12700" y="226949"/>
                  </a:lnTo>
                  <a:lnTo>
                    <a:pt x="2179574" y="226949"/>
                  </a:lnTo>
                  <a:lnTo>
                    <a:pt x="2179574" y="214249"/>
                  </a:lnTo>
                  <a:close/>
                </a:path>
                <a:path w="2211704" h="441325">
                  <a:moveTo>
                    <a:pt x="2179574" y="63500"/>
                  </a:moveTo>
                  <a:lnTo>
                    <a:pt x="2166874" y="63500"/>
                  </a:lnTo>
                  <a:lnTo>
                    <a:pt x="2166874" y="220599"/>
                  </a:lnTo>
                  <a:lnTo>
                    <a:pt x="2173224" y="214249"/>
                  </a:lnTo>
                  <a:lnTo>
                    <a:pt x="2179574" y="214249"/>
                  </a:lnTo>
                  <a:lnTo>
                    <a:pt x="2179574" y="63500"/>
                  </a:lnTo>
                  <a:close/>
                </a:path>
                <a:path w="2211704" h="441325">
                  <a:moveTo>
                    <a:pt x="2173224" y="0"/>
                  </a:moveTo>
                  <a:lnTo>
                    <a:pt x="2135124" y="76200"/>
                  </a:lnTo>
                  <a:lnTo>
                    <a:pt x="2166874" y="76200"/>
                  </a:lnTo>
                  <a:lnTo>
                    <a:pt x="2166874" y="63500"/>
                  </a:lnTo>
                  <a:lnTo>
                    <a:pt x="2204974" y="63500"/>
                  </a:lnTo>
                  <a:lnTo>
                    <a:pt x="2173224" y="0"/>
                  </a:lnTo>
                  <a:close/>
                </a:path>
                <a:path w="2211704" h="441325">
                  <a:moveTo>
                    <a:pt x="2204974" y="63500"/>
                  </a:moveTo>
                  <a:lnTo>
                    <a:pt x="2179574" y="63500"/>
                  </a:lnTo>
                  <a:lnTo>
                    <a:pt x="2179574" y="76200"/>
                  </a:lnTo>
                  <a:lnTo>
                    <a:pt x="2211324" y="76200"/>
                  </a:lnTo>
                  <a:lnTo>
                    <a:pt x="2204974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94173" y="1708150"/>
              <a:ext cx="2206625" cy="565150"/>
            </a:xfrm>
            <a:custGeom>
              <a:avLst/>
              <a:gdLst/>
              <a:ahLst/>
              <a:cxnLst/>
              <a:rect l="l" t="t" r="r" b="b"/>
              <a:pathLst>
                <a:path w="2206625" h="565150">
                  <a:moveTo>
                    <a:pt x="2193925" y="282575"/>
                  </a:moveTo>
                  <a:lnTo>
                    <a:pt x="2193925" y="565150"/>
                  </a:lnTo>
                  <a:lnTo>
                    <a:pt x="2206625" y="565150"/>
                  </a:lnTo>
                  <a:lnTo>
                    <a:pt x="2206625" y="288925"/>
                  </a:lnTo>
                  <a:lnTo>
                    <a:pt x="2200275" y="288925"/>
                  </a:lnTo>
                  <a:lnTo>
                    <a:pt x="2193925" y="282575"/>
                  </a:lnTo>
                  <a:close/>
                </a:path>
                <a:path w="2206625" h="5651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88925"/>
                  </a:lnTo>
                  <a:lnTo>
                    <a:pt x="2193925" y="288925"/>
                  </a:lnTo>
                  <a:lnTo>
                    <a:pt x="2193925" y="282575"/>
                  </a:lnTo>
                  <a:lnTo>
                    <a:pt x="44450" y="282575"/>
                  </a:lnTo>
                  <a:lnTo>
                    <a:pt x="38100" y="276225"/>
                  </a:lnTo>
                  <a:lnTo>
                    <a:pt x="44450" y="276225"/>
                  </a:lnTo>
                  <a:lnTo>
                    <a:pt x="44450" y="63500"/>
                  </a:lnTo>
                  <a:close/>
                </a:path>
                <a:path w="2206625" h="565150">
                  <a:moveTo>
                    <a:pt x="2206625" y="276225"/>
                  </a:moveTo>
                  <a:lnTo>
                    <a:pt x="44450" y="276225"/>
                  </a:lnTo>
                  <a:lnTo>
                    <a:pt x="44450" y="282575"/>
                  </a:lnTo>
                  <a:lnTo>
                    <a:pt x="2193925" y="282575"/>
                  </a:lnTo>
                  <a:lnTo>
                    <a:pt x="2200275" y="288925"/>
                  </a:lnTo>
                  <a:lnTo>
                    <a:pt x="2206625" y="288925"/>
                  </a:lnTo>
                  <a:lnTo>
                    <a:pt x="2206625" y="276225"/>
                  </a:lnTo>
                  <a:close/>
                </a:path>
                <a:path w="2206625" h="565150">
                  <a:moveTo>
                    <a:pt x="44450" y="276225"/>
                  </a:moveTo>
                  <a:lnTo>
                    <a:pt x="38100" y="276225"/>
                  </a:lnTo>
                  <a:lnTo>
                    <a:pt x="44450" y="282575"/>
                  </a:lnTo>
                  <a:lnTo>
                    <a:pt x="44450" y="276225"/>
                  </a:lnTo>
                  <a:close/>
                </a:path>
                <a:path w="2206625" h="5651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206625" h="5651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5100701" y="5176837"/>
              <a:ext cx="1217930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17</a:t>
              </a:r>
              <a:endParaRPr sz="900">
                <a:latin typeface="Tahoma"/>
                <a:cs typeface="Tahoma"/>
              </a:endParaRPr>
            </a:p>
            <a:p>
              <a:pPr marL="95885" marR="88900" indent="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MEJORADAS  TECNOLOGÍAS  DE</a:t>
              </a:r>
              <a:r>
                <a:rPr sz="900" b="1" spc="-5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679950" y="4897373"/>
              <a:ext cx="1036955" cy="279400"/>
            </a:xfrm>
            <a:custGeom>
              <a:avLst/>
              <a:gdLst/>
              <a:ahLst/>
              <a:cxnLst/>
              <a:rect l="l" t="t" r="r" b="b"/>
              <a:pathLst>
                <a:path w="1036954" h="279400">
                  <a:moveTo>
                    <a:pt x="1023874" y="139700"/>
                  </a:moveTo>
                  <a:lnTo>
                    <a:pt x="1023874" y="279400"/>
                  </a:lnTo>
                  <a:lnTo>
                    <a:pt x="1036574" y="279400"/>
                  </a:lnTo>
                  <a:lnTo>
                    <a:pt x="1036574" y="146050"/>
                  </a:lnTo>
                  <a:lnTo>
                    <a:pt x="1030224" y="146050"/>
                  </a:lnTo>
                  <a:lnTo>
                    <a:pt x="1023874" y="139700"/>
                  </a:lnTo>
                  <a:close/>
                </a:path>
                <a:path w="1036954" h="2794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46050"/>
                  </a:lnTo>
                  <a:lnTo>
                    <a:pt x="1023874" y="146050"/>
                  </a:lnTo>
                  <a:lnTo>
                    <a:pt x="1023874" y="139700"/>
                  </a:lnTo>
                  <a:lnTo>
                    <a:pt x="44450" y="139700"/>
                  </a:lnTo>
                  <a:lnTo>
                    <a:pt x="38100" y="133350"/>
                  </a:lnTo>
                  <a:lnTo>
                    <a:pt x="44450" y="133350"/>
                  </a:lnTo>
                  <a:lnTo>
                    <a:pt x="44450" y="63500"/>
                  </a:lnTo>
                  <a:close/>
                </a:path>
                <a:path w="1036954" h="279400">
                  <a:moveTo>
                    <a:pt x="1036574" y="133350"/>
                  </a:moveTo>
                  <a:lnTo>
                    <a:pt x="44450" y="133350"/>
                  </a:lnTo>
                  <a:lnTo>
                    <a:pt x="44450" y="139700"/>
                  </a:lnTo>
                  <a:lnTo>
                    <a:pt x="1023874" y="139700"/>
                  </a:lnTo>
                  <a:lnTo>
                    <a:pt x="1030224" y="146050"/>
                  </a:lnTo>
                  <a:lnTo>
                    <a:pt x="1036574" y="146050"/>
                  </a:lnTo>
                  <a:lnTo>
                    <a:pt x="1036574" y="133350"/>
                  </a:lnTo>
                  <a:close/>
                </a:path>
                <a:path w="1036954" h="279400">
                  <a:moveTo>
                    <a:pt x="44450" y="133350"/>
                  </a:moveTo>
                  <a:lnTo>
                    <a:pt x="38100" y="133350"/>
                  </a:lnTo>
                  <a:lnTo>
                    <a:pt x="44450" y="139700"/>
                  </a:lnTo>
                  <a:lnTo>
                    <a:pt x="44450" y="133350"/>
                  </a:lnTo>
                  <a:close/>
                </a:path>
                <a:path w="1036954" h="2794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36954" h="2794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4267200" y="6165675"/>
              <a:ext cx="1260475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solidFill>
                    <a:srgbClr val="FFFFFF"/>
                  </a:solidFill>
                  <a:latin typeface="Tahoma"/>
                  <a:cs typeface="Tahoma"/>
                </a:rPr>
                <a:t>18</a:t>
              </a:r>
              <a:endParaRPr sz="900">
                <a:latin typeface="Tahoma"/>
                <a:cs typeface="Tahoma"/>
              </a:endParaRPr>
            </a:p>
            <a:p>
              <a:pPr marL="97155" marR="90170" indent="-29209" algn="ctr">
                <a:lnSpc>
                  <a:spcPct val="100000"/>
                </a:lnSpc>
              </a:pPr>
              <a:r>
                <a:rPr sz="900" b="1" spc="-5" dirty="0">
                  <a:solidFill>
                    <a:srgbClr val="FFFFFF"/>
                  </a:solidFill>
                  <a:latin typeface="Tahoma"/>
                  <a:cs typeface="Tahoma"/>
                </a:rPr>
                <a:t>INCENTIVOS  ADECUADOS</a:t>
              </a:r>
              <a:r>
                <a:rPr sz="900" b="1" spc="-95" dirty="0">
                  <a:solidFill>
                    <a:srgbClr val="FFFFFF"/>
                  </a:solidFill>
                  <a:latin typeface="Tahoma"/>
                  <a:cs typeface="Tahoma"/>
                </a:rPr>
                <a:t> </a:t>
              </a:r>
              <a:r>
                <a:rPr sz="900" b="1" spc="-5" dirty="0">
                  <a:solidFill>
                    <a:srgbClr val="FFFFFF"/>
                  </a:solidFill>
                  <a:latin typeface="Tahoma"/>
                  <a:cs typeface="Tahoma"/>
                </a:rPr>
                <a:t>PARA  </a:t>
              </a:r>
              <a:r>
                <a:rPr sz="900" b="1" spc="-10" dirty="0">
                  <a:solidFill>
                    <a:srgbClr val="FFFFFF"/>
                  </a:solidFill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679950" y="4897373"/>
              <a:ext cx="224154" cy="1268730"/>
            </a:xfrm>
            <a:custGeom>
              <a:avLst/>
              <a:gdLst/>
              <a:ahLst/>
              <a:cxnLst/>
              <a:rect l="l" t="t" r="r" b="b"/>
              <a:pathLst>
                <a:path w="224154" h="1268729">
                  <a:moveTo>
                    <a:pt x="211074" y="634238"/>
                  </a:moveTo>
                  <a:lnTo>
                    <a:pt x="211074" y="1268298"/>
                  </a:lnTo>
                  <a:lnTo>
                    <a:pt x="223774" y="1268298"/>
                  </a:lnTo>
                  <a:lnTo>
                    <a:pt x="223774" y="640588"/>
                  </a:lnTo>
                  <a:lnTo>
                    <a:pt x="217424" y="640588"/>
                  </a:lnTo>
                  <a:lnTo>
                    <a:pt x="211074" y="634238"/>
                  </a:lnTo>
                  <a:close/>
                </a:path>
                <a:path w="224154" h="1268729">
                  <a:moveTo>
                    <a:pt x="44450" y="63500"/>
                  </a:moveTo>
                  <a:lnTo>
                    <a:pt x="31750" y="63500"/>
                  </a:lnTo>
                  <a:lnTo>
                    <a:pt x="31750" y="640588"/>
                  </a:lnTo>
                  <a:lnTo>
                    <a:pt x="211074" y="640588"/>
                  </a:lnTo>
                  <a:lnTo>
                    <a:pt x="211074" y="634238"/>
                  </a:lnTo>
                  <a:lnTo>
                    <a:pt x="44450" y="634238"/>
                  </a:lnTo>
                  <a:lnTo>
                    <a:pt x="38100" y="627888"/>
                  </a:lnTo>
                  <a:lnTo>
                    <a:pt x="44450" y="627888"/>
                  </a:lnTo>
                  <a:lnTo>
                    <a:pt x="44450" y="63500"/>
                  </a:lnTo>
                  <a:close/>
                </a:path>
                <a:path w="224154" h="1268729">
                  <a:moveTo>
                    <a:pt x="223774" y="627888"/>
                  </a:moveTo>
                  <a:lnTo>
                    <a:pt x="44450" y="627888"/>
                  </a:lnTo>
                  <a:lnTo>
                    <a:pt x="44450" y="634238"/>
                  </a:lnTo>
                  <a:lnTo>
                    <a:pt x="211074" y="634238"/>
                  </a:lnTo>
                  <a:lnTo>
                    <a:pt x="217424" y="640588"/>
                  </a:lnTo>
                  <a:lnTo>
                    <a:pt x="223774" y="640588"/>
                  </a:lnTo>
                  <a:lnTo>
                    <a:pt x="223774" y="627888"/>
                  </a:lnTo>
                  <a:close/>
                </a:path>
                <a:path w="224154" h="1268729">
                  <a:moveTo>
                    <a:pt x="44450" y="627888"/>
                  </a:moveTo>
                  <a:lnTo>
                    <a:pt x="38100" y="627888"/>
                  </a:lnTo>
                  <a:lnTo>
                    <a:pt x="44450" y="634238"/>
                  </a:lnTo>
                  <a:lnTo>
                    <a:pt x="44450" y="627888"/>
                  </a:lnTo>
                  <a:close/>
                </a:path>
                <a:path w="224154" h="1268729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24154" h="1268729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1050925" y="5956300"/>
              <a:ext cx="1205230" cy="638175"/>
            </a:xfrm>
            <a:prstGeom prst="rect">
              <a:avLst/>
            </a:prstGeom>
            <a:solidFill>
              <a:srgbClr val="FFFF66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13</a:t>
              </a:r>
              <a:endParaRPr sz="900">
                <a:latin typeface="Tahoma"/>
                <a:cs typeface="Tahoma"/>
              </a:endParaRPr>
            </a:p>
            <a:p>
              <a:pPr marL="90170" marR="8191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</a:t>
              </a:r>
              <a:r>
                <a:rPr sz="900" b="1" dirty="0">
                  <a:latin typeface="Tahoma"/>
                  <a:cs typeface="Tahoma"/>
                </a:rPr>
                <a:t>NT</a:t>
              </a:r>
              <a:r>
                <a:rPr sz="900" b="1" spc="-5" dirty="0">
                  <a:latin typeface="Tahoma"/>
                  <a:cs typeface="Tahoma"/>
                </a:rPr>
                <a:t>ENIMIENTO  ADECUADO DE  COSECHADORAS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674876" y="977900"/>
              <a:ext cx="147637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0"/>
                </a:spcBef>
              </a:pPr>
              <a:r>
                <a:rPr sz="900" b="1" dirty="0">
                  <a:latin typeface="Tahoma"/>
                  <a:cs typeface="Tahoma"/>
                </a:rPr>
                <a:t>19</a:t>
              </a:r>
              <a:endParaRPr sz="900">
                <a:latin typeface="Tahoma"/>
                <a:cs typeface="Tahoma"/>
              </a:endParaRPr>
            </a:p>
            <a:p>
              <a:pPr marL="92075" marR="83185" indent="-190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AMENAZAS </a:t>
              </a:r>
              <a:r>
                <a:rPr sz="900" b="1" dirty="0">
                  <a:latin typeface="Tahoma"/>
                  <a:cs typeface="Tahoma"/>
                </a:rPr>
                <a:t>A </a:t>
              </a:r>
              <a:r>
                <a:rPr sz="900" b="1" spc="-5" dirty="0">
                  <a:latin typeface="Tahoma"/>
                  <a:cs typeface="Tahoma"/>
                </a:rPr>
                <a:t>LA  SALUD</a:t>
              </a:r>
              <a:r>
                <a:rPr sz="900" b="1" spc="-7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CONTROLADAS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9025" y="1479550"/>
              <a:ext cx="92075" cy="1841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228600" y="5176837"/>
              <a:ext cx="1139825" cy="638175"/>
            </a:xfrm>
            <a:prstGeom prst="rect">
              <a:avLst/>
            </a:prstGeom>
            <a:solidFill>
              <a:srgbClr val="FFFF66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20</a:t>
              </a:r>
              <a:endParaRPr sz="900">
                <a:latin typeface="Tahoma"/>
                <a:cs typeface="Tahoma"/>
              </a:endParaRPr>
            </a:p>
            <a:p>
              <a:pPr marL="91440" marR="83820" indent="-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ADECUADO  DISEÑO DE LAS  C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EC</a:t>
              </a:r>
              <a:r>
                <a:rPr sz="900" b="1" spc="-10" dirty="0">
                  <a:latin typeface="Tahoma"/>
                  <a:cs typeface="Tahoma"/>
                </a:rPr>
                <a:t>H</a:t>
              </a:r>
              <a:r>
                <a:rPr sz="900" b="1" spc="-5" dirty="0">
                  <a:latin typeface="Tahoma"/>
                  <a:cs typeface="Tahoma"/>
                </a:rPr>
                <a:t>AD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92162" y="4892675"/>
              <a:ext cx="838200" cy="284480"/>
            </a:xfrm>
            <a:custGeom>
              <a:avLst/>
              <a:gdLst/>
              <a:ahLst/>
              <a:cxnLst/>
              <a:rect l="l" t="t" r="r" b="b"/>
              <a:pathLst>
                <a:path w="838200" h="284479">
                  <a:moveTo>
                    <a:pt x="793686" y="136525"/>
                  </a:moveTo>
                  <a:lnTo>
                    <a:pt x="0" y="136525"/>
                  </a:lnTo>
                  <a:lnTo>
                    <a:pt x="0" y="284099"/>
                  </a:lnTo>
                  <a:lnTo>
                    <a:pt x="12700" y="284099"/>
                  </a:lnTo>
                  <a:lnTo>
                    <a:pt x="12700" y="149225"/>
                  </a:lnTo>
                  <a:lnTo>
                    <a:pt x="6350" y="149225"/>
                  </a:lnTo>
                  <a:lnTo>
                    <a:pt x="12700" y="142875"/>
                  </a:lnTo>
                  <a:lnTo>
                    <a:pt x="793686" y="142875"/>
                  </a:lnTo>
                  <a:lnTo>
                    <a:pt x="793686" y="136525"/>
                  </a:lnTo>
                  <a:close/>
                </a:path>
                <a:path w="838200" h="284479">
                  <a:moveTo>
                    <a:pt x="12700" y="142875"/>
                  </a:moveTo>
                  <a:lnTo>
                    <a:pt x="6350" y="149225"/>
                  </a:lnTo>
                  <a:lnTo>
                    <a:pt x="12700" y="149225"/>
                  </a:lnTo>
                  <a:lnTo>
                    <a:pt x="12700" y="142875"/>
                  </a:lnTo>
                  <a:close/>
                </a:path>
                <a:path w="838200" h="284479">
                  <a:moveTo>
                    <a:pt x="806386" y="136525"/>
                  </a:moveTo>
                  <a:lnTo>
                    <a:pt x="800036" y="136525"/>
                  </a:lnTo>
                  <a:lnTo>
                    <a:pt x="793686" y="142875"/>
                  </a:lnTo>
                  <a:lnTo>
                    <a:pt x="12700" y="142875"/>
                  </a:lnTo>
                  <a:lnTo>
                    <a:pt x="12700" y="149225"/>
                  </a:lnTo>
                  <a:lnTo>
                    <a:pt x="806386" y="149225"/>
                  </a:lnTo>
                  <a:lnTo>
                    <a:pt x="806386" y="136525"/>
                  </a:lnTo>
                  <a:close/>
                </a:path>
                <a:path w="838200" h="284479">
                  <a:moveTo>
                    <a:pt x="806386" y="63500"/>
                  </a:moveTo>
                  <a:lnTo>
                    <a:pt x="793686" y="63500"/>
                  </a:lnTo>
                  <a:lnTo>
                    <a:pt x="793686" y="142875"/>
                  </a:lnTo>
                  <a:lnTo>
                    <a:pt x="800036" y="136525"/>
                  </a:lnTo>
                  <a:lnTo>
                    <a:pt x="806386" y="136525"/>
                  </a:lnTo>
                  <a:lnTo>
                    <a:pt x="806386" y="63500"/>
                  </a:lnTo>
                  <a:close/>
                </a:path>
                <a:path w="838200" h="284479">
                  <a:moveTo>
                    <a:pt x="800036" y="0"/>
                  </a:moveTo>
                  <a:lnTo>
                    <a:pt x="761936" y="76200"/>
                  </a:lnTo>
                  <a:lnTo>
                    <a:pt x="793686" y="76200"/>
                  </a:lnTo>
                  <a:lnTo>
                    <a:pt x="793686" y="63500"/>
                  </a:lnTo>
                  <a:lnTo>
                    <a:pt x="831786" y="63500"/>
                  </a:lnTo>
                  <a:lnTo>
                    <a:pt x="800036" y="0"/>
                  </a:lnTo>
                  <a:close/>
                </a:path>
                <a:path w="838200" h="284479">
                  <a:moveTo>
                    <a:pt x="831786" y="63500"/>
                  </a:moveTo>
                  <a:lnTo>
                    <a:pt x="806386" y="63500"/>
                  </a:lnTo>
                  <a:lnTo>
                    <a:pt x="806386" y="76200"/>
                  </a:lnTo>
                  <a:lnTo>
                    <a:pt x="838136" y="76200"/>
                  </a:lnTo>
                  <a:lnTo>
                    <a:pt x="83178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6400800" y="4343400"/>
              <a:ext cx="2275205" cy="549275"/>
            </a:xfrm>
            <a:prstGeom prst="rect">
              <a:avLst/>
            </a:prstGeom>
            <a:solidFill>
              <a:srgbClr val="FFFF66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21</a:t>
              </a:r>
              <a:endParaRPr sz="1000">
                <a:latin typeface="Tahoma"/>
                <a:cs typeface="Tahoma"/>
              </a:endParaRPr>
            </a:p>
            <a:p>
              <a:pPr marL="95885" marR="88900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NUEVA </a:t>
              </a:r>
              <a:r>
                <a:rPr sz="1000" b="1" spc="-5" dirty="0">
                  <a:latin typeface="Tahoma"/>
                  <a:cs typeface="Tahoma"/>
                </a:rPr>
                <a:t>VARIEDAD </a:t>
              </a:r>
              <a:r>
                <a:rPr sz="1000" b="1" spc="-10" dirty="0">
                  <a:latin typeface="Tahoma"/>
                  <a:cs typeface="Tahoma"/>
                </a:rPr>
                <a:t>DE FRUTA  RESISTENTE </a:t>
              </a:r>
              <a:r>
                <a:rPr sz="1000" b="1" spc="-5" dirty="0">
                  <a:latin typeface="Tahoma"/>
                  <a:cs typeface="Tahoma"/>
                </a:rPr>
                <a:t>A LA</a:t>
              </a:r>
              <a:r>
                <a:rPr sz="1000" b="1" spc="-1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689475" y="3911600"/>
              <a:ext cx="2856230" cy="431800"/>
            </a:xfrm>
            <a:custGeom>
              <a:avLst/>
              <a:gdLst/>
              <a:ahLst/>
              <a:cxnLst/>
              <a:rect l="l" t="t" r="r" b="b"/>
              <a:pathLst>
                <a:path w="2856229" h="431800">
                  <a:moveTo>
                    <a:pt x="2843149" y="215900"/>
                  </a:moveTo>
                  <a:lnTo>
                    <a:pt x="2843149" y="431800"/>
                  </a:lnTo>
                  <a:lnTo>
                    <a:pt x="2855849" y="431800"/>
                  </a:lnTo>
                  <a:lnTo>
                    <a:pt x="2855849" y="222250"/>
                  </a:lnTo>
                  <a:lnTo>
                    <a:pt x="2849499" y="222250"/>
                  </a:lnTo>
                  <a:lnTo>
                    <a:pt x="2843149" y="215900"/>
                  </a:lnTo>
                  <a:close/>
                </a:path>
                <a:path w="2856229" h="431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2250"/>
                  </a:lnTo>
                  <a:lnTo>
                    <a:pt x="2843149" y="222250"/>
                  </a:lnTo>
                  <a:lnTo>
                    <a:pt x="2843149" y="215900"/>
                  </a:lnTo>
                  <a:lnTo>
                    <a:pt x="44450" y="215900"/>
                  </a:lnTo>
                  <a:lnTo>
                    <a:pt x="38100" y="209550"/>
                  </a:lnTo>
                  <a:lnTo>
                    <a:pt x="44450" y="209550"/>
                  </a:lnTo>
                  <a:lnTo>
                    <a:pt x="44450" y="63500"/>
                  </a:lnTo>
                  <a:close/>
                </a:path>
                <a:path w="2856229" h="431800">
                  <a:moveTo>
                    <a:pt x="2855849" y="209550"/>
                  </a:moveTo>
                  <a:lnTo>
                    <a:pt x="44450" y="209550"/>
                  </a:lnTo>
                  <a:lnTo>
                    <a:pt x="44450" y="215900"/>
                  </a:lnTo>
                  <a:lnTo>
                    <a:pt x="2843149" y="215900"/>
                  </a:lnTo>
                  <a:lnTo>
                    <a:pt x="2849499" y="222250"/>
                  </a:lnTo>
                  <a:lnTo>
                    <a:pt x="2855849" y="222250"/>
                  </a:lnTo>
                  <a:lnTo>
                    <a:pt x="2855849" y="209550"/>
                  </a:lnTo>
                  <a:close/>
                </a:path>
                <a:path w="2856229" h="431800">
                  <a:moveTo>
                    <a:pt x="44450" y="209550"/>
                  </a:moveTo>
                  <a:lnTo>
                    <a:pt x="38100" y="209550"/>
                  </a:lnTo>
                  <a:lnTo>
                    <a:pt x="44450" y="215900"/>
                  </a:lnTo>
                  <a:lnTo>
                    <a:pt x="44450" y="209550"/>
                  </a:lnTo>
                  <a:close/>
                </a:path>
                <a:path w="2856229" h="431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856229" h="431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7758176" y="5253037"/>
              <a:ext cx="1127125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24</a:t>
              </a:r>
              <a:endParaRPr sz="900">
                <a:latin typeface="Tahoma"/>
                <a:cs typeface="Tahoma"/>
              </a:endParaRPr>
            </a:p>
            <a:p>
              <a:pPr marL="97790" marR="8699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DE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spc="-10" dirty="0">
                  <a:latin typeface="Tahoma"/>
                  <a:cs typeface="Tahoma"/>
                </a:rPr>
                <a:t>RR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5" dirty="0">
                  <a:latin typeface="Tahoma"/>
                  <a:cs typeface="Tahoma"/>
                </a:rPr>
                <a:t>LLADA  NUEVA  VARIEDAD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865873" y="4892675"/>
              <a:ext cx="711200" cy="365125"/>
            </a:xfrm>
            <a:custGeom>
              <a:avLst/>
              <a:gdLst/>
              <a:ahLst/>
              <a:cxnLst/>
              <a:rect l="l" t="t" r="r" b="b"/>
              <a:pathLst>
                <a:path w="711200" h="365125">
                  <a:moveTo>
                    <a:pt x="666750" y="176149"/>
                  </a:moveTo>
                  <a:lnTo>
                    <a:pt x="0" y="176149"/>
                  </a:lnTo>
                  <a:lnTo>
                    <a:pt x="0" y="365125"/>
                  </a:lnTo>
                  <a:lnTo>
                    <a:pt x="12700" y="365125"/>
                  </a:lnTo>
                  <a:lnTo>
                    <a:pt x="12700" y="188849"/>
                  </a:lnTo>
                  <a:lnTo>
                    <a:pt x="6350" y="188849"/>
                  </a:lnTo>
                  <a:lnTo>
                    <a:pt x="12700" y="182499"/>
                  </a:lnTo>
                  <a:lnTo>
                    <a:pt x="666750" y="182499"/>
                  </a:lnTo>
                  <a:lnTo>
                    <a:pt x="666750" y="176149"/>
                  </a:lnTo>
                  <a:close/>
                </a:path>
                <a:path w="711200" h="365125">
                  <a:moveTo>
                    <a:pt x="12700" y="182499"/>
                  </a:moveTo>
                  <a:lnTo>
                    <a:pt x="6350" y="188849"/>
                  </a:lnTo>
                  <a:lnTo>
                    <a:pt x="12700" y="188849"/>
                  </a:lnTo>
                  <a:lnTo>
                    <a:pt x="12700" y="182499"/>
                  </a:lnTo>
                  <a:close/>
                </a:path>
                <a:path w="711200" h="365125">
                  <a:moveTo>
                    <a:pt x="679450" y="176149"/>
                  </a:moveTo>
                  <a:lnTo>
                    <a:pt x="673100" y="176149"/>
                  </a:lnTo>
                  <a:lnTo>
                    <a:pt x="666750" y="182499"/>
                  </a:lnTo>
                  <a:lnTo>
                    <a:pt x="12700" y="182499"/>
                  </a:lnTo>
                  <a:lnTo>
                    <a:pt x="12700" y="188849"/>
                  </a:lnTo>
                  <a:lnTo>
                    <a:pt x="679450" y="188849"/>
                  </a:lnTo>
                  <a:lnTo>
                    <a:pt x="679450" y="176149"/>
                  </a:lnTo>
                  <a:close/>
                </a:path>
                <a:path w="711200" h="365125">
                  <a:moveTo>
                    <a:pt x="679450" y="63500"/>
                  </a:moveTo>
                  <a:lnTo>
                    <a:pt x="666750" y="63500"/>
                  </a:lnTo>
                  <a:lnTo>
                    <a:pt x="666750" y="182499"/>
                  </a:lnTo>
                  <a:lnTo>
                    <a:pt x="673100" y="176149"/>
                  </a:lnTo>
                  <a:lnTo>
                    <a:pt x="679450" y="176149"/>
                  </a:lnTo>
                  <a:lnTo>
                    <a:pt x="679450" y="63500"/>
                  </a:lnTo>
                  <a:close/>
                </a:path>
                <a:path w="711200" h="365125">
                  <a:moveTo>
                    <a:pt x="673100" y="0"/>
                  </a:moveTo>
                  <a:lnTo>
                    <a:pt x="635000" y="76200"/>
                  </a:lnTo>
                  <a:lnTo>
                    <a:pt x="666750" y="76200"/>
                  </a:lnTo>
                  <a:lnTo>
                    <a:pt x="666750" y="63500"/>
                  </a:lnTo>
                  <a:lnTo>
                    <a:pt x="704850" y="63500"/>
                  </a:lnTo>
                  <a:lnTo>
                    <a:pt x="673100" y="0"/>
                  </a:lnTo>
                  <a:close/>
                </a:path>
                <a:path w="711200" h="365125">
                  <a:moveTo>
                    <a:pt x="704850" y="63500"/>
                  </a:moveTo>
                  <a:lnTo>
                    <a:pt x="679450" y="63500"/>
                  </a:lnTo>
                  <a:lnTo>
                    <a:pt x="679450" y="76200"/>
                  </a:lnTo>
                  <a:lnTo>
                    <a:pt x="711200" y="76200"/>
                  </a:lnTo>
                  <a:lnTo>
                    <a:pt x="704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00873" y="4892675"/>
              <a:ext cx="827405" cy="360680"/>
            </a:xfrm>
            <a:custGeom>
              <a:avLst/>
              <a:gdLst/>
              <a:ahLst/>
              <a:cxnLst/>
              <a:rect l="l" t="t" r="r" b="b"/>
              <a:pathLst>
                <a:path w="827404" h="360679">
                  <a:moveTo>
                    <a:pt x="814451" y="180975"/>
                  </a:moveTo>
                  <a:lnTo>
                    <a:pt x="814451" y="360299"/>
                  </a:lnTo>
                  <a:lnTo>
                    <a:pt x="827151" y="360299"/>
                  </a:lnTo>
                  <a:lnTo>
                    <a:pt x="827151" y="187325"/>
                  </a:lnTo>
                  <a:lnTo>
                    <a:pt x="820801" y="187325"/>
                  </a:lnTo>
                  <a:lnTo>
                    <a:pt x="814451" y="180975"/>
                  </a:lnTo>
                  <a:close/>
                </a:path>
                <a:path w="827404" h="360679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7325"/>
                  </a:lnTo>
                  <a:lnTo>
                    <a:pt x="814451" y="187325"/>
                  </a:lnTo>
                  <a:lnTo>
                    <a:pt x="814451" y="180975"/>
                  </a:lnTo>
                  <a:lnTo>
                    <a:pt x="44450" y="180975"/>
                  </a:lnTo>
                  <a:lnTo>
                    <a:pt x="38100" y="174625"/>
                  </a:lnTo>
                  <a:lnTo>
                    <a:pt x="44450" y="174625"/>
                  </a:lnTo>
                  <a:lnTo>
                    <a:pt x="44450" y="63500"/>
                  </a:lnTo>
                  <a:close/>
                </a:path>
                <a:path w="827404" h="360679">
                  <a:moveTo>
                    <a:pt x="827151" y="174625"/>
                  </a:moveTo>
                  <a:lnTo>
                    <a:pt x="44450" y="174625"/>
                  </a:lnTo>
                  <a:lnTo>
                    <a:pt x="44450" y="180975"/>
                  </a:lnTo>
                  <a:lnTo>
                    <a:pt x="814451" y="180975"/>
                  </a:lnTo>
                  <a:lnTo>
                    <a:pt x="820801" y="187325"/>
                  </a:lnTo>
                  <a:lnTo>
                    <a:pt x="827151" y="187325"/>
                  </a:lnTo>
                  <a:lnTo>
                    <a:pt x="827151" y="174625"/>
                  </a:lnTo>
                  <a:close/>
                </a:path>
                <a:path w="827404" h="360679">
                  <a:moveTo>
                    <a:pt x="44450" y="174625"/>
                  </a:moveTo>
                  <a:lnTo>
                    <a:pt x="38100" y="174625"/>
                  </a:lnTo>
                  <a:lnTo>
                    <a:pt x="44450" y="180975"/>
                  </a:lnTo>
                  <a:lnTo>
                    <a:pt x="44450" y="174625"/>
                  </a:lnTo>
                  <a:close/>
                </a:path>
                <a:path w="827404" h="360679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827404" h="360679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6477000" y="5257800"/>
              <a:ext cx="1174750" cy="638175"/>
            </a:xfrm>
            <a:prstGeom prst="rect">
              <a:avLst/>
            </a:prstGeom>
            <a:solidFill>
              <a:srgbClr val="FFFF66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22</a:t>
              </a:r>
              <a:endParaRPr sz="900">
                <a:latin typeface="Tahoma"/>
                <a:cs typeface="Tahoma"/>
              </a:endParaRPr>
            </a:p>
            <a:p>
              <a:pPr marL="92710" marR="8445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ADAPTADAS </a:t>
              </a:r>
              <a:r>
                <a:rPr sz="900" b="1" dirty="0">
                  <a:latin typeface="Tahoma"/>
                  <a:cs typeface="Tahoma"/>
                </a:rPr>
                <a:t>A</a:t>
              </a:r>
              <a:r>
                <a:rPr sz="900" b="1" spc="-10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LA  REGIÓN OTRAS  VARIEDADES</a:t>
              </a:r>
              <a:endParaRPr sz="900">
                <a:latin typeface="Tahoma"/>
                <a:cs typeface="Tahoma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81000" y="64135"/>
            <a:ext cx="6107937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3945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 err="1"/>
              <a:t>Alternativa</a:t>
            </a:r>
            <a:r>
              <a:rPr sz="2800" spc="-5" dirty="0"/>
              <a:t> </a:t>
            </a:r>
            <a:r>
              <a:rPr sz="2800" dirty="0"/>
              <a:t>3</a:t>
            </a:r>
            <a:br>
              <a:rPr lang="es-419" sz="2800" dirty="0"/>
            </a:br>
            <a:r>
              <a:rPr lang="es-419" sz="2800" dirty="0"/>
              <a:t>        </a:t>
            </a:r>
            <a:r>
              <a:rPr sz="2800" spc="-5" dirty="0" err="1"/>
              <a:t>Recolección</a:t>
            </a:r>
            <a:r>
              <a:rPr sz="2800" spc="-5" dirty="0"/>
              <a:t> manual </a:t>
            </a:r>
            <a:r>
              <a:rPr sz="2800" dirty="0"/>
              <a:t>+</a:t>
            </a:r>
            <a:r>
              <a:rPr sz="2800" spc="-50" dirty="0"/>
              <a:t> </a:t>
            </a:r>
            <a:r>
              <a:rPr sz="2800" spc="-5" dirty="0"/>
              <a:t>Desarrollo</a:t>
            </a:r>
            <a:endParaRPr sz="2800" dirty="0"/>
          </a:p>
        </p:txBody>
      </p:sp>
      <p:grpSp>
        <p:nvGrpSpPr>
          <p:cNvPr id="40" name="Grupo 39"/>
          <p:cNvGrpSpPr/>
          <p:nvPr/>
        </p:nvGrpSpPr>
        <p:grpSpPr>
          <a:xfrm>
            <a:off x="182562" y="1143000"/>
            <a:ext cx="8656638" cy="5621388"/>
            <a:chOff x="223837" y="734441"/>
            <a:chExt cx="8656638" cy="5621388"/>
          </a:xfrm>
        </p:grpSpPr>
        <p:sp>
          <p:nvSpPr>
            <p:cNvPr id="2" name="object 2"/>
            <p:cNvSpPr/>
            <p:nvPr/>
          </p:nvSpPr>
          <p:spPr>
            <a:xfrm>
              <a:off x="3803903" y="3108960"/>
              <a:ext cx="1842516" cy="6766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899153" y="3143249"/>
              <a:ext cx="1657350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1</a:t>
              </a:r>
              <a:endParaRPr sz="1000">
                <a:latin typeface="Tahoma"/>
                <a:cs typeface="Tahoma"/>
              </a:endParaRPr>
            </a:p>
            <a:p>
              <a:pPr marL="12065" marR="508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NO </a:t>
              </a:r>
              <a:r>
                <a:rPr sz="1000" b="1" spc="-10" dirty="0">
                  <a:latin typeface="Tahoma"/>
                  <a:cs typeface="Tahoma"/>
                </a:rPr>
                <a:t>DETERIORADA  EN </a:t>
              </a:r>
              <a:r>
                <a:rPr sz="1000" b="1" spc="-5" dirty="0">
                  <a:latin typeface="Tahoma"/>
                  <a:cs typeface="Tahoma"/>
                </a:rPr>
                <a:t>LA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960876" y="963041"/>
              <a:ext cx="1543050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0"/>
                </a:spcBef>
              </a:pPr>
              <a:r>
                <a:rPr sz="900" b="1" dirty="0">
                  <a:latin typeface="Tahoma"/>
                  <a:cs typeface="Tahoma"/>
                </a:rPr>
                <a:t>2</a:t>
              </a:r>
              <a:endParaRPr sz="900">
                <a:latin typeface="Tahoma"/>
                <a:cs typeface="Tahoma"/>
              </a:endParaRPr>
            </a:p>
            <a:p>
              <a:pPr marL="92710" marR="85725" indent="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MAYORES INGRESOS  DE LOS</a:t>
              </a:r>
              <a:r>
                <a:rPr sz="900" b="1" spc="-50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AGRICULTORES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962400" y="2194941"/>
              <a:ext cx="156400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5</a:t>
              </a:r>
              <a:endParaRPr sz="9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DISMINUIDAS</a:t>
              </a:r>
              <a:endParaRPr sz="900">
                <a:latin typeface="Tahoma"/>
                <a:cs typeface="Tahoma"/>
              </a:endParaRPr>
            </a:p>
            <a:p>
              <a:pPr marL="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PÉRDIDAS EN</a:t>
              </a:r>
              <a:r>
                <a:rPr sz="900" b="1" spc="-4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COSECHA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1900301" y="4933441"/>
              <a:ext cx="1111250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8</a:t>
              </a:r>
              <a:endParaRPr sz="900">
                <a:latin typeface="Tahoma"/>
                <a:cs typeface="Tahoma"/>
              </a:endParaRPr>
            </a:p>
            <a:p>
              <a:pPr marL="95250" marR="8826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MAQUINAS  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ECOLECT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  </a:t>
              </a:r>
              <a:r>
                <a:rPr sz="900" b="1" spc="-5" dirty="0">
                  <a:latin typeface="Tahoma"/>
                  <a:cs typeface="Tahoma"/>
                </a:rPr>
                <a:t>RENOVADAS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04837" y="4095241"/>
              <a:ext cx="1974850" cy="5588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99695" marR="9271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RECOLECTORAS  </a:t>
              </a:r>
              <a:r>
                <a:rPr sz="1000" b="1" spc="-5" dirty="0">
                  <a:latin typeface="Tahoma"/>
                  <a:cs typeface="Tahoma"/>
                </a:rPr>
                <a:t>CON </a:t>
              </a:r>
              <a:r>
                <a:rPr sz="1000" b="1" spc="-10" dirty="0">
                  <a:latin typeface="Tahoma"/>
                  <a:cs typeface="Tahoma"/>
                </a:rPr>
                <a:t>BUEN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DESEMPEÑO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810000" y="4099940"/>
              <a:ext cx="1816100" cy="549275"/>
            </a:xfrm>
            <a:prstGeom prst="rect">
              <a:avLst/>
            </a:prstGeom>
            <a:solidFill>
              <a:srgbClr val="CCCC00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95250" marR="87630" indent="-1270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</a:t>
              </a:r>
              <a:r>
                <a:rPr sz="1000" b="1" spc="-10" dirty="0">
                  <a:latin typeface="Tahoma"/>
                  <a:cs typeface="Tahoma"/>
                </a:rPr>
                <a:t>TRATAN </a:t>
              </a:r>
              <a:r>
                <a:rPr sz="1000" b="1" spc="-5" dirty="0">
                  <a:latin typeface="Tahoma"/>
                  <a:cs typeface="Tahoma"/>
                </a:rPr>
                <a:t>BIEN  LA </a:t>
              </a: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AL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200400" y="4938140"/>
              <a:ext cx="1397000" cy="638175"/>
            </a:xfrm>
            <a:prstGeom prst="rect">
              <a:avLst/>
            </a:prstGeom>
            <a:solidFill>
              <a:srgbClr val="CCCC00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3</a:t>
              </a:r>
              <a:endParaRPr sz="900">
                <a:latin typeface="Tahoma"/>
                <a:cs typeface="Tahoma"/>
              </a:endParaRPr>
            </a:p>
            <a:p>
              <a:pPr marL="92710" marR="118110" indent="32384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OBREROS  CAPACITADOS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582800" y="2042541"/>
              <a:ext cx="1517650" cy="638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15</a:t>
              </a:r>
              <a:endParaRPr sz="900">
                <a:latin typeface="Tahoma"/>
                <a:cs typeface="Tahoma"/>
              </a:endParaRPr>
            </a:p>
            <a:p>
              <a:pPr marL="221615" marR="235585" indent="-139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DISMINUCIÓN DE  C</a:t>
              </a:r>
              <a:r>
                <a:rPr sz="900" b="1" dirty="0">
                  <a:latin typeface="Tahoma"/>
                  <a:cs typeface="Tahoma"/>
                </a:rPr>
                <a:t>ONT</a:t>
              </a:r>
              <a:r>
                <a:rPr sz="900" b="1" spc="-5" dirty="0">
                  <a:latin typeface="Tahoma"/>
                  <a:cs typeface="Tahoma"/>
                </a:rPr>
                <a:t>AMINACI</a:t>
              </a:r>
              <a:r>
                <a:rPr sz="900" b="1" dirty="0">
                  <a:latin typeface="Tahoma"/>
                  <a:cs typeface="Tahoma"/>
                </a:rPr>
                <a:t>ÓN</a:t>
              </a:r>
              <a:endParaRPr sz="9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900" b="1" dirty="0">
                  <a:latin typeface="Tahoma"/>
                  <a:cs typeface="Tahoma"/>
                </a:rPr>
                <a:t>POR </a:t>
              </a:r>
              <a:r>
                <a:rPr sz="900" b="1" spc="-5" dirty="0">
                  <a:latin typeface="Tahoma"/>
                  <a:cs typeface="Tahoma"/>
                </a:rPr>
                <a:t>FRUTAS</a:t>
              </a:r>
              <a:r>
                <a:rPr sz="900" b="1" spc="-7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DAÑADAS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522475" y="1420241"/>
              <a:ext cx="168465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0"/>
                </a:spcBef>
              </a:pPr>
              <a:r>
                <a:rPr sz="900" b="1" dirty="0">
                  <a:latin typeface="Tahoma"/>
                  <a:cs typeface="Tahoma"/>
                </a:rPr>
                <a:t>6</a:t>
              </a:r>
              <a:endParaRPr sz="900">
                <a:latin typeface="Tahoma"/>
                <a:cs typeface="Tahoma"/>
              </a:endParaRPr>
            </a:p>
            <a:p>
              <a:pPr marL="92075" marR="8445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DISMINUCIÓN DE  PLAGAS </a:t>
              </a:r>
              <a:r>
                <a:rPr sz="900" b="1" dirty="0">
                  <a:latin typeface="Tahoma"/>
                  <a:cs typeface="Tahoma"/>
                </a:rPr>
                <a:t>Y </a:t>
              </a:r>
              <a:r>
                <a:rPr sz="900" b="1" spc="-5" dirty="0">
                  <a:latin typeface="Tahoma"/>
                  <a:cs typeface="Tahoma"/>
                </a:rPr>
                <a:t>MALOS</a:t>
              </a:r>
              <a:r>
                <a:rPr sz="900" b="1" spc="-11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OLORES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554099" y="4654041"/>
              <a:ext cx="106680" cy="1054100"/>
            </a:xfrm>
            <a:custGeom>
              <a:avLst/>
              <a:gdLst/>
              <a:ahLst/>
              <a:cxnLst/>
              <a:rect l="l" t="t" r="r" b="b"/>
              <a:pathLst>
                <a:path w="106680" h="1054100">
                  <a:moveTo>
                    <a:pt x="93725" y="527049"/>
                  </a:moveTo>
                  <a:lnTo>
                    <a:pt x="93725" y="1054087"/>
                  </a:lnTo>
                  <a:lnTo>
                    <a:pt x="106425" y="1054087"/>
                  </a:lnTo>
                  <a:lnTo>
                    <a:pt x="106425" y="533399"/>
                  </a:lnTo>
                  <a:lnTo>
                    <a:pt x="100075" y="533399"/>
                  </a:lnTo>
                  <a:lnTo>
                    <a:pt x="93725" y="527049"/>
                  </a:lnTo>
                  <a:close/>
                </a:path>
                <a:path w="106680" h="1054100">
                  <a:moveTo>
                    <a:pt x="44450" y="63499"/>
                  </a:moveTo>
                  <a:lnTo>
                    <a:pt x="31750" y="63499"/>
                  </a:lnTo>
                  <a:lnTo>
                    <a:pt x="31750" y="533399"/>
                  </a:lnTo>
                  <a:lnTo>
                    <a:pt x="93725" y="533399"/>
                  </a:lnTo>
                  <a:lnTo>
                    <a:pt x="93725" y="527049"/>
                  </a:lnTo>
                  <a:lnTo>
                    <a:pt x="44450" y="527049"/>
                  </a:lnTo>
                  <a:lnTo>
                    <a:pt x="38100" y="520699"/>
                  </a:lnTo>
                  <a:lnTo>
                    <a:pt x="44450" y="520699"/>
                  </a:lnTo>
                  <a:lnTo>
                    <a:pt x="44450" y="63499"/>
                  </a:lnTo>
                  <a:close/>
                </a:path>
                <a:path w="106680" h="1054100">
                  <a:moveTo>
                    <a:pt x="106425" y="520699"/>
                  </a:moveTo>
                  <a:lnTo>
                    <a:pt x="44450" y="520699"/>
                  </a:lnTo>
                  <a:lnTo>
                    <a:pt x="44450" y="527049"/>
                  </a:lnTo>
                  <a:lnTo>
                    <a:pt x="93725" y="527049"/>
                  </a:lnTo>
                  <a:lnTo>
                    <a:pt x="100075" y="533399"/>
                  </a:lnTo>
                  <a:lnTo>
                    <a:pt x="106425" y="533399"/>
                  </a:lnTo>
                  <a:lnTo>
                    <a:pt x="106425" y="520699"/>
                  </a:lnTo>
                  <a:close/>
                </a:path>
                <a:path w="106680" h="1054100">
                  <a:moveTo>
                    <a:pt x="44450" y="520699"/>
                  </a:moveTo>
                  <a:lnTo>
                    <a:pt x="38100" y="520699"/>
                  </a:lnTo>
                  <a:lnTo>
                    <a:pt x="44450" y="527049"/>
                  </a:lnTo>
                  <a:lnTo>
                    <a:pt x="44450" y="520699"/>
                  </a:lnTo>
                  <a:close/>
                </a:path>
                <a:path w="106680" h="1054100">
                  <a:moveTo>
                    <a:pt x="38100" y="0"/>
                  </a:moveTo>
                  <a:lnTo>
                    <a:pt x="0" y="76199"/>
                  </a:lnTo>
                  <a:lnTo>
                    <a:pt x="31750" y="76199"/>
                  </a:lnTo>
                  <a:lnTo>
                    <a:pt x="31750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106680" h="1054100">
                  <a:moveTo>
                    <a:pt x="69850" y="63499"/>
                  </a:moveTo>
                  <a:lnTo>
                    <a:pt x="44450" y="63499"/>
                  </a:lnTo>
                  <a:lnTo>
                    <a:pt x="44450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54099" y="4654041"/>
              <a:ext cx="908050" cy="279400"/>
            </a:xfrm>
            <a:custGeom>
              <a:avLst/>
              <a:gdLst/>
              <a:ahLst/>
              <a:cxnLst/>
              <a:rect l="l" t="t" r="r" b="b"/>
              <a:pathLst>
                <a:path w="908050" h="279400">
                  <a:moveTo>
                    <a:pt x="895350" y="139699"/>
                  </a:moveTo>
                  <a:lnTo>
                    <a:pt x="895350" y="279399"/>
                  </a:lnTo>
                  <a:lnTo>
                    <a:pt x="908050" y="279399"/>
                  </a:lnTo>
                  <a:lnTo>
                    <a:pt x="908050" y="146049"/>
                  </a:lnTo>
                  <a:lnTo>
                    <a:pt x="901700" y="146049"/>
                  </a:lnTo>
                  <a:lnTo>
                    <a:pt x="895350" y="139699"/>
                  </a:lnTo>
                  <a:close/>
                </a:path>
                <a:path w="908050" h="279400">
                  <a:moveTo>
                    <a:pt x="44450" y="63499"/>
                  </a:moveTo>
                  <a:lnTo>
                    <a:pt x="31750" y="63499"/>
                  </a:lnTo>
                  <a:lnTo>
                    <a:pt x="31750" y="146049"/>
                  </a:lnTo>
                  <a:lnTo>
                    <a:pt x="895350" y="146049"/>
                  </a:lnTo>
                  <a:lnTo>
                    <a:pt x="895350" y="139699"/>
                  </a:lnTo>
                  <a:lnTo>
                    <a:pt x="44450" y="139699"/>
                  </a:lnTo>
                  <a:lnTo>
                    <a:pt x="38100" y="133349"/>
                  </a:lnTo>
                  <a:lnTo>
                    <a:pt x="44450" y="133349"/>
                  </a:lnTo>
                  <a:lnTo>
                    <a:pt x="44450" y="63499"/>
                  </a:lnTo>
                  <a:close/>
                </a:path>
                <a:path w="908050" h="279400">
                  <a:moveTo>
                    <a:pt x="908050" y="133349"/>
                  </a:moveTo>
                  <a:lnTo>
                    <a:pt x="44450" y="133349"/>
                  </a:lnTo>
                  <a:lnTo>
                    <a:pt x="44450" y="139699"/>
                  </a:lnTo>
                  <a:lnTo>
                    <a:pt x="895350" y="139699"/>
                  </a:lnTo>
                  <a:lnTo>
                    <a:pt x="901700" y="146049"/>
                  </a:lnTo>
                  <a:lnTo>
                    <a:pt x="908050" y="146049"/>
                  </a:lnTo>
                  <a:lnTo>
                    <a:pt x="908050" y="133349"/>
                  </a:lnTo>
                  <a:close/>
                </a:path>
                <a:path w="908050" h="279400">
                  <a:moveTo>
                    <a:pt x="44450" y="133349"/>
                  </a:moveTo>
                  <a:lnTo>
                    <a:pt x="38100" y="133349"/>
                  </a:lnTo>
                  <a:lnTo>
                    <a:pt x="44450" y="139699"/>
                  </a:lnTo>
                  <a:lnTo>
                    <a:pt x="44450" y="133349"/>
                  </a:lnTo>
                  <a:close/>
                </a:path>
                <a:path w="908050" h="279400">
                  <a:moveTo>
                    <a:pt x="38100" y="0"/>
                  </a:moveTo>
                  <a:lnTo>
                    <a:pt x="0" y="76199"/>
                  </a:lnTo>
                  <a:lnTo>
                    <a:pt x="31750" y="76199"/>
                  </a:lnTo>
                  <a:lnTo>
                    <a:pt x="31750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908050" h="279400">
                  <a:moveTo>
                    <a:pt x="69850" y="63499"/>
                  </a:moveTo>
                  <a:lnTo>
                    <a:pt x="44450" y="63499"/>
                  </a:lnTo>
                  <a:lnTo>
                    <a:pt x="44450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92550" y="4649215"/>
              <a:ext cx="863600" cy="288925"/>
            </a:xfrm>
            <a:custGeom>
              <a:avLst/>
              <a:gdLst/>
              <a:ahLst/>
              <a:cxnLst/>
              <a:rect l="l" t="t" r="r" b="b"/>
              <a:pathLst>
                <a:path w="863600" h="288925">
                  <a:moveTo>
                    <a:pt x="819150" y="138175"/>
                  </a:moveTo>
                  <a:lnTo>
                    <a:pt x="0" y="138175"/>
                  </a:lnTo>
                  <a:lnTo>
                    <a:pt x="0" y="288924"/>
                  </a:lnTo>
                  <a:lnTo>
                    <a:pt x="12700" y="288924"/>
                  </a:lnTo>
                  <a:lnTo>
                    <a:pt x="12700" y="150875"/>
                  </a:lnTo>
                  <a:lnTo>
                    <a:pt x="6350" y="150875"/>
                  </a:lnTo>
                  <a:lnTo>
                    <a:pt x="12700" y="144525"/>
                  </a:lnTo>
                  <a:lnTo>
                    <a:pt x="819150" y="144525"/>
                  </a:lnTo>
                  <a:lnTo>
                    <a:pt x="819150" y="138175"/>
                  </a:lnTo>
                  <a:close/>
                </a:path>
                <a:path w="863600" h="288925">
                  <a:moveTo>
                    <a:pt x="12700" y="144525"/>
                  </a:moveTo>
                  <a:lnTo>
                    <a:pt x="6350" y="150875"/>
                  </a:lnTo>
                  <a:lnTo>
                    <a:pt x="12700" y="150875"/>
                  </a:lnTo>
                  <a:lnTo>
                    <a:pt x="12700" y="144525"/>
                  </a:lnTo>
                  <a:close/>
                </a:path>
                <a:path w="863600" h="288925">
                  <a:moveTo>
                    <a:pt x="831850" y="138175"/>
                  </a:moveTo>
                  <a:lnTo>
                    <a:pt x="825500" y="138175"/>
                  </a:lnTo>
                  <a:lnTo>
                    <a:pt x="819150" y="144525"/>
                  </a:lnTo>
                  <a:lnTo>
                    <a:pt x="12700" y="144525"/>
                  </a:lnTo>
                  <a:lnTo>
                    <a:pt x="12700" y="150875"/>
                  </a:lnTo>
                  <a:lnTo>
                    <a:pt x="831850" y="150875"/>
                  </a:lnTo>
                  <a:lnTo>
                    <a:pt x="831850" y="138175"/>
                  </a:lnTo>
                  <a:close/>
                </a:path>
                <a:path w="863600" h="288925">
                  <a:moveTo>
                    <a:pt x="831850" y="63499"/>
                  </a:moveTo>
                  <a:lnTo>
                    <a:pt x="819150" y="63499"/>
                  </a:lnTo>
                  <a:lnTo>
                    <a:pt x="819150" y="144525"/>
                  </a:lnTo>
                  <a:lnTo>
                    <a:pt x="825500" y="138175"/>
                  </a:lnTo>
                  <a:lnTo>
                    <a:pt x="831850" y="138175"/>
                  </a:lnTo>
                  <a:lnTo>
                    <a:pt x="831850" y="63499"/>
                  </a:lnTo>
                  <a:close/>
                </a:path>
                <a:path w="863600" h="288925">
                  <a:moveTo>
                    <a:pt x="825500" y="0"/>
                  </a:moveTo>
                  <a:lnTo>
                    <a:pt x="787400" y="76199"/>
                  </a:lnTo>
                  <a:lnTo>
                    <a:pt x="819150" y="76199"/>
                  </a:lnTo>
                  <a:lnTo>
                    <a:pt x="819150" y="63499"/>
                  </a:lnTo>
                  <a:lnTo>
                    <a:pt x="857250" y="63499"/>
                  </a:lnTo>
                  <a:lnTo>
                    <a:pt x="825500" y="0"/>
                  </a:lnTo>
                  <a:close/>
                </a:path>
                <a:path w="863600" h="288925">
                  <a:moveTo>
                    <a:pt x="857250" y="63499"/>
                  </a:moveTo>
                  <a:lnTo>
                    <a:pt x="831850" y="63499"/>
                  </a:lnTo>
                  <a:lnTo>
                    <a:pt x="831850" y="76199"/>
                  </a:lnTo>
                  <a:lnTo>
                    <a:pt x="863600" y="76199"/>
                  </a:lnTo>
                  <a:lnTo>
                    <a:pt x="8572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9475" y="3668140"/>
              <a:ext cx="76200" cy="431800"/>
            </a:xfrm>
            <a:custGeom>
              <a:avLst/>
              <a:gdLst/>
              <a:ahLst/>
              <a:cxnLst/>
              <a:rect l="l" t="t" r="r" b="b"/>
              <a:pathLst>
                <a:path w="76200" h="431800">
                  <a:moveTo>
                    <a:pt x="31750" y="209549"/>
                  </a:moveTo>
                  <a:lnTo>
                    <a:pt x="22225" y="209549"/>
                  </a:lnTo>
                  <a:lnTo>
                    <a:pt x="22225" y="431799"/>
                  </a:lnTo>
                  <a:lnTo>
                    <a:pt x="34925" y="431799"/>
                  </a:lnTo>
                  <a:lnTo>
                    <a:pt x="34925" y="222249"/>
                  </a:lnTo>
                  <a:lnTo>
                    <a:pt x="28575" y="222249"/>
                  </a:lnTo>
                  <a:lnTo>
                    <a:pt x="34925" y="215899"/>
                  </a:lnTo>
                  <a:lnTo>
                    <a:pt x="31750" y="215899"/>
                  </a:lnTo>
                  <a:lnTo>
                    <a:pt x="31750" y="209549"/>
                  </a:lnTo>
                  <a:close/>
                </a:path>
                <a:path w="76200" h="431800">
                  <a:moveTo>
                    <a:pt x="34925" y="215899"/>
                  </a:moveTo>
                  <a:lnTo>
                    <a:pt x="28575" y="222249"/>
                  </a:lnTo>
                  <a:lnTo>
                    <a:pt x="34925" y="222249"/>
                  </a:lnTo>
                  <a:lnTo>
                    <a:pt x="34925" y="215899"/>
                  </a:lnTo>
                  <a:close/>
                </a:path>
                <a:path w="76200" h="431800">
                  <a:moveTo>
                    <a:pt x="44450" y="209549"/>
                  </a:moveTo>
                  <a:lnTo>
                    <a:pt x="38100" y="209549"/>
                  </a:lnTo>
                  <a:lnTo>
                    <a:pt x="31750" y="215899"/>
                  </a:lnTo>
                  <a:lnTo>
                    <a:pt x="34925" y="215899"/>
                  </a:lnTo>
                  <a:lnTo>
                    <a:pt x="34925" y="222249"/>
                  </a:lnTo>
                  <a:lnTo>
                    <a:pt x="44450" y="222249"/>
                  </a:lnTo>
                  <a:lnTo>
                    <a:pt x="44450" y="209549"/>
                  </a:lnTo>
                  <a:close/>
                </a:path>
                <a:path w="76200" h="431800">
                  <a:moveTo>
                    <a:pt x="44450" y="63499"/>
                  </a:moveTo>
                  <a:lnTo>
                    <a:pt x="31750" y="63499"/>
                  </a:lnTo>
                  <a:lnTo>
                    <a:pt x="31750" y="215899"/>
                  </a:lnTo>
                  <a:lnTo>
                    <a:pt x="38100" y="209549"/>
                  </a:lnTo>
                  <a:lnTo>
                    <a:pt x="44450" y="209549"/>
                  </a:lnTo>
                  <a:lnTo>
                    <a:pt x="44450" y="63499"/>
                  </a:lnTo>
                  <a:close/>
                </a:path>
                <a:path w="76200" h="431800">
                  <a:moveTo>
                    <a:pt x="38100" y="0"/>
                  </a:moveTo>
                  <a:lnTo>
                    <a:pt x="0" y="76199"/>
                  </a:lnTo>
                  <a:lnTo>
                    <a:pt x="31750" y="76199"/>
                  </a:lnTo>
                  <a:lnTo>
                    <a:pt x="31750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431800">
                  <a:moveTo>
                    <a:pt x="69850" y="63499"/>
                  </a:moveTo>
                  <a:lnTo>
                    <a:pt x="44450" y="63499"/>
                  </a:lnTo>
                  <a:lnTo>
                    <a:pt x="44450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85849" y="3668140"/>
              <a:ext cx="3180080" cy="427355"/>
            </a:xfrm>
            <a:custGeom>
              <a:avLst/>
              <a:gdLst/>
              <a:ahLst/>
              <a:cxnLst/>
              <a:rect l="l" t="t" r="r" b="b"/>
              <a:pathLst>
                <a:path w="3180079" h="427354">
                  <a:moveTo>
                    <a:pt x="3135376" y="208025"/>
                  </a:moveTo>
                  <a:lnTo>
                    <a:pt x="0" y="208025"/>
                  </a:lnTo>
                  <a:lnTo>
                    <a:pt x="0" y="427100"/>
                  </a:lnTo>
                  <a:lnTo>
                    <a:pt x="12700" y="427100"/>
                  </a:lnTo>
                  <a:lnTo>
                    <a:pt x="12700" y="220725"/>
                  </a:lnTo>
                  <a:lnTo>
                    <a:pt x="6350" y="220725"/>
                  </a:lnTo>
                  <a:lnTo>
                    <a:pt x="12700" y="214375"/>
                  </a:lnTo>
                  <a:lnTo>
                    <a:pt x="3135376" y="214375"/>
                  </a:lnTo>
                  <a:lnTo>
                    <a:pt x="3135376" y="208025"/>
                  </a:lnTo>
                  <a:close/>
                </a:path>
                <a:path w="3180079" h="427354">
                  <a:moveTo>
                    <a:pt x="12700" y="214375"/>
                  </a:moveTo>
                  <a:lnTo>
                    <a:pt x="6350" y="220725"/>
                  </a:lnTo>
                  <a:lnTo>
                    <a:pt x="12700" y="220725"/>
                  </a:lnTo>
                  <a:lnTo>
                    <a:pt x="12700" y="214375"/>
                  </a:lnTo>
                  <a:close/>
                </a:path>
                <a:path w="3180079" h="427354">
                  <a:moveTo>
                    <a:pt x="3148076" y="208025"/>
                  </a:moveTo>
                  <a:lnTo>
                    <a:pt x="3141726" y="208025"/>
                  </a:lnTo>
                  <a:lnTo>
                    <a:pt x="3135376" y="214375"/>
                  </a:lnTo>
                  <a:lnTo>
                    <a:pt x="12700" y="214375"/>
                  </a:lnTo>
                  <a:lnTo>
                    <a:pt x="12700" y="220725"/>
                  </a:lnTo>
                  <a:lnTo>
                    <a:pt x="3148076" y="220725"/>
                  </a:lnTo>
                  <a:lnTo>
                    <a:pt x="3148076" y="208025"/>
                  </a:lnTo>
                  <a:close/>
                </a:path>
                <a:path w="3180079" h="427354">
                  <a:moveTo>
                    <a:pt x="3148076" y="63499"/>
                  </a:moveTo>
                  <a:lnTo>
                    <a:pt x="3135376" y="63499"/>
                  </a:lnTo>
                  <a:lnTo>
                    <a:pt x="3135376" y="214375"/>
                  </a:lnTo>
                  <a:lnTo>
                    <a:pt x="3141726" y="208025"/>
                  </a:lnTo>
                  <a:lnTo>
                    <a:pt x="3148076" y="208025"/>
                  </a:lnTo>
                  <a:lnTo>
                    <a:pt x="3148076" y="63499"/>
                  </a:lnTo>
                  <a:close/>
                </a:path>
                <a:path w="3180079" h="427354">
                  <a:moveTo>
                    <a:pt x="3141726" y="0"/>
                  </a:moveTo>
                  <a:lnTo>
                    <a:pt x="3103626" y="76199"/>
                  </a:lnTo>
                  <a:lnTo>
                    <a:pt x="3135376" y="76199"/>
                  </a:lnTo>
                  <a:lnTo>
                    <a:pt x="3135376" y="63499"/>
                  </a:lnTo>
                  <a:lnTo>
                    <a:pt x="3173476" y="63499"/>
                  </a:lnTo>
                  <a:lnTo>
                    <a:pt x="3141726" y="0"/>
                  </a:lnTo>
                  <a:close/>
                </a:path>
                <a:path w="3180079" h="427354">
                  <a:moveTo>
                    <a:pt x="3173476" y="63499"/>
                  </a:moveTo>
                  <a:lnTo>
                    <a:pt x="3148076" y="63499"/>
                  </a:lnTo>
                  <a:lnTo>
                    <a:pt x="3148076" y="76199"/>
                  </a:lnTo>
                  <a:lnTo>
                    <a:pt x="3179826" y="76199"/>
                  </a:lnTo>
                  <a:lnTo>
                    <a:pt x="3173476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03398" y="2680716"/>
              <a:ext cx="2430780" cy="428625"/>
            </a:xfrm>
            <a:custGeom>
              <a:avLst/>
              <a:gdLst/>
              <a:ahLst/>
              <a:cxnLst/>
              <a:rect l="l" t="t" r="r" b="b"/>
              <a:pathLst>
                <a:path w="2430779" h="428625">
                  <a:moveTo>
                    <a:pt x="2417826" y="214375"/>
                  </a:moveTo>
                  <a:lnTo>
                    <a:pt x="2417826" y="428625"/>
                  </a:lnTo>
                  <a:lnTo>
                    <a:pt x="2430526" y="428625"/>
                  </a:lnTo>
                  <a:lnTo>
                    <a:pt x="2430526" y="220725"/>
                  </a:lnTo>
                  <a:lnTo>
                    <a:pt x="2424176" y="220725"/>
                  </a:lnTo>
                  <a:lnTo>
                    <a:pt x="2417826" y="214375"/>
                  </a:lnTo>
                  <a:close/>
                </a:path>
                <a:path w="2430779" h="4286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0725"/>
                  </a:lnTo>
                  <a:lnTo>
                    <a:pt x="2417826" y="220725"/>
                  </a:lnTo>
                  <a:lnTo>
                    <a:pt x="2417826" y="214375"/>
                  </a:lnTo>
                  <a:lnTo>
                    <a:pt x="44450" y="214375"/>
                  </a:lnTo>
                  <a:lnTo>
                    <a:pt x="38100" y="208025"/>
                  </a:lnTo>
                  <a:lnTo>
                    <a:pt x="44450" y="208025"/>
                  </a:lnTo>
                  <a:lnTo>
                    <a:pt x="44450" y="63500"/>
                  </a:lnTo>
                  <a:close/>
                </a:path>
                <a:path w="2430779" h="428625">
                  <a:moveTo>
                    <a:pt x="2430526" y="208025"/>
                  </a:moveTo>
                  <a:lnTo>
                    <a:pt x="44450" y="208025"/>
                  </a:lnTo>
                  <a:lnTo>
                    <a:pt x="44450" y="214375"/>
                  </a:lnTo>
                  <a:lnTo>
                    <a:pt x="2417826" y="214375"/>
                  </a:lnTo>
                  <a:lnTo>
                    <a:pt x="2424176" y="220725"/>
                  </a:lnTo>
                  <a:lnTo>
                    <a:pt x="2430526" y="220725"/>
                  </a:lnTo>
                  <a:lnTo>
                    <a:pt x="2430526" y="208025"/>
                  </a:lnTo>
                  <a:close/>
                </a:path>
                <a:path w="2430779" h="428625">
                  <a:moveTo>
                    <a:pt x="44450" y="208025"/>
                  </a:moveTo>
                  <a:lnTo>
                    <a:pt x="38100" y="208025"/>
                  </a:lnTo>
                  <a:lnTo>
                    <a:pt x="44450" y="214375"/>
                  </a:lnTo>
                  <a:lnTo>
                    <a:pt x="44450" y="208025"/>
                  </a:lnTo>
                  <a:close/>
                </a:path>
                <a:path w="2430779" h="4286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30779" h="4286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06873" y="2696591"/>
              <a:ext cx="76200" cy="412750"/>
            </a:xfrm>
            <a:custGeom>
              <a:avLst/>
              <a:gdLst/>
              <a:ahLst/>
              <a:cxnLst/>
              <a:rect l="l" t="t" r="r" b="b"/>
              <a:pathLst>
                <a:path w="76200" h="412750">
                  <a:moveTo>
                    <a:pt x="31750" y="200025"/>
                  </a:moveTo>
                  <a:lnTo>
                    <a:pt x="14350" y="200025"/>
                  </a:lnTo>
                  <a:lnTo>
                    <a:pt x="14350" y="412750"/>
                  </a:lnTo>
                  <a:lnTo>
                    <a:pt x="27050" y="412750"/>
                  </a:lnTo>
                  <a:lnTo>
                    <a:pt x="27050" y="212725"/>
                  </a:lnTo>
                  <a:lnTo>
                    <a:pt x="20700" y="212725"/>
                  </a:lnTo>
                  <a:lnTo>
                    <a:pt x="27050" y="206375"/>
                  </a:lnTo>
                  <a:lnTo>
                    <a:pt x="31750" y="206375"/>
                  </a:lnTo>
                  <a:lnTo>
                    <a:pt x="31750" y="200025"/>
                  </a:lnTo>
                  <a:close/>
                </a:path>
                <a:path w="76200" h="412750">
                  <a:moveTo>
                    <a:pt x="27050" y="206375"/>
                  </a:moveTo>
                  <a:lnTo>
                    <a:pt x="20700" y="212725"/>
                  </a:lnTo>
                  <a:lnTo>
                    <a:pt x="27050" y="212725"/>
                  </a:lnTo>
                  <a:lnTo>
                    <a:pt x="27050" y="206375"/>
                  </a:lnTo>
                  <a:close/>
                </a:path>
                <a:path w="76200" h="412750">
                  <a:moveTo>
                    <a:pt x="44450" y="200025"/>
                  </a:moveTo>
                  <a:lnTo>
                    <a:pt x="38100" y="200025"/>
                  </a:lnTo>
                  <a:lnTo>
                    <a:pt x="31750" y="206375"/>
                  </a:lnTo>
                  <a:lnTo>
                    <a:pt x="27050" y="206375"/>
                  </a:lnTo>
                  <a:lnTo>
                    <a:pt x="27050" y="212725"/>
                  </a:lnTo>
                  <a:lnTo>
                    <a:pt x="44450" y="212725"/>
                  </a:lnTo>
                  <a:lnTo>
                    <a:pt x="44450" y="200025"/>
                  </a:lnTo>
                  <a:close/>
                </a:path>
                <a:path w="76200" h="4127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06375"/>
                  </a:lnTo>
                  <a:lnTo>
                    <a:pt x="38100" y="200025"/>
                  </a:lnTo>
                  <a:lnTo>
                    <a:pt x="44450" y="200025"/>
                  </a:lnTo>
                  <a:lnTo>
                    <a:pt x="44450" y="63500"/>
                  </a:lnTo>
                  <a:close/>
                </a:path>
                <a:path w="76200" h="4127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27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05430" y="1921891"/>
              <a:ext cx="72262" cy="12115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4173" y="1464691"/>
              <a:ext cx="76200" cy="730250"/>
            </a:xfrm>
            <a:custGeom>
              <a:avLst/>
              <a:gdLst/>
              <a:ahLst/>
              <a:cxnLst/>
              <a:rect l="l" t="t" r="r" b="b"/>
              <a:pathLst>
                <a:path w="76200" h="730250">
                  <a:moveTo>
                    <a:pt x="44450" y="365125"/>
                  </a:moveTo>
                  <a:lnTo>
                    <a:pt x="44450" y="730250"/>
                  </a:lnTo>
                  <a:lnTo>
                    <a:pt x="57150" y="730250"/>
                  </a:lnTo>
                  <a:lnTo>
                    <a:pt x="57150" y="371475"/>
                  </a:lnTo>
                  <a:lnTo>
                    <a:pt x="50800" y="371475"/>
                  </a:lnTo>
                  <a:lnTo>
                    <a:pt x="44450" y="365125"/>
                  </a:lnTo>
                  <a:close/>
                </a:path>
                <a:path w="76200" h="7302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71475"/>
                  </a:lnTo>
                  <a:lnTo>
                    <a:pt x="44450" y="371475"/>
                  </a:lnTo>
                  <a:lnTo>
                    <a:pt x="44450" y="365125"/>
                  </a:lnTo>
                  <a:lnTo>
                    <a:pt x="38100" y="358775"/>
                  </a:lnTo>
                  <a:lnTo>
                    <a:pt x="44450" y="358775"/>
                  </a:lnTo>
                  <a:lnTo>
                    <a:pt x="44450" y="63500"/>
                  </a:lnTo>
                  <a:close/>
                </a:path>
                <a:path w="76200" h="730250">
                  <a:moveTo>
                    <a:pt x="57150" y="358775"/>
                  </a:moveTo>
                  <a:lnTo>
                    <a:pt x="44450" y="358775"/>
                  </a:lnTo>
                  <a:lnTo>
                    <a:pt x="44450" y="365125"/>
                  </a:lnTo>
                  <a:lnTo>
                    <a:pt x="50800" y="371475"/>
                  </a:lnTo>
                  <a:lnTo>
                    <a:pt x="57150" y="371475"/>
                  </a:lnTo>
                  <a:lnTo>
                    <a:pt x="57150" y="358775"/>
                  </a:lnTo>
                  <a:close/>
                </a:path>
                <a:path w="76200" h="730250">
                  <a:moveTo>
                    <a:pt x="44450" y="358775"/>
                  </a:moveTo>
                  <a:lnTo>
                    <a:pt x="38100" y="358775"/>
                  </a:lnTo>
                  <a:lnTo>
                    <a:pt x="44450" y="365125"/>
                  </a:lnTo>
                  <a:lnTo>
                    <a:pt x="44450" y="358775"/>
                  </a:lnTo>
                  <a:close/>
                </a:path>
                <a:path w="76200" h="7302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7302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6170676" y="2029841"/>
              <a:ext cx="1446530" cy="638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16</a:t>
              </a:r>
              <a:endParaRPr sz="900">
                <a:latin typeface="Tahoma"/>
                <a:cs typeface="Tahoma"/>
              </a:endParaRPr>
            </a:p>
            <a:p>
              <a:pPr marL="92710" marR="8509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MENOR COSTO POR  MANIPULACIÓN DE  FRUTA</a:t>
              </a:r>
              <a:r>
                <a:rPr sz="900" b="1" spc="-6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DETERIORADA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4721225" y="2668016"/>
              <a:ext cx="2211705" cy="441325"/>
            </a:xfrm>
            <a:custGeom>
              <a:avLst/>
              <a:gdLst/>
              <a:ahLst/>
              <a:cxnLst/>
              <a:rect l="l" t="t" r="r" b="b"/>
              <a:pathLst>
                <a:path w="2211704" h="441325">
                  <a:moveTo>
                    <a:pt x="2166874" y="214375"/>
                  </a:moveTo>
                  <a:lnTo>
                    <a:pt x="0" y="214375"/>
                  </a:lnTo>
                  <a:lnTo>
                    <a:pt x="0" y="441325"/>
                  </a:lnTo>
                  <a:lnTo>
                    <a:pt x="12700" y="441325"/>
                  </a:lnTo>
                  <a:lnTo>
                    <a:pt x="12700" y="227075"/>
                  </a:lnTo>
                  <a:lnTo>
                    <a:pt x="6350" y="227075"/>
                  </a:lnTo>
                  <a:lnTo>
                    <a:pt x="12700" y="220725"/>
                  </a:lnTo>
                  <a:lnTo>
                    <a:pt x="2166874" y="220725"/>
                  </a:lnTo>
                  <a:lnTo>
                    <a:pt x="2166874" y="214375"/>
                  </a:lnTo>
                  <a:close/>
                </a:path>
                <a:path w="2211704" h="441325">
                  <a:moveTo>
                    <a:pt x="12700" y="220725"/>
                  </a:moveTo>
                  <a:lnTo>
                    <a:pt x="6350" y="227075"/>
                  </a:lnTo>
                  <a:lnTo>
                    <a:pt x="12700" y="227075"/>
                  </a:lnTo>
                  <a:lnTo>
                    <a:pt x="12700" y="220725"/>
                  </a:lnTo>
                  <a:close/>
                </a:path>
                <a:path w="2211704" h="441325">
                  <a:moveTo>
                    <a:pt x="2179574" y="214375"/>
                  </a:moveTo>
                  <a:lnTo>
                    <a:pt x="2173224" y="214375"/>
                  </a:lnTo>
                  <a:lnTo>
                    <a:pt x="2166874" y="220725"/>
                  </a:lnTo>
                  <a:lnTo>
                    <a:pt x="12700" y="220725"/>
                  </a:lnTo>
                  <a:lnTo>
                    <a:pt x="12700" y="227075"/>
                  </a:lnTo>
                  <a:lnTo>
                    <a:pt x="2179574" y="227075"/>
                  </a:lnTo>
                  <a:lnTo>
                    <a:pt x="2179574" y="214375"/>
                  </a:lnTo>
                  <a:close/>
                </a:path>
                <a:path w="2211704" h="441325">
                  <a:moveTo>
                    <a:pt x="2179574" y="63500"/>
                  </a:moveTo>
                  <a:lnTo>
                    <a:pt x="2166874" y="63500"/>
                  </a:lnTo>
                  <a:lnTo>
                    <a:pt x="2166874" y="220725"/>
                  </a:lnTo>
                  <a:lnTo>
                    <a:pt x="2173224" y="214375"/>
                  </a:lnTo>
                  <a:lnTo>
                    <a:pt x="2179574" y="214375"/>
                  </a:lnTo>
                  <a:lnTo>
                    <a:pt x="2179574" y="63500"/>
                  </a:lnTo>
                  <a:close/>
                </a:path>
                <a:path w="2211704" h="441325">
                  <a:moveTo>
                    <a:pt x="2173224" y="0"/>
                  </a:moveTo>
                  <a:lnTo>
                    <a:pt x="2135124" y="76200"/>
                  </a:lnTo>
                  <a:lnTo>
                    <a:pt x="2166874" y="76200"/>
                  </a:lnTo>
                  <a:lnTo>
                    <a:pt x="2166874" y="63500"/>
                  </a:lnTo>
                  <a:lnTo>
                    <a:pt x="2204974" y="63500"/>
                  </a:lnTo>
                  <a:lnTo>
                    <a:pt x="2173224" y="0"/>
                  </a:lnTo>
                  <a:close/>
                </a:path>
                <a:path w="2211704" h="441325">
                  <a:moveTo>
                    <a:pt x="2204974" y="63500"/>
                  </a:moveTo>
                  <a:lnTo>
                    <a:pt x="2179574" y="63500"/>
                  </a:lnTo>
                  <a:lnTo>
                    <a:pt x="2179574" y="76200"/>
                  </a:lnTo>
                  <a:lnTo>
                    <a:pt x="2211324" y="76200"/>
                  </a:lnTo>
                  <a:lnTo>
                    <a:pt x="2204974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94173" y="1464691"/>
              <a:ext cx="2206625" cy="565150"/>
            </a:xfrm>
            <a:custGeom>
              <a:avLst/>
              <a:gdLst/>
              <a:ahLst/>
              <a:cxnLst/>
              <a:rect l="l" t="t" r="r" b="b"/>
              <a:pathLst>
                <a:path w="2206625" h="565150">
                  <a:moveTo>
                    <a:pt x="2193925" y="282575"/>
                  </a:moveTo>
                  <a:lnTo>
                    <a:pt x="2193925" y="565150"/>
                  </a:lnTo>
                  <a:lnTo>
                    <a:pt x="2206625" y="565150"/>
                  </a:lnTo>
                  <a:lnTo>
                    <a:pt x="2206625" y="288925"/>
                  </a:lnTo>
                  <a:lnTo>
                    <a:pt x="2200275" y="288925"/>
                  </a:lnTo>
                  <a:lnTo>
                    <a:pt x="2193925" y="282575"/>
                  </a:lnTo>
                  <a:close/>
                </a:path>
                <a:path w="2206625" h="5651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88925"/>
                  </a:lnTo>
                  <a:lnTo>
                    <a:pt x="2193925" y="288925"/>
                  </a:lnTo>
                  <a:lnTo>
                    <a:pt x="2193925" y="282575"/>
                  </a:lnTo>
                  <a:lnTo>
                    <a:pt x="44450" y="282575"/>
                  </a:lnTo>
                  <a:lnTo>
                    <a:pt x="38100" y="276225"/>
                  </a:lnTo>
                  <a:lnTo>
                    <a:pt x="44450" y="276225"/>
                  </a:lnTo>
                  <a:lnTo>
                    <a:pt x="44450" y="63500"/>
                  </a:lnTo>
                  <a:close/>
                </a:path>
                <a:path w="2206625" h="565150">
                  <a:moveTo>
                    <a:pt x="2206625" y="276225"/>
                  </a:moveTo>
                  <a:lnTo>
                    <a:pt x="44450" y="276225"/>
                  </a:lnTo>
                  <a:lnTo>
                    <a:pt x="44450" y="282575"/>
                  </a:lnTo>
                  <a:lnTo>
                    <a:pt x="2193925" y="282575"/>
                  </a:lnTo>
                  <a:lnTo>
                    <a:pt x="2200275" y="288925"/>
                  </a:lnTo>
                  <a:lnTo>
                    <a:pt x="2206625" y="288925"/>
                  </a:lnTo>
                  <a:lnTo>
                    <a:pt x="2206625" y="276225"/>
                  </a:lnTo>
                  <a:close/>
                </a:path>
                <a:path w="2206625" h="565150">
                  <a:moveTo>
                    <a:pt x="44450" y="276225"/>
                  </a:moveTo>
                  <a:lnTo>
                    <a:pt x="38100" y="276225"/>
                  </a:lnTo>
                  <a:lnTo>
                    <a:pt x="44450" y="282575"/>
                  </a:lnTo>
                  <a:lnTo>
                    <a:pt x="44450" y="276225"/>
                  </a:lnTo>
                  <a:close/>
                </a:path>
                <a:path w="2206625" h="5651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206625" h="5651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5105400" y="4938140"/>
              <a:ext cx="1208405" cy="638175"/>
            </a:xfrm>
            <a:prstGeom prst="rect">
              <a:avLst/>
            </a:prstGeom>
            <a:solidFill>
              <a:srgbClr val="CCCC00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17</a:t>
              </a:r>
              <a:endParaRPr sz="900">
                <a:latin typeface="Tahoma"/>
                <a:cs typeface="Tahoma"/>
              </a:endParaRPr>
            </a:p>
            <a:p>
              <a:pPr marL="92710" marR="82550" indent="-254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MEJORADAS  TECNOLOGÍAS  DE</a:t>
              </a:r>
              <a:r>
                <a:rPr sz="900" b="1" spc="-5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679950" y="4649215"/>
              <a:ext cx="1036955" cy="288925"/>
            </a:xfrm>
            <a:custGeom>
              <a:avLst/>
              <a:gdLst/>
              <a:ahLst/>
              <a:cxnLst/>
              <a:rect l="l" t="t" r="r" b="b"/>
              <a:pathLst>
                <a:path w="1036954" h="288925">
                  <a:moveTo>
                    <a:pt x="1023874" y="144525"/>
                  </a:moveTo>
                  <a:lnTo>
                    <a:pt x="1023874" y="288924"/>
                  </a:lnTo>
                  <a:lnTo>
                    <a:pt x="1036574" y="288924"/>
                  </a:lnTo>
                  <a:lnTo>
                    <a:pt x="1036574" y="150875"/>
                  </a:lnTo>
                  <a:lnTo>
                    <a:pt x="1030224" y="150875"/>
                  </a:lnTo>
                  <a:lnTo>
                    <a:pt x="1023874" y="144525"/>
                  </a:lnTo>
                  <a:close/>
                </a:path>
                <a:path w="1036954" h="288925">
                  <a:moveTo>
                    <a:pt x="44450" y="63499"/>
                  </a:moveTo>
                  <a:lnTo>
                    <a:pt x="31750" y="63499"/>
                  </a:lnTo>
                  <a:lnTo>
                    <a:pt x="31750" y="150875"/>
                  </a:lnTo>
                  <a:lnTo>
                    <a:pt x="1023874" y="150875"/>
                  </a:lnTo>
                  <a:lnTo>
                    <a:pt x="1023874" y="144525"/>
                  </a:lnTo>
                  <a:lnTo>
                    <a:pt x="44450" y="144525"/>
                  </a:lnTo>
                  <a:lnTo>
                    <a:pt x="38100" y="138175"/>
                  </a:lnTo>
                  <a:lnTo>
                    <a:pt x="44450" y="138175"/>
                  </a:lnTo>
                  <a:lnTo>
                    <a:pt x="44450" y="63499"/>
                  </a:lnTo>
                  <a:close/>
                </a:path>
                <a:path w="1036954" h="288925">
                  <a:moveTo>
                    <a:pt x="1036574" y="138175"/>
                  </a:moveTo>
                  <a:lnTo>
                    <a:pt x="44450" y="138175"/>
                  </a:lnTo>
                  <a:lnTo>
                    <a:pt x="44450" y="144525"/>
                  </a:lnTo>
                  <a:lnTo>
                    <a:pt x="1023874" y="144525"/>
                  </a:lnTo>
                  <a:lnTo>
                    <a:pt x="1030224" y="150875"/>
                  </a:lnTo>
                  <a:lnTo>
                    <a:pt x="1036574" y="150875"/>
                  </a:lnTo>
                  <a:lnTo>
                    <a:pt x="1036574" y="138175"/>
                  </a:lnTo>
                  <a:close/>
                </a:path>
                <a:path w="1036954" h="288925">
                  <a:moveTo>
                    <a:pt x="44450" y="138175"/>
                  </a:moveTo>
                  <a:lnTo>
                    <a:pt x="38100" y="138175"/>
                  </a:lnTo>
                  <a:lnTo>
                    <a:pt x="44450" y="144525"/>
                  </a:lnTo>
                  <a:lnTo>
                    <a:pt x="44450" y="138175"/>
                  </a:lnTo>
                  <a:close/>
                </a:path>
                <a:path w="1036954" h="288925">
                  <a:moveTo>
                    <a:pt x="38100" y="0"/>
                  </a:moveTo>
                  <a:lnTo>
                    <a:pt x="0" y="76199"/>
                  </a:lnTo>
                  <a:lnTo>
                    <a:pt x="31750" y="76199"/>
                  </a:lnTo>
                  <a:lnTo>
                    <a:pt x="31750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1036954" h="288925">
                  <a:moveTo>
                    <a:pt x="69850" y="63499"/>
                  </a:moveTo>
                  <a:lnTo>
                    <a:pt x="44450" y="63499"/>
                  </a:lnTo>
                  <a:lnTo>
                    <a:pt x="44450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4267200" y="5700191"/>
              <a:ext cx="1250950" cy="638175"/>
            </a:xfrm>
            <a:prstGeom prst="rect">
              <a:avLst/>
            </a:prstGeom>
            <a:solidFill>
              <a:srgbClr val="CCCC00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18</a:t>
              </a:r>
              <a:endParaRPr sz="900">
                <a:latin typeface="Tahoma"/>
                <a:cs typeface="Tahoma"/>
              </a:endParaRPr>
            </a:p>
            <a:p>
              <a:pPr marL="92075" marR="85090" indent="-29209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INCENTIVOS  ADECUADOS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679950" y="4649215"/>
              <a:ext cx="219075" cy="1051560"/>
            </a:xfrm>
            <a:custGeom>
              <a:avLst/>
              <a:gdLst/>
              <a:ahLst/>
              <a:cxnLst/>
              <a:rect l="l" t="t" r="r" b="b"/>
              <a:pathLst>
                <a:path w="219075" h="1051560">
                  <a:moveTo>
                    <a:pt x="206375" y="525525"/>
                  </a:moveTo>
                  <a:lnTo>
                    <a:pt x="206375" y="1050975"/>
                  </a:lnTo>
                  <a:lnTo>
                    <a:pt x="219075" y="1050975"/>
                  </a:lnTo>
                  <a:lnTo>
                    <a:pt x="219075" y="531875"/>
                  </a:lnTo>
                  <a:lnTo>
                    <a:pt x="212725" y="531875"/>
                  </a:lnTo>
                  <a:lnTo>
                    <a:pt x="206375" y="525525"/>
                  </a:lnTo>
                  <a:close/>
                </a:path>
                <a:path w="219075" h="1051560">
                  <a:moveTo>
                    <a:pt x="44450" y="63499"/>
                  </a:moveTo>
                  <a:lnTo>
                    <a:pt x="31750" y="63499"/>
                  </a:lnTo>
                  <a:lnTo>
                    <a:pt x="31750" y="531875"/>
                  </a:lnTo>
                  <a:lnTo>
                    <a:pt x="206375" y="531875"/>
                  </a:lnTo>
                  <a:lnTo>
                    <a:pt x="206375" y="525525"/>
                  </a:lnTo>
                  <a:lnTo>
                    <a:pt x="44450" y="525525"/>
                  </a:lnTo>
                  <a:lnTo>
                    <a:pt x="38100" y="519175"/>
                  </a:lnTo>
                  <a:lnTo>
                    <a:pt x="44450" y="519175"/>
                  </a:lnTo>
                  <a:lnTo>
                    <a:pt x="44450" y="63499"/>
                  </a:lnTo>
                  <a:close/>
                </a:path>
                <a:path w="219075" h="1051560">
                  <a:moveTo>
                    <a:pt x="219075" y="519175"/>
                  </a:moveTo>
                  <a:lnTo>
                    <a:pt x="44450" y="519175"/>
                  </a:lnTo>
                  <a:lnTo>
                    <a:pt x="44450" y="525525"/>
                  </a:lnTo>
                  <a:lnTo>
                    <a:pt x="206375" y="525525"/>
                  </a:lnTo>
                  <a:lnTo>
                    <a:pt x="212725" y="531875"/>
                  </a:lnTo>
                  <a:lnTo>
                    <a:pt x="219075" y="531875"/>
                  </a:lnTo>
                  <a:lnTo>
                    <a:pt x="219075" y="519175"/>
                  </a:lnTo>
                  <a:close/>
                </a:path>
                <a:path w="219075" h="1051560">
                  <a:moveTo>
                    <a:pt x="44450" y="519175"/>
                  </a:moveTo>
                  <a:lnTo>
                    <a:pt x="38100" y="519175"/>
                  </a:lnTo>
                  <a:lnTo>
                    <a:pt x="44450" y="525525"/>
                  </a:lnTo>
                  <a:lnTo>
                    <a:pt x="44450" y="519175"/>
                  </a:lnTo>
                  <a:close/>
                </a:path>
                <a:path w="219075" h="1051560">
                  <a:moveTo>
                    <a:pt x="38100" y="0"/>
                  </a:moveTo>
                  <a:lnTo>
                    <a:pt x="0" y="76199"/>
                  </a:lnTo>
                  <a:lnTo>
                    <a:pt x="31750" y="76199"/>
                  </a:lnTo>
                  <a:lnTo>
                    <a:pt x="31750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219075" h="1051560">
                  <a:moveTo>
                    <a:pt x="69850" y="63499"/>
                  </a:moveTo>
                  <a:lnTo>
                    <a:pt x="44450" y="63499"/>
                  </a:lnTo>
                  <a:lnTo>
                    <a:pt x="44450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1046162" y="5708129"/>
              <a:ext cx="1214755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13</a:t>
              </a:r>
              <a:endParaRPr sz="900">
                <a:latin typeface="Tahoma"/>
                <a:cs typeface="Tahoma"/>
              </a:endParaRPr>
            </a:p>
            <a:p>
              <a:pPr marL="93345" marR="8763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</a:t>
              </a:r>
              <a:r>
                <a:rPr sz="900" b="1" dirty="0">
                  <a:latin typeface="Tahoma"/>
                  <a:cs typeface="Tahoma"/>
                </a:rPr>
                <a:t>NT</a:t>
              </a:r>
              <a:r>
                <a:rPr sz="900" b="1" spc="-5" dirty="0">
                  <a:latin typeface="Tahoma"/>
                  <a:cs typeface="Tahoma"/>
                </a:rPr>
                <a:t>ENIMIENTO  ADECUADO DE  COSECHADORAS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674876" y="734441"/>
              <a:ext cx="147637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0"/>
                </a:spcBef>
              </a:pPr>
              <a:r>
                <a:rPr sz="900" b="1" dirty="0">
                  <a:latin typeface="Tahoma"/>
                  <a:cs typeface="Tahoma"/>
                </a:rPr>
                <a:t>19</a:t>
              </a:r>
              <a:endParaRPr sz="900">
                <a:latin typeface="Tahoma"/>
                <a:cs typeface="Tahoma"/>
              </a:endParaRPr>
            </a:p>
            <a:p>
              <a:pPr marL="92075" marR="83185" indent="-190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AMENAZAS </a:t>
              </a:r>
              <a:r>
                <a:rPr sz="900" b="1" dirty="0">
                  <a:latin typeface="Tahoma"/>
                  <a:cs typeface="Tahoma"/>
                </a:rPr>
                <a:t>A </a:t>
              </a:r>
              <a:r>
                <a:rPr sz="900" b="1" spc="-5" dirty="0">
                  <a:latin typeface="Tahoma"/>
                  <a:cs typeface="Tahoma"/>
                </a:rPr>
                <a:t>LA  SALUD</a:t>
              </a:r>
              <a:r>
                <a:rPr sz="900" b="1" spc="-7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CONTROLADAS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9025" y="1236091"/>
              <a:ext cx="92075" cy="1841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223837" y="4933441"/>
              <a:ext cx="1149350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20</a:t>
              </a:r>
              <a:endParaRPr sz="900">
                <a:latin typeface="Tahoma"/>
                <a:cs typeface="Tahoma"/>
              </a:endParaRPr>
            </a:p>
            <a:p>
              <a:pPr marL="95250" marR="90170" indent="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ADECUADO  DISEÑO DE LAS  C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EC</a:t>
              </a:r>
              <a:r>
                <a:rPr sz="900" b="1" spc="-10" dirty="0">
                  <a:latin typeface="Tahoma"/>
                  <a:cs typeface="Tahoma"/>
                </a:rPr>
                <a:t>H</a:t>
              </a:r>
              <a:r>
                <a:rPr sz="900" b="1" spc="-5" dirty="0">
                  <a:latin typeface="Tahoma"/>
                  <a:cs typeface="Tahoma"/>
                </a:rPr>
                <a:t>AD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92162" y="4654041"/>
              <a:ext cx="838200" cy="279400"/>
            </a:xfrm>
            <a:custGeom>
              <a:avLst/>
              <a:gdLst/>
              <a:ahLst/>
              <a:cxnLst/>
              <a:rect l="l" t="t" r="r" b="b"/>
              <a:pathLst>
                <a:path w="838200" h="279400">
                  <a:moveTo>
                    <a:pt x="793686" y="133349"/>
                  </a:moveTo>
                  <a:lnTo>
                    <a:pt x="0" y="133349"/>
                  </a:lnTo>
                  <a:lnTo>
                    <a:pt x="0" y="279399"/>
                  </a:lnTo>
                  <a:lnTo>
                    <a:pt x="12700" y="279399"/>
                  </a:lnTo>
                  <a:lnTo>
                    <a:pt x="12700" y="146049"/>
                  </a:lnTo>
                  <a:lnTo>
                    <a:pt x="6350" y="146049"/>
                  </a:lnTo>
                  <a:lnTo>
                    <a:pt x="12700" y="139699"/>
                  </a:lnTo>
                  <a:lnTo>
                    <a:pt x="793686" y="139699"/>
                  </a:lnTo>
                  <a:lnTo>
                    <a:pt x="793686" y="133349"/>
                  </a:lnTo>
                  <a:close/>
                </a:path>
                <a:path w="838200" h="279400">
                  <a:moveTo>
                    <a:pt x="12700" y="139699"/>
                  </a:moveTo>
                  <a:lnTo>
                    <a:pt x="6350" y="146049"/>
                  </a:lnTo>
                  <a:lnTo>
                    <a:pt x="12700" y="146049"/>
                  </a:lnTo>
                  <a:lnTo>
                    <a:pt x="12700" y="139699"/>
                  </a:lnTo>
                  <a:close/>
                </a:path>
                <a:path w="838200" h="279400">
                  <a:moveTo>
                    <a:pt x="806386" y="133349"/>
                  </a:moveTo>
                  <a:lnTo>
                    <a:pt x="800036" y="133349"/>
                  </a:lnTo>
                  <a:lnTo>
                    <a:pt x="793686" y="139699"/>
                  </a:lnTo>
                  <a:lnTo>
                    <a:pt x="12700" y="139699"/>
                  </a:lnTo>
                  <a:lnTo>
                    <a:pt x="12700" y="146049"/>
                  </a:lnTo>
                  <a:lnTo>
                    <a:pt x="806386" y="146049"/>
                  </a:lnTo>
                  <a:lnTo>
                    <a:pt x="806386" y="133349"/>
                  </a:lnTo>
                  <a:close/>
                </a:path>
                <a:path w="838200" h="279400">
                  <a:moveTo>
                    <a:pt x="806386" y="63499"/>
                  </a:moveTo>
                  <a:lnTo>
                    <a:pt x="793686" y="63499"/>
                  </a:lnTo>
                  <a:lnTo>
                    <a:pt x="793686" y="139699"/>
                  </a:lnTo>
                  <a:lnTo>
                    <a:pt x="800036" y="133349"/>
                  </a:lnTo>
                  <a:lnTo>
                    <a:pt x="806386" y="133349"/>
                  </a:lnTo>
                  <a:lnTo>
                    <a:pt x="806386" y="63499"/>
                  </a:lnTo>
                  <a:close/>
                </a:path>
                <a:path w="838200" h="279400">
                  <a:moveTo>
                    <a:pt x="800036" y="0"/>
                  </a:moveTo>
                  <a:lnTo>
                    <a:pt x="761936" y="76199"/>
                  </a:lnTo>
                  <a:lnTo>
                    <a:pt x="793686" y="76199"/>
                  </a:lnTo>
                  <a:lnTo>
                    <a:pt x="793686" y="63499"/>
                  </a:lnTo>
                  <a:lnTo>
                    <a:pt x="831786" y="63499"/>
                  </a:lnTo>
                  <a:lnTo>
                    <a:pt x="800036" y="0"/>
                  </a:lnTo>
                  <a:close/>
                </a:path>
                <a:path w="838200" h="279400">
                  <a:moveTo>
                    <a:pt x="831786" y="63499"/>
                  </a:moveTo>
                  <a:lnTo>
                    <a:pt x="806386" y="63499"/>
                  </a:lnTo>
                  <a:lnTo>
                    <a:pt x="806386" y="76199"/>
                  </a:lnTo>
                  <a:lnTo>
                    <a:pt x="838136" y="76199"/>
                  </a:lnTo>
                  <a:lnTo>
                    <a:pt x="831786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6400800" y="4099940"/>
              <a:ext cx="2275205" cy="549275"/>
            </a:xfrm>
            <a:prstGeom prst="rect">
              <a:avLst/>
            </a:prstGeom>
            <a:solidFill>
              <a:srgbClr val="CCCC00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21</a:t>
              </a:r>
              <a:endParaRPr sz="1000">
                <a:latin typeface="Tahoma"/>
                <a:cs typeface="Tahoma"/>
              </a:endParaRPr>
            </a:p>
            <a:p>
              <a:pPr marL="95885" marR="88900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NUEVA </a:t>
              </a:r>
              <a:r>
                <a:rPr sz="1000" b="1" spc="-5" dirty="0">
                  <a:latin typeface="Tahoma"/>
                  <a:cs typeface="Tahoma"/>
                </a:rPr>
                <a:t>VARIEDAD </a:t>
              </a:r>
              <a:r>
                <a:rPr sz="1000" b="1" spc="-10" dirty="0">
                  <a:latin typeface="Tahoma"/>
                  <a:cs typeface="Tahoma"/>
                </a:rPr>
                <a:t>DE FRUTA  RESISTENTE </a:t>
              </a:r>
              <a:r>
                <a:rPr sz="1000" b="1" spc="-5" dirty="0">
                  <a:latin typeface="Tahoma"/>
                  <a:cs typeface="Tahoma"/>
                </a:rPr>
                <a:t>A LA</a:t>
              </a:r>
              <a:r>
                <a:rPr sz="1000" b="1" spc="-1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689475" y="3668140"/>
              <a:ext cx="2856230" cy="431800"/>
            </a:xfrm>
            <a:custGeom>
              <a:avLst/>
              <a:gdLst/>
              <a:ahLst/>
              <a:cxnLst/>
              <a:rect l="l" t="t" r="r" b="b"/>
              <a:pathLst>
                <a:path w="2856229" h="431800">
                  <a:moveTo>
                    <a:pt x="2843149" y="215899"/>
                  </a:moveTo>
                  <a:lnTo>
                    <a:pt x="2843149" y="431799"/>
                  </a:lnTo>
                  <a:lnTo>
                    <a:pt x="2855849" y="431799"/>
                  </a:lnTo>
                  <a:lnTo>
                    <a:pt x="2855849" y="222249"/>
                  </a:lnTo>
                  <a:lnTo>
                    <a:pt x="2849499" y="222249"/>
                  </a:lnTo>
                  <a:lnTo>
                    <a:pt x="2843149" y="215899"/>
                  </a:lnTo>
                  <a:close/>
                </a:path>
                <a:path w="2856229" h="431800">
                  <a:moveTo>
                    <a:pt x="44450" y="63499"/>
                  </a:moveTo>
                  <a:lnTo>
                    <a:pt x="31750" y="63499"/>
                  </a:lnTo>
                  <a:lnTo>
                    <a:pt x="31750" y="222249"/>
                  </a:lnTo>
                  <a:lnTo>
                    <a:pt x="2843149" y="222249"/>
                  </a:lnTo>
                  <a:lnTo>
                    <a:pt x="2843149" y="215899"/>
                  </a:lnTo>
                  <a:lnTo>
                    <a:pt x="44450" y="215899"/>
                  </a:lnTo>
                  <a:lnTo>
                    <a:pt x="38100" y="209549"/>
                  </a:lnTo>
                  <a:lnTo>
                    <a:pt x="44450" y="209549"/>
                  </a:lnTo>
                  <a:lnTo>
                    <a:pt x="44450" y="63499"/>
                  </a:lnTo>
                  <a:close/>
                </a:path>
                <a:path w="2856229" h="431800">
                  <a:moveTo>
                    <a:pt x="2855849" y="209549"/>
                  </a:moveTo>
                  <a:lnTo>
                    <a:pt x="44450" y="209549"/>
                  </a:lnTo>
                  <a:lnTo>
                    <a:pt x="44450" y="215899"/>
                  </a:lnTo>
                  <a:lnTo>
                    <a:pt x="2843149" y="215899"/>
                  </a:lnTo>
                  <a:lnTo>
                    <a:pt x="2849499" y="222249"/>
                  </a:lnTo>
                  <a:lnTo>
                    <a:pt x="2855849" y="222249"/>
                  </a:lnTo>
                  <a:lnTo>
                    <a:pt x="2855849" y="209549"/>
                  </a:lnTo>
                  <a:close/>
                </a:path>
                <a:path w="2856229" h="431800">
                  <a:moveTo>
                    <a:pt x="44450" y="209549"/>
                  </a:moveTo>
                  <a:lnTo>
                    <a:pt x="38100" y="209549"/>
                  </a:lnTo>
                  <a:lnTo>
                    <a:pt x="44450" y="215899"/>
                  </a:lnTo>
                  <a:lnTo>
                    <a:pt x="44450" y="209549"/>
                  </a:lnTo>
                  <a:close/>
                </a:path>
                <a:path w="2856229" h="431800">
                  <a:moveTo>
                    <a:pt x="38100" y="0"/>
                  </a:moveTo>
                  <a:lnTo>
                    <a:pt x="0" y="76199"/>
                  </a:lnTo>
                  <a:lnTo>
                    <a:pt x="31750" y="76199"/>
                  </a:lnTo>
                  <a:lnTo>
                    <a:pt x="31750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2856229" h="431800">
                  <a:moveTo>
                    <a:pt x="69850" y="63499"/>
                  </a:moveTo>
                  <a:lnTo>
                    <a:pt x="44450" y="63499"/>
                  </a:lnTo>
                  <a:lnTo>
                    <a:pt x="44450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7762875" y="5014391"/>
              <a:ext cx="1117600" cy="638175"/>
            </a:xfrm>
            <a:prstGeom prst="rect">
              <a:avLst/>
            </a:prstGeom>
            <a:solidFill>
              <a:srgbClr val="CCCC00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24</a:t>
              </a:r>
              <a:endParaRPr sz="900">
                <a:latin typeface="Tahoma"/>
                <a:cs typeface="Tahoma"/>
              </a:endParaRPr>
            </a:p>
            <a:p>
              <a:pPr marL="93345" marR="8191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DE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spc="-10" dirty="0">
                  <a:latin typeface="Tahoma"/>
                  <a:cs typeface="Tahoma"/>
                </a:rPr>
                <a:t>RR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5" dirty="0">
                  <a:latin typeface="Tahoma"/>
                  <a:cs typeface="Tahoma"/>
                </a:rPr>
                <a:t>LLADA  NUEVA  VARIEDAD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865873" y="4649215"/>
              <a:ext cx="711200" cy="360680"/>
            </a:xfrm>
            <a:custGeom>
              <a:avLst/>
              <a:gdLst/>
              <a:ahLst/>
              <a:cxnLst/>
              <a:rect l="l" t="t" r="r" b="b"/>
              <a:pathLst>
                <a:path w="711200" h="360679">
                  <a:moveTo>
                    <a:pt x="666750" y="174624"/>
                  </a:moveTo>
                  <a:lnTo>
                    <a:pt x="0" y="174624"/>
                  </a:lnTo>
                  <a:lnTo>
                    <a:pt x="0" y="360425"/>
                  </a:lnTo>
                  <a:lnTo>
                    <a:pt x="12700" y="360425"/>
                  </a:lnTo>
                  <a:lnTo>
                    <a:pt x="12700" y="187324"/>
                  </a:lnTo>
                  <a:lnTo>
                    <a:pt x="6350" y="187324"/>
                  </a:lnTo>
                  <a:lnTo>
                    <a:pt x="12700" y="180974"/>
                  </a:lnTo>
                  <a:lnTo>
                    <a:pt x="666750" y="180974"/>
                  </a:lnTo>
                  <a:lnTo>
                    <a:pt x="666750" y="174624"/>
                  </a:lnTo>
                  <a:close/>
                </a:path>
                <a:path w="711200" h="360679">
                  <a:moveTo>
                    <a:pt x="12700" y="180974"/>
                  </a:moveTo>
                  <a:lnTo>
                    <a:pt x="6350" y="187324"/>
                  </a:lnTo>
                  <a:lnTo>
                    <a:pt x="12700" y="187324"/>
                  </a:lnTo>
                  <a:lnTo>
                    <a:pt x="12700" y="180974"/>
                  </a:lnTo>
                  <a:close/>
                </a:path>
                <a:path w="711200" h="360679">
                  <a:moveTo>
                    <a:pt x="679450" y="174624"/>
                  </a:moveTo>
                  <a:lnTo>
                    <a:pt x="673100" y="174624"/>
                  </a:lnTo>
                  <a:lnTo>
                    <a:pt x="666750" y="180974"/>
                  </a:lnTo>
                  <a:lnTo>
                    <a:pt x="12700" y="180974"/>
                  </a:lnTo>
                  <a:lnTo>
                    <a:pt x="12700" y="187324"/>
                  </a:lnTo>
                  <a:lnTo>
                    <a:pt x="679450" y="187324"/>
                  </a:lnTo>
                  <a:lnTo>
                    <a:pt x="679450" y="174624"/>
                  </a:lnTo>
                  <a:close/>
                </a:path>
                <a:path w="711200" h="360679">
                  <a:moveTo>
                    <a:pt x="679450" y="63499"/>
                  </a:moveTo>
                  <a:lnTo>
                    <a:pt x="666750" y="63499"/>
                  </a:lnTo>
                  <a:lnTo>
                    <a:pt x="666750" y="180974"/>
                  </a:lnTo>
                  <a:lnTo>
                    <a:pt x="673100" y="174624"/>
                  </a:lnTo>
                  <a:lnTo>
                    <a:pt x="679450" y="174624"/>
                  </a:lnTo>
                  <a:lnTo>
                    <a:pt x="679450" y="63499"/>
                  </a:lnTo>
                  <a:close/>
                </a:path>
                <a:path w="711200" h="360679">
                  <a:moveTo>
                    <a:pt x="673100" y="0"/>
                  </a:moveTo>
                  <a:lnTo>
                    <a:pt x="635000" y="76199"/>
                  </a:lnTo>
                  <a:lnTo>
                    <a:pt x="666750" y="76199"/>
                  </a:lnTo>
                  <a:lnTo>
                    <a:pt x="666750" y="63499"/>
                  </a:lnTo>
                  <a:lnTo>
                    <a:pt x="704850" y="63499"/>
                  </a:lnTo>
                  <a:lnTo>
                    <a:pt x="673100" y="0"/>
                  </a:lnTo>
                  <a:close/>
                </a:path>
                <a:path w="711200" h="360679">
                  <a:moveTo>
                    <a:pt x="704850" y="63499"/>
                  </a:moveTo>
                  <a:lnTo>
                    <a:pt x="679450" y="63499"/>
                  </a:lnTo>
                  <a:lnTo>
                    <a:pt x="679450" y="76199"/>
                  </a:lnTo>
                  <a:lnTo>
                    <a:pt x="711200" y="76199"/>
                  </a:lnTo>
                  <a:lnTo>
                    <a:pt x="704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00873" y="4649215"/>
              <a:ext cx="827405" cy="365125"/>
            </a:xfrm>
            <a:custGeom>
              <a:avLst/>
              <a:gdLst/>
              <a:ahLst/>
              <a:cxnLst/>
              <a:rect l="l" t="t" r="r" b="b"/>
              <a:pathLst>
                <a:path w="827404" h="365125">
                  <a:moveTo>
                    <a:pt x="814451" y="182625"/>
                  </a:moveTo>
                  <a:lnTo>
                    <a:pt x="814451" y="365124"/>
                  </a:lnTo>
                  <a:lnTo>
                    <a:pt x="827151" y="365124"/>
                  </a:lnTo>
                  <a:lnTo>
                    <a:pt x="827151" y="188975"/>
                  </a:lnTo>
                  <a:lnTo>
                    <a:pt x="820801" y="188975"/>
                  </a:lnTo>
                  <a:lnTo>
                    <a:pt x="814451" y="182625"/>
                  </a:lnTo>
                  <a:close/>
                </a:path>
                <a:path w="827404" h="365125">
                  <a:moveTo>
                    <a:pt x="44450" y="63499"/>
                  </a:moveTo>
                  <a:lnTo>
                    <a:pt x="31750" y="63499"/>
                  </a:lnTo>
                  <a:lnTo>
                    <a:pt x="31750" y="188975"/>
                  </a:lnTo>
                  <a:lnTo>
                    <a:pt x="814451" y="188975"/>
                  </a:lnTo>
                  <a:lnTo>
                    <a:pt x="814451" y="182625"/>
                  </a:lnTo>
                  <a:lnTo>
                    <a:pt x="44450" y="182625"/>
                  </a:lnTo>
                  <a:lnTo>
                    <a:pt x="38100" y="176275"/>
                  </a:lnTo>
                  <a:lnTo>
                    <a:pt x="44450" y="176275"/>
                  </a:lnTo>
                  <a:lnTo>
                    <a:pt x="44450" y="63499"/>
                  </a:lnTo>
                  <a:close/>
                </a:path>
                <a:path w="827404" h="365125">
                  <a:moveTo>
                    <a:pt x="827151" y="176275"/>
                  </a:moveTo>
                  <a:lnTo>
                    <a:pt x="44450" y="176275"/>
                  </a:lnTo>
                  <a:lnTo>
                    <a:pt x="44450" y="182625"/>
                  </a:lnTo>
                  <a:lnTo>
                    <a:pt x="814451" y="182625"/>
                  </a:lnTo>
                  <a:lnTo>
                    <a:pt x="820801" y="188975"/>
                  </a:lnTo>
                  <a:lnTo>
                    <a:pt x="827151" y="188975"/>
                  </a:lnTo>
                  <a:lnTo>
                    <a:pt x="827151" y="176275"/>
                  </a:lnTo>
                  <a:close/>
                </a:path>
                <a:path w="827404" h="365125">
                  <a:moveTo>
                    <a:pt x="44450" y="176275"/>
                  </a:moveTo>
                  <a:lnTo>
                    <a:pt x="38100" y="176275"/>
                  </a:lnTo>
                  <a:lnTo>
                    <a:pt x="44450" y="182625"/>
                  </a:lnTo>
                  <a:lnTo>
                    <a:pt x="44450" y="176275"/>
                  </a:lnTo>
                  <a:close/>
                </a:path>
                <a:path w="827404" h="365125">
                  <a:moveTo>
                    <a:pt x="38100" y="0"/>
                  </a:moveTo>
                  <a:lnTo>
                    <a:pt x="0" y="76199"/>
                  </a:lnTo>
                  <a:lnTo>
                    <a:pt x="31750" y="76199"/>
                  </a:lnTo>
                  <a:lnTo>
                    <a:pt x="31750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827404" h="365125">
                  <a:moveTo>
                    <a:pt x="69850" y="63499"/>
                  </a:moveTo>
                  <a:lnTo>
                    <a:pt x="44450" y="63499"/>
                  </a:lnTo>
                  <a:lnTo>
                    <a:pt x="44450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6472301" y="5014391"/>
              <a:ext cx="1184275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22</a:t>
              </a:r>
              <a:endParaRPr sz="900">
                <a:latin typeface="Tahoma"/>
                <a:cs typeface="Tahoma"/>
              </a:endParaRPr>
            </a:p>
            <a:p>
              <a:pPr marL="97155" marR="895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ADAPTADAS </a:t>
              </a:r>
              <a:r>
                <a:rPr sz="900" b="1" dirty="0">
                  <a:latin typeface="Tahoma"/>
                  <a:cs typeface="Tahoma"/>
                </a:rPr>
                <a:t>A</a:t>
              </a:r>
              <a:r>
                <a:rPr sz="900" b="1" spc="-10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LA  REGIÓN OTRAS  VARIEDADES</a:t>
              </a:r>
              <a:endParaRPr sz="900">
                <a:latin typeface="Tahoma"/>
                <a:cs typeface="Tahoma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002823" y="39581"/>
            <a:ext cx="577945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0">
              <a:lnSpc>
                <a:spcPct val="100000"/>
              </a:lnSpc>
              <a:spcBef>
                <a:spcPts val="100"/>
              </a:spcBef>
            </a:pPr>
            <a:r>
              <a:rPr sz="2400" spc="-5" dirty="0" err="1"/>
              <a:t>Alternativa</a:t>
            </a:r>
            <a:r>
              <a:rPr sz="2400" spc="-5" dirty="0"/>
              <a:t> </a:t>
            </a:r>
            <a:r>
              <a:rPr sz="2400" dirty="0"/>
              <a:t>4</a:t>
            </a:r>
            <a:br>
              <a:rPr lang="es-419" sz="2400" dirty="0"/>
            </a:br>
            <a:r>
              <a:rPr sz="2400" spc="-5" dirty="0" err="1"/>
              <a:t>Recolección</a:t>
            </a:r>
            <a:r>
              <a:rPr sz="2400" spc="-5" dirty="0"/>
              <a:t> mecánica </a:t>
            </a:r>
            <a:r>
              <a:rPr sz="2400" dirty="0"/>
              <a:t>+</a:t>
            </a:r>
            <a:r>
              <a:rPr sz="2400" spc="-40" dirty="0"/>
              <a:t> </a:t>
            </a:r>
            <a:r>
              <a:rPr sz="2400" spc="-5" dirty="0"/>
              <a:t>Desarrollo</a:t>
            </a:r>
            <a:endParaRPr sz="2400" dirty="0"/>
          </a:p>
        </p:txBody>
      </p:sp>
      <p:grpSp>
        <p:nvGrpSpPr>
          <p:cNvPr id="40" name="Grupo 39"/>
          <p:cNvGrpSpPr/>
          <p:nvPr/>
        </p:nvGrpSpPr>
        <p:grpSpPr>
          <a:xfrm>
            <a:off x="228600" y="977900"/>
            <a:ext cx="8651875" cy="5737225"/>
            <a:chOff x="228600" y="977900"/>
            <a:chExt cx="8651875" cy="5737225"/>
          </a:xfrm>
        </p:grpSpPr>
        <p:sp>
          <p:nvSpPr>
            <p:cNvPr id="2" name="object 2"/>
            <p:cNvSpPr/>
            <p:nvPr/>
          </p:nvSpPr>
          <p:spPr>
            <a:xfrm>
              <a:off x="3803903" y="3351276"/>
              <a:ext cx="1842516" cy="6766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3899153" y="3386709"/>
              <a:ext cx="1657350" cy="4826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1000" b="1" spc="-5" dirty="0">
                  <a:latin typeface="Tahoma"/>
                  <a:cs typeface="Tahoma"/>
                </a:rPr>
                <a:t>1</a:t>
              </a:r>
              <a:endParaRPr sz="1000">
                <a:latin typeface="Tahoma"/>
                <a:cs typeface="Tahoma"/>
              </a:endParaRPr>
            </a:p>
            <a:p>
              <a:pPr marL="12065" marR="5080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NO </a:t>
              </a:r>
              <a:r>
                <a:rPr sz="1000" b="1" spc="-10" dirty="0">
                  <a:latin typeface="Tahoma"/>
                  <a:cs typeface="Tahoma"/>
                </a:rPr>
                <a:t>DETERIORADA  EN </a:t>
              </a:r>
              <a:r>
                <a:rPr sz="1000" b="1" spc="-5" dirty="0">
                  <a:latin typeface="Tahoma"/>
                  <a:cs typeface="Tahoma"/>
                </a:rPr>
                <a:t>LA</a:t>
              </a:r>
              <a:r>
                <a:rPr sz="1000" b="1" spc="-2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960876" y="1206500"/>
              <a:ext cx="1543050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0"/>
                </a:spcBef>
              </a:pPr>
              <a:r>
                <a:rPr sz="900" b="1" dirty="0">
                  <a:latin typeface="Tahoma"/>
                  <a:cs typeface="Tahoma"/>
                </a:rPr>
                <a:t>2</a:t>
              </a:r>
              <a:endParaRPr sz="900">
                <a:latin typeface="Tahoma"/>
                <a:cs typeface="Tahoma"/>
              </a:endParaRPr>
            </a:p>
            <a:p>
              <a:pPr marL="635" algn="ctr">
                <a:lnSpc>
                  <a:spcPct val="100000"/>
                </a:lnSpc>
                <a:spcBef>
                  <a:spcPts val="5"/>
                </a:spcBef>
              </a:pPr>
              <a:r>
                <a:rPr sz="900" b="1" spc="-5" dirty="0">
                  <a:latin typeface="Tahoma"/>
                  <a:cs typeface="Tahoma"/>
                </a:rPr>
                <a:t>MAYORES</a:t>
              </a:r>
              <a:r>
                <a:rPr sz="900" b="1" spc="-3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INGRESOS</a:t>
              </a:r>
              <a:endParaRPr sz="9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DE LOS</a:t>
              </a:r>
              <a:r>
                <a:rPr sz="900" b="1" spc="-3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AGRICULTORES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962400" y="2438400"/>
              <a:ext cx="156400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5</a:t>
              </a:r>
              <a:endParaRPr sz="900">
                <a:latin typeface="Tahoma"/>
                <a:cs typeface="Tahoma"/>
              </a:endParaRPr>
            </a:p>
            <a:p>
              <a:pPr marL="92075" marR="83820" indent="-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DISMINUIDAS  PÉRDIDAS EN</a:t>
              </a:r>
              <a:r>
                <a:rPr sz="900" b="1" spc="-8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COSECHA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1905000" y="5181600"/>
              <a:ext cx="1101725" cy="638175"/>
            </a:xfrm>
            <a:prstGeom prst="rect">
              <a:avLst/>
            </a:prstGeom>
            <a:solidFill>
              <a:srgbClr val="FFCCCC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8</a:t>
              </a:r>
              <a:endParaRPr sz="900">
                <a:latin typeface="Tahoma"/>
                <a:cs typeface="Tahoma"/>
              </a:endParaRPr>
            </a:p>
            <a:p>
              <a:pPr marL="90170" marR="8318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MAQUINAS  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ECOLECT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  </a:t>
              </a:r>
              <a:r>
                <a:rPr sz="900" b="1" spc="-5" dirty="0">
                  <a:latin typeface="Tahoma"/>
                  <a:cs typeface="Tahoma"/>
                </a:rPr>
                <a:t>RENOVADAS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09600" y="4343400"/>
              <a:ext cx="1965325" cy="549275"/>
            </a:xfrm>
            <a:prstGeom prst="rect">
              <a:avLst/>
            </a:prstGeom>
            <a:solidFill>
              <a:srgbClr val="FFCCCC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7</a:t>
              </a:r>
              <a:endParaRPr sz="1000">
                <a:latin typeface="Tahoma"/>
                <a:cs typeface="Tahoma"/>
              </a:endParaRPr>
            </a:p>
            <a:p>
              <a:pPr marL="94615" marR="8826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MAQUINAS RECOLECTORAS  </a:t>
              </a:r>
              <a:r>
                <a:rPr sz="1000" b="1" spc="-5" dirty="0">
                  <a:latin typeface="Tahoma"/>
                  <a:cs typeface="Tahoma"/>
                </a:rPr>
                <a:t>CON </a:t>
              </a:r>
              <a:r>
                <a:rPr sz="1000" b="1" spc="-10" dirty="0">
                  <a:latin typeface="Tahoma"/>
                  <a:cs typeface="Tahoma"/>
                </a:rPr>
                <a:t>BUEN</a:t>
              </a:r>
              <a:r>
                <a:rPr sz="1000" b="1" spc="-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DESEMPEÑO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805301" y="4338573"/>
              <a:ext cx="1825625" cy="5588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35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9</a:t>
              </a:r>
              <a:endParaRPr sz="1000">
                <a:latin typeface="Tahoma"/>
                <a:cs typeface="Tahoma"/>
              </a:endParaRPr>
            </a:p>
            <a:p>
              <a:pPr marL="100330" marR="92075" indent="-1270" algn="ctr">
                <a:lnSpc>
                  <a:spcPct val="100000"/>
                </a:lnSpc>
              </a:pPr>
              <a:r>
                <a:rPr sz="1000" b="1" spc="-5" dirty="0">
                  <a:latin typeface="Tahoma"/>
                  <a:cs typeface="Tahoma"/>
                </a:rPr>
                <a:t>OBREROS </a:t>
              </a:r>
              <a:r>
                <a:rPr sz="1000" b="1" spc="-10" dirty="0">
                  <a:latin typeface="Tahoma"/>
                  <a:cs typeface="Tahoma"/>
                </a:rPr>
                <a:t>TRATAN </a:t>
              </a:r>
              <a:r>
                <a:rPr sz="1000" b="1" spc="-5" dirty="0">
                  <a:latin typeface="Tahoma"/>
                  <a:cs typeface="Tahoma"/>
                </a:rPr>
                <a:t>BIEN  LA </a:t>
              </a:r>
              <a:r>
                <a:rPr sz="1000" b="1" spc="-10" dirty="0">
                  <a:latin typeface="Tahoma"/>
                  <a:cs typeface="Tahoma"/>
                </a:rPr>
                <a:t>FRUTA </a:t>
              </a:r>
              <a:r>
                <a:rPr sz="1000" b="1" spc="-5" dirty="0">
                  <a:latin typeface="Tahoma"/>
                  <a:cs typeface="Tahoma"/>
                </a:rPr>
                <a:t>AL</a:t>
              </a:r>
              <a:r>
                <a:rPr sz="1000" b="1" spc="-40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RECOGERLA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195701" y="5176837"/>
              <a:ext cx="1406525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3</a:t>
              </a:r>
              <a:endParaRPr sz="900">
                <a:latin typeface="Tahoma"/>
                <a:cs typeface="Tahoma"/>
              </a:endParaRPr>
            </a:p>
            <a:p>
              <a:pPr marL="96520" marR="123825" indent="32384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OBREROS  CAPACITADOS</a:t>
              </a:r>
              <a:r>
                <a:rPr sz="900" b="1" spc="-9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PARA 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582800" y="2286000"/>
              <a:ext cx="1517650" cy="638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15</a:t>
              </a:r>
              <a:endParaRPr sz="900">
                <a:latin typeface="Tahoma"/>
                <a:cs typeface="Tahoma"/>
              </a:endParaRPr>
            </a:p>
            <a:p>
              <a:pPr marL="221615" marR="235585" indent="-139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DISMINUCIÓN DE  C</a:t>
              </a:r>
              <a:r>
                <a:rPr sz="900" b="1" dirty="0">
                  <a:latin typeface="Tahoma"/>
                  <a:cs typeface="Tahoma"/>
                </a:rPr>
                <a:t>ONT</a:t>
              </a:r>
              <a:r>
                <a:rPr sz="900" b="1" spc="-5" dirty="0">
                  <a:latin typeface="Tahoma"/>
                  <a:cs typeface="Tahoma"/>
                </a:rPr>
                <a:t>AMINACI</a:t>
              </a:r>
              <a:r>
                <a:rPr sz="900" b="1" dirty="0">
                  <a:latin typeface="Tahoma"/>
                  <a:cs typeface="Tahoma"/>
                </a:rPr>
                <a:t>ÓN</a:t>
              </a:r>
              <a:endParaRPr sz="900">
                <a:latin typeface="Tahoma"/>
                <a:cs typeface="Tahoma"/>
              </a:endParaRPr>
            </a:p>
            <a:p>
              <a:pPr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POR FRUTAS</a:t>
              </a:r>
              <a:r>
                <a:rPr sz="900" b="1" spc="-5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DAÑADAS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522475" y="1663700"/>
              <a:ext cx="168465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6</a:t>
              </a:r>
              <a:endParaRPr sz="900">
                <a:latin typeface="Tahoma"/>
                <a:cs typeface="Tahoma"/>
              </a:endParaRPr>
            </a:p>
            <a:p>
              <a:pPr marL="92075" marR="84455" indent="-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DISMINUCIÓN DE  PLAGAS </a:t>
              </a:r>
              <a:r>
                <a:rPr sz="900" b="1" dirty="0">
                  <a:latin typeface="Tahoma"/>
                  <a:cs typeface="Tahoma"/>
                </a:rPr>
                <a:t>Y </a:t>
              </a:r>
              <a:r>
                <a:rPr sz="900" b="1" spc="-5" dirty="0">
                  <a:latin typeface="Tahoma"/>
                  <a:cs typeface="Tahoma"/>
                </a:rPr>
                <a:t>MALOS</a:t>
              </a:r>
              <a:r>
                <a:rPr sz="900" b="1" spc="-110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OLORES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554099" y="4892675"/>
              <a:ext cx="106680" cy="1063625"/>
            </a:xfrm>
            <a:custGeom>
              <a:avLst/>
              <a:gdLst/>
              <a:ahLst/>
              <a:cxnLst/>
              <a:rect l="l" t="t" r="r" b="b"/>
              <a:pathLst>
                <a:path w="106680" h="1063625">
                  <a:moveTo>
                    <a:pt x="93725" y="531749"/>
                  </a:moveTo>
                  <a:lnTo>
                    <a:pt x="93725" y="1063625"/>
                  </a:lnTo>
                  <a:lnTo>
                    <a:pt x="106425" y="1063625"/>
                  </a:lnTo>
                  <a:lnTo>
                    <a:pt x="106425" y="538099"/>
                  </a:lnTo>
                  <a:lnTo>
                    <a:pt x="100075" y="538099"/>
                  </a:lnTo>
                  <a:lnTo>
                    <a:pt x="93725" y="531749"/>
                  </a:lnTo>
                  <a:close/>
                </a:path>
                <a:path w="106680" h="10636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8099"/>
                  </a:lnTo>
                  <a:lnTo>
                    <a:pt x="93725" y="538099"/>
                  </a:lnTo>
                  <a:lnTo>
                    <a:pt x="93725" y="531749"/>
                  </a:lnTo>
                  <a:lnTo>
                    <a:pt x="44450" y="531749"/>
                  </a:lnTo>
                  <a:lnTo>
                    <a:pt x="38100" y="525399"/>
                  </a:lnTo>
                  <a:lnTo>
                    <a:pt x="44450" y="525399"/>
                  </a:lnTo>
                  <a:lnTo>
                    <a:pt x="44450" y="63500"/>
                  </a:lnTo>
                  <a:close/>
                </a:path>
                <a:path w="106680" h="1063625">
                  <a:moveTo>
                    <a:pt x="106425" y="525399"/>
                  </a:moveTo>
                  <a:lnTo>
                    <a:pt x="44450" y="525399"/>
                  </a:lnTo>
                  <a:lnTo>
                    <a:pt x="44450" y="531749"/>
                  </a:lnTo>
                  <a:lnTo>
                    <a:pt x="93725" y="531749"/>
                  </a:lnTo>
                  <a:lnTo>
                    <a:pt x="100075" y="538099"/>
                  </a:lnTo>
                  <a:lnTo>
                    <a:pt x="106425" y="538099"/>
                  </a:lnTo>
                  <a:lnTo>
                    <a:pt x="106425" y="525399"/>
                  </a:lnTo>
                  <a:close/>
                </a:path>
                <a:path w="106680" h="1063625">
                  <a:moveTo>
                    <a:pt x="44450" y="525399"/>
                  </a:moveTo>
                  <a:lnTo>
                    <a:pt x="38100" y="525399"/>
                  </a:lnTo>
                  <a:lnTo>
                    <a:pt x="44450" y="531749"/>
                  </a:lnTo>
                  <a:lnTo>
                    <a:pt x="44450" y="525399"/>
                  </a:lnTo>
                  <a:close/>
                </a:path>
                <a:path w="106680" h="10636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6680" h="10636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54099" y="4892675"/>
              <a:ext cx="908050" cy="288925"/>
            </a:xfrm>
            <a:custGeom>
              <a:avLst/>
              <a:gdLst/>
              <a:ahLst/>
              <a:cxnLst/>
              <a:rect l="l" t="t" r="r" b="b"/>
              <a:pathLst>
                <a:path w="908050" h="288925">
                  <a:moveTo>
                    <a:pt x="895350" y="144399"/>
                  </a:moveTo>
                  <a:lnTo>
                    <a:pt x="895350" y="288925"/>
                  </a:lnTo>
                  <a:lnTo>
                    <a:pt x="908050" y="288925"/>
                  </a:lnTo>
                  <a:lnTo>
                    <a:pt x="908050" y="150749"/>
                  </a:lnTo>
                  <a:lnTo>
                    <a:pt x="901700" y="150749"/>
                  </a:lnTo>
                  <a:lnTo>
                    <a:pt x="895350" y="144399"/>
                  </a:lnTo>
                  <a:close/>
                </a:path>
                <a:path w="908050" h="2889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50749"/>
                  </a:lnTo>
                  <a:lnTo>
                    <a:pt x="895350" y="150749"/>
                  </a:lnTo>
                  <a:lnTo>
                    <a:pt x="895350" y="144399"/>
                  </a:lnTo>
                  <a:lnTo>
                    <a:pt x="44450" y="144399"/>
                  </a:lnTo>
                  <a:lnTo>
                    <a:pt x="38100" y="138049"/>
                  </a:lnTo>
                  <a:lnTo>
                    <a:pt x="44450" y="138049"/>
                  </a:lnTo>
                  <a:lnTo>
                    <a:pt x="44450" y="63500"/>
                  </a:lnTo>
                  <a:close/>
                </a:path>
                <a:path w="908050" h="288925">
                  <a:moveTo>
                    <a:pt x="908050" y="138049"/>
                  </a:moveTo>
                  <a:lnTo>
                    <a:pt x="44450" y="138049"/>
                  </a:lnTo>
                  <a:lnTo>
                    <a:pt x="44450" y="144399"/>
                  </a:lnTo>
                  <a:lnTo>
                    <a:pt x="895350" y="144399"/>
                  </a:lnTo>
                  <a:lnTo>
                    <a:pt x="901700" y="150749"/>
                  </a:lnTo>
                  <a:lnTo>
                    <a:pt x="908050" y="150749"/>
                  </a:lnTo>
                  <a:lnTo>
                    <a:pt x="908050" y="138049"/>
                  </a:lnTo>
                  <a:close/>
                </a:path>
                <a:path w="908050" h="288925">
                  <a:moveTo>
                    <a:pt x="44450" y="138049"/>
                  </a:moveTo>
                  <a:lnTo>
                    <a:pt x="38100" y="138049"/>
                  </a:lnTo>
                  <a:lnTo>
                    <a:pt x="44450" y="144399"/>
                  </a:lnTo>
                  <a:lnTo>
                    <a:pt x="44450" y="138049"/>
                  </a:lnTo>
                  <a:close/>
                </a:path>
                <a:path w="908050" h="2889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908050" h="2889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92550" y="4897373"/>
              <a:ext cx="863600" cy="279400"/>
            </a:xfrm>
            <a:custGeom>
              <a:avLst/>
              <a:gdLst/>
              <a:ahLst/>
              <a:cxnLst/>
              <a:rect l="l" t="t" r="r" b="b"/>
              <a:pathLst>
                <a:path w="863600" h="279400">
                  <a:moveTo>
                    <a:pt x="819150" y="133350"/>
                  </a:moveTo>
                  <a:lnTo>
                    <a:pt x="0" y="133350"/>
                  </a:lnTo>
                  <a:lnTo>
                    <a:pt x="0" y="279400"/>
                  </a:lnTo>
                  <a:lnTo>
                    <a:pt x="12700" y="279400"/>
                  </a:lnTo>
                  <a:lnTo>
                    <a:pt x="12700" y="146050"/>
                  </a:lnTo>
                  <a:lnTo>
                    <a:pt x="6350" y="146050"/>
                  </a:lnTo>
                  <a:lnTo>
                    <a:pt x="12700" y="139700"/>
                  </a:lnTo>
                  <a:lnTo>
                    <a:pt x="819150" y="139700"/>
                  </a:lnTo>
                  <a:lnTo>
                    <a:pt x="819150" y="133350"/>
                  </a:lnTo>
                  <a:close/>
                </a:path>
                <a:path w="863600" h="279400">
                  <a:moveTo>
                    <a:pt x="12700" y="139700"/>
                  </a:moveTo>
                  <a:lnTo>
                    <a:pt x="6350" y="146050"/>
                  </a:lnTo>
                  <a:lnTo>
                    <a:pt x="12700" y="146050"/>
                  </a:lnTo>
                  <a:lnTo>
                    <a:pt x="12700" y="139700"/>
                  </a:lnTo>
                  <a:close/>
                </a:path>
                <a:path w="863600" h="279400">
                  <a:moveTo>
                    <a:pt x="831850" y="133350"/>
                  </a:moveTo>
                  <a:lnTo>
                    <a:pt x="825500" y="133350"/>
                  </a:lnTo>
                  <a:lnTo>
                    <a:pt x="819150" y="139700"/>
                  </a:lnTo>
                  <a:lnTo>
                    <a:pt x="12700" y="139700"/>
                  </a:lnTo>
                  <a:lnTo>
                    <a:pt x="12700" y="146050"/>
                  </a:lnTo>
                  <a:lnTo>
                    <a:pt x="831850" y="146050"/>
                  </a:lnTo>
                  <a:lnTo>
                    <a:pt x="831850" y="133350"/>
                  </a:lnTo>
                  <a:close/>
                </a:path>
                <a:path w="863600" h="279400">
                  <a:moveTo>
                    <a:pt x="831850" y="63500"/>
                  </a:moveTo>
                  <a:lnTo>
                    <a:pt x="819150" y="63500"/>
                  </a:lnTo>
                  <a:lnTo>
                    <a:pt x="819150" y="139700"/>
                  </a:lnTo>
                  <a:lnTo>
                    <a:pt x="825500" y="133350"/>
                  </a:lnTo>
                  <a:lnTo>
                    <a:pt x="831850" y="133350"/>
                  </a:lnTo>
                  <a:lnTo>
                    <a:pt x="831850" y="63500"/>
                  </a:lnTo>
                  <a:close/>
                </a:path>
                <a:path w="863600" h="279400">
                  <a:moveTo>
                    <a:pt x="825500" y="0"/>
                  </a:moveTo>
                  <a:lnTo>
                    <a:pt x="787400" y="76200"/>
                  </a:lnTo>
                  <a:lnTo>
                    <a:pt x="819150" y="76200"/>
                  </a:lnTo>
                  <a:lnTo>
                    <a:pt x="819150" y="63500"/>
                  </a:lnTo>
                  <a:lnTo>
                    <a:pt x="857250" y="63500"/>
                  </a:lnTo>
                  <a:lnTo>
                    <a:pt x="825500" y="0"/>
                  </a:lnTo>
                  <a:close/>
                </a:path>
                <a:path w="863600" h="279400">
                  <a:moveTo>
                    <a:pt x="857250" y="63500"/>
                  </a:moveTo>
                  <a:lnTo>
                    <a:pt x="831850" y="63500"/>
                  </a:lnTo>
                  <a:lnTo>
                    <a:pt x="831850" y="76200"/>
                  </a:lnTo>
                  <a:lnTo>
                    <a:pt x="863600" y="76200"/>
                  </a:lnTo>
                  <a:lnTo>
                    <a:pt x="8572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9475" y="3911600"/>
              <a:ext cx="76200" cy="427355"/>
            </a:xfrm>
            <a:custGeom>
              <a:avLst/>
              <a:gdLst/>
              <a:ahLst/>
              <a:cxnLst/>
              <a:rect l="l" t="t" r="r" b="b"/>
              <a:pathLst>
                <a:path w="76200" h="427354">
                  <a:moveTo>
                    <a:pt x="31750" y="207899"/>
                  </a:moveTo>
                  <a:lnTo>
                    <a:pt x="22225" y="207899"/>
                  </a:lnTo>
                  <a:lnTo>
                    <a:pt x="22225" y="426974"/>
                  </a:lnTo>
                  <a:lnTo>
                    <a:pt x="34925" y="426974"/>
                  </a:lnTo>
                  <a:lnTo>
                    <a:pt x="34925" y="220599"/>
                  </a:lnTo>
                  <a:lnTo>
                    <a:pt x="28575" y="220599"/>
                  </a:lnTo>
                  <a:lnTo>
                    <a:pt x="34925" y="214249"/>
                  </a:lnTo>
                  <a:lnTo>
                    <a:pt x="31750" y="214249"/>
                  </a:lnTo>
                  <a:lnTo>
                    <a:pt x="31750" y="207899"/>
                  </a:lnTo>
                  <a:close/>
                </a:path>
                <a:path w="76200" h="427354">
                  <a:moveTo>
                    <a:pt x="34925" y="214249"/>
                  </a:moveTo>
                  <a:lnTo>
                    <a:pt x="28575" y="220599"/>
                  </a:lnTo>
                  <a:lnTo>
                    <a:pt x="34925" y="220599"/>
                  </a:lnTo>
                  <a:lnTo>
                    <a:pt x="34925" y="214249"/>
                  </a:lnTo>
                  <a:close/>
                </a:path>
                <a:path w="76200" h="427354">
                  <a:moveTo>
                    <a:pt x="44450" y="207899"/>
                  </a:moveTo>
                  <a:lnTo>
                    <a:pt x="38100" y="207899"/>
                  </a:lnTo>
                  <a:lnTo>
                    <a:pt x="31750" y="214249"/>
                  </a:lnTo>
                  <a:lnTo>
                    <a:pt x="34925" y="214249"/>
                  </a:lnTo>
                  <a:lnTo>
                    <a:pt x="34925" y="220599"/>
                  </a:lnTo>
                  <a:lnTo>
                    <a:pt x="44450" y="220599"/>
                  </a:lnTo>
                  <a:lnTo>
                    <a:pt x="44450" y="207899"/>
                  </a:lnTo>
                  <a:close/>
                </a:path>
                <a:path w="76200" h="4273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14249"/>
                  </a:lnTo>
                  <a:lnTo>
                    <a:pt x="38100" y="207899"/>
                  </a:lnTo>
                  <a:lnTo>
                    <a:pt x="44450" y="207899"/>
                  </a:lnTo>
                  <a:lnTo>
                    <a:pt x="44450" y="63500"/>
                  </a:lnTo>
                  <a:close/>
                </a:path>
                <a:path w="76200" h="4273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73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85849" y="3911600"/>
              <a:ext cx="3180080" cy="431800"/>
            </a:xfrm>
            <a:custGeom>
              <a:avLst/>
              <a:gdLst/>
              <a:ahLst/>
              <a:cxnLst/>
              <a:rect l="l" t="t" r="r" b="b"/>
              <a:pathLst>
                <a:path w="3180079" h="431800">
                  <a:moveTo>
                    <a:pt x="3135376" y="209550"/>
                  </a:moveTo>
                  <a:lnTo>
                    <a:pt x="0" y="209550"/>
                  </a:lnTo>
                  <a:lnTo>
                    <a:pt x="0" y="431800"/>
                  </a:lnTo>
                  <a:lnTo>
                    <a:pt x="12700" y="431800"/>
                  </a:lnTo>
                  <a:lnTo>
                    <a:pt x="12700" y="222250"/>
                  </a:lnTo>
                  <a:lnTo>
                    <a:pt x="6350" y="222250"/>
                  </a:lnTo>
                  <a:lnTo>
                    <a:pt x="12700" y="215900"/>
                  </a:lnTo>
                  <a:lnTo>
                    <a:pt x="3135376" y="215900"/>
                  </a:lnTo>
                  <a:lnTo>
                    <a:pt x="3135376" y="209550"/>
                  </a:lnTo>
                  <a:close/>
                </a:path>
                <a:path w="3180079" h="431800">
                  <a:moveTo>
                    <a:pt x="12700" y="215900"/>
                  </a:moveTo>
                  <a:lnTo>
                    <a:pt x="6350" y="222250"/>
                  </a:lnTo>
                  <a:lnTo>
                    <a:pt x="12700" y="222250"/>
                  </a:lnTo>
                  <a:lnTo>
                    <a:pt x="12700" y="215900"/>
                  </a:lnTo>
                  <a:close/>
                </a:path>
                <a:path w="3180079" h="431800">
                  <a:moveTo>
                    <a:pt x="3148076" y="209550"/>
                  </a:moveTo>
                  <a:lnTo>
                    <a:pt x="3141726" y="209550"/>
                  </a:lnTo>
                  <a:lnTo>
                    <a:pt x="3135376" y="215900"/>
                  </a:lnTo>
                  <a:lnTo>
                    <a:pt x="12700" y="215900"/>
                  </a:lnTo>
                  <a:lnTo>
                    <a:pt x="12700" y="222250"/>
                  </a:lnTo>
                  <a:lnTo>
                    <a:pt x="3148076" y="222250"/>
                  </a:lnTo>
                  <a:lnTo>
                    <a:pt x="3148076" y="209550"/>
                  </a:lnTo>
                  <a:close/>
                </a:path>
                <a:path w="3180079" h="431800">
                  <a:moveTo>
                    <a:pt x="3148076" y="63500"/>
                  </a:moveTo>
                  <a:lnTo>
                    <a:pt x="3135376" y="63500"/>
                  </a:lnTo>
                  <a:lnTo>
                    <a:pt x="3135376" y="215900"/>
                  </a:lnTo>
                  <a:lnTo>
                    <a:pt x="3141726" y="209550"/>
                  </a:lnTo>
                  <a:lnTo>
                    <a:pt x="3148076" y="209550"/>
                  </a:lnTo>
                  <a:lnTo>
                    <a:pt x="3148076" y="63500"/>
                  </a:lnTo>
                  <a:close/>
                </a:path>
                <a:path w="3180079" h="431800">
                  <a:moveTo>
                    <a:pt x="3141726" y="0"/>
                  </a:moveTo>
                  <a:lnTo>
                    <a:pt x="3103626" y="76200"/>
                  </a:lnTo>
                  <a:lnTo>
                    <a:pt x="3135376" y="76200"/>
                  </a:lnTo>
                  <a:lnTo>
                    <a:pt x="3135376" y="63500"/>
                  </a:lnTo>
                  <a:lnTo>
                    <a:pt x="3173476" y="63500"/>
                  </a:lnTo>
                  <a:lnTo>
                    <a:pt x="3141726" y="0"/>
                  </a:lnTo>
                  <a:close/>
                </a:path>
                <a:path w="3180079" h="431800">
                  <a:moveTo>
                    <a:pt x="3173476" y="63500"/>
                  </a:moveTo>
                  <a:lnTo>
                    <a:pt x="3148076" y="63500"/>
                  </a:lnTo>
                  <a:lnTo>
                    <a:pt x="3148076" y="76200"/>
                  </a:lnTo>
                  <a:lnTo>
                    <a:pt x="3179826" y="76200"/>
                  </a:lnTo>
                  <a:lnTo>
                    <a:pt x="317347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03398" y="2924175"/>
              <a:ext cx="2430780" cy="428625"/>
            </a:xfrm>
            <a:custGeom>
              <a:avLst/>
              <a:gdLst/>
              <a:ahLst/>
              <a:cxnLst/>
              <a:rect l="l" t="t" r="r" b="b"/>
              <a:pathLst>
                <a:path w="2430779" h="428625">
                  <a:moveTo>
                    <a:pt x="2417826" y="214249"/>
                  </a:moveTo>
                  <a:lnTo>
                    <a:pt x="2417826" y="428625"/>
                  </a:lnTo>
                  <a:lnTo>
                    <a:pt x="2430526" y="428625"/>
                  </a:lnTo>
                  <a:lnTo>
                    <a:pt x="2430526" y="220599"/>
                  </a:lnTo>
                  <a:lnTo>
                    <a:pt x="2424176" y="220599"/>
                  </a:lnTo>
                  <a:lnTo>
                    <a:pt x="2417826" y="214249"/>
                  </a:lnTo>
                  <a:close/>
                </a:path>
                <a:path w="2430779" h="4286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0599"/>
                  </a:lnTo>
                  <a:lnTo>
                    <a:pt x="2417826" y="220599"/>
                  </a:lnTo>
                  <a:lnTo>
                    <a:pt x="2417826" y="214249"/>
                  </a:lnTo>
                  <a:lnTo>
                    <a:pt x="44450" y="214249"/>
                  </a:lnTo>
                  <a:lnTo>
                    <a:pt x="38100" y="207899"/>
                  </a:lnTo>
                  <a:lnTo>
                    <a:pt x="44450" y="207899"/>
                  </a:lnTo>
                  <a:lnTo>
                    <a:pt x="44450" y="63500"/>
                  </a:lnTo>
                  <a:close/>
                </a:path>
                <a:path w="2430779" h="428625">
                  <a:moveTo>
                    <a:pt x="2430526" y="207899"/>
                  </a:moveTo>
                  <a:lnTo>
                    <a:pt x="44450" y="207899"/>
                  </a:lnTo>
                  <a:lnTo>
                    <a:pt x="44450" y="214249"/>
                  </a:lnTo>
                  <a:lnTo>
                    <a:pt x="2417826" y="214249"/>
                  </a:lnTo>
                  <a:lnTo>
                    <a:pt x="2424176" y="220599"/>
                  </a:lnTo>
                  <a:lnTo>
                    <a:pt x="2430526" y="220599"/>
                  </a:lnTo>
                  <a:lnTo>
                    <a:pt x="2430526" y="207899"/>
                  </a:lnTo>
                  <a:close/>
                </a:path>
                <a:path w="2430779" h="428625">
                  <a:moveTo>
                    <a:pt x="44450" y="207899"/>
                  </a:moveTo>
                  <a:lnTo>
                    <a:pt x="38100" y="207899"/>
                  </a:lnTo>
                  <a:lnTo>
                    <a:pt x="44450" y="214249"/>
                  </a:lnTo>
                  <a:lnTo>
                    <a:pt x="44450" y="207899"/>
                  </a:lnTo>
                  <a:close/>
                </a:path>
                <a:path w="2430779" h="4286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30779" h="4286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06873" y="2940050"/>
              <a:ext cx="76200" cy="412750"/>
            </a:xfrm>
            <a:custGeom>
              <a:avLst/>
              <a:gdLst/>
              <a:ahLst/>
              <a:cxnLst/>
              <a:rect l="l" t="t" r="r" b="b"/>
              <a:pathLst>
                <a:path w="76200" h="412750">
                  <a:moveTo>
                    <a:pt x="31750" y="200025"/>
                  </a:moveTo>
                  <a:lnTo>
                    <a:pt x="14350" y="200025"/>
                  </a:lnTo>
                  <a:lnTo>
                    <a:pt x="14350" y="412750"/>
                  </a:lnTo>
                  <a:lnTo>
                    <a:pt x="27050" y="412750"/>
                  </a:lnTo>
                  <a:lnTo>
                    <a:pt x="27050" y="212725"/>
                  </a:lnTo>
                  <a:lnTo>
                    <a:pt x="20700" y="212725"/>
                  </a:lnTo>
                  <a:lnTo>
                    <a:pt x="27050" y="206375"/>
                  </a:lnTo>
                  <a:lnTo>
                    <a:pt x="31750" y="206375"/>
                  </a:lnTo>
                  <a:lnTo>
                    <a:pt x="31750" y="200025"/>
                  </a:lnTo>
                  <a:close/>
                </a:path>
                <a:path w="76200" h="412750">
                  <a:moveTo>
                    <a:pt x="27050" y="206375"/>
                  </a:moveTo>
                  <a:lnTo>
                    <a:pt x="20700" y="212725"/>
                  </a:lnTo>
                  <a:lnTo>
                    <a:pt x="27050" y="212725"/>
                  </a:lnTo>
                  <a:lnTo>
                    <a:pt x="27050" y="206375"/>
                  </a:lnTo>
                  <a:close/>
                </a:path>
                <a:path w="76200" h="412750">
                  <a:moveTo>
                    <a:pt x="44450" y="200025"/>
                  </a:moveTo>
                  <a:lnTo>
                    <a:pt x="38100" y="200025"/>
                  </a:lnTo>
                  <a:lnTo>
                    <a:pt x="31750" y="206375"/>
                  </a:lnTo>
                  <a:lnTo>
                    <a:pt x="27050" y="206375"/>
                  </a:lnTo>
                  <a:lnTo>
                    <a:pt x="27050" y="212725"/>
                  </a:lnTo>
                  <a:lnTo>
                    <a:pt x="44450" y="212725"/>
                  </a:lnTo>
                  <a:lnTo>
                    <a:pt x="44450" y="200025"/>
                  </a:lnTo>
                  <a:close/>
                </a:path>
                <a:path w="76200" h="4127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06375"/>
                  </a:lnTo>
                  <a:lnTo>
                    <a:pt x="38100" y="200025"/>
                  </a:lnTo>
                  <a:lnTo>
                    <a:pt x="44450" y="200025"/>
                  </a:lnTo>
                  <a:lnTo>
                    <a:pt x="44450" y="63500"/>
                  </a:lnTo>
                  <a:close/>
                </a:path>
                <a:path w="76200" h="4127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27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05430" y="2165350"/>
              <a:ext cx="72262" cy="121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4173" y="1708150"/>
              <a:ext cx="76200" cy="730250"/>
            </a:xfrm>
            <a:custGeom>
              <a:avLst/>
              <a:gdLst/>
              <a:ahLst/>
              <a:cxnLst/>
              <a:rect l="l" t="t" r="r" b="b"/>
              <a:pathLst>
                <a:path w="76200" h="730250">
                  <a:moveTo>
                    <a:pt x="44450" y="365125"/>
                  </a:moveTo>
                  <a:lnTo>
                    <a:pt x="44450" y="730250"/>
                  </a:lnTo>
                  <a:lnTo>
                    <a:pt x="57150" y="730250"/>
                  </a:lnTo>
                  <a:lnTo>
                    <a:pt x="57150" y="371475"/>
                  </a:lnTo>
                  <a:lnTo>
                    <a:pt x="50800" y="371475"/>
                  </a:lnTo>
                  <a:lnTo>
                    <a:pt x="44450" y="365125"/>
                  </a:lnTo>
                  <a:close/>
                </a:path>
                <a:path w="76200" h="7302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71475"/>
                  </a:lnTo>
                  <a:lnTo>
                    <a:pt x="44450" y="371475"/>
                  </a:lnTo>
                  <a:lnTo>
                    <a:pt x="44450" y="365125"/>
                  </a:lnTo>
                  <a:lnTo>
                    <a:pt x="38100" y="358775"/>
                  </a:lnTo>
                  <a:lnTo>
                    <a:pt x="44450" y="358775"/>
                  </a:lnTo>
                  <a:lnTo>
                    <a:pt x="44450" y="63500"/>
                  </a:lnTo>
                  <a:close/>
                </a:path>
                <a:path w="76200" h="730250">
                  <a:moveTo>
                    <a:pt x="57150" y="358775"/>
                  </a:moveTo>
                  <a:lnTo>
                    <a:pt x="44450" y="358775"/>
                  </a:lnTo>
                  <a:lnTo>
                    <a:pt x="44450" y="365125"/>
                  </a:lnTo>
                  <a:lnTo>
                    <a:pt x="50800" y="371475"/>
                  </a:lnTo>
                  <a:lnTo>
                    <a:pt x="57150" y="371475"/>
                  </a:lnTo>
                  <a:lnTo>
                    <a:pt x="57150" y="358775"/>
                  </a:lnTo>
                  <a:close/>
                </a:path>
                <a:path w="76200" h="730250">
                  <a:moveTo>
                    <a:pt x="44450" y="358775"/>
                  </a:moveTo>
                  <a:lnTo>
                    <a:pt x="38100" y="358775"/>
                  </a:lnTo>
                  <a:lnTo>
                    <a:pt x="44450" y="365125"/>
                  </a:lnTo>
                  <a:lnTo>
                    <a:pt x="44450" y="358775"/>
                  </a:lnTo>
                  <a:close/>
                </a:path>
                <a:path w="76200" h="7302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7302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6170676" y="2273300"/>
              <a:ext cx="1446530" cy="638175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65"/>
                </a:spcBef>
              </a:pPr>
              <a:r>
                <a:rPr sz="900" b="1" dirty="0">
                  <a:latin typeface="Tahoma"/>
                  <a:cs typeface="Tahoma"/>
                </a:rPr>
                <a:t>16</a:t>
              </a:r>
              <a:endParaRPr sz="900">
                <a:latin typeface="Tahoma"/>
                <a:cs typeface="Tahoma"/>
              </a:endParaRPr>
            </a:p>
            <a:p>
              <a:pPr marL="92710" marR="8509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MENOR COSTO POR  MANIPULACIÓN DE  FRUTA</a:t>
              </a:r>
              <a:r>
                <a:rPr sz="900" b="1" spc="-6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DETERIORADA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4721225" y="2911475"/>
              <a:ext cx="2211705" cy="441325"/>
            </a:xfrm>
            <a:custGeom>
              <a:avLst/>
              <a:gdLst/>
              <a:ahLst/>
              <a:cxnLst/>
              <a:rect l="l" t="t" r="r" b="b"/>
              <a:pathLst>
                <a:path w="2211704" h="441325">
                  <a:moveTo>
                    <a:pt x="2166874" y="214249"/>
                  </a:moveTo>
                  <a:lnTo>
                    <a:pt x="0" y="214249"/>
                  </a:lnTo>
                  <a:lnTo>
                    <a:pt x="0" y="441325"/>
                  </a:lnTo>
                  <a:lnTo>
                    <a:pt x="12700" y="441325"/>
                  </a:lnTo>
                  <a:lnTo>
                    <a:pt x="12700" y="226949"/>
                  </a:lnTo>
                  <a:lnTo>
                    <a:pt x="6350" y="226949"/>
                  </a:lnTo>
                  <a:lnTo>
                    <a:pt x="12700" y="220599"/>
                  </a:lnTo>
                  <a:lnTo>
                    <a:pt x="2166874" y="220599"/>
                  </a:lnTo>
                  <a:lnTo>
                    <a:pt x="2166874" y="214249"/>
                  </a:lnTo>
                  <a:close/>
                </a:path>
                <a:path w="2211704" h="441325">
                  <a:moveTo>
                    <a:pt x="12700" y="220599"/>
                  </a:moveTo>
                  <a:lnTo>
                    <a:pt x="6350" y="226949"/>
                  </a:lnTo>
                  <a:lnTo>
                    <a:pt x="12700" y="226949"/>
                  </a:lnTo>
                  <a:lnTo>
                    <a:pt x="12700" y="220599"/>
                  </a:lnTo>
                  <a:close/>
                </a:path>
                <a:path w="2211704" h="441325">
                  <a:moveTo>
                    <a:pt x="2179574" y="214249"/>
                  </a:moveTo>
                  <a:lnTo>
                    <a:pt x="2173224" y="214249"/>
                  </a:lnTo>
                  <a:lnTo>
                    <a:pt x="2166874" y="220599"/>
                  </a:lnTo>
                  <a:lnTo>
                    <a:pt x="12700" y="220599"/>
                  </a:lnTo>
                  <a:lnTo>
                    <a:pt x="12700" y="226949"/>
                  </a:lnTo>
                  <a:lnTo>
                    <a:pt x="2179574" y="226949"/>
                  </a:lnTo>
                  <a:lnTo>
                    <a:pt x="2179574" y="214249"/>
                  </a:lnTo>
                  <a:close/>
                </a:path>
                <a:path w="2211704" h="441325">
                  <a:moveTo>
                    <a:pt x="2179574" y="63500"/>
                  </a:moveTo>
                  <a:lnTo>
                    <a:pt x="2166874" y="63500"/>
                  </a:lnTo>
                  <a:lnTo>
                    <a:pt x="2166874" y="220599"/>
                  </a:lnTo>
                  <a:lnTo>
                    <a:pt x="2173224" y="214249"/>
                  </a:lnTo>
                  <a:lnTo>
                    <a:pt x="2179574" y="214249"/>
                  </a:lnTo>
                  <a:lnTo>
                    <a:pt x="2179574" y="63500"/>
                  </a:lnTo>
                  <a:close/>
                </a:path>
                <a:path w="2211704" h="441325">
                  <a:moveTo>
                    <a:pt x="2173224" y="0"/>
                  </a:moveTo>
                  <a:lnTo>
                    <a:pt x="2135124" y="76200"/>
                  </a:lnTo>
                  <a:lnTo>
                    <a:pt x="2166874" y="76200"/>
                  </a:lnTo>
                  <a:lnTo>
                    <a:pt x="2166874" y="63500"/>
                  </a:lnTo>
                  <a:lnTo>
                    <a:pt x="2204974" y="63500"/>
                  </a:lnTo>
                  <a:lnTo>
                    <a:pt x="2173224" y="0"/>
                  </a:lnTo>
                  <a:close/>
                </a:path>
                <a:path w="2211704" h="441325">
                  <a:moveTo>
                    <a:pt x="2204974" y="63500"/>
                  </a:moveTo>
                  <a:lnTo>
                    <a:pt x="2179574" y="63500"/>
                  </a:lnTo>
                  <a:lnTo>
                    <a:pt x="2179574" y="76200"/>
                  </a:lnTo>
                  <a:lnTo>
                    <a:pt x="2211324" y="76200"/>
                  </a:lnTo>
                  <a:lnTo>
                    <a:pt x="2204974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94173" y="1708150"/>
              <a:ext cx="2206625" cy="565150"/>
            </a:xfrm>
            <a:custGeom>
              <a:avLst/>
              <a:gdLst/>
              <a:ahLst/>
              <a:cxnLst/>
              <a:rect l="l" t="t" r="r" b="b"/>
              <a:pathLst>
                <a:path w="2206625" h="565150">
                  <a:moveTo>
                    <a:pt x="2193925" y="282575"/>
                  </a:moveTo>
                  <a:lnTo>
                    <a:pt x="2193925" y="565150"/>
                  </a:lnTo>
                  <a:lnTo>
                    <a:pt x="2206625" y="565150"/>
                  </a:lnTo>
                  <a:lnTo>
                    <a:pt x="2206625" y="288925"/>
                  </a:lnTo>
                  <a:lnTo>
                    <a:pt x="2200275" y="288925"/>
                  </a:lnTo>
                  <a:lnTo>
                    <a:pt x="2193925" y="282575"/>
                  </a:lnTo>
                  <a:close/>
                </a:path>
                <a:path w="2206625" h="5651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88925"/>
                  </a:lnTo>
                  <a:lnTo>
                    <a:pt x="2193925" y="288925"/>
                  </a:lnTo>
                  <a:lnTo>
                    <a:pt x="2193925" y="282575"/>
                  </a:lnTo>
                  <a:lnTo>
                    <a:pt x="44450" y="282575"/>
                  </a:lnTo>
                  <a:lnTo>
                    <a:pt x="38100" y="276225"/>
                  </a:lnTo>
                  <a:lnTo>
                    <a:pt x="44450" y="276225"/>
                  </a:lnTo>
                  <a:lnTo>
                    <a:pt x="44450" y="63500"/>
                  </a:lnTo>
                  <a:close/>
                </a:path>
                <a:path w="2206625" h="565150">
                  <a:moveTo>
                    <a:pt x="2206625" y="276225"/>
                  </a:moveTo>
                  <a:lnTo>
                    <a:pt x="44450" y="276225"/>
                  </a:lnTo>
                  <a:lnTo>
                    <a:pt x="44450" y="282575"/>
                  </a:lnTo>
                  <a:lnTo>
                    <a:pt x="2193925" y="282575"/>
                  </a:lnTo>
                  <a:lnTo>
                    <a:pt x="2200275" y="288925"/>
                  </a:lnTo>
                  <a:lnTo>
                    <a:pt x="2206625" y="288925"/>
                  </a:lnTo>
                  <a:lnTo>
                    <a:pt x="2206625" y="276225"/>
                  </a:lnTo>
                  <a:close/>
                </a:path>
                <a:path w="2206625" h="565150">
                  <a:moveTo>
                    <a:pt x="44450" y="276225"/>
                  </a:moveTo>
                  <a:lnTo>
                    <a:pt x="38100" y="276225"/>
                  </a:lnTo>
                  <a:lnTo>
                    <a:pt x="44450" y="282575"/>
                  </a:lnTo>
                  <a:lnTo>
                    <a:pt x="44450" y="276225"/>
                  </a:lnTo>
                  <a:close/>
                </a:path>
                <a:path w="2206625" h="5651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206625" h="5651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5100701" y="5176837"/>
              <a:ext cx="1217930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17</a:t>
              </a:r>
              <a:endParaRPr sz="900">
                <a:latin typeface="Tahoma"/>
                <a:cs typeface="Tahoma"/>
              </a:endParaRPr>
            </a:p>
            <a:p>
              <a:pPr marL="95885" marR="88900" indent="6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MEJORADAS  TECNOLOGÍAS  DE</a:t>
              </a:r>
              <a:r>
                <a:rPr sz="900" b="1" spc="-55" dirty="0">
                  <a:latin typeface="Tahoma"/>
                  <a:cs typeface="Tahoma"/>
                </a:rPr>
                <a:t> </a:t>
              </a:r>
              <a:r>
                <a:rPr sz="900" b="1" spc="-10" dirty="0"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679950" y="4897373"/>
              <a:ext cx="1036955" cy="279400"/>
            </a:xfrm>
            <a:custGeom>
              <a:avLst/>
              <a:gdLst/>
              <a:ahLst/>
              <a:cxnLst/>
              <a:rect l="l" t="t" r="r" b="b"/>
              <a:pathLst>
                <a:path w="1036954" h="279400">
                  <a:moveTo>
                    <a:pt x="1023874" y="139700"/>
                  </a:moveTo>
                  <a:lnTo>
                    <a:pt x="1023874" y="279400"/>
                  </a:lnTo>
                  <a:lnTo>
                    <a:pt x="1036574" y="279400"/>
                  </a:lnTo>
                  <a:lnTo>
                    <a:pt x="1036574" y="146050"/>
                  </a:lnTo>
                  <a:lnTo>
                    <a:pt x="1030224" y="146050"/>
                  </a:lnTo>
                  <a:lnTo>
                    <a:pt x="1023874" y="139700"/>
                  </a:lnTo>
                  <a:close/>
                </a:path>
                <a:path w="1036954" h="2794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46050"/>
                  </a:lnTo>
                  <a:lnTo>
                    <a:pt x="1023874" y="146050"/>
                  </a:lnTo>
                  <a:lnTo>
                    <a:pt x="1023874" y="139700"/>
                  </a:lnTo>
                  <a:lnTo>
                    <a:pt x="44450" y="139700"/>
                  </a:lnTo>
                  <a:lnTo>
                    <a:pt x="38100" y="133350"/>
                  </a:lnTo>
                  <a:lnTo>
                    <a:pt x="44450" y="133350"/>
                  </a:lnTo>
                  <a:lnTo>
                    <a:pt x="44450" y="63500"/>
                  </a:lnTo>
                  <a:close/>
                </a:path>
                <a:path w="1036954" h="279400">
                  <a:moveTo>
                    <a:pt x="1036574" y="133350"/>
                  </a:moveTo>
                  <a:lnTo>
                    <a:pt x="44450" y="133350"/>
                  </a:lnTo>
                  <a:lnTo>
                    <a:pt x="44450" y="139700"/>
                  </a:lnTo>
                  <a:lnTo>
                    <a:pt x="1023874" y="139700"/>
                  </a:lnTo>
                  <a:lnTo>
                    <a:pt x="1030224" y="146050"/>
                  </a:lnTo>
                  <a:lnTo>
                    <a:pt x="1036574" y="146050"/>
                  </a:lnTo>
                  <a:lnTo>
                    <a:pt x="1036574" y="133350"/>
                  </a:lnTo>
                  <a:close/>
                </a:path>
                <a:path w="1036954" h="279400">
                  <a:moveTo>
                    <a:pt x="44450" y="133350"/>
                  </a:moveTo>
                  <a:lnTo>
                    <a:pt x="38100" y="133350"/>
                  </a:lnTo>
                  <a:lnTo>
                    <a:pt x="44450" y="139700"/>
                  </a:lnTo>
                  <a:lnTo>
                    <a:pt x="44450" y="133350"/>
                  </a:lnTo>
                  <a:close/>
                </a:path>
                <a:path w="1036954" h="2794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1036954" h="2794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4267200" y="6067425"/>
              <a:ext cx="1260475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solidFill>
                    <a:srgbClr val="FFFFFF"/>
                  </a:solidFill>
                  <a:latin typeface="Tahoma"/>
                  <a:cs typeface="Tahoma"/>
                </a:rPr>
                <a:t>18</a:t>
              </a:r>
              <a:endParaRPr sz="900">
                <a:latin typeface="Tahoma"/>
                <a:cs typeface="Tahoma"/>
              </a:endParaRPr>
            </a:p>
            <a:p>
              <a:pPr marL="97155" marR="90170" indent="-29209" algn="ctr">
                <a:lnSpc>
                  <a:spcPct val="100000"/>
                </a:lnSpc>
              </a:pPr>
              <a:r>
                <a:rPr sz="900" b="1" spc="-5" dirty="0">
                  <a:solidFill>
                    <a:srgbClr val="FFFFFF"/>
                  </a:solidFill>
                  <a:latin typeface="Tahoma"/>
                  <a:cs typeface="Tahoma"/>
                </a:rPr>
                <a:t>INCENTIVOS  ADECUADOS</a:t>
              </a:r>
              <a:r>
                <a:rPr sz="900" b="1" spc="-95" dirty="0">
                  <a:solidFill>
                    <a:srgbClr val="FFFFFF"/>
                  </a:solidFill>
                  <a:latin typeface="Tahoma"/>
                  <a:cs typeface="Tahoma"/>
                </a:rPr>
                <a:t> </a:t>
              </a:r>
              <a:r>
                <a:rPr sz="900" b="1" spc="-5" dirty="0">
                  <a:solidFill>
                    <a:srgbClr val="FFFFFF"/>
                  </a:solidFill>
                  <a:latin typeface="Tahoma"/>
                  <a:cs typeface="Tahoma"/>
                </a:rPr>
                <a:t>PARA  </a:t>
              </a:r>
              <a:r>
                <a:rPr sz="900" b="1" spc="-10" dirty="0">
                  <a:solidFill>
                    <a:srgbClr val="FFFFFF"/>
                  </a:solidFill>
                  <a:latin typeface="Tahoma"/>
                  <a:cs typeface="Tahoma"/>
                </a:rPr>
                <a:t>RECOLECCIÓN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679950" y="4897373"/>
              <a:ext cx="224154" cy="1170305"/>
            </a:xfrm>
            <a:custGeom>
              <a:avLst/>
              <a:gdLst/>
              <a:ahLst/>
              <a:cxnLst/>
              <a:rect l="l" t="t" r="r" b="b"/>
              <a:pathLst>
                <a:path w="224154" h="1170304">
                  <a:moveTo>
                    <a:pt x="211074" y="585088"/>
                  </a:moveTo>
                  <a:lnTo>
                    <a:pt x="211074" y="1170051"/>
                  </a:lnTo>
                  <a:lnTo>
                    <a:pt x="223774" y="1170051"/>
                  </a:lnTo>
                  <a:lnTo>
                    <a:pt x="223774" y="591438"/>
                  </a:lnTo>
                  <a:lnTo>
                    <a:pt x="217424" y="591438"/>
                  </a:lnTo>
                  <a:lnTo>
                    <a:pt x="211074" y="585088"/>
                  </a:lnTo>
                  <a:close/>
                </a:path>
                <a:path w="224154" h="117030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91438"/>
                  </a:lnTo>
                  <a:lnTo>
                    <a:pt x="211074" y="591438"/>
                  </a:lnTo>
                  <a:lnTo>
                    <a:pt x="211074" y="585088"/>
                  </a:lnTo>
                  <a:lnTo>
                    <a:pt x="44450" y="585088"/>
                  </a:lnTo>
                  <a:lnTo>
                    <a:pt x="38100" y="578738"/>
                  </a:lnTo>
                  <a:lnTo>
                    <a:pt x="44450" y="578738"/>
                  </a:lnTo>
                  <a:lnTo>
                    <a:pt x="44450" y="63500"/>
                  </a:lnTo>
                  <a:close/>
                </a:path>
                <a:path w="224154" h="1170304">
                  <a:moveTo>
                    <a:pt x="223774" y="578738"/>
                  </a:moveTo>
                  <a:lnTo>
                    <a:pt x="44450" y="578738"/>
                  </a:lnTo>
                  <a:lnTo>
                    <a:pt x="44450" y="585088"/>
                  </a:lnTo>
                  <a:lnTo>
                    <a:pt x="211074" y="585088"/>
                  </a:lnTo>
                  <a:lnTo>
                    <a:pt x="217424" y="591438"/>
                  </a:lnTo>
                  <a:lnTo>
                    <a:pt x="223774" y="591438"/>
                  </a:lnTo>
                  <a:lnTo>
                    <a:pt x="223774" y="578738"/>
                  </a:lnTo>
                  <a:close/>
                </a:path>
                <a:path w="224154" h="1170304">
                  <a:moveTo>
                    <a:pt x="44450" y="578738"/>
                  </a:moveTo>
                  <a:lnTo>
                    <a:pt x="38100" y="578738"/>
                  </a:lnTo>
                  <a:lnTo>
                    <a:pt x="44450" y="585088"/>
                  </a:lnTo>
                  <a:lnTo>
                    <a:pt x="44450" y="578738"/>
                  </a:lnTo>
                  <a:close/>
                </a:path>
                <a:path w="224154" h="117030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24154" h="117030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1050925" y="5956300"/>
              <a:ext cx="1205230" cy="638175"/>
            </a:xfrm>
            <a:prstGeom prst="rect">
              <a:avLst/>
            </a:prstGeom>
            <a:solidFill>
              <a:srgbClr val="FFCCCC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13</a:t>
              </a:r>
              <a:endParaRPr sz="900">
                <a:latin typeface="Tahoma"/>
                <a:cs typeface="Tahoma"/>
              </a:endParaRPr>
            </a:p>
            <a:p>
              <a:pPr marL="90170" marR="8191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MA</a:t>
              </a:r>
              <a:r>
                <a:rPr sz="900" b="1" dirty="0">
                  <a:latin typeface="Tahoma"/>
                  <a:cs typeface="Tahoma"/>
                </a:rPr>
                <a:t>NT</a:t>
              </a:r>
              <a:r>
                <a:rPr sz="900" b="1" spc="-5" dirty="0">
                  <a:latin typeface="Tahoma"/>
                  <a:cs typeface="Tahoma"/>
                </a:rPr>
                <a:t>ENIMIENTO  ADECUADO DE  COSECHADORAS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674876" y="977900"/>
              <a:ext cx="1476375" cy="501650"/>
            </a:xfrm>
            <a:prstGeom prst="rect">
              <a:avLst/>
            </a:prstGeom>
            <a:solidFill>
              <a:srgbClr val="CCEBFF"/>
            </a:solidFill>
          </p:spPr>
          <p:txBody>
            <a:bodyPr vert="horz" wrap="square" lIns="0" tIns="45720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360"/>
                </a:spcBef>
              </a:pPr>
              <a:r>
                <a:rPr sz="900" b="1" dirty="0">
                  <a:latin typeface="Tahoma"/>
                  <a:cs typeface="Tahoma"/>
                </a:rPr>
                <a:t>19</a:t>
              </a:r>
              <a:endParaRPr sz="900">
                <a:latin typeface="Tahoma"/>
                <a:cs typeface="Tahoma"/>
              </a:endParaRPr>
            </a:p>
            <a:p>
              <a:pPr marL="92075" marR="83185" indent="-190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AMENAZAS </a:t>
              </a:r>
              <a:r>
                <a:rPr sz="900" b="1" dirty="0">
                  <a:latin typeface="Tahoma"/>
                  <a:cs typeface="Tahoma"/>
                </a:rPr>
                <a:t>A </a:t>
              </a:r>
              <a:r>
                <a:rPr sz="900" b="1" spc="-5" dirty="0">
                  <a:latin typeface="Tahoma"/>
                  <a:cs typeface="Tahoma"/>
                </a:rPr>
                <a:t>LA  SALUD</a:t>
              </a:r>
              <a:r>
                <a:rPr sz="900" b="1" spc="-7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CONTROLADAS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9025" y="1479550"/>
              <a:ext cx="92075" cy="1841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228600" y="5181600"/>
              <a:ext cx="1139825" cy="638175"/>
            </a:xfrm>
            <a:prstGeom prst="rect">
              <a:avLst/>
            </a:prstGeom>
            <a:solidFill>
              <a:srgbClr val="FFCCCC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20</a:t>
              </a:r>
              <a:endParaRPr sz="900">
                <a:latin typeface="Tahoma"/>
                <a:cs typeface="Tahoma"/>
              </a:endParaRPr>
            </a:p>
            <a:p>
              <a:pPr marL="91440" marR="83820" indent="-1270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ADECUADO  DISEÑO DE LAS  C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EC</a:t>
              </a:r>
              <a:r>
                <a:rPr sz="900" b="1" spc="-10" dirty="0">
                  <a:latin typeface="Tahoma"/>
                  <a:cs typeface="Tahoma"/>
                </a:rPr>
                <a:t>H</a:t>
              </a:r>
              <a:r>
                <a:rPr sz="900" b="1" spc="-5" dirty="0">
                  <a:latin typeface="Tahoma"/>
                  <a:cs typeface="Tahoma"/>
                </a:rPr>
                <a:t>AD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10" dirty="0">
                  <a:latin typeface="Tahoma"/>
                  <a:cs typeface="Tahoma"/>
                </a:rPr>
                <a:t>R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dirty="0">
                  <a:latin typeface="Tahoma"/>
                  <a:cs typeface="Tahoma"/>
                </a:rPr>
                <a:t>S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92162" y="4892675"/>
              <a:ext cx="838200" cy="288925"/>
            </a:xfrm>
            <a:custGeom>
              <a:avLst/>
              <a:gdLst/>
              <a:ahLst/>
              <a:cxnLst/>
              <a:rect l="l" t="t" r="r" b="b"/>
              <a:pathLst>
                <a:path w="838200" h="288925">
                  <a:moveTo>
                    <a:pt x="793686" y="138049"/>
                  </a:moveTo>
                  <a:lnTo>
                    <a:pt x="0" y="138049"/>
                  </a:lnTo>
                  <a:lnTo>
                    <a:pt x="0" y="288925"/>
                  </a:lnTo>
                  <a:lnTo>
                    <a:pt x="12700" y="288925"/>
                  </a:lnTo>
                  <a:lnTo>
                    <a:pt x="12700" y="150749"/>
                  </a:lnTo>
                  <a:lnTo>
                    <a:pt x="6350" y="150749"/>
                  </a:lnTo>
                  <a:lnTo>
                    <a:pt x="12700" y="144399"/>
                  </a:lnTo>
                  <a:lnTo>
                    <a:pt x="793686" y="144399"/>
                  </a:lnTo>
                  <a:lnTo>
                    <a:pt x="793686" y="138049"/>
                  </a:lnTo>
                  <a:close/>
                </a:path>
                <a:path w="838200" h="288925">
                  <a:moveTo>
                    <a:pt x="12700" y="144399"/>
                  </a:moveTo>
                  <a:lnTo>
                    <a:pt x="6350" y="150749"/>
                  </a:lnTo>
                  <a:lnTo>
                    <a:pt x="12700" y="150749"/>
                  </a:lnTo>
                  <a:lnTo>
                    <a:pt x="12700" y="144399"/>
                  </a:lnTo>
                  <a:close/>
                </a:path>
                <a:path w="838200" h="288925">
                  <a:moveTo>
                    <a:pt x="806386" y="138049"/>
                  </a:moveTo>
                  <a:lnTo>
                    <a:pt x="800036" y="138049"/>
                  </a:lnTo>
                  <a:lnTo>
                    <a:pt x="793686" y="144399"/>
                  </a:lnTo>
                  <a:lnTo>
                    <a:pt x="12700" y="144399"/>
                  </a:lnTo>
                  <a:lnTo>
                    <a:pt x="12700" y="150749"/>
                  </a:lnTo>
                  <a:lnTo>
                    <a:pt x="806386" y="150749"/>
                  </a:lnTo>
                  <a:lnTo>
                    <a:pt x="806386" y="138049"/>
                  </a:lnTo>
                  <a:close/>
                </a:path>
                <a:path w="838200" h="288925">
                  <a:moveTo>
                    <a:pt x="806386" y="63500"/>
                  </a:moveTo>
                  <a:lnTo>
                    <a:pt x="793686" y="63500"/>
                  </a:lnTo>
                  <a:lnTo>
                    <a:pt x="793686" y="144399"/>
                  </a:lnTo>
                  <a:lnTo>
                    <a:pt x="800036" y="138049"/>
                  </a:lnTo>
                  <a:lnTo>
                    <a:pt x="806386" y="138049"/>
                  </a:lnTo>
                  <a:lnTo>
                    <a:pt x="806386" y="63500"/>
                  </a:lnTo>
                  <a:close/>
                </a:path>
                <a:path w="838200" h="288925">
                  <a:moveTo>
                    <a:pt x="800036" y="0"/>
                  </a:moveTo>
                  <a:lnTo>
                    <a:pt x="761936" y="76200"/>
                  </a:lnTo>
                  <a:lnTo>
                    <a:pt x="793686" y="76200"/>
                  </a:lnTo>
                  <a:lnTo>
                    <a:pt x="793686" y="63500"/>
                  </a:lnTo>
                  <a:lnTo>
                    <a:pt x="831786" y="63500"/>
                  </a:lnTo>
                  <a:lnTo>
                    <a:pt x="800036" y="0"/>
                  </a:lnTo>
                  <a:close/>
                </a:path>
                <a:path w="838200" h="288925">
                  <a:moveTo>
                    <a:pt x="831786" y="63500"/>
                  </a:moveTo>
                  <a:lnTo>
                    <a:pt x="806386" y="63500"/>
                  </a:lnTo>
                  <a:lnTo>
                    <a:pt x="806386" y="76200"/>
                  </a:lnTo>
                  <a:lnTo>
                    <a:pt x="838136" y="76200"/>
                  </a:lnTo>
                  <a:lnTo>
                    <a:pt x="83178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6400800" y="4343400"/>
              <a:ext cx="2275205" cy="549275"/>
            </a:xfrm>
            <a:prstGeom prst="rect">
              <a:avLst/>
            </a:prstGeom>
            <a:solidFill>
              <a:srgbClr val="FFCCCC"/>
            </a:solidFill>
          </p:spPr>
          <p:txBody>
            <a:bodyPr vert="horz" wrap="square" lIns="0" tIns="46355" rIns="0" bIns="0" rtlCol="0">
              <a:spAutoFit/>
            </a:bodyPr>
            <a:lstStyle/>
            <a:p>
              <a:pPr marL="1905" algn="ctr">
                <a:lnSpc>
                  <a:spcPct val="100000"/>
                </a:lnSpc>
                <a:spcBef>
                  <a:spcPts val="365"/>
                </a:spcBef>
              </a:pPr>
              <a:r>
                <a:rPr sz="1000" b="1" spc="-5" dirty="0">
                  <a:latin typeface="Tahoma"/>
                  <a:cs typeface="Tahoma"/>
                </a:rPr>
                <a:t>21</a:t>
              </a:r>
              <a:endParaRPr sz="1000">
                <a:latin typeface="Tahoma"/>
                <a:cs typeface="Tahoma"/>
              </a:endParaRPr>
            </a:p>
            <a:p>
              <a:pPr marL="95885" marR="88900" indent="-635" algn="ctr">
                <a:lnSpc>
                  <a:spcPct val="100000"/>
                </a:lnSpc>
              </a:pPr>
              <a:r>
                <a:rPr sz="1000" b="1" spc="-10" dirty="0">
                  <a:latin typeface="Tahoma"/>
                  <a:cs typeface="Tahoma"/>
                </a:rPr>
                <a:t>NUEVA </a:t>
              </a:r>
              <a:r>
                <a:rPr sz="1000" b="1" spc="-5" dirty="0">
                  <a:latin typeface="Tahoma"/>
                  <a:cs typeface="Tahoma"/>
                </a:rPr>
                <a:t>VARIEDAD </a:t>
              </a:r>
              <a:r>
                <a:rPr sz="1000" b="1" spc="-10" dirty="0">
                  <a:latin typeface="Tahoma"/>
                  <a:cs typeface="Tahoma"/>
                </a:rPr>
                <a:t>DE FRUTA  RESISTENTE </a:t>
              </a:r>
              <a:r>
                <a:rPr sz="1000" b="1" spc="-5" dirty="0">
                  <a:latin typeface="Tahoma"/>
                  <a:cs typeface="Tahoma"/>
                </a:rPr>
                <a:t>A LA</a:t>
              </a:r>
              <a:r>
                <a:rPr sz="1000" b="1" spc="-15" dirty="0">
                  <a:latin typeface="Tahoma"/>
                  <a:cs typeface="Tahoma"/>
                </a:rPr>
                <a:t> </a:t>
              </a:r>
              <a:r>
                <a:rPr sz="1000" b="1" spc="-10" dirty="0">
                  <a:latin typeface="Tahoma"/>
                  <a:cs typeface="Tahoma"/>
                </a:rPr>
                <a:t>RECOLECCIÓN</a:t>
              </a:r>
              <a:endParaRPr sz="1000">
                <a:latin typeface="Tahoma"/>
                <a:cs typeface="Tahoma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689475" y="3911600"/>
              <a:ext cx="2856230" cy="431800"/>
            </a:xfrm>
            <a:custGeom>
              <a:avLst/>
              <a:gdLst/>
              <a:ahLst/>
              <a:cxnLst/>
              <a:rect l="l" t="t" r="r" b="b"/>
              <a:pathLst>
                <a:path w="2856229" h="431800">
                  <a:moveTo>
                    <a:pt x="2843149" y="215900"/>
                  </a:moveTo>
                  <a:lnTo>
                    <a:pt x="2843149" y="431800"/>
                  </a:lnTo>
                  <a:lnTo>
                    <a:pt x="2855849" y="431800"/>
                  </a:lnTo>
                  <a:lnTo>
                    <a:pt x="2855849" y="222250"/>
                  </a:lnTo>
                  <a:lnTo>
                    <a:pt x="2849499" y="222250"/>
                  </a:lnTo>
                  <a:lnTo>
                    <a:pt x="2843149" y="215900"/>
                  </a:lnTo>
                  <a:close/>
                </a:path>
                <a:path w="2856229" h="431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2250"/>
                  </a:lnTo>
                  <a:lnTo>
                    <a:pt x="2843149" y="222250"/>
                  </a:lnTo>
                  <a:lnTo>
                    <a:pt x="2843149" y="215900"/>
                  </a:lnTo>
                  <a:lnTo>
                    <a:pt x="44450" y="215900"/>
                  </a:lnTo>
                  <a:lnTo>
                    <a:pt x="38100" y="209550"/>
                  </a:lnTo>
                  <a:lnTo>
                    <a:pt x="44450" y="209550"/>
                  </a:lnTo>
                  <a:lnTo>
                    <a:pt x="44450" y="63500"/>
                  </a:lnTo>
                  <a:close/>
                </a:path>
                <a:path w="2856229" h="431800">
                  <a:moveTo>
                    <a:pt x="2855849" y="209550"/>
                  </a:moveTo>
                  <a:lnTo>
                    <a:pt x="44450" y="209550"/>
                  </a:lnTo>
                  <a:lnTo>
                    <a:pt x="44450" y="215900"/>
                  </a:lnTo>
                  <a:lnTo>
                    <a:pt x="2843149" y="215900"/>
                  </a:lnTo>
                  <a:lnTo>
                    <a:pt x="2849499" y="222250"/>
                  </a:lnTo>
                  <a:lnTo>
                    <a:pt x="2855849" y="222250"/>
                  </a:lnTo>
                  <a:lnTo>
                    <a:pt x="2855849" y="209550"/>
                  </a:lnTo>
                  <a:close/>
                </a:path>
                <a:path w="2856229" h="431800">
                  <a:moveTo>
                    <a:pt x="44450" y="209550"/>
                  </a:moveTo>
                  <a:lnTo>
                    <a:pt x="38100" y="209550"/>
                  </a:lnTo>
                  <a:lnTo>
                    <a:pt x="44450" y="215900"/>
                  </a:lnTo>
                  <a:lnTo>
                    <a:pt x="44450" y="209550"/>
                  </a:lnTo>
                  <a:close/>
                </a:path>
                <a:path w="2856229" h="431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856229" h="431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7762875" y="5257800"/>
              <a:ext cx="1117600" cy="638175"/>
            </a:xfrm>
            <a:prstGeom prst="rect">
              <a:avLst/>
            </a:prstGeom>
            <a:solidFill>
              <a:srgbClr val="FFCCCC"/>
            </a:solidFill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24</a:t>
              </a:r>
              <a:endParaRPr sz="900">
                <a:latin typeface="Tahoma"/>
                <a:cs typeface="Tahoma"/>
              </a:endParaRPr>
            </a:p>
            <a:p>
              <a:pPr marL="93345" marR="8191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DE</a:t>
              </a:r>
              <a:r>
                <a:rPr sz="900" b="1" spc="5" dirty="0">
                  <a:latin typeface="Tahoma"/>
                  <a:cs typeface="Tahoma"/>
                </a:rPr>
                <a:t>S</a:t>
              </a:r>
              <a:r>
                <a:rPr sz="900" b="1" spc="-5" dirty="0">
                  <a:latin typeface="Tahoma"/>
                  <a:cs typeface="Tahoma"/>
                </a:rPr>
                <a:t>A</a:t>
              </a:r>
              <a:r>
                <a:rPr sz="900" b="1" spc="-10" dirty="0">
                  <a:latin typeface="Tahoma"/>
                  <a:cs typeface="Tahoma"/>
                </a:rPr>
                <a:t>RR</a:t>
              </a:r>
              <a:r>
                <a:rPr sz="900" b="1" dirty="0">
                  <a:latin typeface="Tahoma"/>
                  <a:cs typeface="Tahoma"/>
                </a:rPr>
                <a:t>O</a:t>
              </a:r>
              <a:r>
                <a:rPr sz="900" b="1" spc="-5" dirty="0">
                  <a:latin typeface="Tahoma"/>
                  <a:cs typeface="Tahoma"/>
                </a:rPr>
                <a:t>LLADA  NUEVA  VARIEDAD</a:t>
              </a:r>
              <a:endParaRPr sz="900">
                <a:latin typeface="Tahoma"/>
                <a:cs typeface="Tahoma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865873" y="4892675"/>
              <a:ext cx="711200" cy="360680"/>
            </a:xfrm>
            <a:custGeom>
              <a:avLst/>
              <a:gdLst/>
              <a:ahLst/>
              <a:cxnLst/>
              <a:rect l="l" t="t" r="r" b="b"/>
              <a:pathLst>
                <a:path w="711200" h="360679">
                  <a:moveTo>
                    <a:pt x="666750" y="174625"/>
                  </a:moveTo>
                  <a:lnTo>
                    <a:pt x="0" y="174625"/>
                  </a:lnTo>
                  <a:lnTo>
                    <a:pt x="0" y="360299"/>
                  </a:lnTo>
                  <a:lnTo>
                    <a:pt x="12700" y="360299"/>
                  </a:lnTo>
                  <a:lnTo>
                    <a:pt x="12700" y="187325"/>
                  </a:lnTo>
                  <a:lnTo>
                    <a:pt x="6350" y="187325"/>
                  </a:lnTo>
                  <a:lnTo>
                    <a:pt x="12700" y="180975"/>
                  </a:lnTo>
                  <a:lnTo>
                    <a:pt x="666750" y="180975"/>
                  </a:lnTo>
                  <a:lnTo>
                    <a:pt x="666750" y="174625"/>
                  </a:lnTo>
                  <a:close/>
                </a:path>
                <a:path w="711200" h="360679">
                  <a:moveTo>
                    <a:pt x="12700" y="180975"/>
                  </a:moveTo>
                  <a:lnTo>
                    <a:pt x="6350" y="187325"/>
                  </a:lnTo>
                  <a:lnTo>
                    <a:pt x="12700" y="187325"/>
                  </a:lnTo>
                  <a:lnTo>
                    <a:pt x="12700" y="180975"/>
                  </a:lnTo>
                  <a:close/>
                </a:path>
                <a:path w="711200" h="360679">
                  <a:moveTo>
                    <a:pt x="679450" y="174625"/>
                  </a:moveTo>
                  <a:lnTo>
                    <a:pt x="673100" y="174625"/>
                  </a:lnTo>
                  <a:lnTo>
                    <a:pt x="666750" y="180975"/>
                  </a:lnTo>
                  <a:lnTo>
                    <a:pt x="12700" y="180975"/>
                  </a:lnTo>
                  <a:lnTo>
                    <a:pt x="12700" y="187325"/>
                  </a:lnTo>
                  <a:lnTo>
                    <a:pt x="679450" y="187325"/>
                  </a:lnTo>
                  <a:lnTo>
                    <a:pt x="679450" y="174625"/>
                  </a:lnTo>
                  <a:close/>
                </a:path>
                <a:path w="711200" h="360679">
                  <a:moveTo>
                    <a:pt x="679450" y="63500"/>
                  </a:moveTo>
                  <a:lnTo>
                    <a:pt x="666750" y="63500"/>
                  </a:lnTo>
                  <a:lnTo>
                    <a:pt x="666750" y="180975"/>
                  </a:lnTo>
                  <a:lnTo>
                    <a:pt x="673100" y="174625"/>
                  </a:lnTo>
                  <a:lnTo>
                    <a:pt x="679450" y="174625"/>
                  </a:lnTo>
                  <a:lnTo>
                    <a:pt x="679450" y="63500"/>
                  </a:lnTo>
                  <a:close/>
                </a:path>
                <a:path w="711200" h="360679">
                  <a:moveTo>
                    <a:pt x="673100" y="0"/>
                  </a:moveTo>
                  <a:lnTo>
                    <a:pt x="635000" y="76200"/>
                  </a:lnTo>
                  <a:lnTo>
                    <a:pt x="666750" y="76200"/>
                  </a:lnTo>
                  <a:lnTo>
                    <a:pt x="666750" y="63500"/>
                  </a:lnTo>
                  <a:lnTo>
                    <a:pt x="704850" y="63500"/>
                  </a:lnTo>
                  <a:lnTo>
                    <a:pt x="673100" y="0"/>
                  </a:lnTo>
                  <a:close/>
                </a:path>
                <a:path w="711200" h="360679">
                  <a:moveTo>
                    <a:pt x="704850" y="63500"/>
                  </a:moveTo>
                  <a:lnTo>
                    <a:pt x="679450" y="63500"/>
                  </a:lnTo>
                  <a:lnTo>
                    <a:pt x="679450" y="76200"/>
                  </a:lnTo>
                  <a:lnTo>
                    <a:pt x="711200" y="76200"/>
                  </a:lnTo>
                  <a:lnTo>
                    <a:pt x="704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00873" y="4892675"/>
              <a:ext cx="827405" cy="365125"/>
            </a:xfrm>
            <a:custGeom>
              <a:avLst/>
              <a:gdLst/>
              <a:ahLst/>
              <a:cxnLst/>
              <a:rect l="l" t="t" r="r" b="b"/>
              <a:pathLst>
                <a:path w="827404" h="365125">
                  <a:moveTo>
                    <a:pt x="814451" y="182499"/>
                  </a:moveTo>
                  <a:lnTo>
                    <a:pt x="814451" y="365125"/>
                  </a:lnTo>
                  <a:lnTo>
                    <a:pt x="827151" y="365125"/>
                  </a:lnTo>
                  <a:lnTo>
                    <a:pt x="827151" y="188849"/>
                  </a:lnTo>
                  <a:lnTo>
                    <a:pt x="820801" y="188849"/>
                  </a:lnTo>
                  <a:lnTo>
                    <a:pt x="814451" y="182499"/>
                  </a:lnTo>
                  <a:close/>
                </a:path>
                <a:path w="827404" h="36512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88849"/>
                  </a:lnTo>
                  <a:lnTo>
                    <a:pt x="814451" y="188849"/>
                  </a:lnTo>
                  <a:lnTo>
                    <a:pt x="814451" y="182499"/>
                  </a:lnTo>
                  <a:lnTo>
                    <a:pt x="44450" y="182499"/>
                  </a:lnTo>
                  <a:lnTo>
                    <a:pt x="38100" y="176149"/>
                  </a:lnTo>
                  <a:lnTo>
                    <a:pt x="44450" y="176149"/>
                  </a:lnTo>
                  <a:lnTo>
                    <a:pt x="44450" y="63500"/>
                  </a:lnTo>
                  <a:close/>
                </a:path>
                <a:path w="827404" h="365125">
                  <a:moveTo>
                    <a:pt x="827151" y="176149"/>
                  </a:moveTo>
                  <a:lnTo>
                    <a:pt x="44450" y="176149"/>
                  </a:lnTo>
                  <a:lnTo>
                    <a:pt x="44450" y="182499"/>
                  </a:lnTo>
                  <a:lnTo>
                    <a:pt x="814451" y="182499"/>
                  </a:lnTo>
                  <a:lnTo>
                    <a:pt x="820801" y="188849"/>
                  </a:lnTo>
                  <a:lnTo>
                    <a:pt x="827151" y="188849"/>
                  </a:lnTo>
                  <a:lnTo>
                    <a:pt x="827151" y="176149"/>
                  </a:lnTo>
                  <a:close/>
                </a:path>
                <a:path w="827404" h="365125">
                  <a:moveTo>
                    <a:pt x="44450" y="176149"/>
                  </a:moveTo>
                  <a:lnTo>
                    <a:pt x="38100" y="176149"/>
                  </a:lnTo>
                  <a:lnTo>
                    <a:pt x="44450" y="182499"/>
                  </a:lnTo>
                  <a:lnTo>
                    <a:pt x="44450" y="176149"/>
                  </a:lnTo>
                  <a:close/>
                </a:path>
                <a:path w="827404" h="36512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827404" h="36512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6472301" y="5257800"/>
              <a:ext cx="1184275" cy="647700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699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370"/>
                </a:spcBef>
              </a:pPr>
              <a:r>
                <a:rPr sz="900" b="1" dirty="0">
                  <a:latin typeface="Tahoma"/>
                  <a:cs typeface="Tahoma"/>
                </a:rPr>
                <a:t>22</a:t>
              </a:r>
              <a:endParaRPr sz="900">
                <a:latin typeface="Tahoma"/>
                <a:cs typeface="Tahoma"/>
              </a:endParaRPr>
            </a:p>
            <a:p>
              <a:pPr marL="97155" marR="89535" algn="ctr">
                <a:lnSpc>
                  <a:spcPct val="100000"/>
                </a:lnSpc>
              </a:pPr>
              <a:r>
                <a:rPr sz="900" b="1" spc="-5" dirty="0">
                  <a:latin typeface="Tahoma"/>
                  <a:cs typeface="Tahoma"/>
                </a:rPr>
                <a:t>ADAPTADAS </a:t>
              </a:r>
              <a:r>
                <a:rPr sz="900" b="1" dirty="0">
                  <a:latin typeface="Tahoma"/>
                  <a:cs typeface="Tahoma"/>
                </a:rPr>
                <a:t>A</a:t>
              </a:r>
              <a:r>
                <a:rPr sz="900" b="1" spc="-105" dirty="0">
                  <a:latin typeface="Tahoma"/>
                  <a:cs typeface="Tahoma"/>
                </a:rPr>
                <a:t> </a:t>
              </a:r>
              <a:r>
                <a:rPr sz="900" b="1" spc="-5" dirty="0">
                  <a:latin typeface="Tahoma"/>
                  <a:cs typeface="Tahoma"/>
                </a:rPr>
                <a:t>LA  REGIÓN OTRAS  VARIEDADES</a:t>
              </a:r>
              <a:endParaRPr sz="900">
                <a:latin typeface="Tahoma"/>
                <a:cs typeface="Tahoma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776" y="415208"/>
            <a:ext cx="707135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Criterios </a:t>
            </a:r>
            <a:r>
              <a:rPr sz="3600" spc="-5" dirty="0"/>
              <a:t>para </a:t>
            </a:r>
            <a:r>
              <a:rPr sz="3600" dirty="0"/>
              <a:t>armar</a:t>
            </a:r>
            <a:r>
              <a:rPr sz="3600" spc="-60" dirty="0"/>
              <a:t> </a:t>
            </a:r>
            <a:r>
              <a:rPr sz="3600" spc="-5" dirty="0"/>
              <a:t>alternativas</a:t>
            </a:r>
            <a:endParaRPr sz="3600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63016" y="2124838"/>
            <a:ext cx="5134907" cy="29886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481965" indent="-4572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Integralidad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similar 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(suficiencia de  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latin typeface="+mj-lt"/>
              </a:rPr>
              <a:t>Propósito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)</a:t>
            </a:r>
            <a:r>
              <a:rPr lang="es-419"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.</a:t>
            </a:r>
            <a:endParaRPr sz="20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  <a:p>
            <a:pPr marL="469265" marR="5080" indent="-457200">
              <a:lnSpc>
                <a:spcPct val="100000"/>
              </a:lnSpc>
              <a:spcBef>
                <a:spcPts val="770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Temporalidad (Urgencias,</a:t>
            </a:r>
            <a:r>
              <a:rPr sz="2000" spc="-95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Desarrollos  progresivos,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 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latin typeface="+mj-lt"/>
              </a:rPr>
              <a:t>Fases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)</a:t>
            </a:r>
            <a:r>
              <a:rPr lang="es-419"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.</a:t>
            </a:r>
            <a:endParaRPr sz="20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Restricción de</a:t>
            </a:r>
            <a:r>
              <a:rPr sz="2000" spc="-1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 </a:t>
            </a:r>
            <a:r>
              <a:rPr sz="2000" spc="-5" dirty="0" err="1">
                <a:solidFill>
                  <a:schemeClr val="bg2">
                    <a:lumMod val="25000"/>
                  </a:schemeClr>
                </a:solidFill>
                <a:latin typeface="+mj-lt"/>
              </a:rPr>
              <a:t>recursos</a:t>
            </a:r>
            <a:r>
              <a:rPr lang="es-419" sz="2000" spc="-5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.</a:t>
            </a: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lang="es-419" sz="2000" spc="-5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Restricción de capacidad.</a:t>
            </a: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lang="es-419" sz="2000" spc="-5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Optimización de la situación actual.</a:t>
            </a: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Font typeface="Wingdings" panose="05000000000000000000" pitchFamily="2" charset="2"/>
              <a:buChar char="ü"/>
              <a:tabLst>
                <a:tab pos="355600" algn="l"/>
                <a:tab pos="356235" algn="l"/>
              </a:tabLst>
            </a:pPr>
            <a:r>
              <a:rPr lang="es-419" sz="2000" spc="-5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Redefinición de alcances y sinergias.</a:t>
            </a:r>
            <a:endParaRPr sz="2000" spc="-5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81400" y="3603918"/>
            <a:ext cx="300991" cy="706222"/>
          </a:xfrm>
          <a:custGeom>
            <a:avLst/>
            <a:gdLst/>
            <a:ahLst/>
            <a:cxnLst/>
            <a:rect l="l" t="t" r="r" b="b"/>
            <a:pathLst>
              <a:path w="381000" h="1295400">
                <a:moveTo>
                  <a:pt x="0" y="0"/>
                </a:moveTo>
                <a:lnTo>
                  <a:pt x="60191" y="5508"/>
                </a:lnTo>
                <a:lnTo>
                  <a:pt x="112483" y="20844"/>
                </a:lnTo>
                <a:lnTo>
                  <a:pt x="153728" y="44220"/>
                </a:lnTo>
                <a:lnTo>
                  <a:pt x="180782" y="73851"/>
                </a:lnTo>
                <a:lnTo>
                  <a:pt x="190500" y="107950"/>
                </a:lnTo>
                <a:lnTo>
                  <a:pt x="190500" y="539750"/>
                </a:lnTo>
                <a:lnTo>
                  <a:pt x="200217" y="573848"/>
                </a:lnTo>
                <a:lnTo>
                  <a:pt x="227271" y="603479"/>
                </a:lnTo>
                <a:lnTo>
                  <a:pt x="268516" y="626855"/>
                </a:lnTo>
                <a:lnTo>
                  <a:pt x="320808" y="642191"/>
                </a:lnTo>
                <a:lnTo>
                  <a:pt x="381000" y="647700"/>
                </a:lnTo>
                <a:lnTo>
                  <a:pt x="320808" y="653208"/>
                </a:lnTo>
                <a:lnTo>
                  <a:pt x="268516" y="668544"/>
                </a:lnTo>
                <a:lnTo>
                  <a:pt x="227271" y="691920"/>
                </a:lnTo>
                <a:lnTo>
                  <a:pt x="200217" y="721551"/>
                </a:lnTo>
                <a:lnTo>
                  <a:pt x="190500" y="755650"/>
                </a:lnTo>
                <a:lnTo>
                  <a:pt x="190500" y="1187450"/>
                </a:lnTo>
                <a:lnTo>
                  <a:pt x="180782" y="1221548"/>
                </a:lnTo>
                <a:lnTo>
                  <a:pt x="153728" y="1251179"/>
                </a:lnTo>
                <a:lnTo>
                  <a:pt x="112483" y="1274555"/>
                </a:lnTo>
                <a:lnTo>
                  <a:pt x="60191" y="1289891"/>
                </a:lnTo>
                <a:lnTo>
                  <a:pt x="0" y="1295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21032" y="3699854"/>
            <a:ext cx="12230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"/>
                <a:cs typeface="Arial"/>
              </a:rPr>
              <a:t>Par</a:t>
            </a:r>
            <a:r>
              <a:rPr sz="3200" spc="-20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to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333"/>
          <a:stretch/>
        </p:blipFill>
        <p:spPr>
          <a:xfrm>
            <a:off x="5382683" y="3124200"/>
            <a:ext cx="3837517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2514600"/>
            <a:ext cx="564896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1" dirty="0">
                <a:latin typeface="Arial"/>
                <a:cs typeface="Arial"/>
              </a:rPr>
              <a:t>GRACIAS</a:t>
            </a:r>
            <a:endParaRPr sz="9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FC740CAB0C8554B8F54DD36DCFC0D72" ma:contentTypeVersion="0" ma:contentTypeDescription="Crear nuevo documento." ma:contentTypeScope="" ma:versionID="f1690b9df2cbfd61368002dee7b3844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037ac2621b9b9c8cd06b50fac5857c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1F8171-943B-42C9-9D7F-7F5DB1DFBF43}"/>
</file>

<file path=customXml/itemProps2.xml><?xml version="1.0" encoding="utf-8"?>
<ds:datastoreItem xmlns:ds="http://schemas.openxmlformats.org/officeDocument/2006/customXml" ds:itemID="{6E742BF3-2504-41BA-8BB7-0FAE6A339A06}"/>
</file>

<file path=customXml/itemProps3.xml><?xml version="1.0" encoding="utf-8"?>
<ds:datastoreItem xmlns:ds="http://schemas.openxmlformats.org/officeDocument/2006/customXml" ds:itemID="{2FA5BD88-D51B-4B35-A991-8DCFE519D253}"/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TM02900722[[fn=Sala de juntas (ion)]]</Template>
  <TotalTime>218</TotalTime>
  <Words>2777</Words>
  <Application>Microsoft Office PowerPoint</Application>
  <PresentationFormat>Presentación en pantalla (4:3)</PresentationFormat>
  <Paragraphs>782</Paragraphs>
  <Slides>48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48</vt:i4>
      </vt:variant>
    </vt:vector>
  </HeadingPairs>
  <TitlesOfParts>
    <vt:vector size="60" baseType="lpstr">
      <vt:lpstr>Arial</vt:lpstr>
      <vt:lpstr>Calibri</vt:lpstr>
      <vt:lpstr>Calibri Light</vt:lpstr>
      <vt:lpstr>Comic Sans MS</vt:lpstr>
      <vt:lpstr>Tahoma</vt:lpstr>
      <vt:lpstr>Times New Roman</vt:lpstr>
      <vt:lpstr>Trebuchet MS</vt:lpstr>
      <vt:lpstr>Wingdings</vt:lpstr>
      <vt:lpstr>Wingdings 2</vt:lpstr>
      <vt:lpstr>Wingdings 3</vt:lpstr>
      <vt:lpstr>HDOfficeLightV0</vt:lpstr>
      <vt:lpstr>Faceta</vt:lpstr>
      <vt:lpstr>ANÁLISIS DE PROBLEMAS Y BUSQUEDA DE SOLUCIONES  MÉTODO DE ARBOLES</vt:lpstr>
      <vt:lpstr>TÉCNCA DE ÁRBOLES</vt:lpstr>
      <vt:lpstr>TÉCNICA DE ÁRBOLES</vt:lpstr>
      <vt:lpstr>Análisis del problema y búsqueda de soluciones</vt:lpstr>
      <vt:lpstr>Análisis del problema y búsqueda de soluciones</vt:lpstr>
      <vt:lpstr>Análisis del problema y búsqueda de soluciones</vt:lpstr>
      <vt:lpstr>Análisis del problema y búsqueda de soluciones</vt:lpstr>
      <vt:lpstr>Análisis del problema y búsqueda de soluciones</vt:lpstr>
      <vt:lpstr>Análisis del problema y búsqueda de soluciones</vt:lpstr>
      <vt:lpstr>TÉCNCA DE ÁRBOLES</vt:lpstr>
      <vt:lpstr>Mapa de involucrados</vt:lpstr>
      <vt:lpstr>Paticipación de los  involucrados</vt:lpstr>
      <vt:lpstr>Pasos y estrategias para analizar el problema y postular alternativas </vt:lpstr>
      <vt:lpstr>TÉCNCA DE ÁRBOLES</vt:lpstr>
      <vt:lpstr>Pasos:</vt:lpstr>
      <vt:lpstr>Paso 1:</vt:lpstr>
      <vt:lpstr>Problema no definido  (difuso)</vt:lpstr>
      <vt:lpstr>Ejemplo:</vt:lpstr>
      <vt:lpstr>a) Tarjetas de problemas</vt:lpstr>
      <vt:lpstr>b) Encadenamiento causal</vt:lpstr>
      <vt:lpstr>Un nodo crítico:</vt:lpstr>
      <vt:lpstr>Arbol original y Nodos Críticos</vt:lpstr>
      <vt:lpstr>Candidato 1 a Nodo Crítico</vt:lpstr>
      <vt:lpstr>Candidato 2 a Nodo Crítico</vt:lpstr>
      <vt:lpstr>Presentación de PowerPoint</vt:lpstr>
      <vt:lpstr>Presentación de PowerPoint</vt:lpstr>
      <vt:lpstr>Presentación de PowerPoint</vt:lpstr>
      <vt:lpstr>Presentación de PowerPoint</vt:lpstr>
      <vt:lpstr>Criterios orientadores para seleccionar  el Problema Central</vt:lpstr>
      <vt:lpstr>Paso 2:</vt:lpstr>
      <vt:lpstr>Versión preliminar del Arbol del Problema</vt:lpstr>
      <vt:lpstr>Paso 3:</vt:lpstr>
      <vt:lpstr>Ajustar el Arbol del Problema</vt:lpstr>
      <vt:lpstr>Versión ajustada del Arbol del Problema</vt:lpstr>
      <vt:lpstr>Paso 4:</vt:lpstr>
      <vt:lpstr>Presentación de PowerPoint</vt:lpstr>
      <vt:lpstr>Versión ajustada del Arbol de Objetivos (1)</vt:lpstr>
      <vt:lpstr>Versión ajustada del Arbol de Objetivos (2)</vt:lpstr>
      <vt:lpstr>Versión ajustada del Arbol de Objetivos</vt:lpstr>
      <vt:lpstr>Paso 5:</vt:lpstr>
      <vt:lpstr>Explorar combinaciones de medios para generar alternativas de solución</vt:lpstr>
      <vt:lpstr>Supuesto para discusión</vt:lpstr>
      <vt:lpstr>Alternativa 1 Recolección manual + Adaptación de variedad</vt:lpstr>
      <vt:lpstr>Alternativa 2 Recolección mecánica + Adaptación de variedad</vt:lpstr>
      <vt:lpstr>Alternativa 3         Recolección manual + Desarrollo</vt:lpstr>
      <vt:lpstr>Alternativa 4 Recolección mecánica + Desarrollo</vt:lpstr>
      <vt:lpstr>Criterios para armar alternativas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isabel.zabala</dc:creator>
  <cp:lastModifiedBy>Tatiana Sanchez Viana</cp:lastModifiedBy>
  <cp:revision>24</cp:revision>
  <dcterms:created xsi:type="dcterms:W3CDTF">2019-04-23T00:48:44Z</dcterms:created>
  <dcterms:modified xsi:type="dcterms:W3CDTF">2024-07-29T17:45:34Z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2011-08-12T00:00:00Z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2019-04-23T00:00:00Z</vt:filetime>
  </property>
  <property fmtid="{D5CDD505-2E9C-101B-9397-08002B2CF9AE}" pid="5" name="ContentTypeId">
    <vt:lpwstr>0x0101002FC740CAB0C8554B8F54DD36DCFC0D72</vt:lpwstr>
  </property>
</Properties>
</file>
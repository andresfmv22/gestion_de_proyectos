
<file path=[Content_Types].xml><?xml version="1.0" encoding="utf-8"?>
<Types xmlns="http://schemas.openxmlformats.org/package/2006/content-types">
  <Default Extension="jfif" ContentType="image/jpeg"/>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5.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5.xml" ContentType="application/vnd.openxmlformats-officedocument.presentationml.slide+xml"/>
  <Override PartName="/ppt/slides/slide6.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Masters/slideMaster1.xml" ContentType="application/vnd.openxmlformats-officedocument.presentationml.slideMaster+xml"/>
  <Override PartName="/ppt/slideLayouts/slideLayout12.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slideLayouts/slideLayout7.xml" ContentType="application/vnd.openxmlformats-officedocument.presentationml.slideLayout+xml"/>
  <Override PartName="/ppt/slideLayouts/slideLayout1.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6" r:id="rId1"/>
  </p:sldMasterIdLst>
  <p:notesMasterIdLst>
    <p:notesMasterId r:id="rId17"/>
  </p:notesMasterIdLst>
  <p:sldIdLst>
    <p:sldId id="271" r:id="rId2"/>
    <p:sldId id="272" r:id="rId3"/>
    <p:sldId id="258" r:id="rId4"/>
    <p:sldId id="259" r:id="rId5"/>
    <p:sldId id="261" r:id="rId6"/>
    <p:sldId id="262" r:id="rId7"/>
    <p:sldId id="263" r:id="rId8"/>
    <p:sldId id="264" r:id="rId9"/>
    <p:sldId id="265" r:id="rId10"/>
    <p:sldId id="266" r:id="rId11"/>
    <p:sldId id="273" r:id="rId12"/>
    <p:sldId id="267" r:id="rId13"/>
    <p:sldId id="268" r:id="rId14"/>
    <p:sldId id="269" r:id="rId15"/>
    <p:sldId id="270" r:id="rId16"/>
  </p:sldIdLst>
  <p:sldSz cx="9144000" cy="6858000" type="screen4x3"/>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5" d="100"/>
          <a:sy n="85" d="100"/>
        </p:scale>
        <p:origin x="1152" y="9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ustomXml" Target="../customXml/item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s-419"/>
          </a:p>
        </p:txBody>
      </p:sp>
      <p:sp>
        <p:nvSpPr>
          <p:cNvPr id="3" name="Marcador de fecha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F1BD3D0F-C27C-4659-A964-8A7209E4538C}" type="datetimeFigureOut">
              <a:rPr lang="es-419" smtClean="0"/>
              <a:t>30/8/2019</a:t>
            </a:fld>
            <a:endParaRPr lang="es-419"/>
          </a:p>
        </p:txBody>
      </p:sp>
      <p:sp>
        <p:nvSpPr>
          <p:cNvPr id="4" name="Marcador de imagen de diapositiva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s-419"/>
          </a:p>
        </p:txBody>
      </p:sp>
      <p:sp>
        <p:nvSpPr>
          <p:cNvPr id="5" name="Marcador de notas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6" name="Marcador de pie de página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s-419"/>
          </a:p>
        </p:txBody>
      </p:sp>
      <p:sp>
        <p:nvSpPr>
          <p:cNvPr id="7" name="Marcador de número de diapositiva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3EA995B7-E908-42A4-AA27-F82ADE663BFA}" type="slidenum">
              <a:rPr lang="es-419" smtClean="0"/>
              <a:t>‹Nº›</a:t>
            </a:fld>
            <a:endParaRPr lang="es-419"/>
          </a:p>
        </p:txBody>
      </p:sp>
    </p:spTree>
    <p:extLst>
      <p:ext uri="{BB962C8B-B14F-4D97-AF65-F5344CB8AC3E}">
        <p14:creationId xmlns:p14="http://schemas.microsoft.com/office/powerpoint/2010/main" val="13320643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419" dirty="0"/>
          </a:p>
        </p:txBody>
      </p:sp>
      <p:sp>
        <p:nvSpPr>
          <p:cNvPr id="4" name="Marcador de número de diapositiva 3"/>
          <p:cNvSpPr>
            <a:spLocks noGrp="1"/>
          </p:cNvSpPr>
          <p:nvPr>
            <p:ph type="sldNum" sz="quarter" idx="10"/>
          </p:nvPr>
        </p:nvSpPr>
        <p:spPr/>
        <p:txBody>
          <a:bodyPr/>
          <a:lstStyle/>
          <a:p>
            <a:fld id="{3EA995B7-E908-42A4-AA27-F82ADE663BFA}" type="slidenum">
              <a:rPr lang="es-419" smtClean="0"/>
              <a:t>4</a:t>
            </a:fld>
            <a:endParaRPr lang="es-419"/>
          </a:p>
        </p:txBody>
      </p:sp>
    </p:spTree>
    <p:extLst>
      <p:ext uri="{BB962C8B-B14F-4D97-AF65-F5344CB8AC3E}">
        <p14:creationId xmlns:p14="http://schemas.microsoft.com/office/powerpoint/2010/main" val="32138509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editar el estilo de subtítulo del patrón</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8/30/2019</a:t>
            </a:fld>
            <a:endParaRPr lang="en-US"/>
          </a:p>
        </p:txBody>
      </p:sp>
      <p:sp>
        <p:nvSpPr>
          <p:cNvPr id="5" name="Footer Placeholder 4"/>
          <p:cNvSpPr>
            <a:spLocks noGrp="1"/>
          </p:cNvSpPr>
          <p:nvPr>
            <p:ph type="ftr" sz="quarter" idx="11"/>
          </p:nvPr>
        </p:nvSpPr>
        <p:spPr/>
        <p:txBody>
          <a:bodyPr/>
          <a:lstStyle/>
          <a:p>
            <a:endParaRPr lang="es-419"/>
          </a:p>
        </p:txBody>
      </p:sp>
      <p:sp>
        <p:nvSpPr>
          <p:cNvPr id="6" name="Slide Number Placeholder 5"/>
          <p:cNvSpPr>
            <a:spLocks noGrp="1"/>
          </p:cNvSpPr>
          <p:nvPr>
            <p:ph type="sldNum" sz="quarter" idx="12"/>
          </p:nvPr>
        </p:nvSpPr>
        <p:spPr/>
        <p:txBody>
          <a:bodyPr/>
          <a:lstStyle/>
          <a:p>
            <a:fld id="{B6F15528-21DE-4FAA-801E-634DDDAF4B2B}" type="slidenum">
              <a:rPr lang="es-419" smtClean="0"/>
              <a:t>‹Nº›</a:t>
            </a:fld>
            <a:endParaRPr lang="es-419"/>
          </a:p>
        </p:txBody>
      </p:sp>
    </p:spTree>
    <p:extLst>
      <p:ext uri="{BB962C8B-B14F-4D97-AF65-F5344CB8AC3E}">
        <p14:creationId xmlns:p14="http://schemas.microsoft.com/office/powerpoint/2010/main" val="38064617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8/30/2019</a:t>
            </a:fld>
            <a:endParaRPr lang="en-US"/>
          </a:p>
        </p:txBody>
      </p:sp>
      <p:sp>
        <p:nvSpPr>
          <p:cNvPr id="5" name="Footer Placeholder 4"/>
          <p:cNvSpPr>
            <a:spLocks noGrp="1"/>
          </p:cNvSpPr>
          <p:nvPr>
            <p:ph type="ftr" sz="quarter" idx="11"/>
          </p:nvPr>
        </p:nvSpPr>
        <p:spPr/>
        <p:txBody>
          <a:bodyPr/>
          <a:lstStyle/>
          <a:p>
            <a:endParaRPr lang="es-419"/>
          </a:p>
        </p:txBody>
      </p:sp>
      <p:sp>
        <p:nvSpPr>
          <p:cNvPr id="6" name="Slide Number Placeholder 5"/>
          <p:cNvSpPr>
            <a:spLocks noGrp="1"/>
          </p:cNvSpPr>
          <p:nvPr>
            <p:ph type="sldNum" sz="quarter" idx="12"/>
          </p:nvPr>
        </p:nvSpPr>
        <p:spPr/>
        <p:txBody>
          <a:bodyPr/>
          <a:lstStyle/>
          <a:p>
            <a:fld id="{B6F15528-21DE-4FAA-801E-634DDDAF4B2B}" type="slidenum">
              <a:rPr lang="es-419" smtClean="0"/>
              <a:t>‹Nº›</a:t>
            </a:fld>
            <a:endParaRPr lang="es-419"/>
          </a:p>
        </p:txBody>
      </p:sp>
    </p:spTree>
    <p:extLst>
      <p:ext uri="{BB962C8B-B14F-4D97-AF65-F5344CB8AC3E}">
        <p14:creationId xmlns:p14="http://schemas.microsoft.com/office/powerpoint/2010/main" val="13905383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1D8BD707-D9CF-40AE-B4C6-C98DA3205C09}" type="datetimeFigureOut">
              <a:rPr lang="en-US" smtClean="0"/>
              <a:t>8/30/2019</a:t>
            </a:fld>
            <a:endParaRPr lang="en-US"/>
          </a:p>
        </p:txBody>
      </p:sp>
      <p:sp>
        <p:nvSpPr>
          <p:cNvPr id="5" name="Footer Placeholder 4"/>
          <p:cNvSpPr>
            <a:spLocks noGrp="1"/>
          </p:cNvSpPr>
          <p:nvPr>
            <p:ph type="ftr" sz="quarter" idx="11"/>
          </p:nvPr>
        </p:nvSpPr>
        <p:spPr/>
        <p:txBody>
          <a:bodyPr/>
          <a:lstStyle/>
          <a:p>
            <a:endParaRPr lang="es-419"/>
          </a:p>
        </p:txBody>
      </p:sp>
      <p:sp>
        <p:nvSpPr>
          <p:cNvPr id="6" name="Slide Number Placeholder 5"/>
          <p:cNvSpPr>
            <a:spLocks noGrp="1"/>
          </p:cNvSpPr>
          <p:nvPr>
            <p:ph type="sldNum" sz="quarter" idx="12"/>
          </p:nvPr>
        </p:nvSpPr>
        <p:spPr/>
        <p:txBody>
          <a:bodyPr/>
          <a:lstStyle/>
          <a:p>
            <a:fld id="{B6F15528-21DE-4FAA-801E-634DDDAF4B2B}" type="slidenum">
              <a:rPr lang="es-419" smtClean="0"/>
              <a:t>‹Nº›</a:t>
            </a:fld>
            <a:endParaRPr lang="es-419"/>
          </a:p>
        </p:txBody>
      </p:sp>
    </p:spTree>
    <p:extLst>
      <p:ext uri="{BB962C8B-B14F-4D97-AF65-F5344CB8AC3E}">
        <p14:creationId xmlns:p14="http://schemas.microsoft.com/office/powerpoint/2010/main" val="36727835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t>8/30/2019</a:t>
            </a:fld>
            <a:endParaRPr lang="en-US"/>
          </a:p>
        </p:txBody>
      </p:sp>
      <p:sp>
        <p:nvSpPr>
          <p:cNvPr id="6" name="Footer Placeholder 5"/>
          <p:cNvSpPr>
            <a:spLocks noGrp="1"/>
          </p:cNvSpPr>
          <p:nvPr>
            <p:ph type="ftr" sz="quarter" idx="11"/>
          </p:nvPr>
        </p:nvSpPr>
        <p:spPr/>
        <p:txBody>
          <a:bodyPr/>
          <a:lstStyle/>
          <a:p>
            <a:endParaRPr lang="es-419"/>
          </a:p>
        </p:txBody>
      </p:sp>
      <p:sp>
        <p:nvSpPr>
          <p:cNvPr id="7" name="Slide Number Placeholder 6"/>
          <p:cNvSpPr>
            <a:spLocks noGrp="1"/>
          </p:cNvSpPr>
          <p:nvPr>
            <p:ph type="sldNum" sz="quarter" idx="12"/>
          </p:nvPr>
        </p:nvSpPr>
        <p:spPr/>
        <p:txBody>
          <a:bodyPr/>
          <a:lstStyle/>
          <a:p>
            <a:fld id="{B6F15528-21DE-4FAA-801E-634DDDAF4B2B}" type="slidenum">
              <a:rPr lang="es-419" smtClean="0"/>
              <a:t>‹Nº›</a:t>
            </a:fld>
            <a:endParaRPr lang="es-419"/>
          </a:p>
        </p:txBody>
      </p:sp>
    </p:spTree>
    <p:extLst>
      <p:ext uri="{BB962C8B-B14F-4D97-AF65-F5344CB8AC3E}">
        <p14:creationId xmlns:p14="http://schemas.microsoft.com/office/powerpoint/2010/main" val="2579234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t>8/30/2019</a:t>
            </a:fld>
            <a:endParaRPr lang="en-US"/>
          </a:p>
        </p:txBody>
      </p:sp>
      <p:sp>
        <p:nvSpPr>
          <p:cNvPr id="8" name="Footer Placeholder 7"/>
          <p:cNvSpPr>
            <a:spLocks noGrp="1"/>
          </p:cNvSpPr>
          <p:nvPr>
            <p:ph type="ftr" sz="quarter" idx="11"/>
          </p:nvPr>
        </p:nvSpPr>
        <p:spPr/>
        <p:txBody>
          <a:bodyPr/>
          <a:lstStyle/>
          <a:p>
            <a:endParaRPr lang="es-419"/>
          </a:p>
        </p:txBody>
      </p:sp>
      <p:sp>
        <p:nvSpPr>
          <p:cNvPr id="9" name="Slide Number Placeholder 8"/>
          <p:cNvSpPr>
            <a:spLocks noGrp="1"/>
          </p:cNvSpPr>
          <p:nvPr>
            <p:ph type="sldNum" sz="quarter" idx="12"/>
          </p:nvPr>
        </p:nvSpPr>
        <p:spPr/>
        <p:txBody>
          <a:bodyPr/>
          <a:lstStyle/>
          <a:p>
            <a:fld id="{B6F15528-21DE-4FAA-801E-634DDDAF4B2B}" type="slidenum">
              <a:rPr lang="es-419" smtClean="0"/>
              <a:t>‹Nº›</a:t>
            </a:fld>
            <a:endParaRPr lang="es-419"/>
          </a:p>
        </p:txBody>
      </p:sp>
    </p:spTree>
    <p:extLst>
      <p:ext uri="{BB962C8B-B14F-4D97-AF65-F5344CB8AC3E}">
        <p14:creationId xmlns:p14="http://schemas.microsoft.com/office/powerpoint/2010/main" val="22793446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t>8/30/2019</a:t>
            </a:fld>
            <a:endParaRPr lang="en-US"/>
          </a:p>
        </p:txBody>
      </p:sp>
      <p:sp>
        <p:nvSpPr>
          <p:cNvPr id="4" name="Footer Placeholder 3"/>
          <p:cNvSpPr>
            <a:spLocks noGrp="1"/>
          </p:cNvSpPr>
          <p:nvPr>
            <p:ph type="ftr" sz="quarter" idx="11"/>
          </p:nvPr>
        </p:nvSpPr>
        <p:spPr/>
        <p:txBody>
          <a:bodyPr/>
          <a:lstStyle/>
          <a:p>
            <a:endParaRPr lang="es-419"/>
          </a:p>
        </p:txBody>
      </p:sp>
      <p:sp>
        <p:nvSpPr>
          <p:cNvPr id="5" name="Slide Number Placeholder 4"/>
          <p:cNvSpPr>
            <a:spLocks noGrp="1"/>
          </p:cNvSpPr>
          <p:nvPr>
            <p:ph type="sldNum" sz="quarter" idx="12"/>
          </p:nvPr>
        </p:nvSpPr>
        <p:spPr/>
        <p:txBody>
          <a:bodyPr/>
          <a:lstStyle/>
          <a:p>
            <a:fld id="{B6F15528-21DE-4FAA-801E-634DDDAF4B2B}" type="slidenum">
              <a:rPr lang="es-419" smtClean="0"/>
              <a:t>‹Nº›</a:t>
            </a:fld>
            <a:endParaRPr lang="es-419"/>
          </a:p>
        </p:txBody>
      </p:sp>
    </p:spTree>
    <p:extLst>
      <p:ext uri="{BB962C8B-B14F-4D97-AF65-F5344CB8AC3E}">
        <p14:creationId xmlns:p14="http://schemas.microsoft.com/office/powerpoint/2010/main" val="3725953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8/30/2019</a:t>
            </a:fld>
            <a:endParaRPr lang="en-US"/>
          </a:p>
        </p:txBody>
      </p:sp>
      <p:sp>
        <p:nvSpPr>
          <p:cNvPr id="3" name="Footer Placeholder 2"/>
          <p:cNvSpPr>
            <a:spLocks noGrp="1"/>
          </p:cNvSpPr>
          <p:nvPr>
            <p:ph type="ftr" sz="quarter" idx="11"/>
          </p:nvPr>
        </p:nvSpPr>
        <p:spPr/>
        <p:txBody>
          <a:bodyPr/>
          <a:lstStyle/>
          <a:p>
            <a:endParaRPr lang="es-419"/>
          </a:p>
        </p:txBody>
      </p:sp>
      <p:sp>
        <p:nvSpPr>
          <p:cNvPr id="4" name="Slide Number Placeholder 3"/>
          <p:cNvSpPr>
            <a:spLocks noGrp="1"/>
          </p:cNvSpPr>
          <p:nvPr>
            <p:ph type="sldNum" sz="quarter" idx="12"/>
          </p:nvPr>
        </p:nvSpPr>
        <p:spPr/>
        <p:txBody>
          <a:bodyPr/>
          <a:lstStyle/>
          <a:p>
            <a:fld id="{B6F15528-21DE-4FAA-801E-634DDDAF4B2B}" type="slidenum">
              <a:rPr lang="es-419" smtClean="0"/>
              <a:t>‹Nº›</a:t>
            </a:fld>
            <a:endParaRPr lang="es-419"/>
          </a:p>
        </p:txBody>
      </p:sp>
    </p:spTree>
    <p:extLst>
      <p:ext uri="{BB962C8B-B14F-4D97-AF65-F5344CB8AC3E}">
        <p14:creationId xmlns:p14="http://schemas.microsoft.com/office/powerpoint/2010/main" val="11882376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a:t>Editar el estilo de texto del patrón</a:t>
            </a:r>
          </a:p>
        </p:txBody>
      </p:sp>
      <p:sp>
        <p:nvSpPr>
          <p:cNvPr id="5" name="Date Placeholder 4"/>
          <p:cNvSpPr>
            <a:spLocks noGrp="1"/>
          </p:cNvSpPr>
          <p:nvPr>
            <p:ph type="dt" sz="half" idx="10"/>
          </p:nvPr>
        </p:nvSpPr>
        <p:spPr/>
        <p:txBody>
          <a:bodyPr/>
          <a:lstStyle/>
          <a:p>
            <a:fld id="{1D8BD707-D9CF-40AE-B4C6-C98DA3205C09}" type="datetimeFigureOut">
              <a:rPr lang="en-US" smtClean="0"/>
              <a:t>8/30/2019</a:t>
            </a:fld>
            <a:endParaRPr lang="en-US"/>
          </a:p>
        </p:txBody>
      </p:sp>
      <p:sp>
        <p:nvSpPr>
          <p:cNvPr id="6" name="Footer Placeholder 5"/>
          <p:cNvSpPr>
            <a:spLocks noGrp="1"/>
          </p:cNvSpPr>
          <p:nvPr>
            <p:ph type="ftr" sz="quarter" idx="11"/>
          </p:nvPr>
        </p:nvSpPr>
        <p:spPr/>
        <p:txBody>
          <a:bodyPr/>
          <a:lstStyle/>
          <a:p>
            <a:endParaRPr lang="es-419"/>
          </a:p>
        </p:txBody>
      </p:sp>
      <p:sp>
        <p:nvSpPr>
          <p:cNvPr id="7" name="Slide Number Placeholder 6"/>
          <p:cNvSpPr>
            <a:spLocks noGrp="1"/>
          </p:cNvSpPr>
          <p:nvPr>
            <p:ph type="sldNum" sz="quarter" idx="12"/>
          </p:nvPr>
        </p:nvSpPr>
        <p:spPr/>
        <p:txBody>
          <a:bodyPr/>
          <a:lstStyle/>
          <a:p>
            <a:fld id="{B6F15528-21DE-4FAA-801E-634DDDAF4B2B}" type="slidenum">
              <a:rPr lang="es-419" smtClean="0"/>
              <a:t>‹Nº›</a:t>
            </a:fld>
            <a:endParaRPr lang="es-419"/>
          </a:p>
        </p:txBody>
      </p:sp>
    </p:spTree>
    <p:extLst>
      <p:ext uri="{BB962C8B-B14F-4D97-AF65-F5344CB8AC3E}">
        <p14:creationId xmlns:p14="http://schemas.microsoft.com/office/powerpoint/2010/main" val="27276351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5" name="Date Placeholder 4"/>
          <p:cNvSpPr>
            <a:spLocks noGrp="1"/>
          </p:cNvSpPr>
          <p:nvPr>
            <p:ph type="dt" sz="half" idx="10"/>
          </p:nvPr>
        </p:nvSpPr>
        <p:spPr/>
        <p:txBody>
          <a:bodyPr/>
          <a:lstStyle/>
          <a:p>
            <a:fld id="{1D8BD707-D9CF-40AE-B4C6-C98DA3205C09}" type="datetimeFigureOut">
              <a:rPr lang="en-US" smtClean="0"/>
              <a:t>8/30/2019</a:t>
            </a:fld>
            <a:endParaRPr lang="en-US"/>
          </a:p>
        </p:txBody>
      </p:sp>
      <p:sp>
        <p:nvSpPr>
          <p:cNvPr id="6" name="Footer Placeholder 5"/>
          <p:cNvSpPr>
            <a:spLocks noGrp="1"/>
          </p:cNvSpPr>
          <p:nvPr>
            <p:ph type="ftr" sz="quarter" idx="11"/>
          </p:nvPr>
        </p:nvSpPr>
        <p:spPr/>
        <p:txBody>
          <a:bodyPr/>
          <a:lstStyle/>
          <a:p>
            <a:endParaRPr lang="es-419"/>
          </a:p>
        </p:txBody>
      </p:sp>
      <p:sp>
        <p:nvSpPr>
          <p:cNvPr id="7" name="Slide Number Placeholder 6"/>
          <p:cNvSpPr>
            <a:spLocks noGrp="1"/>
          </p:cNvSpPr>
          <p:nvPr>
            <p:ph type="sldNum" sz="quarter" idx="12"/>
          </p:nvPr>
        </p:nvSpPr>
        <p:spPr/>
        <p:txBody>
          <a:bodyPr/>
          <a:lstStyle/>
          <a:p>
            <a:fld id="{B6F15528-21DE-4FAA-801E-634DDDAF4B2B}" type="slidenum">
              <a:rPr lang="es-419" smtClean="0"/>
              <a:t>‹Nº›</a:t>
            </a:fld>
            <a:endParaRPr lang="es-419"/>
          </a:p>
        </p:txBody>
      </p:sp>
    </p:spTree>
    <p:extLst>
      <p:ext uri="{BB962C8B-B14F-4D97-AF65-F5344CB8AC3E}">
        <p14:creationId xmlns:p14="http://schemas.microsoft.com/office/powerpoint/2010/main" val="12182163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1D8BD707-D9CF-40AE-B4C6-C98DA3205C09}" type="datetimeFigureOut">
              <a:rPr lang="en-US" smtClean="0"/>
              <a:t>8/30/2019</a:t>
            </a:fld>
            <a:endParaRPr lang="en-US"/>
          </a:p>
        </p:txBody>
      </p:sp>
      <p:sp>
        <p:nvSpPr>
          <p:cNvPr id="5" name="Footer Placeholder 4"/>
          <p:cNvSpPr>
            <a:spLocks noGrp="1"/>
          </p:cNvSpPr>
          <p:nvPr>
            <p:ph type="ftr" sz="quarter" idx="11"/>
          </p:nvPr>
        </p:nvSpPr>
        <p:spPr/>
        <p:txBody>
          <a:bodyPr/>
          <a:lstStyle/>
          <a:p>
            <a:endParaRPr lang="es-419"/>
          </a:p>
        </p:txBody>
      </p:sp>
      <p:sp>
        <p:nvSpPr>
          <p:cNvPr id="6" name="Slide Number Placeholder 5"/>
          <p:cNvSpPr>
            <a:spLocks noGrp="1"/>
          </p:cNvSpPr>
          <p:nvPr>
            <p:ph type="sldNum" sz="quarter" idx="12"/>
          </p:nvPr>
        </p:nvSpPr>
        <p:spPr/>
        <p:txBody>
          <a:bodyPr/>
          <a:lstStyle/>
          <a:p>
            <a:fld id="{B6F15528-21DE-4FAA-801E-634DDDAF4B2B}" type="slidenum">
              <a:rPr lang="es-419" smtClean="0"/>
              <a:t>‹Nº›</a:t>
            </a:fld>
            <a:endParaRPr lang="es-419"/>
          </a:p>
        </p:txBody>
      </p:sp>
    </p:spTree>
    <p:extLst>
      <p:ext uri="{BB962C8B-B14F-4D97-AF65-F5344CB8AC3E}">
        <p14:creationId xmlns:p14="http://schemas.microsoft.com/office/powerpoint/2010/main" val="12421743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Editar el estilo de texto del patrón</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1D8BD707-D9CF-40AE-B4C6-C98DA3205C09}" type="datetimeFigureOut">
              <a:rPr lang="en-US" smtClean="0"/>
              <a:t>8/30/2019</a:t>
            </a:fld>
            <a:endParaRPr lang="en-US"/>
          </a:p>
        </p:txBody>
      </p:sp>
      <p:sp>
        <p:nvSpPr>
          <p:cNvPr id="5" name="Footer Placeholder 4"/>
          <p:cNvSpPr>
            <a:spLocks noGrp="1"/>
          </p:cNvSpPr>
          <p:nvPr>
            <p:ph type="ftr" sz="quarter" idx="11"/>
          </p:nvPr>
        </p:nvSpPr>
        <p:spPr/>
        <p:txBody>
          <a:bodyPr/>
          <a:lstStyle/>
          <a:p>
            <a:endParaRPr lang="es-419"/>
          </a:p>
        </p:txBody>
      </p:sp>
      <p:sp>
        <p:nvSpPr>
          <p:cNvPr id="6" name="Slide Number Placeholder 5"/>
          <p:cNvSpPr>
            <a:spLocks noGrp="1"/>
          </p:cNvSpPr>
          <p:nvPr>
            <p:ph type="sldNum" sz="quarter" idx="12"/>
          </p:nvPr>
        </p:nvSpPr>
        <p:spPr/>
        <p:txBody>
          <a:bodyPr/>
          <a:lstStyle/>
          <a:p>
            <a:fld id="{B6F15528-21DE-4FAA-801E-634DDDAF4B2B}" type="slidenum">
              <a:rPr lang="es-419" smtClean="0"/>
              <a:t>‹Nº›</a:t>
            </a:fld>
            <a:endParaRPr lang="es-419"/>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9999827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1D8BD707-D9CF-40AE-B4C6-C98DA3205C09}" type="datetimeFigureOut">
              <a:rPr lang="en-US" smtClean="0"/>
              <a:t>8/30/2019</a:t>
            </a:fld>
            <a:endParaRPr lang="en-US"/>
          </a:p>
        </p:txBody>
      </p:sp>
      <p:sp>
        <p:nvSpPr>
          <p:cNvPr id="5" name="Footer Placeholder 4"/>
          <p:cNvSpPr>
            <a:spLocks noGrp="1"/>
          </p:cNvSpPr>
          <p:nvPr>
            <p:ph type="ftr" sz="quarter" idx="11"/>
          </p:nvPr>
        </p:nvSpPr>
        <p:spPr/>
        <p:txBody>
          <a:bodyPr/>
          <a:lstStyle/>
          <a:p>
            <a:endParaRPr lang="es-419"/>
          </a:p>
        </p:txBody>
      </p:sp>
      <p:sp>
        <p:nvSpPr>
          <p:cNvPr id="6" name="Slide Number Placeholder 5"/>
          <p:cNvSpPr>
            <a:spLocks noGrp="1"/>
          </p:cNvSpPr>
          <p:nvPr>
            <p:ph type="sldNum" sz="quarter" idx="12"/>
          </p:nvPr>
        </p:nvSpPr>
        <p:spPr/>
        <p:txBody>
          <a:bodyPr/>
          <a:lstStyle/>
          <a:p>
            <a:fld id="{B6F15528-21DE-4FAA-801E-634DDDAF4B2B}" type="slidenum">
              <a:rPr lang="es-419" smtClean="0"/>
              <a:t>‹Nº›</a:t>
            </a:fld>
            <a:endParaRPr lang="es-419"/>
          </a:p>
        </p:txBody>
      </p:sp>
    </p:spTree>
    <p:extLst>
      <p:ext uri="{BB962C8B-B14F-4D97-AF65-F5344CB8AC3E}">
        <p14:creationId xmlns:p14="http://schemas.microsoft.com/office/powerpoint/2010/main" val="9184699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Editar el estilo de texto del patrón</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1D8BD707-D9CF-40AE-B4C6-C98DA3205C09}" type="datetimeFigureOut">
              <a:rPr lang="en-US" smtClean="0"/>
              <a:t>8/30/2019</a:t>
            </a:fld>
            <a:endParaRPr lang="en-US"/>
          </a:p>
        </p:txBody>
      </p:sp>
      <p:sp>
        <p:nvSpPr>
          <p:cNvPr id="5" name="Footer Placeholder 4"/>
          <p:cNvSpPr>
            <a:spLocks noGrp="1"/>
          </p:cNvSpPr>
          <p:nvPr>
            <p:ph type="ftr" sz="quarter" idx="11"/>
          </p:nvPr>
        </p:nvSpPr>
        <p:spPr/>
        <p:txBody>
          <a:bodyPr/>
          <a:lstStyle/>
          <a:p>
            <a:endParaRPr lang="es-419"/>
          </a:p>
        </p:txBody>
      </p:sp>
      <p:sp>
        <p:nvSpPr>
          <p:cNvPr id="6" name="Slide Number Placeholder 5"/>
          <p:cNvSpPr>
            <a:spLocks noGrp="1"/>
          </p:cNvSpPr>
          <p:nvPr>
            <p:ph type="sldNum" sz="quarter" idx="12"/>
          </p:nvPr>
        </p:nvSpPr>
        <p:spPr/>
        <p:txBody>
          <a:bodyPr/>
          <a:lstStyle/>
          <a:p>
            <a:fld id="{B6F15528-21DE-4FAA-801E-634DDDAF4B2B}" type="slidenum">
              <a:rPr lang="es-419" smtClean="0"/>
              <a:t>‹Nº›</a:t>
            </a:fld>
            <a:endParaRPr lang="es-419"/>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3664385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Editar el estilo de texto del patrón</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1D8BD707-D9CF-40AE-B4C6-C98DA3205C09}" type="datetimeFigureOut">
              <a:rPr lang="en-US" smtClean="0"/>
              <a:t>8/30/2019</a:t>
            </a:fld>
            <a:endParaRPr lang="en-US"/>
          </a:p>
        </p:txBody>
      </p:sp>
      <p:sp>
        <p:nvSpPr>
          <p:cNvPr id="5" name="Footer Placeholder 4"/>
          <p:cNvSpPr>
            <a:spLocks noGrp="1"/>
          </p:cNvSpPr>
          <p:nvPr>
            <p:ph type="ftr" sz="quarter" idx="11"/>
          </p:nvPr>
        </p:nvSpPr>
        <p:spPr/>
        <p:txBody>
          <a:bodyPr/>
          <a:lstStyle/>
          <a:p>
            <a:endParaRPr lang="es-419"/>
          </a:p>
        </p:txBody>
      </p:sp>
      <p:sp>
        <p:nvSpPr>
          <p:cNvPr id="6" name="Slide Number Placeholder 5"/>
          <p:cNvSpPr>
            <a:spLocks noGrp="1"/>
          </p:cNvSpPr>
          <p:nvPr>
            <p:ph type="sldNum" sz="quarter" idx="12"/>
          </p:nvPr>
        </p:nvSpPr>
        <p:spPr/>
        <p:txBody>
          <a:bodyPr/>
          <a:lstStyle/>
          <a:p>
            <a:fld id="{B6F15528-21DE-4FAA-801E-634DDDAF4B2B}" type="slidenum">
              <a:rPr lang="es-419" smtClean="0"/>
              <a:t>‹Nº›</a:t>
            </a:fld>
            <a:endParaRPr lang="es-419"/>
          </a:p>
        </p:txBody>
      </p:sp>
    </p:spTree>
    <p:extLst>
      <p:ext uri="{BB962C8B-B14F-4D97-AF65-F5344CB8AC3E}">
        <p14:creationId xmlns:p14="http://schemas.microsoft.com/office/powerpoint/2010/main" val="28195823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8/30/2019</a:t>
            </a:fld>
            <a:endParaRPr lang="en-US"/>
          </a:p>
        </p:txBody>
      </p:sp>
      <p:sp>
        <p:nvSpPr>
          <p:cNvPr id="5" name="Footer Placeholder 4"/>
          <p:cNvSpPr>
            <a:spLocks noGrp="1"/>
          </p:cNvSpPr>
          <p:nvPr>
            <p:ph type="ftr" sz="quarter" idx="11"/>
          </p:nvPr>
        </p:nvSpPr>
        <p:spPr/>
        <p:txBody>
          <a:bodyPr/>
          <a:lstStyle/>
          <a:p>
            <a:endParaRPr lang="es-419"/>
          </a:p>
        </p:txBody>
      </p:sp>
      <p:sp>
        <p:nvSpPr>
          <p:cNvPr id="6" name="Slide Number Placeholder 5"/>
          <p:cNvSpPr>
            <a:spLocks noGrp="1"/>
          </p:cNvSpPr>
          <p:nvPr>
            <p:ph type="sldNum" sz="quarter" idx="12"/>
          </p:nvPr>
        </p:nvSpPr>
        <p:spPr/>
        <p:txBody>
          <a:bodyPr/>
          <a:lstStyle/>
          <a:p>
            <a:fld id="{B6F15528-21DE-4FAA-801E-634DDDAF4B2B}" type="slidenum">
              <a:rPr lang="es-419" smtClean="0"/>
              <a:t>‹Nº›</a:t>
            </a:fld>
            <a:endParaRPr lang="es-419"/>
          </a:p>
        </p:txBody>
      </p:sp>
    </p:spTree>
    <p:extLst>
      <p:ext uri="{BB962C8B-B14F-4D97-AF65-F5344CB8AC3E}">
        <p14:creationId xmlns:p14="http://schemas.microsoft.com/office/powerpoint/2010/main" val="33369334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8/30/2019</a:t>
            </a:fld>
            <a:endParaRPr lang="en-US"/>
          </a:p>
        </p:txBody>
      </p:sp>
      <p:sp>
        <p:nvSpPr>
          <p:cNvPr id="5" name="Footer Placeholder 4"/>
          <p:cNvSpPr>
            <a:spLocks noGrp="1"/>
          </p:cNvSpPr>
          <p:nvPr>
            <p:ph type="ftr" sz="quarter" idx="11"/>
          </p:nvPr>
        </p:nvSpPr>
        <p:spPr/>
        <p:txBody>
          <a:bodyPr/>
          <a:lstStyle/>
          <a:p>
            <a:endParaRPr lang="es-419"/>
          </a:p>
        </p:txBody>
      </p:sp>
      <p:sp>
        <p:nvSpPr>
          <p:cNvPr id="6" name="Slide Number Placeholder 5"/>
          <p:cNvSpPr>
            <a:spLocks noGrp="1"/>
          </p:cNvSpPr>
          <p:nvPr>
            <p:ph type="sldNum" sz="quarter" idx="12"/>
          </p:nvPr>
        </p:nvSpPr>
        <p:spPr/>
        <p:txBody>
          <a:bodyPr/>
          <a:lstStyle/>
          <a:p>
            <a:fld id="{B6F15528-21DE-4FAA-801E-634DDDAF4B2B}" type="slidenum">
              <a:rPr lang="es-419" smtClean="0"/>
              <a:t>‹Nº›</a:t>
            </a:fld>
            <a:endParaRPr lang="es-419"/>
          </a:p>
        </p:txBody>
      </p:sp>
    </p:spTree>
    <p:extLst>
      <p:ext uri="{BB962C8B-B14F-4D97-AF65-F5344CB8AC3E}">
        <p14:creationId xmlns:p14="http://schemas.microsoft.com/office/powerpoint/2010/main" val="30123643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8/30/2019</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extLst>
      <p:ext uri="{BB962C8B-B14F-4D97-AF65-F5344CB8AC3E}">
        <p14:creationId xmlns:p14="http://schemas.microsoft.com/office/powerpoint/2010/main" val="12558789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1" i="0">
                <a:solidFill>
                  <a:schemeClr val="tx1"/>
                </a:solidFill>
                <a:latin typeface="Book Antiqua"/>
                <a:cs typeface="Book Antiqu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8/30/2019</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extLst>
      <p:ext uri="{BB962C8B-B14F-4D97-AF65-F5344CB8AC3E}">
        <p14:creationId xmlns:p14="http://schemas.microsoft.com/office/powerpoint/2010/main" val="26069601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D8BD707-D9CF-40AE-B4C6-C98DA3205C09}" type="datetimeFigureOut">
              <a:rPr lang="en-US" smtClean="0"/>
              <a:t>8/30/2019</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s-419"/>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B6F15528-21DE-4FAA-801E-634DDDAF4B2B}" type="slidenum">
              <a:rPr lang="es-419" smtClean="0"/>
              <a:t>‹Nº›</a:t>
            </a:fld>
            <a:endParaRPr lang="es-419"/>
          </a:p>
        </p:txBody>
      </p:sp>
    </p:spTree>
    <p:extLst>
      <p:ext uri="{BB962C8B-B14F-4D97-AF65-F5344CB8AC3E}">
        <p14:creationId xmlns:p14="http://schemas.microsoft.com/office/powerpoint/2010/main" val="1691114877"/>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 id="2147483684" r:id="rId18"/>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fif"/><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3" Type="http://schemas.openxmlformats.org/officeDocument/2006/relationships/image" Target="../media/image3.jfif"/><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2" Type="http://schemas.openxmlformats.org/officeDocument/2006/relationships/image" Target="../media/image4.jfif"/><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jfi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jfi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484441" y="1905000"/>
            <a:ext cx="6728714" cy="1646302"/>
          </a:xfrm>
        </p:spPr>
        <p:txBody>
          <a:bodyPr/>
          <a:lstStyle/>
          <a:p>
            <a:r>
              <a:rPr lang="es-419" sz="3200" dirty="0"/>
              <a:t>MÓDULO FORMULACIÓN DE PROYECTOS</a:t>
            </a:r>
            <a:br>
              <a:rPr lang="es-419" sz="3200" dirty="0"/>
            </a:br>
            <a:br>
              <a:rPr lang="es-419" dirty="0"/>
            </a:br>
            <a:r>
              <a:rPr lang="es-419" sz="4800" dirty="0"/>
              <a:t>Análisis de entorno</a:t>
            </a:r>
          </a:p>
        </p:txBody>
      </p:sp>
      <p:sp>
        <p:nvSpPr>
          <p:cNvPr id="3" name="Subtítulo 2"/>
          <p:cNvSpPr>
            <a:spLocks noGrp="1"/>
          </p:cNvSpPr>
          <p:nvPr>
            <p:ph type="subTitle" idx="1"/>
          </p:nvPr>
        </p:nvSpPr>
        <p:spPr>
          <a:xfrm>
            <a:off x="914400" y="4157517"/>
            <a:ext cx="5868796" cy="2743199"/>
          </a:xfrm>
        </p:spPr>
        <p:txBody>
          <a:bodyPr>
            <a:normAutofit/>
          </a:bodyPr>
          <a:lstStyle/>
          <a:p>
            <a:r>
              <a:rPr lang="es-419" dirty="0"/>
              <a:t>Docente: Tatiana Sánchez Viana</a:t>
            </a:r>
          </a:p>
          <a:p>
            <a:r>
              <a:rPr lang="es-419" dirty="0"/>
              <a:t>Administradora de Empresas</a:t>
            </a:r>
          </a:p>
          <a:p>
            <a:r>
              <a:rPr lang="es-419" dirty="0"/>
              <a:t>Especialista en Finanzas</a:t>
            </a:r>
          </a:p>
          <a:p>
            <a:r>
              <a:rPr lang="es-419" dirty="0"/>
              <a:t>Magíster en Administración </a:t>
            </a:r>
          </a:p>
          <a:p>
            <a:endParaRPr lang="es-419" dirty="0"/>
          </a:p>
        </p:txBody>
      </p:sp>
      <p:sp>
        <p:nvSpPr>
          <p:cNvPr id="4" name="Título 1"/>
          <p:cNvSpPr txBox="1">
            <a:spLocks/>
          </p:cNvSpPr>
          <p:nvPr/>
        </p:nvSpPr>
        <p:spPr>
          <a:xfrm>
            <a:off x="914400" y="6330115"/>
            <a:ext cx="4181389" cy="463918"/>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r"/>
            <a:r>
              <a:rPr lang="es-ES" sz="1800" b="1" i="1" dirty="0">
                <a:solidFill>
                  <a:schemeClr val="bg1">
                    <a:lumMod val="50000"/>
                  </a:schemeClr>
                </a:solidFill>
              </a:rPr>
              <a:t>tatiana.sanchez@upb.edu.co</a:t>
            </a:r>
          </a:p>
        </p:txBody>
      </p:sp>
    </p:spTree>
    <p:extLst>
      <p:ext uri="{BB962C8B-B14F-4D97-AF65-F5344CB8AC3E}">
        <p14:creationId xmlns:p14="http://schemas.microsoft.com/office/powerpoint/2010/main" val="4695992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54507" y="431800"/>
            <a:ext cx="6347713" cy="1320800"/>
          </a:xfrm>
        </p:spPr>
        <p:txBody>
          <a:bodyPr/>
          <a:lstStyle/>
          <a:p>
            <a:r>
              <a:rPr lang="es-419" dirty="0"/>
              <a:t>ANÁLISIS DEL ENTORNO</a:t>
            </a:r>
          </a:p>
        </p:txBody>
      </p:sp>
      <p:sp>
        <p:nvSpPr>
          <p:cNvPr id="3" name="Marcador de contenido 2"/>
          <p:cNvSpPr>
            <a:spLocks noGrp="1"/>
          </p:cNvSpPr>
          <p:nvPr>
            <p:ph idx="1"/>
          </p:nvPr>
        </p:nvSpPr>
        <p:spPr>
          <a:xfrm>
            <a:off x="228600" y="1295400"/>
            <a:ext cx="6957314" cy="1524000"/>
          </a:xfrm>
        </p:spPr>
        <p:txBody>
          <a:bodyPr/>
          <a:lstStyle/>
          <a:p>
            <a:pPr marL="0" indent="0" algn="just">
              <a:buNone/>
            </a:pPr>
            <a:r>
              <a:rPr lang="es-419" dirty="0"/>
              <a:t>Para realizar un excelente plan de mercado, se deben examinar las variables  controlables tanto como las no controlables que condicionan el desarrollo y  comercialización de un producto o servicio en el mercado.</a:t>
            </a:r>
          </a:p>
          <a:p>
            <a:pPr algn="just"/>
            <a:endParaRPr lang="es-419" dirty="0"/>
          </a:p>
        </p:txBody>
      </p:sp>
      <p:pic>
        <p:nvPicPr>
          <p:cNvPr id="7" name="Imagen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3528" y="2737523"/>
            <a:ext cx="6211672" cy="4145998"/>
          </a:xfrm>
          <a:prstGeom prst="rect">
            <a:avLst/>
          </a:prstGeom>
        </p:spPr>
      </p:pic>
    </p:spTree>
    <p:extLst>
      <p:ext uri="{BB962C8B-B14F-4D97-AF65-F5344CB8AC3E}">
        <p14:creationId xmlns:p14="http://schemas.microsoft.com/office/powerpoint/2010/main" val="22114266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1000" y="1270594"/>
            <a:ext cx="4622800" cy="2290371"/>
          </a:xfrm>
          <a:prstGeom prst="rect">
            <a:avLst/>
          </a:prstGeom>
        </p:spPr>
        <p:txBody>
          <a:bodyPr vert="horz" lIns="91440" tIns="45720" rIns="91440" bIns="45720" rtlCol="0">
            <a:noAutofit/>
          </a:bodyPr>
          <a:lstStyle>
            <a:lvl1pPr indent="0" algn="just">
              <a:spcBef>
                <a:spcPts val="1000"/>
              </a:spcBef>
              <a:spcAft>
                <a:spcPts val="0"/>
              </a:spcAft>
              <a:buClr>
                <a:schemeClr val="accent1"/>
              </a:buClr>
              <a:buSzPct val="80000"/>
              <a:buFont typeface="Wingdings 3" charset="2"/>
              <a:buNone/>
              <a:defRPr>
                <a:solidFill>
                  <a:schemeClr val="tx1">
                    <a:lumMod val="75000"/>
                    <a:lumOff val="25000"/>
                  </a:schemeClr>
                </a:solidFill>
              </a:defRPr>
            </a:lvl1pPr>
            <a:lvl2pPr marL="742950" indent="-285750">
              <a:spcBef>
                <a:spcPts val="1000"/>
              </a:spcBef>
              <a:spcAft>
                <a:spcPts val="0"/>
              </a:spcAft>
              <a:buClr>
                <a:schemeClr val="accent1"/>
              </a:buClr>
              <a:buSzPct val="80000"/>
              <a:buFont typeface="Wingdings 3" charset="2"/>
              <a:buChar char=""/>
              <a:defRPr sz="1600">
                <a:solidFill>
                  <a:schemeClr val="tx1">
                    <a:lumMod val="75000"/>
                    <a:lumOff val="25000"/>
                  </a:schemeClr>
                </a:solidFill>
              </a:defRPr>
            </a:lvl2pPr>
            <a:lvl3pPr marL="1143000" indent="-228600">
              <a:spcBef>
                <a:spcPts val="1000"/>
              </a:spcBef>
              <a:spcAft>
                <a:spcPts val="0"/>
              </a:spcAft>
              <a:buClr>
                <a:schemeClr val="accent1"/>
              </a:buClr>
              <a:buSzPct val="80000"/>
              <a:buFont typeface="Wingdings 3" charset="2"/>
              <a:buChar char=""/>
              <a:defRPr sz="1400">
                <a:solidFill>
                  <a:schemeClr val="tx1">
                    <a:lumMod val="75000"/>
                    <a:lumOff val="25000"/>
                  </a:schemeClr>
                </a:solidFill>
              </a:defRPr>
            </a:lvl3pPr>
            <a:lvl4pPr marL="1600200" indent="-2286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4pPr>
            <a:lvl5pPr marL="2057400" indent="-2286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5pPr>
            <a:lvl6pPr marL="2514600" indent="-2286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6pPr>
            <a:lvl7pPr marL="2971800" indent="-2286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7pPr>
            <a:lvl8pPr marL="3429000" indent="-2286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8pPr>
            <a:lvl9pPr marL="3886200" indent="-2286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9pPr>
          </a:lstStyle>
          <a:p>
            <a:r>
              <a:rPr dirty="0"/>
              <a:t>El entorno en el que actualmente vivimos, es dinámico y cambiante, se  caracteriza fundamentalmente por la competencia global y los rápidos  avances tecnológicos, exige a la mayoría de los tomadores de decisiones de  las compañías que estén preparados constantemente para tomar decisiones  significativas. En la medida en que ha aumentado la complejidad de las  organizaciones y su entorno, ha sido necesario utilizar instrumentos más  sofisticados, con el fin de tomar siempre la mejor decisión, porque en la  medida en que haya mas información del entorno, habrá mas certidumbre  y por lo tanto mejores decisiones.</a:t>
            </a:r>
          </a:p>
        </p:txBody>
      </p:sp>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71160" y="1447800"/>
            <a:ext cx="3657600" cy="394358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9550" y="304800"/>
            <a:ext cx="8934450" cy="63436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txBox="1">
            <a:spLocks/>
          </p:cNvSpPr>
          <p:nvPr/>
        </p:nvSpPr>
        <p:spPr>
          <a:xfrm>
            <a:off x="654507" y="431800"/>
            <a:ext cx="6347713" cy="1320800"/>
          </a:xfrm>
          <a:prstGeom prst="rect">
            <a:avLst/>
          </a:prstGeom>
        </p:spPr>
        <p:txBody>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419" dirty="0"/>
              <a:t>ENTORNO GLOBAL</a:t>
            </a:r>
          </a:p>
        </p:txBody>
      </p:sp>
      <p:sp>
        <p:nvSpPr>
          <p:cNvPr id="5" name="Marcador de contenido 2"/>
          <p:cNvSpPr txBox="1">
            <a:spLocks/>
          </p:cNvSpPr>
          <p:nvPr/>
        </p:nvSpPr>
        <p:spPr>
          <a:xfrm>
            <a:off x="654507" y="3899568"/>
            <a:ext cx="6096813" cy="1524000"/>
          </a:xfrm>
          <a:prstGeom prst="rect">
            <a:avLst/>
          </a:prstGeom>
        </p:spPr>
        <p:txBody>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just">
              <a:buNone/>
            </a:pPr>
            <a:r>
              <a:rPr lang="es-419" dirty="0"/>
              <a:t>Entorno en el que están inmersas todas las economías sujetas a procesos de  globalización. MERCOSUR, TLC, etc. ¿Cómo afecta la idea de negocio el entorno  global?, ¿Cuál sería el impacto?, ¿Contra que nuevos competidores se enfrentará?</a:t>
            </a:r>
          </a:p>
          <a:p>
            <a:pPr marL="0" indent="0" algn="just">
              <a:buNone/>
            </a:pPr>
            <a:r>
              <a:rPr lang="es-419" dirty="0"/>
              <a:t>¿Cuáles son las los productos, las estrategias y los clientes de esos competidores?,</a:t>
            </a:r>
          </a:p>
          <a:p>
            <a:pPr marL="0" indent="0" algn="just">
              <a:buNone/>
            </a:pPr>
            <a:r>
              <a:rPr lang="es-419" dirty="0"/>
              <a:t>¿Qué estrategia implementará para hacer frente a este nuevo reto global?</a:t>
            </a:r>
          </a:p>
          <a:p>
            <a:pPr algn="just"/>
            <a:endParaRPr lang="es-419" dirty="0"/>
          </a:p>
        </p:txBody>
      </p:sp>
      <p:pic>
        <p:nvPicPr>
          <p:cNvPr id="23" name="Imagen 2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7800" y="1447800"/>
            <a:ext cx="4419600" cy="213454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2437" y="287477"/>
            <a:ext cx="4931563" cy="1120820"/>
          </a:xfrm>
          <a:prstGeom prst="rect">
            <a:avLst/>
          </a:prstGeom>
        </p:spPr>
        <p:txBody>
          <a:bodyPr>
            <a:normAutofit/>
          </a:bodyPr>
          <a:lstStyle/>
          <a:p>
            <a:r>
              <a:rPr dirty="0"/>
              <a:t>ENTORNO MACRO:</a:t>
            </a:r>
          </a:p>
        </p:txBody>
      </p:sp>
      <p:sp>
        <p:nvSpPr>
          <p:cNvPr id="3" name="object 3"/>
          <p:cNvSpPr txBox="1"/>
          <p:nvPr/>
        </p:nvSpPr>
        <p:spPr>
          <a:xfrm>
            <a:off x="402437" y="1068700"/>
            <a:ext cx="6074563" cy="3427100"/>
          </a:xfrm>
          <a:prstGeom prst="rect">
            <a:avLst/>
          </a:prstGeom>
        </p:spPr>
        <p:txBody>
          <a:bodyPr/>
          <a:lstStyle>
            <a:defPPr>
              <a:defRPr lang="en-US"/>
            </a:defPPr>
            <a:lvl1pPr indent="0" algn="just">
              <a:spcBef>
                <a:spcPts val="1000"/>
              </a:spcBef>
              <a:spcAft>
                <a:spcPts val="0"/>
              </a:spcAft>
              <a:buClr>
                <a:schemeClr val="accent1"/>
              </a:buClr>
              <a:buSzPct val="80000"/>
              <a:buFont typeface="Wingdings 3" charset="2"/>
              <a:buNone/>
              <a:defRPr>
                <a:solidFill>
                  <a:schemeClr val="tx1">
                    <a:lumMod val="75000"/>
                    <a:lumOff val="25000"/>
                  </a:schemeClr>
                </a:solidFill>
              </a:defRPr>
            </a:lvl1pPr>
            <a:lvl2pPr marL="742950" indent="-285750">
              <a:spcBef>
                <a:spcPts val="1000"/>
              </a:spcBef>
              <a:spcAft>
                <a:spcPts val="0"/>
              </a:spcAft>
              <a:buClr>
                <a:schemeClr val="accent1"/>
              </a:buClr>
              <a:buSzPct val="80000"/>
              <a:buFont typeface="Wingdings 3" charset="2"/>
              <a:buChar char=""/>
              <a:defRPr sz="1600">
                <a:solidFill>
                  <a:schemeClr val="tx1">
                    <a:lumMod val="75000"/>
                    <a:lumOff val="25000"/>
                  </a:schemeClr>
                </a:solidFill>
              </a:defRPr>
            </a:lvl2pPr>
            <a:lvl3pPr marL="1143000" indent="-228600">
              <a:spcBef>
                <a:spcPts val="1000"/>
              </a:spcBef>
              <a:spcAft>
                <a:spcPts val="0"/>
              </a:spcAft>
              <a:buClr>
                <a:schemeClr val="accent1"/>
              </a:buClr>
              <a:buSzPct val="80000"/>
              <a:buFont typeface="Wingdings 3" charset="2"/>
              <a:buChar char=""/>
              <a:defRPr sz="1400">
                <a:solidFill>
                  <a:schemeClr val="tx1">
                    <a:lumMod val="75000"/>
                    <a:lumOff val="25000"/>
                  </a:schemeClr>
                </a:solidFill>
              </a:defRPr>
            </a:lvl3pPr>
            <a:lvl4pPr marL="1600200" indent="-2286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4pPr>
            <a:lvl5pPr marL="2057400" indent="-2286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5pPr>
            <a:lvl6pPr marL="2514600" indent="-2286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6pPr>
            <a:lvl7pPr marL="2971800" indent="-2286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7pPr>
            <a:lvl8pPr marL="3429000" indent="-2286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8pPr>
            <a:lvl9pPr marL="3886200" indent="-2286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9pPr>
          </a:lstStyle>
          <a:p>
            <a:r>
              <a:rPr dirty="0"/>
              <a:t>El entorno macro se puede analizar desde el entorno macro país, competitividad  de país y luego a nivel macro regional, competitividad de la región y luego a nivel  sectorial. Hay fuerzas del entorno que hacen factible o no una idea de negocio,  tal vez no se pueda implementar por el paso de una carretera que pasa por un  resguardo indígena o porque está en contra de los intereses de los ecologistas.  Es decir, hay factores que pueden arriesgar la factibilidad de un proyecto.</a:t>
            </a:r>
          </a:p>
        </p:txBody>
      </p:sp>
      <p:sp>
        <p:nvSpPr>
          <p:cNvPr id="4" name="object 4"/>
          <p:cNvSpPr/>
          <p:nvPr/>
        </p:nvSpPr>
        <p:spPr>
          <a:xfrm>
            <a:off x="5847485" y="3429658"/>
            <a:ext cx="3296515" cy="3428342"/>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4843" y="319532"/>
            <a:ext cx="5343957" cy="1674817"/>
          </a:xfrm>
          <a:prstGeom prst="rect">
            <a:avLst/>
          </a:prstGeom>
        </p:spPr>
        <p:txBody>
          <a:bodyPr vert="horz" lIns="91440" tIns="45720" rIns="91440" bIns="45720" rtlCol="0" anchor="t">
            <a:normAutofit/>
          </a:bodyPr>
          <a:lstStyle/>
          <a:p>
            <a:r>
              <a:rPr dirty="0"/>
              <a:t>ENTORNO DEMOGRAFICO:</a:t>
            </a:r>
          </a:p>
        </p:txBody>
      </p:sp>
      <p:sp>
        <p:nvSpPr>
          <p:cNvPr id="3" name="object 3"/>
          <p:cNvSpPr txBox="1"/>
          <p:nvPr/>
        </p:nvSpPr>
        <p:spPr>
          <a:xfrm>
            <a:off x="294843" y="1676400"/>
            <a:ext cx="5343957" cy="2220595"/>
          </a:xfrm>
          <a:prstGeom prst="rect">
            <a:avLst/>
          </a:prstGeom>
        </p:spPr>
        <p:txBody>
          <a:bodyPr/>
          <a:lstStyle>
            <a:defPPr>
              <a:defRPr lang="en-US"/>
            </a:defPPr>
            <a:lvl1pPr indent="0" algn="just">
              <a:spcBef>
                <a:spcPts val="1000"/>
              </a:spcBef>
              <a:spcAft>
                <a:spcPts val="0"/>
              </a:spcAft>
              <a:buClr>
                <a:schemeClr val="accent1"/>
              </a:buClr>
              <a:buSzPct val="80000"/>
              <a:buFont typeface="Wingdings 3" charset="2"/>
              <a:buNone/>
              <a:defRPr>
                <a:solidFill>
                  <a:schemeClr val="tx1">
                    <a:lumMod val="75000"/>
                    <a:lumOff val="25000"/>
                  </a:schemeClr>
                </a:solidFill>
              </a:defRPr>
            </a:lvl1pPr>
            <a:lvl2pPr marL="742950" indent="-285750">
              <a:spcBef>
                <a:spcPts val="1000"/>
              </a:spcBef>
              <a:spcAft>
                <a:spcPts val="0"/>
              </a:spcAft>
              <a:buClr>
                <a:schemeClr val="accent1"/>
              </a:buClr>
              <a:buSzPct val="80000"/>
              <a:buFont typeface="Wingdings 3" charset="2"/>
              <a:buChar char=""/>
              <a:defRPr sz="1600">
                <a:solidFill>
                  <a:schemeClr val="tx1">
                    <a:lumMod val="75000"/>
                    <a:lumOff val="25000"/>
                  </a:schemeClr>
                </a:solidFill>
              </a:defRPr>
            </a:lvl2pPr>
            <a:lvl3pPr marL="1143000" indent="-228600">
              <a:spcBef>
                <a:spcPts val="1000"/>
              </a:spcBef>
              <a:spcAft>
                <a:spcPts val="0"/>
              </a:spcAft>
              <a:buClr>
                <a:schemeClr val="accent1"/>
              </a:buClr>
              <a:buSzPct val="80000"/>
              <a:buFont typeface="Wingdings 3" charset="2"/>
              <a:buChar char=""/>
              <a:defRPr sz="1400">
                <a:solidFill>
                  <a:schemeClr val="tx1">
                    <a:lumMod val="75000"/>
                    <a:lumOff val="25000"/>
                  </a:schemeClr>
                </a:solidFill>
              </a:defRPr>
            </a:lvl3pPr>
            <a:lvl4pPr marL="1600200" indent="-2286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4pPr>
            <a:lvl5pPr marL="2057400" indent="-2286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5pPr>
            <a:lvl6pPr marL="2514600" indent="-2286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6pPr>
            <a:lvl7pPr marL="2971800" indent="-2286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7pPr>
            <a:lvl8pPr marL="3429000" indent="-2286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8pPr>
            <a:lvl9pPr marL="3886200" indent="-2286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9pPr>
          </a:lstStyle>
          <a:p>
            <a:r>
              <a:rPr dirty="0"/>
              <a:t>(La demografía como ciencia encargada del estudio cuantitativo, situacional y de  variación en el tiempo de la población humana, sirve a los especialistas para definir  como grande, mediano o pequeña una localidad, según su número de habitante y  posición de desarrollo relativo en el contexto que la contiene). Determina el  comportamiento de la población atendida por la empresa y de aquella por atender  con el proyecto, su tasa de crecimiento, los procesos de migración, la composición  por grupos de edad, sexo, educación y ocupación, población económicamente  activa, etc.</a:t>
            </a:r>
          </a:p>
        </p:txBody>
      </p:sp>
      <p:sp>
        <p:nvSpPr>
          <p:cNvPr id="4" name="object 4"/>
          <p:cNvSpPr/>
          <p:nvPr/>
        </p:nvSpPr>
        <p:spPr>
          <a:xfrm>
            <a:off x="6248400" y="2971800"/>
            <a:ext cx="2664333" cy="3011805"/>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2910" y="354279"/>
            <a:ext cx="4501490" cy="1120820"/>
          </a:xfrm>
          <a:prstGeom prst="rect">
            <a:avLst/>
          </a:prstGeom>
        </p:spPr>
        <p:txBody>
          <a:bodyPr vert="horz" lIns="91440" tIns="45720" rIns="91440" bIns="45720" rtlCol="0" anchor="t">
            <a:normAutofit/>
          </a:bodyPr>
          <a:lstStyle/>
          <a:p>
            <a:r>
              <a:rPr dirty="0"/>
              <a:t>ENTORNO SOCIAL:</a:t>
            </a:r>
          </a:p>
        </p:txBody>
      </p:sp>
      <p:sp>
        <p:nvSpPr>
          <p:cNvPr id="3" name="object 3"/>
          <p:cNvSpPr txBox="1"/>
          <p:nvPr/>
        </p:nvSpPr>
        <p:spPr>
          <a:xfrm>
            <a:off x="207670" y="1321172"/>
            <a:ext cx="6116930" cy="1397635"/>
          </a:xfrm>
          <a:prstGeom prst="rect">
            <a:avLst/>
          </a:prstGeom>
        </p:spPr>
        <p:txBody>
          <a:bodyPr/>
          <a:lstStyle>
            <a:defPPr>
              <a:defRPr lang="en-US"/>
            </a:defPPr>
            <a:lvl1pPr indent="0" algn="just">
              <a:spcBef>
                <a:spcPts val="1000"/>
              </a:spcBef>
              <a:spcAft>
                <a:spcPts val="0"/>
              </a:spcAft>
              <a:buClr>
                <a:schemeClr val="accent1"/>
              </a:buClr>
              <a:buSzPct val="80000"/>
              <a:buFont typeface="Wingdings 3" charset="2"/>
              <a:buNone/>
              <a:defRPr>
                <a:solidFill>
                  <a:schemeClr val="tx1">
                    <a:lumMod val="75000"/>
                    <a:lumOff val="25000"/>
                  </a:schemeClr>
                </a:solidFill>
              </a:defRPr>
            </a:lvl1pPr>
            <a:lvl2pPr marL="742950" indent="-285750">
              <a:spcBef>
                <a:spcPts val="1000"/>
              </a:spcBef>
              <a:spcAft>
                <a:spcPts val="0"/>
              </a:spcAft>
              <a:buClr>
                <a:schemeClr val="accent1"/>
              </a:buClr>
              <a:buSzPct val="80000"/>
              <a:buFont typeface="Wingdings 3" charset="2"/>
              <a:buChar char=""/>
              <a:defRPr sz="1600">
                <a:solidFill>
                  <a:schemeClr val="tx1">
                    <a:lumMod val="75000"/>
                    <a:lumOff val="25000"/>
                  </a:schemeClr>
                </a:solidFill>
              </a:defRPr>
            </a:lvl2pPr>
            <a:lvl3pPr marL="1143000" indent="-228600">
              <a:spcBef>
                <a:spcPts val="1000"/>
              </a:spcBef>
              <a:spcAft>
                <a:spcPts val="0"/>
              </a:spcAft>
              <a:buClr>
                <a:schemeClr val="accent1"/>
              </a:buClr>
              <a:buSzPct val="80000"/>
              <a:buFont typeface="Wingdings 3" charset="2"/>
              <a:buChar char=""/>
              <a:defRPr sz="1400">
                <a:solidFill>
                  <a:schemeClr val="tx1">
                    <a:lumMod val="75000"/>
                    <a:lumOff val="25000"/>
                  </a:schemeClr>
                </a:solidFill>
              </a:defRPr>
            </a:lvl3pPr>
            <a:lvl4pPr marL="1600200" indent="-2286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4pPr>
            <a:lvl5pPr marL="2057400" indent="-2286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5pPr>
            <a:lvl6pPr marL="2514600" indent="-2286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6pPr>
            <a:lvl7pPr marL="2971800" indent="-2286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7pPr>
            <a:lvl8pPr marL="3429000" indent="-2286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8pPr>
            <a:lvl9pPr marL="3886200" indent="-2286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9pPr>
          </a:lstStyle>
          <a:p>
            <a:r>
              <a:rPr dirty="0"/>
              <a:t>Permite hacer un análisis descriptivo para comprender los valores y comportamiento  de potenciales clientes, proveedores, competidores, y trabajadores: Para ello es  importante analizar las tradiciones, valores y principios éticos, creencias, normas  preferencias, gustos y actitudes frente al consumo. Son los factores que afectan el  modo de vivir de la gente, incluso sus valores.</a:t>
            </a:r>
          </a:p>
        </p:txBody>
      </p:sp>
      <p:sp>
        <p:nvSpPr>
          <p:cNvPr id="4" name="object 4"/>
          <p:cNvSpPr/>
          <p:nvPr/>
        </p:nvSpPr>
        <p:spPr>
          <a:xfrm>
            <a:off x="3962400" y="3531108"/>
            <a:ext cx="5040503" cy="3342132"/>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4843" y="354279"/>
            <a:ext cx="5496357" cy="1120820"/>
          </a:xfrm>
          <a:prstGeom prst="rect">
            <a:avLst/>
          </a:prstGeom>
        </p:spPr>
        <p:txBody>
          <a:bodyPr vert="horz" lIns="91440" tIns="45720" rIns="91440" bIns="45720" rtlCol="0" anchor="t">
            <a:normAutofit/>
          </a:bodyPr>
          <a:lstStyle/>
          <a:p>
            <a:r>
              <a:rPr dirty="0"/>
              <a:t>ENTORNO CULTURAL:</a:t>
            </a:r>
          </a:p>
        </p:txBody>
      </p:sp>
      <p:sp>
        <p:nvSpPr>
          <p:cNvPr id="3" name="object 3"/>
          <p:cNvSpPr txBox="1"/>
          <p:nvPr/>
        </p:nvSpPr>
        <p:spPr>
          <a:xfrm>
            <a:off x="3505200" y="1828800"/>
            <a:ext cx="3774236" cy="1702435"/>
          </a:xfrm>
          <a:prstGeom prst="rect">
            <a:avLst/>
          </a:prstGeom>
        </p:spPr>
        <p:txBody>
          <a:bodyPr/>
          <a:lstStyle>
            <a:defPPr>
              <a:defRPr lang="en-US"/>
            </a:defPPr>
            <a:lvl1pPr indent="0" algn="just">
              <a:spcBef>
                <a:spcPts val="1000"/>
              </a:spcBef>
              <a:spcAft>
                <a:spcPts val="0"/>
              </a:spcAft>
              <a:buClr>
                <a:schemeClr val="accent1"/>
              </a:buClr>
              <a:buSzPct val="80000"/>
              <a:buFont typeface="Wingdings 3" charset="2"/>
              <a:buNone/>
              <a:defRPr>
                <a:solidFill>
                  <a:schemeClr val="tx1">
                    <a:lumMod val="75000"/>
                    <a:lumOff val="25000"/>
                  </a:schemeClr>
                </a:solidFill>
              </a:defRPr>
            </a:lvl1pPr>
            <a:lvl2pPr marL="742950" indent="-285750">
              <a:spcBef>
                <a:spcPts val="1000"/>
              </a:spcBef>
              <a:spcAft>
                <a:spcPts val="0"/>
              </a:spcAft>
              <a:buClr>
                <a:schemeClr val="accent1"/>
              </a:buClr>
              <a:buSzPct val="80000"/>
              <a:buFont typeface="Wingdings 3" charset="2"/>
              <a:buChar char=""/>
              <a:defRPr sz="1600">
                <a:solidFill>
                  <a:schemeClr val="tx1">
                    <a:lumMod val="75000"/>
                    <a:lumOff val="25000"/>
                  </a:schemeClr>
                </a:solidFill>
              </a:defRPr>
            </a:lvl2pPr>
            <a:lvl3pPr marL="1143000" indent="-228600">
              <a:spcBef>
                <a:spcPts val="1000"/>
              </a:spcBef>
              <a:spcAft>
                <a:spcPts val="0"/>
              </a:spcAft>
              <a:buClr>
                <a:schemeClr val="accent1"/>
              </a:buClr>
              <a:buSzPct val="80000"/>
              <a:buFont typeface="Wingdings 3" charset="2"/>
              <a:buChar char=""/>
              <a:defRPr sz="1400">
                <a:solidFill>
                  <a:schemeClr val="tx1">
                    <a:lumMod val="75000"/>
                    <a:lumOff val="25000"/>
                  </a:schemeClr>
                </a:solidFill>
              </a:defRPr>
            </a:lvl3pPr>
            <a:lvl4pPr marL="1600200" indent="-2286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4pPr>
            <a:lvl5pPr marL="2057400" indent="-2286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5pPr>
            <a:lvl6pPr marL="2514600" indent="-2286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6pPr>
            <a:lvl7pPr marL="2971800" indent="-2286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7pPr>
            <a:lvl8pPr marL="3429000" indent="-2286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8pPr>
            <a:lvl9pPr marL="3886200" indent="-2286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9pPr>
          </a:lstStyle>
          <a:p>
            <a:r>
              <a:rPr dirty="0"/>
              <a:t>La cultura es un conjunto de símbolos aprendidos, compartidos, obligatorios,  relacionados entre si, cuyos significados dan un conjunto de orientaciones para los  miembros de la sociedad. Estas orientaciones, en conjunto, dan soluciones a  problemas que todas las sociedades deben resolver, si es que quieren seguir  siendo viables.</a:t>
            </a:r>
          </a:p>
        </p:txBody>
      </p:sp>
      <p:pic>
        <p:nvPicPr>
          <p:cNvPr id="5" name="Imagen 4"/>
          <p:cNvPicPr>
            <a:picLocks noChangeAspect="1"/>
          </p:cNvPicPr>
          <p:nvPr/>
        </p:nvPicPr>
        <p:blipFill rotWithShape="1">
          <a:blip r:embed="rId2">
            <a:extLst>
              <a:ext uri="{28A0092B-C50C-407E-A947-70E740481C1C}">
                <a14:useLocalDpi xmlns:a14="http://schemas.microsoft.com/office/drawing/2010/main" val="0"/>
              </a:ext>
            </a:extLst>
          </a:blip>
          <a:srcRect l="13307" r="10583" b="10975"/>
          <a:stretch/>
        </p:blipFill>
        <p:spPr>
          <a:xfrm>
            <a:off x="0" y="3367087"/>
            <a:ext cx="3581401" cy="3490913"/>
          </a:xfrm>
          <a:prstGeom prst="ellipse">
            <a:avLst/>
          </a:prstGeom>
          <a:ln>
            <a:noFill/>
          </a:ln>
          <a:effectLst>
            <a:softEdge rad="112500"/>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p:cNvPicPr>
            <a:picLocks noChangeAspect="1"/>
          </p:cNvPicPr>
          <p:nvPr/>
        </p:nvPicPr>
        <p:blipFill rotWithShape="1">
          <a:blip r:embed="rId2">
            <a:extLst>
              <a:ext uri="{28A0092B-C50C-407E-A947-70E740481C1C}">
                <a14:useLocalDpi xmlns:a14="http://schemas.microsoft.com/office/drawing/2010/main" val="0"/>
              </a:ext>
            </a:extLst>
          </a:blip>
          <a:srcRect l="11159" r="7934"/>
          <a:stretch/>
        </p:blipFill>
        <p:spPr>
          <a:xfrm>
            <a:off x="4709160" y="2895600"/>
            <a:ext cx="4419600" cy="4374423"/>
          </a:xfrm>
          <a:prstGeom prst="ellipse">
            <a:avLst/>
          </a:prstGeom>
          <a:ln>
            <a:noFill/>
          </a:ln>
          <a:effectLst>
            <a:softEdge rad="112500"/>
          </a:effectLst>
        </p:spPr>
      </p:pic>
      <p:sp>
        <p:nvSpPr>
          <p:cNvPr id="2" name="object 2"/>
          <p:cNvSpPr txBox="1">
            <a:spLocks noGrp="1"/>
          </p:cNvSpPr>
          <p:nvPr>
            <p:ph type="title"/>
          </p:nvPr>
        </p:nvSpPr>
        <p:spPr>
          <a:xfrm>
            <a:off x="294843" y="342138"/>
            <a:ext cx="5724957" cy="1674817"/>
          </a:xfrm>
          <a:prstGeom prst="rect">
            <a:avLst/>
          </a:prstGeom>
        </p:spPr>
        <p:txBody>
          <a:bodyPr vert="horz" lIns="91440" tIns="45720" rIns="91440" bIns="45720" rtlCol="0" anchor="t">
            <a:normAutofit/>
          </a:bodyPr>
          <a:lstStyle/>
          <a:p>
            <a:r>
              <a:rPr dirty="0"/>
              <a:t>ENTORNO TECNOLOGICO:</a:t>
            </a:r>
          </a:p>
        </p:txBody>
      </p:sp>
      <p:sp>
        <p:nvSpPr>
          <p:cNvPr id="3" name="object 3"/>
          <p:cNvSpPr txBox="1"/>
          <p:nvPr/>
        </p:nvSpPr>
        <p:spPr>
          <a:xfrm>
            <a:off x="457200" y="1828800"/>
            <a:ext cx="4551477" cy="3421503"/>
          </a:xfrm>
          <a:prstGeom prst="rect">
            <a:avLst/>
          </a:prstGeom>
        </p:spPr>
        <p:txBody>
          <a:bodyPr/>
          <a:lstStyle>
            <a:defPPr>
              <a:defRPr lang="en-US"/>
            </a:defPPr>
            <a:lvl1pPr indent="0" algn="just">
              <a:spcBef>
                <a:spcPts val="1000"/>
              </a:spcBef>
              <a:spcAft>
                <a:spcPts val="0"/>
              </a:spcAft>
              <a:buClr>
                <a:schemeClr val="accent1"/>
              </a:buClr>
              <a:buSzPct val="80000"/>
              <a:buFont typeface="Wingdings 3" charset="2"/>
              <a:buNone/>
              <a:defRPr>
                <a:solidFill>
                  <a:schemeClr val="tx1">
                    <a:lumMod val="75000"/>
                    <a:lumOff val="25000"/>
                  </a:schemeClr>
                </a:solidFill>
              </a:defRPr>
            </a:lvl1pPr>
            <a:lvl2pPr marL="742950" indent="-285750">
              <a:spcBef>
                <a:spcPts val="1000"/>
              </a:spcBef>
              <a:spcAft>
                <a:spcPts val="0"/>
              </a:spcAft>
              <a:buClr>
                <a:schemeClr val="accent1"/>
              </a:buClr>
              <a:buSzPct val="80000"/>
              <a:buFont typeface="Wingdings 3" charset="2"/>
              <a:buChar char=""/>
              <a:defRPr sz="1600">
                <a:solidFill>
                  <a:schemeClr val="tx1">
                    <a:lumMod val="75000"/>
                    <a:lumOff val="25000"/>
                  </a:schemeClr>
                </a:solidFill>
              </a:defRPr>
            </a:lvl2pPr>
            <a:lvl3pPr marL="1143000" indent="-228600">
              <a:spcBef>
                <a:spcPts val="1000"/>
              </a:spcBef>
              <a:spcAft>
                <a:spcPts val="0"/>
              </a:spcAft>
              <a:buClr>
                <a:schemeClr val="accent1"/>
              </a:buClr>
              <a:buSzPct val="80000"/>
              <a:buFont typeface="Wingdings 3" charset="2"/>
              <a:buChar char=""/>
              <a:defRPr sz="1400">
                <a:solidFill>
                  <a:schemeClr val="tx1">
                    <a:lumMod val="75000"/>
                    <a:lumOff val="25000"/>
                  </a:schemeClr>
                </a:solidFill>
              </a:defRPr>
            </a:lvl3pPr>
            <a:lvl4pPr marL="1600200" indent="-2286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4pPr>
            <a:lvl5pPr marL="2057400" indent="-2286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5pPr>
            <a:lvl6pPr marL="2514600" indent="-2286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6pPr>
            <a:lvl7pPr marL="2971800" indent="-2286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7pPr>
            <a:lvl8pPr marL="3429000" indent="-2286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8pPr>
            <a:lvl9pPr marL="3886200" indent="-2286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9pPr>
          </a:lstStyle>
          <a:p>
            <a:r>
              <a:rPr dirty="0"/>
              <a:t>Busca identificar las tendencias de la innovación tecnológica, en los procesos de  producción, en los productos, en los materiales, gestión administrativa, y apoyo a la  administración y el grado de adopción que de ella hagan los competidores. ¿De  que manera se pueden aprovechar los cambios tecnológicos?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419" dirty="0"/>
              <a:t>ENTORNO AMBIENTAL</a:t>
            </a:r>
          </a:p>
        </p:txBody>
      </p:sp>
      <p:pic>
        <p:nvPicPr>
          <p:cNvPr id="6" name="Marcador de contenido 5"/>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6400800" y="3926232"/>
            <a:ext cx="2819400" cy="2931768"/>
          </a:xfrm>
        </p:spPr>
      </p:pic>
      <p:sp>
        <p:nvSpPr>
          <p:cNvPr id="3" name="Rectángulo 2">
            <a:extLst>
              <a:ext uri="{FF2B5EF4-FFF2-40B4-BE49-F238E27FC236}">
                <a16:creationId xmlns:a16="http://schemas.microsoft.com/office/drawing/2014/main" id="{A32CE991-1A3E-46EA-BB6E-2206F7AB172C}"/>
              </a:ext>
            </a:extLst>
          </p:cNvPr>
          <p:cNvSpPr/>
          <p:nvPr/>
        </p:nvSpPr>
        <p:spPr>
          <a:xfrm>
            <a:off x="304800" y="1921933"/>
            <a:ext cx="7010400" cy="1477328"/>
          </a:xfrm>
          <a:prstGeom prst="rect">
            <a:avLst/>
          </a:prstGeom>
        </p:spPr>
        <p:txBody>
          <a:bodyPr wrap="square">
            <a:spAutoFit/>
          </a:bodyPr>
          <a:lstStyle/>
          <a:p>
            <a:pPr algn="just"/>
            <a:r>
              <a:rPr lang="es-ES" dirty="0">
                <a:solidFill>
                  <a:schemeClr val="tx1">
                    <a:lumMod val="75000"/>
                    <a:lumOff val="25000"/>
                  </a:schemeClr>
                </a:solidFill>
              </a:rPr>
              <a:t>Este es relativamente cualitativo y consiste en la identificación y análisis de las variables ambientales que afectan a la empresa.</a:t>
            </a:r>
          </a:p>
          <a:p>
            <a:pPr algn="just"/>
            <a:r>
              <a:rPr lang="es-ES" dirty="0">
                <a:solidFill>
                  <a:schemeClr val="tx1">
                    <a:lumMod val="75000"/>
                    <a:lumOff val="25000"/>
                  </a:schemeClr>
                </a:solidFill>
              </a:rPr>
              <a:t>Además, algunos marcos de análisis ambiental han recibido una gran cantidad de atención en el mundo de la literatura de gestión empresarial, tales como el análisis FODA y análisis PESTEL</a:t>
            </a:r>
          </a:p>
        </p:txBody>
      </p:sp>
      <p:sp>
        <p:nvSpPr>
          <p:cNvPr id="4" name="Rectángulo 3">
            <a:extLst>
              <a:ext uri="{FF2B5EF4-FFF2-40B4-BE49-F238E27FC236}">
                <a16:creationId xmlns:a16="http://schemas.microsoft.com/office/drawing/2014/main" id="{17778154-63C5-4114-B9CF-0A8E06E7F6B8}"/>
              </a:ext>
            </a:extLst>
          </p:cNvPr>
          <p:cNvSpPr/>
          <p:nvPr/>
        </p:nvSpPr>
        <p:spPr>
          <a:xfrm>
            <a:off x="304800" y="3522133"/>
            <a:ext cx="5867400" cy="2308324"/>
          </a:xfrm>
          <a:prstGeom prst="rect">
            <a:avLst/>
          </a:prstGeom>
        </p:spPr>
        <p:txBody>
          <a:bodyPr wrap="square">
            <a:spAutoFit/>
          </a:bodyPr>
          <a:lstStyle/>
          <a:p>
            <a:pPr algn="just"/>
            <a:r>
              <a:rPr lang="es-ES" dirty="0">
                <a:solidFill>
                  <a:schemeClr val="tx1">
                    <a:lumMod val="75000"/>
                    <a:lumOff val="25000"/>
                  </a:schemeClr>
                </a:solidFill>
              </a:rPr>
              <a:t>El análisis ambiental para una empresa analiza los factores inherentes en el entorno de una empresa que puede tener algún impacto de los mismos y busca la forma o el camino más eficiente, para evitarlo o solucionarlo.</a:t>
            </a:r>
          </a:p>
          <a:p>
            <a:pPr algn="just"/>
            <a:r>
              <a:rPr lang="es-ES" dirty="0">
                <a:solidFill>
                  <a:schemeClr val="tx1">
                    <a:lumMod val="75000"/>
                    <a:lumOff val="25000"/>
                  </a:schemeClr>
                </a:solidFill>
              </a:rPr>
              <a:t>Este tipo de análisis es relativamente cualitativo y consiste en la identificación, exploración, análisis y predicción de las variables ambientales.</a:t>
            </a:r>
          </a:p>
        </p:txBody>
      </p:sp>
    </p:spTree>
    <p:extLst>
      <p:ext uri="{BB962C8B-B14F-4D97-AF65-F5344CB8AC3E}">
        <p14:creationId xmlns:p14="http://schemas.microsoft.com/office/powerpoint/2010/main" val="34264256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6775" y="329565"/>
            <a:ext cx="4967225" cy="1120820"/>
          </a:xfrm>
          <a:prstGeom prst="rect">
            <a:avLst/>
          </a:prstGeom>
        </p:spPr>
        <p:txBody>
          <a:bodyPr vert="horz" lIns="91440" tIns="45720" rIns="91440" bIns="45720" rtlCol="0" anchor="t">
            <a:normAutofit/>
          </a:bodyPr>
          <a:lstStyle/>
          <a:p>
            <a:r>
              <a:rPr dirty="0"/>
              <a:t>ENTORNO ECONÓMICO:</a:t>
            </a:r>
          </a:p>
        </p:txBody>
      </p:sp>
      <p:sp>
        <p:nvSpPr>
          <p:cNvPr id="3" name="object 3"/>
          <p:cNvSpPr txBox="1"/>
          <p:nvPr/>
        </p:nvSpPr>
        <p:spPr>
          <a:xfrm>
            <a:off x="452603" y="1981200"/>
            <a:ext cx="6567425" cy="848360"/>
          </a:xfrm>
          <a:prstGeom prst="rect">
            <a:avLst/>
          </a:prstGeom>
        </p:spPr>
        <p:txBody>
          <a:bodyPr/>
          <a:lstStyle>
            <a:defPPr>
              <a:defRPr lang="en-US"/>
            </a:defPPr>
            <a:lvl1pPr indent="0" algn="just">
              <a:spcBef>
                <a:spcPts val="1000"/>
              </a:spcBef>
              <a:spcAft>
                <a:spcPts val="0"/>
              </a:spcAft>
              <a:buClr>
                <a:schemeClr val="accent1"/>
              </a:buClr>
              <a:buSzPct val="80000"/>
              <a:buFont typeface="Wingdings 3" charset="2"/>
              <a:buNone/>
              <a:defRPr>
                <a:solidFill>
                  <a:schemeClr val="tx1">
                    <a:lumMod val="75000"/>
                    <a:lumOff val="25000"/>
                  </a:schemeClr>
                </a:solidFill>
              </a:defRPr>
            </a:lvl1pPr>
            <a:lvl2pPr marL="742950" indent="-285750">
              <a:spcBef>
                <a:spcPts val="1000"/>
              </a:spcBef>
              <a:spcAft>
                <a:spcPts val="0"/>
              </a:spcAft>
              <a:buClr>
                <a:schemeClr val="accent1"/>
              </a:buClr>
              <a:buSzPct val="80000"/>
              <a:buFont typeface="Wingdings 3" charset="2"/>
              <a:buChar char=""/>
              <a:defRPr sz="1600">
                <a:solidFill>
                  <a:schemeClr val="tx1">
                    <a:lumMod val="75000"/>
                    <a:lumOff val="25000"/>
                  </a:schemeClr>
                </a:solidFill>
              </a:defRPr>
            </a:lvl2pPr>
            <a:lvl3pPr marL="1143000" indent="-228600">
              <a:spcBef>
                <a:spcPts val="1000"/>
              </a:spcBef>
              <a:spcAft>
                <a:spcPts val="0"/>
              </a:spcAft>
              <a:buClr>
                <a:schemeClr val="accent1"/>
              </a:buClr>
              <a:buSzPct val="80000"/>
              <a:buFont typeface="Wingdings 3" charset="2"/>
              <a:buChar char=""/>
              <a:defRPr sz="1400">
                <a:solidFill>
                  <a:schemeClr val="tx1">
                    <a:lumMod val="75000"/>
                    <a:lumOff val="25000"/>
                  </a:schemeClr>
                </a:solidFill>
              </a:defRPr>
            </a:lvl3pPr>
            <a:lvl4pPr marL="1600200" indent="-2286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4pPr>
            <a:lvl5pPr marL="2057400" indent="-2286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5pPr>
            <a:lvl6pPr marL="2514600" indent="-2286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6pPr>
            <a:lvl7pPr marL="2971800" indent="-2286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7pPr>
            <a:lvl8pPr marL="3429000" indent="-2286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8pPr>
            <a:lvl9pPr marL="3886200" indent="-2286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9pPr>
          </a:lstStyle>
          <a:p>
            <a:r>
              <a:rPr dirty="0"/>
              <a:t>Relacionados con el comportamiento de la economía, el flujo del dinero, bienes y  servicios, tanto a nivel nacional, como internacional. ¿De que manera se pueden  aprovechar los cambios económicos?</a:t>
            </a:r>
          </a:p>
        </p:txBody>
      </p:sp>
      <p:pic>
        <p:nvPicPr>
          <p:cNvPr id="5" name="Imagen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91897" y="3973830"/>
            <a:ext cx="4827063" cy="288417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6774" y="297560"/>
            <a:ext cx="3900425" cy="1120820"/>
          </a:xfrm>
          <a:prstGeom prst="rect">
            <a:avLst/>
          </a:prstGeom>
        </p:spPr>
        <p:txBody>
          <a:bodyPr vert="horz" lIns="91440" tIns="45720" rIns="91440" bIns="45720" rtlCol="0" anchor="t">
            <a:normAutofit fontScale="90000"/>
          </a:bodyPr>
          <a:lstStyle/>
          <a:p>
            <a:r>
              <a:rPr dirty="0"/>
              <a:t>ENTORNO POLITICO:</a:t>
            </a:r>
            <a:endParaRPr/>
          </a:p>
        </p:txBody>
      </p:sp>
      <p:sp>
        <p:nvSpPr>
          <p:cNvPr id="5" name="object 5"/>
          <p:cNvSpPr txBox="1"/>
          <p:nvPr/>
        </p:nvSpPr>
        <p:spPr>
          <a:xfrm>
            <a:off x="411479" y="2209800"/>
            <a:ext cx="3886200" cy="1351915"/>
          </a:xfrm>
          <a:prstGeom prst="rect">
            <a:avLst/>
          </a:prstGeom>
        </p:spPr>
        <p:txBody>
          <a:bodyPr/>
          <a:lstStyle>
            <a:defPPr>
              <a:defRPr lang="en-US"/>
            </a:defPPr>
            <a:lvl1pPr indent="0" algn="just">
              <a:spcBef>
                <a:spcPts val="1000"/>
              </a:spcBef>
              <a:spcAft>
                <a:spcPts val="0"/>
              </a:spcAft>
              <a:buClr>
                <a:schemeClr val="accent1"/>
              </a:buClr>
              <a:buSzPct val="80000"/>
              <a:buFont typeface="Wingdings 3" charset="2"/>
              <a:buNone/>
              <a:defRPr>
                <a:solidFill>
                  <a:schemeClr val="tx1">
                    <a:lumMod val="75000"/>
                    <a:lumOff val="25000"/>
                  </a:schemeClr>
                </a:solidFill>
              </a:defRPr>
            </a:lvl1pPr>
            <a:lvl2pPr marL="742950" indent="-285750">
              <a:spcBef>
                <a:spcPts val="1000"/>
              </a:spcBef>
              <a:spcAft>
                <a:spcPts val="0"/>
              </a:spcAft>
              <a:buClr>
                <a:schemeClr val="accent1"/>
              </a:buClr>
              <a:buSzPct val="80000"/>
              <a:buFont typeface="Wingdings 3" charset="2"/>
              <a:buChar char=""/>
              <a:defRPr sz="1600">
                <a:solidFill>
                  <a:schemeClr val="tx1">
                    <a:lumMod val="75000"/>
                    <a:lumOff val="25000"/>
                  </a:schemeClr>
                </a:solidFill>
              </a:defRPr>
            </a:lvl2pPr>
            <a:lvl3pPr marL="1143000" indent="-228600">
              <a:spcBef>
                <a:spcPts val="1000"/>
              </a:spcBef>
              <a:spcAft>
                <a:spcPts val="0"/>
              </a:spcAft>
              <a:buClr>
                <a:schemeClr val="accent1"/>
              </a:buClr>
              <a:buSzPct val="80000"/>
              <a:buFont typeface="Wingdings 3" charset="2"/>
              <a:buChar char=""/>
              <a:defRPr sz="1400">
                <a:solidFill>
                  <a:schemeClr val="tx1">
                    <a:lumMod val="75000"/>
                    <a:lumOff val="25000"/>
                  </a:schemeClr>
                </a:solidFill>
              </a:defRPr>
            </a:lvl3pPr>
            <a:lvl4pPr marL="1600200" indent="-2286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4pPr>
            <a:lvl5pPr marL="2057400" indent="-2286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5pPr>
            <a:lvl6pPr marL="2514600" indent="-2286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6pPr>
            <a:lvl7pPr marL="2971800" indent="-2286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7pPr>
            <a:lvl8pPr marL="3429000" indent="-2286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8pPr>
            <a:lvl9pPr marL="3886200" indent="-2286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9pPr>
          </a:lstStyle>
          <a:p>
            <a:r>
              <a:rPr lang="es-419" dirty="0"/>
              <a:t>Se	refieren	al	uso	del poder, en	relación	con	los	gobiernos nacionales, </a:t>
            </a:r>
            <a:r>
              <a:rPr dirty="0" err="1"/>
              <a:t>departamentales</a:t>
            </a:r>
            <a:r>
              <a:rPr dirty="0"/>
              <a:t>, locales, los órganos de representación y las decisiones políticas  (normas, leyes que regulan el sector trabajo, comercio, etc. reglamentos),  sistemas de gobierno, etc. ¿De que manera se pueden aprovechar los cambios  políticos?</a:t>
            </a:r>
          </a:p>
        </p:txBody>
      </p:sp>
      <p:pic>
        <p:nvPicPr>
          <p:cNvPr id="10" name="Imagen 9"/>
          <p:cNvPicPr>
            <a:picLocks noChangeAspect="1"/>
          </p:cNvPicPr>
          <p:nvPr/>
        </p:nvPicPr>
        <p:blipFill rotWithShape="1">
          <a:blip r:embed="rId2" cstate="print">
            <a:extLst>
              <a:ext uri="{28A0092B-C50C-407E-A947-70E740481C1C}">
                <a14:useLocalDpi xmlns:a14="http://schemas.microsoft.com/office/drawing/2010/main" val="0"/>
              </a:ext>
            </a:extLst>
          </a:blip>
          <a:srcRect t="13333"/>
          <a:stretch/>
        </p:blipFill>
        <p:spPr>
          <a:xfrm>
            <a:off x="4410808" y="1869651"/>
            <a:ext cx="4349018" cy="3769149"/>
          </a:xfrm>
          <a:prstGeom prst="ellipse">
            <a:avLst/>
          </a:prstGeom>
          <a:ln>
            <a:noFill/>
          </a:ln>
          <a:effectLst>
            <a:softEdge rad="112500"/>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245173" y="182245"/>
          <a:ext cx="8642979" cy="6545621"/>
        </p:xfrm>
        <a:graphic>
          <a:graphicData uri="http://schemas.openxmlformats.org/drawingml/2006/table">
            <a:tbl>
              <a:tblPr firstRow="1" bandRow="1">
                <a:tableStyleId>{2D5ABB26-0587-4C30-8999-92F81FD0307C}</a:tableStyleId>
              </a:tblPr>
              <a:tblGrid>
                <a:gridCol w="1992630">
                  <a:extLst>
                    <a:ext uri="{9D8B030D-6E8A-4147-A177-3AD203B41FA5}">
                      <a16:colId xmlns:a16="http://schemas.microsoft.com/office/drawing/2014/main" val="20000"/>
                    </a:ext>
                  </a:extLst>
                </a:gridCol>
                <a:gridCol w="599440">
                  <a:extLst>
                    <a:ext uri="{9D8B030D-6E8A-4147-A177-3AD203B41FA5}">
                      <a16:colId xmlns:a16="http://schemas.microsoft.com/office/drawing/2014/main" val="20001"/>
                    </a:ext>
                  </a:extLst>
                </a:gridCol>
                <a:gridCol w="504189">
                  <a:extLst>
                    <a:ext uri="{9D8B030D-6E8A-4147-A177-3AD203B41FA5}">
                      <a16:colId xmlns:a16="http://schemas.microsoft.com/office/drawing/2014/main" val="20002"/>
                    </a:ext>
                  </a:extLst>
                </a:gridCol>
                <a:gridCol w="768985">
                  <a:extLst>
                    <a:ext uri="{9D8B030D-6E8A-4147-A177-3AD203B41FA5}">
                      <a16:colId xmlns:a16="http://schemas.microsoft.com/office/drawing/2014/main" val="20003"/>
                    </a:ext>
                  </a:extLst>
                </a:gridCol>
                <a:gridCol w="600075">
                  <a:extLst>
                    <a:ext uri="{9D8B030D-6E8A-4147-A177-3AD203B41FA5}">
                      <a16:colId xmlns:a16="http://schemas.microsoft.com/office/drawing/2014/main" val="20004"/>
                    </a:ext>
                  </a:extLst>
                </a:gridCol>
                <a:gridCol w="792479">
                  <a:extLst>
                    <a:ext uri="{9D8B030D-6E8A-4147-A177-3AD203B41FA5}">
                      <a16:colId xmlns:a16="http://schemas.microsoft.com/office/drawing/2014/main" val="20005"/>
                    </a:ext>
                  </a:extLst>
                </a:gridCol>
                <a:gridCol w="792479">
                  <a:extLst>
                    <a:ext uri="{9D8B030D-6E8A-4147-A177-3AD203B41FA5}">
                      <a16:colId xmlns:a16="http://schemas.microsoft.com/office/drawing/2014/main" val="20006"/>
                    </a:ext>
                  </a:extLst>
                </a:gridCol>
                <a:gridCol w="864234">
                  <a:extLst>
                    <a:ext uri="{9D8B030D-6E8A-4147-A177-3AD203B41FA5}">
                      <a16:colId xmlns:a16="http://schemas.microsoft.com/office/drawing/2014/main" val="20007"/>
                    </a:ext>
                  </a:extLst>
                </a:gridCol>
                <a:gridCol w="864234">
                  <a:extLst>
                    <a:ext uri="{9D8B030D-6E8A-4147-A177-3AD203B41FA5}">
                      <a16:colId xmlns:a16="http://schemas.microsoft.com/office/drawing/2014/main" val="20008"/>
                    </a:ext>
                  </a:extLst>
                </a:gridCol>
                <a:gridCol w="864234">
                  <a:extLst>
                    <a:ext uri="{9D8B030D-6E8A-4147-A177-3AD203B41FA5}">
                      <a16:colId xmlns:a16="http://schemas.microsoft.com/office/drawing/2014/main" val="20009"/>
                    </a:ext>
                  </a:extLst>
                </a:gridCol>
              </a:tblGrid>
              <a:tr h="757808">
                <a:tc>
                  <a:txBody>
                    <a:bodyPr/>
                    <a:lstStyle/>
                    <a:p>
                      <a:pPr>
                        <a:lnSpc>
                          <a:spcPct val="100000"/>
                        </a:lnSpc>
                      </a:pPr>
                      <a:endParaRPr sz="1300">
                        <a:latin typeface="Times New Roman"/>
                        <a:cs typeface="Times New Roman"/>
                      </a:endParaRPr>
                    </a:p>
                    <a:p>
                      <a:pPr algn="ctr">
                        <a:lnSpc>
                          <a:spcPct val="100000"/>
                        </a:lnSpc>
                        <a:spcBef>
                          <a:spcPts val="1065"/>
                        </a:spcBef>
                      </a:pPr>
                      <a:r>
                        <a:rPr sz="1100" b="1" spc="-5" dirty="0">
                          <a:latin typeface="Book Antiqua"/>
                          <a:cs typeface="Book Antiqua"/>
                        </a:rPr>
                        <a:t>FACTORES.</a:t>
                      </a:r>
                      <a:r>
                        <a:rPr sz="1100" b="1" spc="-25" dirty="0">
                          <a:latin typeface="Book Antiqua"/>
                          <a:cs typeface="Book Antiqua"/>
                        </a:rPr>
                        <a:t> </a:t>
                      </a:r>
                      <a:r>
                        <a:rPr sz="1100" b="1" spc="-5" dirty="0">
                          <a:latin typeface="Book Antiqua"/>
                          <a:cs typeface="Book Antiqua"/>
                        </a:rPr>
                        <a:t>VARIABLES</a:t>
                      </a:r>
                      <a:endParaRPr sz="1100">
                        <a:latin typeface="Book Antiqua"/>
                        <a:cs typeface="Book Antiqua"/>
                      </a:endParaRPr>
                    </a:p>
                    <a:p>
                      <a:pPr marL="635" algn="ctr">
                        <a:lnSpc>
                          <a:spcPct val="100000"/>
                        </a:lnSpc>
                        <a:spcBef>
                          <a:spcPts val="195"/>
                        </a:spcBef>
                      </a:pPr>
                      <a:r>
                        <a:rPr sz="1100" b="1" spc="-5" dirty="0">
                          <a:latin typeface="Book Antiqua"/>
                          <a:cs typeface="Book Antiqua"/>
                        </a:rPr>
                        <a:t>CRÍTICAS.</a:t>
                      </a:r>
                      <a:endParaRPr sz="1100">
                        <a:latin typeface="Book Antiqua"/>
                        <a:cs typeface="Book Antiqua"/>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gridSpan="3">
                  <a:txBody>
                    <a:bodyPr/>
                    <a:lstStyle/>
                    <a:p>
                      <a:pPr>
                        <a:lnSpc>
                          <a:spcPct val="100000"/>
                        </a:lnSpc>
                      </a:pPr>
                      <a:endParaRPr sz="1300">
                        <a:latin typeface="Times New Roman"/>
                        <a:cs typeface="Times New Roman"/>
                      </a:endParaRPr>
                    </a:p>
                    <a:p>
                      <a:pPr marL="283210">
                        <a:lnSpc>
                          <a:spcPct val="100000"/>
                        </a:lnSpc>
                        <a:spcBef>
                          <a:spcPts val="1065"/>
                        </a:spcBef>
                      </a:pPr>
                      <a:r>
                        <a:rPr sz="1100" b="1" spc="-5" dirty="0">
                          <a:latin typeface="Book Antiqua"/>
                          <a:cs typeface="Book Antiqua"/>
                        </a:rPr>
                        <a:t>OPORTUNIDADES</a:t>
                      </a:r>
                      <a:endParaRPr sz="1100">
                        <a:latin typeface="Book Antiqua"/>
                        <a:cs typeface="Book Antiqua"/>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tc hMerge="1">
                  <a:txBody>
                    <a:bodyPr/>
                    <a:lstStyle/>
                    <a:p>
                      <a:endParaRPr/>
                    </a:p>
                  </a:txBody>
                  <a:tcPr marL="0" marR="0" marT="0" marB="0"/>
                </a:tc>
                <a:tc gridSpan="3">
                  <a:txBody>
                    <a:bodyPr/>
                    <a:lstStyle/>
                    <a:p>
                      <a:pPr>
                        <a:lnSpc>
                          <a:spcPct val="100000"/>
                        </a:lnSpc>
                      </a:pPr>
                      <a:endParaRPr sz="1300">
                        <a:latin typeface="Times New Roman"/>
                        <a:cs typeface="Times New Roman"/>
                      </a:endParaRPr>
                    </a:p>
                    <a:p>
                      <a:pPr marL="668020">
                        <a:lnSpc>
                          <a:spcPct val="100000"/>
                        </a:lnSpc>
                        <a:spcBef>
                          <a:spcPts val="1065"/>
                        </a:spcBef>
                      </a:pPr>
                      <a:r>
                        <a:rPr sz="1100" b="1" dirty="0">
                          <a:latin typeface="Book Antiqua"/>
                          <a:cs typeface="Book Antiqua"/>
                        </a:rPr>
                        <a:t>AMENAZAS</a:t>
                      </a:r>
                      <a:endParaRPr sz="1100">
                        <a:latin typeface="Book Antiqua"/>
                        <a:cs typeface="Book Antiqua"/>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tc hMerge="1">
                  <a:txBody>
                    <a:bodyPr/>
                    <a:lstStyle/>
                    <a:p>
                      <a:endParaRPr/>
                    </a:p>
                  </a:txBody>
                  <a:tcPr marL="0" marR="0" marT="0" marB="0"/>
                </a:tc>
                <a:tc gridSpan="3">
                  <a:txBody>
                    <a:bodyPr/>
                    <a:lstStyle/>
                    <a:p>
                      <a:pPr>
                        <a:lnSpc>
                          <a:spcPct val="100000"/>
                        </a:lnSpc>
                      </a:pPr>
                      <a:endParaRPr sz="1300">
                        <a:latin typeface="Times New Roman"/>
                        <a:cs typeface="Times New Roman"/>
                      </a:endParaRPr>
                    </a:p>
                    <a:p>
                      <a:pPr marL="635" algn="ctr">
                        <a:lnSpc>
                          <a:spcPct val="100000"/>
                        </a:lnSpc>
                        <a:spcBef>
                          <a:spcPts val="1065"/>
                        </a:spcBef>
                      </a:pPr>
                      <a:r>
                        <a:rPr sz="1100" b="1" spc="-5" dirty="0">
                          <a:latin typeface="Book Antiqua"/>
                          <a:cs typeface="Book Antiqua"/>
                        </a:rPr>
                        <a:t>IMPACTO</a:t>
                      </a:r>
                      <a:endParaRPr sz="1100">
                        <a:latin typeface="Book Antiqua"/>
                        <a:cs typeface="Book Antiqua"/>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192786">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40"/>
                        </a:spcBef>
                      </a:pPr>
                      <a:r>
                        <a:rPr sz="1100" b="1" dirty="0">
                          <a:latin typeface="Book Antiqua"/>
                          <a:cs typeface="Book Antiqua"/>
                        </a:rPr>
                        <a:t>A</a:t>
                      </a:r>
                      <a:endParaRPr sz="1100">
                        <a:latin typeface="Book Antiqua"/>
                        <a:cs typeface="Book Antiqua"/>
                      </a:endParaRPr>
                    </a:p>
                  </a:txBody>
                  <a:tcPr marL="0" marR="0" marT="50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40"/>
                        </a:spcBef>
                      </a:pPr>
                      <a:r>
                        <a:rPr sz="1100" b="1" dirty="0">
                          <a:latin typeface="Book Antiqua"/>
                          <a:cs typeface="Book Antiqua"/>
                        </a:rPr>
                        <a:t>M</a:t>
                      </a:r>
                      <a:endParaRPr sz="1100">
                        <a:latin typeface="Book Antiqua"/>
                        <a:cs typeface="Book Antiqua"/>
                      </a:endParaRPr>
                    </a:p>
                  </a:txBody>
                  <a:tcPr marL="0" marR="0" marT="50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40"/>
                        </a:spcBef>
                      </a:pPr>
                      <a:r>
                        <a:rPr sz="1100" b="1" dirty="0">
                          <a:latin typeface="Book Antiqua"/>
                          <a:cs typeface="Book Antiqua"/>
                        </a:rPr>
                        <a:t>B</a:t>
                      </a:r>
                      <a:endParaRPr sz="1100">
                        <a:latin typeface="Book Antiqua"/>
                        <a:cs typeface="Book Antiqua"/>
                      </a:endParaRPr>
                    </a:p>
                  </a:txBody>
                  <a:tcPr marL="0" marR="0" marT="50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40"/>
                        </a:spcBef>
                      </a:pPr>
                      <a:r>
                        <a:rPr sz="1100" b="1" dirty="0">
                          <a:latin typeface="Book Antiqua"/>
                          <a:cs typeface="Book Antiqua"/>
                        </a:rPr>
                        <a:t>A</a:t>
                      </a:r>
                      <a:endParaRPr sz="1100">
                        <a:latin typeface="Book Antiqua"/>
                        <a:cs typeface="Book Antiqua"/>
                      </a:endParaRPr>
                    </a:p>
                  </a:txBody>
                  <a:tcPr marL="0" marR="0" marT="50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40"/>
                        </a:spcBef>
                      </a:pPr>
                      <a:r>
                        <a:rPr sz="1100" b="1" dirty="0">
                          <a:latin typeface="Book Antiqua"/>
                          <a:cs typeface="Book Antiqua"/>
                        </a:rPr>
                        <a:t>M</a:t>
                      </a:r>
                      <a:endParaRPr sz="1100">
                        <a:latin typeface="Book Antiqua"/>
                        <a:cs typeface="Book Antiqua"/>
                      </a:endParaRPr>
                    </a:p>
                  </a:txBody>
                  <a:tcPr marL="0" marR="0" marT="50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40"/>
                        </a:spcBef>
                      </a:pPr>
                      <a:r>
                        <a:rPr sz="1100" b="1" dirty="0">
                          <a:latin typeface="Book Antiqua"/>
                          <a:cs typeface="Book Antiqua"/>
                        </a:rPr>
                        <a:t>B</a:t>
                      </a:r>
                      <a:endParaRPr sz="1100">
                        <a:latin typeface="Book Antiqua"/>
                        <a:cs typeface="Book Antiqua"/>
                      </a:endParaRPr>
                    </a:p>
                  </a:txBody>
                  <a:tcPr marL="0" marR="0" marT="50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40"/>
                        </a:spcBef>
                      </a:pPr>
                      <a:r>
                        <a:rPr sz="1100" b="1" dirty="0">
                          <a:latin typeface="Book Antiqua"/>
                          <a:cs typeface="Book Antiqua"/>
                        </a:rPr>
                        <a:t>A</a:t>
                      </a:r>
                      <a:endParaRPr sz="1100">
                        <a:latin typeface="Book Antiqua"/>
                        <a:cs typeface="Book Antiqua"/>
                      </a:endParaRPr>
                    </a:p>
                  </a:txBody>
                  <a:tcPr marL="0" marR="0" marT="50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40"/>
                        </a:spcBef>
                      </a:pPr>
                      <a:r>
                        <a:rPr sz="1100" b="1" dirty="0">
                          <a:latin typeface="Book Antiqua"/>
                          <a:cs typeface="Book Antiqua"/>
                        </a:rPr>
                        <a:t>M</a:t>
                      </a:r>
                      <a:endParaRPr sz="1100">
                        <a:latin typeface="Book Antiqua"/>
                        <a:cs typeface="Book Antiqua"/>
                      </a:endParaRPr>
                    </a:p>
                  </a:txBody>
                  <a:tcPr marL="0" marR="0" marT="50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175" algn="ctr">
                        <a:lnSpc>
                          <a:spcPct val="100000"/>
                        </a:lnSpc>
                        <a:spcBef>
                          <a:spcPts val="40"/>
                        </a:spcBef>
                      </a:pPr>
                      <a:r>
                        <a:rPr sz="1100" b="1" dirty="0">
                          <a:latin typeface="Book Antiqua"/>
                          <a:cs typeface="Book Antiqua"/>
                        </a:rPr>
                        <a:t>B</a:t>
                      </a:r>
                      <a:endParaRPr sz="1100">
                        <a:latin typeface="Book Antiqua"/>
                        <a:cs typeface="Book Antiqua"/>
                      </a:endParaRPr>
                    </a:p>
                  </a:txBody>
                  <a:tcPr marL="0" marR="0" marT="50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578358">
                <a:tc>
                  <a:txBody>
                    <a:bodyPr/>
                    <a:lstStyle/>
                    <a:p>
                      <a:pPr algn="ctr">
                        <a:lnSpc>
                          <a:spcPct val="100000"/>
                        </a:lnSpc>
                        <a:spcBef>
                          <a:spcPts val="45"/>
                        </a:spcBef>
                      </a:pPr>
                      <a:r>
                        <a:rPr sz="1100" b="1" dirty="0">
                          <a:latin typeface="Book Antiqua"/>
                          <a:cs typeface="Book Antiqua"/>
                        </a:rPr>
                        <a:t>ECONOMICOS</a:t>
                      </a:r>
                      <a:endParaRPr sz="1100">
                        <a:latin typeface="Book Antiqua"/>
                        <a:cs typeface="Book Antiqua"/>
                      </a:endParaRPr>
                    </a:p>
                    <a:p>
                      <a:pPr algn="ctr">
                        <a:lnSpc>
                          <a:spcPct val="100000"/>
                        </a:lnSpc>
                        <a:spcBef>
                          <a:spcPts val="190"/>
                        </a:spcBef>
                      </a:pPr>
                      <a:r>
                        <a:rPr sz="1100" b="1" dirty="0">
                          <a:latin typeface="Book Antiqua"/>
                          <a:cs typeface="Book Antiqua"/>
                        </a:rPr>
                        <a:t>1.</a:t>
                      </a:r>
                      <a:endParaRPr sz="1100">
                        <a:latin typeface="Book Antiqua"/>
                        <a:cs typeface="Book Antiqua"/>
                      </a:endParaRPr>
                    </a:p>
                    <a:p>
                      <a:pPr algn="ctr">
                        <a:lnSpc>
                          <a:spcPct val="100000"/>
                        </a:lnSpc>
                        <a:spcBef>
                          <a:spcPts val="204"/>
                        </a:spcBef>
                      </a:pPr>
                      <a:r>
                        <a:rPr sz="1100" b="1" dirty="0">
                          <a:latin typeface="Book Antiqua"/>
                          <a:cs typeface="Book Antiqua"/>
                        </a:rPr>
                        <a:t>2.</a:t>
                      </a:r>
                      <a:endParaRPr sz="1100">
                        <a:latin typeface="Book Antiqua"/>
                        <a:cs typeface="Book Antiqua"/>
                      </a:endParaRPr>
                    </a:p>
                  </a:txBody>
                  <a:tcPr marL="0" marR="0" marT="57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578357">
                <a:tc>
                  <a:txBody>
                    <a:bodyPr/>
                    <a:lstStyle/>
                    <a:p>
                      <a:pPr marR="22225" algn="ctr">
                        <a:lnSpc>
                          <a:spcPct val="100000"/>
                        </a:lnSpc>
                        <a:spcBef>
                          <a:spcPts val="45"/>
                        </a:spcBef>
                      </a:pPr>
                      <a:r>
                        <a:rPr sz="1100" b="1" dirty="0">
                          <a:latin typeface="Book Antiqua"/>
                          <a:cs typeface="Book Antiqua"/>
                        </a:rPr>
                        <a:t>TECNOLOGICOS</a:t>
                      </a:r>
                      <a:endParaRPr sz="1100">
                        <a:latin typeface="Book Antiqua"/>
                        <a:cs typeface="Book Antiqua"/>
                      </a:endParaRPr>
                    </a:p>
                    <a:p>
                      <a:pPr algn="ctr">
                        <a:lnSpc>
                          <a:spcPct val="100000"/>
                        </a:lnSpc>
                        <a:spcBef>
                          <a:spcPts val="190"/>
                        </a:spcBef>
                      </a:pPr>
                      <a:r>
                        <a:rPr sz="1100" b="1" dirty="0">
                          <a:latin typeface="Book Antiqua"/>
                          <a:cs typeface="Book Antiqua"/>
                        </a:rPr>
                        <a:t>1.</a:t>
                      </a:r>
                      <a:endParaRPr sz="1100">
                        <a:latin typeface="Book Antiqua"/>
                        <a:cs typeface="Book Antiqua"/>
                      </a:endParaRPr>
                    </a:p>
                    <a:p>
                      <a:pPr algn="ctr">
                        <a:lnSpc>
                          <a:spcPct val="100000"/>
                        </a:lnSpc>
                        <a:spcBef>
                          <a:spcPts val="204"/>
                        </a:spcBef>
                      </a:pPr>
                      <a:r>
                        <a:rPr sz="1100" b="1" dirty="0">
                          <a:latin typeface="Book Antiqua"/>
                          <a:cs typeface="Book Antiqua"/>
                        </a:rPr>
                        <a:t>2.</a:t>
                      </a:r>
                      <a:endParaRPr sz="1100">
                        <a:latin typeface="Book Antiqua"/>
                        <a:cs typeface="Book Antiqua"/>
                      </a:endParaRPr>
                    </a:p>
                  </a:txBody>
                  <a:tcPr marL="0" marR="0" marT="57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771144">
                <a:tc>
                  <a:txBody>
                    <a:bodyPr/>
                    <a:lstStyle/>
                    <a:p>
                      <a:pPr marR="23495" algn="ctr">
                        <a:lnSpc>
                          <a:spcPct val="100000"/>
                        </a:lnSpc>
                        <a:spcBef>
                          <a:spcPts val="45"/>
                        </a:spcBef>
                      </a:pPr>
                      <a:r>
                        <a:rPr sz="1100" b="1" dirty="0">
                          <a:latin typeface="Book Antiqua"/>
                          <a:cs typeface="Book Antiqua"/>
                        </a:rPr>
                        <a:t>SOCIOCULTURALES</a:t>
                      </a:r>
                      <a:endParaRPr sz="1100">
                        <a:latin typeface="Book Antiqua"/>
                        <a:cs typeface="Book Antiqua"/>
                      </a:endParaRPr>
                    </a:p>
                    <a:p>
                      <a:pPr algn="ctr">
                        <a:lnSpc>
                          <a:spcPct val="100000"/>
                        </a:lnSpc>
                        <a:spcBef>
                          <a:spcPts val="190"/>
                        </a:spcBef>
                      </a:pPr>
                      <a:r>
                        <a:rPr sz="1100" b="1" dirty="0">
                          <a:latin typeface="Book Antiqua"/>
                          <a:cs typeface="Book Antiqua"/>
                        </a:rPr>
                        <a:t>1.</a:t>
                      </a:r>
                      <a:endParaRPr sz="1100">
                        <a:latin typeface="Book Antiqua"/>
                        <a:cs typeface="Book Antiqua"/>
                      </a:endParaRPr>
                    </a:p>
                    <a:p>
                      <a:pPr algn="ctr">
                        <a:lnSpc>
                          <a:spcPct val="100000"/>
                        </a:lnSpc>
                        <a:spcBef>
                          <a:spcPts val="204"/>
                        </a:spcBef>
                      </a:pPr>
                      <a:r>
                        <a:rPr sz="1100" b="1" dirty="0">
                          <a:latin typeface="Book Antiqua"/>
                          <a:cs typeface="Book Antiqua"/>
                        </a:rPr>
                        <a:t>2.</a:t>
                      </a:r>
                      <a:endParaRPr sz="1100">
                        <a:latin typeface="Book Antiqua"/>
                        <a:cs typeface="Book Antiqua"/>
                      </a:endParaRPr>
                    </a:p>
                    <a:p>
                      <a:pPr algn="ctr">
                        <a:lnSpc>
                          <a:spcPct val="100000"/>
                        </a:lnSpc>
                        <a:spcBef>
                          <a:spcPts val="195"/>
                        </a:spcBef>
                      </a:pPr>
                      <a:r>
                        <a:rPr sz="1100" b="1" dirty="0">
                          <a:latin typeface="Book Antiqua"/>
                          <a:cs typeface="Book Antiqua"/>
                        </a:rPr>
                        <a:t>3.</a:t>
                      </a:r>
                      <a:endParaRPr sz="1100">
                        <a:latin typeface="Book Antiqua"/>
                        <a:cs typeface="Book Antiqua"/>
                      </a:endParaRPr>
                    </a:p>
                  </a:txBody>
                  <a:tcPr marL="0" marR="0" marT="57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771144">
                <a:tc>
                  <a:txBody>
                    <a:bodyPr/>
                    <a:lstStyle/>
                    <a:p>
                      <a:pPr marR="23495" algn="ctr">
                        <a:lnSpc>
                          <a:spcPct val="100000"/>
                        </a:lnSpc>
                        <a:spcBef>
                          <a:spcPts val="45"/>
                        </a:spcBef>
                      </a:pPr>
                      <a:r>
                        <a:rPr sz="1100" b="1" dirty="0">
                          <a:latin typeface="Book Antiqua"/>
                          <a:cs typeface="Book Antiqua"/>
                        </a:rPr>
                        <a:t>POLITICOS</a:t>
                      </a:r>
                      <a:endParaRPr sz="1100">
                        <a:latin typeface="Book Antiqua"/>
                        <a:cs typeface="Book Antiqua"/>
                      </a:endParaRPr>
                    </a:p>
                    <a:p>
                      <a:pPr algn="ctr">
                        <a:lnSpc>
                          <a:spcPct val="100000"/>
                        </a:lnSpc>
                        <a:spcBef>
                          <a:spcPts val="190"/>
                        </a:spcBef>
                      </a:pPr>
                      <a:r>
                        <a:rPr sz="1100" b="1" dirty="0">
                          <a:latin typeface="Book Antiqua"/>
                          <a:cs typeface="Book Antiqua"/>
                        </a:rPr>
                        <a:t>1.</a:t>
                      </a:r>
                      <a:endParaRPr sz="1100">
                        <a:latin typeface="Book Antiqua"/>
                        <a:cs typeface="Book Antiqua"/>
                      </a:endParaRPr>
                    </a:p>
                    <a:p>
                      <a:pPr algn="ctr">
                        <a:lnSpc>
                          <a:spcPct val="100000"/>
                        </a:lnSpc>
                        <a:spcBef>
                          <a:spcPts val="204"/>
                        </a:spcBef>
                      </a:pPr>
                      <a:r>
                        <a:rPr sz="1100" b="1" spc="-5" dirty="0">
                          <a:latin typeface="Book Antiqua"/>
                          <a:cs typeface="Book Antiqua"/>
                        </a:rPr>
                        <a:t>2.</a:t>
                      </a:r>
                      <a:endParaRPr sz="1100">
                        <a:latin typeface="Book Antiqua"/>
                        <a:cs typeface="Book Antiqua"/>
                      </a:endParaRPr>
                    </a:p>
                    <a:p>
                      <a:pPr algn="ctr">
                        <a:lnSpc>
                          <a:spcPct val="100000"/>
                        </a:lnSpc>
                        <a:spcBef>
                          <a:spcPts val="195"/>
                        </a:spcBef>
                      </a:pPr>
                      <a:r>
                        <a:rPr sz="1100" b="1" dirty="0">
                          <a:latin typeface="Book Antiqua"/>
                          <a:cs typeface="Book Antiqua"/>
                        </a:rPr>
                        <a:t>3.</a:t>
                      </a:r>
                      <a:endParaRPr sz="1100">
                        <a:latin typeface="Book Antiqua"/>
                        <a:cs typeface="Book Antiqua"/>
                      </a:endParaRPr>
                    </a:p>
                  </a:txBody>
                  <a:tcPr marL="0" marR="0" marT="57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5"/>
                  </a:ext>
                </a:extLst>
              </a:tr>
              <a:tr h="771144">
                <a:tc>
                  <a:txBody>
                    <a:bodyPr/>
                    <a:lstStyle/>
                    <a:p>
                      <a:pPr marR="23495" algn="ctr">
                        <a:lnSpc>
                          <a:spcPct val="100000"/>
                        </a:lnSpc>
                        <a:spcBef>
                          <a:spcPts val="45"/>
                        </a:spcBef>
                      </a:pPr>
                      <a:r>
                        <a:rPr sz="1100" b="1" dirty="0">
                          <a:latin typeface="Book Antiqua"/>
                          <a:cs typeface="Book Antiqua"/>
                        </a:rPr>
                        <a:t>AMBIENTALES</a:t>
                      </a:r>
                      <a:endParaRPr sz="1100">
                        <a:latin typeface="Book Antiqua"/>
                        <a:cs typeface="Book Antiqua"/>
                      </a:endParaRPr>
                    </a:p>
                    <a:p>
                      <a:pPr algn="ctr">
                        <a:lnSpc>
                          <a:spcPct val="100000"/>
                        </a:lnSpc>
                        <a:spcBef>
                          <a:spcPts val="195"/>
                        </a:spcBef>
                      </a:pPr>
                      <a:r>
                        <a:rPr sz="1100" b="1" dirty="0">
                          <a:latin typeface="Book Antiqua"/>
                          <a:cs typeface="Book Antiqua"/>
                        </a:rPr>
                        <a:t>1.</a:t>
                      </a:r>
                      <a:endParaRPr sz="1100">
                        <a:latin typeface="Book Antiqua"/>
                        <a:cs typeface="Book Antiqua"/>
                      </a:endParaRPr>
                    </a:p>
                    <a:p>
                      <a:pPr algn="ctr">
                        <a:lnSpc>
                          <a:spcPct val="100000"/>
                        </a:lnSpc>
                        <a:spcBef>
                          <a:spcPts val="200"/>
                        </a:spcBef>
                      </a:pPr>
                      <a:r>
                        <a:rPr sz="1100" b="1" dirty="0">
                          <a:latin typeface="Book Antiqua"/>
                          <a:cs typeface="Book Antiqua"/>
                        </a:rPr>
                        <a:t>2.</a:t>
                      </a:r>
                      <a:endParaRPr sz="1100">
                        <a:latin typeface="Book Antiqua"/>
                        <a:cs typeface="Book Antiqua"/>
                      </a:endParaRPr>
                    </a:p>
                    <a:p>
                      <a:pPr algn="ctr">
                        <a:lnSpc>
                          <a:spcPct val="100000"/>
                        </a:lnSpc>
                        <a:spcBef>
                          <a:spcPts val="195"/>
                        </a:spcBef>
                      </a:pPr>
                      <a:r>
                        <a:rPr sz="1100" b="1" dirty="0">
                          <a:latin typeface="Book Antiqua"/>
                          <a:cs typeface="Book Antiqua"/>
                        </a:rPr>
                        <a:t>3.</a:t>
                      </a:r>
                      <a:endParaRPr sz="1100">
                        <a:latin typeface="Book Antiqua"/>
                        <a:cs typeface="Book Antiqua"/>
                      </a:endParaRPr>
                    </a:p>
                  </a:txBody>
                  <a:tcPr marL="0" marR="0" marT="57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6"/>
                  </a:ext>
                </a:extLst>
              </a:tr>
              <a:tr h="771144">
                <a:tc>
                  <a:txBody>
                    <a:bodyPr/>
                    <a:lstStyle/>
                    <a:p>
                      <a:pPr algn="ctr">
                        <a:lnSpc>
                          <a:spcPct val="100000"/>
                        </a:lnSpc>
                        <a:spcBef>
                          <a:spcPts val="45"/>
                        </a:spcBef>
                      </a:pPr>
                      <a:r>
                        <a:rPr sz="1100" b="1" spc="-5" dirty="0">
                          <a:latin typeface="Book Antiqua"/>
                          <a:cs typeface="Book Antiqua"/>
                        </a:rPr>
                        <a:t>GEOGRAFICOS</a:t>
                      </a:r>
                      <a:endParaRPr sz="1100">
                        <a:latin typeface="Book Antiqua"/>
                        <a:cs typeface="Book Antiqua"/>
                      </a:endParaRPr>
                    </a:p>
                    <a:p>
                      <a:pPr algn="ctr">
                        <a:lnSpc>
                          <a:spcPct val="100000"/>
                        </a:lnSpc>
                        <a:spcBef>
                          <a:spcPts val="195"/>
                        </a:spcBef>
                      </a:pPr>
                      <a:r>
                        <a:rPr sz="1100" b="1" dirty="0">
                          <a:latin typeface="Book Antiqua"/>
                          <a:cs typeface="Book Antiqua"/>
                        </a:rPr>
                        <a:t>1.</a:t>
                      </a:r>
                      <a:endParaRPr sz="1100">
                        <a:latin typeface="Book Antiqua"/>
                        <a:cs typeface="Book Antiqua"/>
                      </a:endParaRPr>
                    </a:p>
                    <a:p>
                      <a:pPr algn="ctr">
                        <a:lnSpc>
                          <a:spcPct val="100000"/>
                        </a:lnSpc>
                        <a:spcBef>
                          <a:spcPts val="204"/>
                        </a:spcBef>
                      </a:pPr>
                      <a:r>
                        <a:rPr sz="1100" b="1" dirty="0">
                          <a:latin typeface="Book Antiqua"/>
                          <a:cs typeface="Book Antiqua"/>
                        </a:rPr>
                        <a:t>2.</a:t>
                      </a:r>
                      <a:endParaRPr sz="1100">
                        <a:latin typeface="Book Antiqua"/>
                        <a:cs typeface="Book Antiqua"/>
                      </a:endParaRPr>
                    </a:p>
                    <a:p>
                      <a:pPr algn="ctr">
                        <a:lnSpc>
                          <a:spcPct val="100000"/>
                        </a:lnSpc>
                        <a:spcBef>
                          <a:spcPts val="195"/>
                        </a:spcBef>
                      </a:pPr>
                      <a:r>
                        <a:rPr sz="1100" b="1" dirty="0">
                          <a:latin typeface="Book Antiqua"/>
                          <a:cs typeface="Book Antiqua"/>
                        </a:rPr>
                        <a:t>3.</a:t>
                      </a:r>
                      <a:endParaRPr sz="1100">
                        <a:latin typeface="Book Antiqua"/>
                        <a:cs typeface="Book Antiqua"/>
                      </a:endParaRPr>
                    </a:p>
                  </a:txBody>
                  <a:tcPr marL="0" marR="0" marT="57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7"/>
                  </a:ext>
                </a:extLst>
              </a:tr>
              <a:tr h="771207">
                <a:tc>
                  <a:txBody>
                    <a:bodyPr/>
                    <a:lstStyle/>
                    <a:p>
                      <a:pPr marR="22225" algn="ctr">
                        <a:lnSpc>
                          <a:spcPct val="100000"/>
                        </a:lnSpc>
                        <a:spcBef>
                          <a:spcPts val="50"/>
                        </a:spcBef>
                      </a:pPr>
                      <a:r>
                        <a:rPr sz="1100" b="1" dirty="0">
                          <a:latin typeface="Book Antiqua"/>
                          <a:cs typeface="Book Antiqua"/>
                        </a:rPr>
                        <a:t>DEMOGRAFICOS</a:t>
                      </a:r>
                      <a:endParaRPr sz="1100">
                        <a:latin typeface="Book Antiqua"/>
                        <a:cs typeface="Book Antiqua"/>
                      </a:endParaRPr>
                    </a:p>
                    <a:p>
                      <a:pPr algn="ctr">
                        <a:lnSpc>
                          <a:spcPct val="100000"/>
                        </a:lnSpc>
                        <a:spcBef>
                          <a:spcPts val="190"/>
                        </a:spcBef>
                      </a:pPr>
                      <a:r>
                        <a:rPr sz="1100" b="1" dirty="0">
                          <a:latin typeface="Book Antiqua"/>
                          <a:cs typeface="Book Antiqua"/>
                        </a:rPr>
                        <a:t>1.</a:t>
                      </a:r>
                      <a:endParaRPr sz="1100">
                        <a:latin typeface="Book Antiqua"/>
                        <a:cs typeface="Book Antiqua"/>
                      </a:endParaRPr>
                    </a:p>
                    <a:p>
                      <a:pPr algn="ctr">
                        <a:lnSpc>
                          <a:spcPct val="100000"/>
                        </a:lnSpc>
                        <a:spcBef>
                          <a:spcPts val="204"/>
                        </a:spcBef>
                      </a:pPr>
                      <a:r>
                        <a:rPr sz="1100" b="1" dirty="0">
                          <a:latin typeface="Book Antiqua"/>
                          <a:cs typeface="Book Antiqua"/>
                        </a:rPr>
                        <a:t>2.</a:t>
                      </a:r>
                      <a:endParaRPr sz="1100">
                        <a:latin typeface="Book Antiqua"/>
                        <a:cs typeface="Book Antiqua"/>
                      </a:endParaRPr>
                    </a:p>
                    <a:p>
                      <a:pPr algn="ctr">
                        <a:lnSpc>
                          <a:spcPct val="100000"/>
                        </a:lnSpc>
                        <a:spcBef>
                          <a:spcPts val="195"/>
                        </a:spcBef>
                      </a:pPr>
                      <a:r>
                        <a:rPr sz="1100" b="1" dirty="0">
                          <a:latin typeface="Book Antiqua"/>
                          <a:cs typeface="Book Antiqua"/>
                        </a:rPr>
                        <a:t>3.</a:t>
                      </a:r>
                      <a:endParaRPr sz="1100">
                        <a:latin typeface="Book Antiqua"/>
                        <a:cs typeface="Book Antiqua"/>
                      </a:endParaRPr>
                    </a:p>
                  </a:txBody>
                  <a:tcPr marL="0" marR="0" marT="63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8"/>
                  </a:ext>
                </a:extLst>
              </a:tr>
              <a:tr h="582529">
                <a:tc>
                  <a:txBody>
                    <a:bodyPr/>
                    <a:lstStyle/>
                    <a:p>
                      <a:pPr algn="ctr">
                        <a:lnSpc>
                          <a:spcPct val="100000"/>
                        </a:lnSpc>
                        <a:spcBef>
                          <a:spcPts val="50"/>
                        </a:spcBef>
                      </a:pPr>
                      <a:r>
                        <a:rPr sz="1100" b="1" dirty="0">
                          <a:latin typeface="Book Antiqua"/>
                          <a:cs typeface="Book Antiqua"/>
                        </a:rPr>
                        <a:t>AMENAZAS DE</a:t>
                      </a:r>
                      <a:r>
                        <a:rPr sz="1100" b="1" spc="-85" dirty="0">
                          <a:latin typeface="Book Antiqua"/>
                          <a:cs typeface="Book Antiqua"/>
                        </a:rPr>
                        <a:t> </a:t>
                      </a:r>
                      <a:r>
                        <a:rPr sz="1100" b="1" dirty="0">
                          <a:latin typeface="Book Antiqua"/>
                          <a:cs typeface="Book Antiqua"/>
                        </a:rPr>
                        <a:t>NUEVAS</a:t>
                      </a:r>
                      <a:endParaRPr sz="1100">
                        <a:latin typeface="Book Antiqua"/>
                        <a:cs typeface="Book Antiqua"/>
                      </a:endParaRPr>
                    </a:p>
                    <a:p>
                      <a:pPr algn="ctr">
                        <a:lnSpc>
                          <a:spcPct val="100000"/>
                        </a:lnSpc>
                        <a:spcBef>
                          <a:spcPts val="195"/>
                        </a:spcBef>
                      </a:pPr>
                      <a:r>
                        <a:rPr sz="1100" b="1" dirty="0">
                          <a:latin typeface="Book Antiqua"/>
                          <a:cs typeface="Book Antiqua"/>
                        </a:rPr>
                        <a:t>ENTRADAS</a:t>
                      </a:r>
                      <a:endParaRPr sz="1100">
                        <a:latin typeface="Book Antiqua"/>
                        <a:cs typeface="Book Antiqua"/>
                      </a:endParaRPr>
                    </a:p>
                  </a:txBody>
                  <a:tcPr marL="0" marR="0" marT="63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FF"/>
                    </a:solidFill>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FF"/>
                    </a:solidFill>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FF"/>
                    </a:solidFill>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FF"/>
                    </a:solidFill>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FF"/>
                    </a:solidFill>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FF"/>
                    </a:solidFill>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FF"/>
                    </a:solidFill>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FF"/>
                    </a:solidFill>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FF"/>
                    </a:solidFill>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FF"/>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40789" y="2276932"/>
            <a:ext cx="5648960" cy="1489075"/>
          </a:xfrm>
          <a:prstGeom prst="rect">
            <a:avLst/>
          </a:prstGeom>
        </p:spPr>
        <p:txBody>
          <a:bodyPr vert="horz" wrap="square" lIns="0" tIns="12700" rIns="0" bIns="0" rtlCol="0">
            <a:spAutoFit/>
          </a:bodyPr>
          <a:lstStyle/>
          <a:p>
            <a:pPr marL="12700">
              <a:lnSpc>
                <a:spcPct val="100000"/>
              </a:lnSpc>
              <a:spcBef>
                <a:spcPts val="100"/>
              </a:spcBef>
            </a:pPr>
            <a:r>
              <a:rPr sz="9600" dirty="0">
                <a:latin typeface="Arial"/>
                <a:cs typeface="Arial"/>
              </a:rPr>
              <a:t>GRACIAS</a:t>
            </a:r>
            <a:endParaRPr sz="9600">
              <a:latin typeface="Arial"/>
              <a:cs typeface="Arial"/>
            </a:endParaRPr>
          </a:p>
        </p:txBody>
      </p:sp>
    </p:spTree>
  </p:cSld>
  <p:clrMapOvr>
    <a:masterClrMapping/>
  </p:clrMapOvr>
</p:sld>
</file>

<file path=ppt/theme/theme1.xml><?xml version="1.0" encoding="utf-8"?>
<a:theme xmlns:a="http://schemas.openxmlformats.org/drawingml/2006/main" name="Faceta">
  <a:themeElements>
    <a:clrScheme name="Rojo naranja">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Faceta">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C0BE99E6FD9E1A46BA88A7920F6AD11C" ma:contentTypeVersion="3" ma:contentTypeDescription="Crear nuevo documento." ma:contentTypeScope="" ma:versionID="1cd865fdc3e5ee9e101d1a0a23d9539f">
  <xsd:schema xmlns:xsd="http://www.w3.org/2001/XMLSchema" xmlns:xs="http://www.w3.org/2001/XMLSchema" xmlns:p="http://schemas.microsoft.com/office/2006/metadata/properties" xmlns:ns2="d4bcf895-01d5-4637-9f93-cfcc952c2b7e" targetNamespace="http://schemas.microsoft.com/office/2006/metadata/properties" ma:root="true" ma:fieldsID="f78ab45fcf82c08f9e3163935ea0d046" ns2:_="">
    <xsd:import namespace="d4bcf895-01d5-4637-9f93-cfcc952c2b7e"/>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bcf895-01d5-4637-9f93-cfcc952c2b7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1CF57CF-8671-4BD3-8D7D-386207144687}"/>
</file>

<file path=customXml/itemProps2.xml><?xml version="1.0" encoding="utf-8"?>
<ds:datastoreItem xmlns:ds="http://schemas.openxmlformats.org/officeDocument/2006/customXml" ds:itemID="{42E455FB-7DA2-47B4-A77C-4C4BA00B46C7}"/>
</file>

<file path=customXml/itemProps3.xml><?xml version="1.0" encoding="utf-8"?>
<ds:datastoreItem xmlns:ds="http://schemas.openxmlformats.org/officeDocument/2006/customXml" ds:itemID="{B3E0A1E9-AB46-4F8C-BEEF-A3FA922E002E}"/>
</file>

<file path=docProps/app.xml><?xml version="1.0" encoding="utf-8"?>
<Properties xmlns="http://schemas.openxmlformats.org/officeDocument/2006/extended-properties" xmlns:vt="http://schemas.openxmlformats.org/officeDocument/2006/docPropsVTypes">
  <Template>Facet</Template>
  <TotalTime>87</TotalTime>
  <Words>853</Words>
  <Application>Microsoft Office PowerPoint</Application>
  <PresentationFormat>Presentación en pantalla (4:3)</PresentationFormat>
  <Paragraphs>80</Paragraphs>
  <Slides>15</Slides>
  <Notes>1</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15</vt:i4>
      </vt:variant>
    </vt:vector>
  </HeadingPairs>
  <TitlesOfParts>
    <vt:vector size="22" baseType="lpstr">
      <vt:lpstr>Arial</vt:lpstr>
      <vt:lpstr>Book Antiqua</vt:lpstr>
      <vt:lpstr>Calibri</vt:lpstr>
      <vt:lpstr>Times New Roman</vt:lpstr>
      <vt:lpstr>Trebuchet MS</vt:lpstr>
      <vt:lpstr>Wingdings 3</vt:lpstr>
      <vt:lpstr>Faceta</vt:lpstr>
      <vt:lpstr>MÓDULO FORMULACIÓN DE PROYECTOS  Análisis de entorno</vt:lpstr>
      <vt:lpstr>ANÁLISIS DEL ENTORNO</vt:lpstr>
      <vt:lpstr>Presentación de PowerPoint</vt:lpstr>
      <vt:lpstr>Presentación de PowerPoint</vt:lpstr>
      <vt:lpstr>Presentación de PowerPoint</vt:lpstr>
      <vt:lpstr>ENTORNO MACRO:</vt:lpstr>
      <vt:lpstr>ENTORNO DEMOGRAFICO:</vt:lpstr>
      <vt:lpstr>ENTORNO SOCIAL:</vt:lpstr>
      <vt:lpstr>ENTORNO CULTURAL:</vt:lpstr>
      <vt:lpstr>ENTORNO TECNOLOGICO:</vt:lpstr>
      <vt:lpstr>ENTORNO AMBIENTAL</vt:lpstr>
      <vt:lpstr>ENTORNO ECONÓMICO:</vt:lpstr>
      <vt:lpstr>ENTORNO POLITICO:</vt:lpstr>
      <vt:lpstr>Presentación de PowerPoint</vt:lpstr>
      <vt:lpstr>GRACIAS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isabel.zabala</dc:creator>
  <cp:lastModifiedBy>Tatiana Sanchez Viana</cp:lastModifiedBy>
  <cp:revision>8</cp:revision>
  <dcterms:created xsi:type="dcterms:W3CDTF">2019-04-23T13:43:50Z</dcterms:created>
  <dcterms:modified xsi:type="dcterms:W3CDTF">2019-08-30T13:32:05Z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2011-08-20T00:00:00Z</vt:filetime>
  </property>
  <property fmtid="{D5CDD505-2E9C-101B-9397-08002B2CF9AE}" pid="3" name="Creator">
    <vt:lpwstr>Microsoft® Office PowerPoint® 2007</vt:lpwstr>
  </property>
  <property fmtid="{D5CDD505-2E9C-101B-9397-08002B2CF9AE}" pid="4" name="LastSaved">
    <vt:filetime>2019-04-23T00:00:00Z</vt:filetime>
  </property>
  <property fmtid="{D5CDD505-2E9C-101B-9397-08002B2CF9AE}" pid="5" name="ContentTypeId">
    <vt:lpwstr>0x010100C0BE99E6FD9E1A46BA88A7920F6AD11C</vt:lpwstr>
  </property>
</Properties>
</file>
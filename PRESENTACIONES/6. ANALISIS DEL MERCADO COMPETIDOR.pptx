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sldIdLst>
    <p:sldId id="264" r:id="rId2"/>
    <p:sldId id="265" r:id="rId3"/>
    <p:sldId id="258" r:id="rId4"/>
    <p:sldId id="259" r:id="rId5"/>
    <p:sldId id="260" r:id="rId6"/>
    <p:sldId id="261" r:id="rId7"/>
    <p:sldId id="262" r:id="rId8"/>
    <p:sldId id="263" r:id="rId9"/>
  </p:sldIdLst>
  <p:sldSz cx="9144000" cy="6858000" type="screen4x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0" d="100"/>
          <a:sy n="50" d="100"/>
        </p:scale>
        <p:origin x="1267" y="3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2.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5/7/2019</a:t>
            </a:fld>
            <a:endParaRPr lang="en-US"/>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403544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5/7/2019</a:t>
            </a:fld>
            <a:endParaRPr lang="en-US"/>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2534663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t>5/7/2019</a:t>
            </a:fld>
            <a:endParaRPr lang="en-US"/>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12972460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5/7/2019</a:t>
            </a:fld>
            <a:endParaRPr lang="en-US"/>
          </a:p>
        </p:txBody>
      </p:sp>
      <p:sp>
        <p:nvSpPr>
          <p:cNvPr id="6" name="Footer Placeholder 5"/>
          <p:cNvSpPr>
            <a:spLocks noGrp="1"/>
          </p:cNvSpPr>
          <p:nvPr>
            <p:ph type="ftr" sz="quarter" idx="11"/>
          </p:nvPr>
        </p:nvSpPr>
        <p:spPr/>
        <p:txBody>
          <a:bodyPr/>
          <a:lstStyle/>
          <a:p>
            <a:endParaRPr lang="es-419"/>
          </a:p>
        </p:txBody>
      </p:sp>
      <p:sp>
        <p:nvSpPr>
          <p:cNvPr id="7" name="Slide Number Placeholder 6"/>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1134098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5/7/2019</a:t>
            </a:fld>
            <a:endParaRPr lang="en-US"/>
          </a:p>
        </p:txBody>
      </p:sp>
      <p:sp>
        <p:nvSpPr>
          <p:cNvPr id="8" name="Footer Placeholder 7"/>
          <p:cNvSpPr>
            <a:spLocks noGrp="1"/>
          </p:cNvSpPr>
          <p:nvPr>
            <p:ph type="ftr" sz="quarter" idx="11"/>
          </p:nvPr>
        </p:nvSpPr>
        <p:spPr/>
        <p:txBody>
          <a:bodyPr/>
          <a:lstStyle/>
          <a:p>
            <a:endParaRPr lang="es-419"/>
          </a:p>
        </p:txBody>
      </p:sp>
      <p:sp>
        <p:nvSpPr>
          <p:cNvPr id="9" name="Slide Number Placeholder 8"/>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480572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5/7/2019</a:t>
            </a:fld>
            <a:endParaRPr lang="en-US"/>
          </a:p>
        </p:txBody>
      </p:sp>
      <p:sp>
        <p:nvSpPr>
          <p:cNvPr id="4" name="Footer Placeholder 3"/>
          <p:cNvSpPr>
            <a:spLocks noGrp="1"/>
          </p:cNvSpPr>
          <p:nvPr>
            <p:ph type="ftr" sz="quarter" idx="11"/>
          </p:nvPr>
        </p:nvSpPr>
        <p:spPr/>
        <p:txBody>
          <a:bodyPr/>
          <a:lstStyle/>
          <a:p>
            <a:endParaRPr lang="es-419"/>
          </a:p>
        </p:txBody>
      </p:sp>
      <p:sp>
        <p:nvSpPr>
          <p:cNvPr id="5" name="Slide Number Placeholder 4"/>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2700663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5/7/2019</a:t>
            </a:fld>
            <a:endParaRPr lang="en-US"/>
          </a:p>
        </p:txBody>
      </p:sp>
      <p:sp>
        <p:nvSpPr>
          <p:cNvPr id="3" name="Footer Placeholder 2"/>
          <p:cNvSpPr>
            <a:spLocks noGrp="1"/>
          </p:cNvSpPr>
          <p:nvPr>
            <p:ph type="ftr" sz="quarter" idx="11"/>
          </p:nvPr>
        </p:nvSpPr>
        <p:spPr/>
        <p:txBody>
          <a:bodyPr/>
          <a:lstStyle/>
          <a:p>
            <a:endParaRPr lang="es-419"/>
          </a:p>
        </p:txBody>
      </p:sp>
      <p:sp>
        <p:nvSpPr>
          <p:cNvPr id="4" name="Slide Number Placeholder 3"/>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3262070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5/7/2019</a:t>
            </a:fld>
            <a:endParaRPr lang="en-US"/>
          </a:p>
        </p:txBody>
      </p:sp>
      <p:sp>
        <p:nvSpPr>
          <p:cNvPr id="6" name="Footer Placeholder 5"/>
          <p:cNvSpPr>
            <a:spLocks noGrp="1"/>
          </p:cNvSpPr>
          <p:nvPr>
            <p:ph type="ftr" sz="quarter" idx="11"/>
          </p:nvPr>
        </p:nvSpPr>
        <p:spPr/>
        <p:txBody>
          <a:bodyPr/>
          <a:lstStyle/>
          <a:p>
            <a:endParaRPr lang="es-419"/>
          </a:p>
        </p:txBody>
      </p:sp>
      <p:sp>
        <p:nvSpPr>
          <p:cNvPr id="7" name="Slide Number Placeholder 6"/>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2302050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t>5/7/2019</a:t>
            </a:fld>
            <a:endParaRPr lang="en-US"/>
          </a:p>
        </p:txBody>
      </p:sp>
      <p:sp>
        <p:nvSpPr>
          <p:cNvPr id="6" name="Footer Placeholder 5"/>
          <p:cNvSpPr>
            <a:spLocks noGrp="1"/>
          </p:cNvSpPr>
          <p:nvPr>
            <p:ph type="ftr" sz="quarter" idx="11"/>
          </p:nvPr>
        </p:nvSpPr>
        <p:spPr/>
        <p:txBody>
          <a:bodyPr/>
          <a:lstStyle/>
          <a:p>
            <a:endParaRPr lang="es-419"/>
          </a:p>
        </p:txBody>
      </p:sp>
      <p:sp>
        <p:nvSpPr>
          <p:cNvPr id="7" name="Slide Number Placeholder 6"/>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4273498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t>5/7/2019</a:t>
            </a:fld>
            <a:endParaRPr lang="en-US"/>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3773967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t>5/7/2019</a:t>
            </a:fld>
            <a:endParaRPr lang="en-US"/>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6F15528-21DE-4FAA-801E-634DDDAF4B2B}" type="slidenum">
              <a:rPr lang="es-419" smtClean="0"/>
              <a:t>‹Nº›</a:t>
            </a:fld>
            <a:endParaRPr lang="es-419"/>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61845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t>5/7/2019</a:t>
            </a:fld>
            <a:endParaRPr lang="en-US"/>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10914217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t>5/7/2019</a:t>
            </a:fld>
            <a:endParaRPr lang="en-US"/>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6F15528-21DE-4FAA-801E-634DDDAF4B2B}" type="slidenum">
              <a:rPr lang="es-419" smtClean="0"/>
              <a:t>‹Nº›</a:t>
            </a:fld>
            <a:endParaRPr lang="es-419"/>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729938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Editar el estilo de texto del patrón</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t>5/7/2019</a:t>
            </a:fld>
            <a:endParaRPr lang="en-US"/>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2296937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5/7/2019</a:t>
            </a:fld>
            <a:endParaRPr lang="en-US"/>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11133661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5/7/2019</a:t>
            </a:fld>
            <a:endParaRPr lang="en-US"/>
          </a:p>
        </p:txBody>
      </p:sp>
      <p:sp>
        <p:nvSpPr>
          <p:cNvPr id="5" name="Footer Placeholder 4"/>
          <p:cNvSpPr>
            <a:spLocks noGrp="1"/>
          </p:cNvSpPr>
          <p:nvPr>
            <p:ph type="ftr" sz="quarter" idx="11"/>
          </p:nvPr>
        </p:nvSpPr>
        <p:spPr/>
        <p:txBody>
          <a:bodyPr/>
          <a:lstStyle/>
          <a:p>
            <a:endParaRPr lang="es-419"/>
          </a:p>
        </p:txBody>
      </p:sp>
      <p:sp>
        <p:nvSpPr>
          <p:cNvPr id="6" name="Slide Number Placeholder 5"/>
          <p:cNvSpPr>
            <a:spLocks noGrp="1"/>
          </p:cNvSpPr>
          <p:nvPr>
            <p:ph type="sldNum" sz="quarter" idx="12"/>
          </p:nvPr>
        </p:nvSpPr>
        <p:spPr/>
        <p:txBody>
          <a:bodyPr/>
          <a:lstStyle/>
          <a:p>
            <a:fld id="{B6F15528-21DE-4FAA-801E-634DDDAF4B2B}" type="slidenum">
              <a:rPr lang="es-419" smtClean="0"/>
              <a:t>‹Nº›</a:t>
            </a:fld>
            <a:endParaRPr lang="es-419"/>
          </a:p>
        </p:txBody>
      </p:sp>
    </p:spTree>
    <p:extLst>
      <p:ext uri="{BB962C8B-B14F-4D97-AF65-F5344CB8AC3E}">
        <p14:creationId xmlns:p14="http://schemas.microsoft.com/office/powerpoint/2010/main" val="21671788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5/7/2019</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32134003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5/7/2019</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4954336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6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5/7/2019</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1187920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t>5/7/2019</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419"/>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B6F15528-21DE-4FAA-801E-634DDDAF4B2B}" type="slidenum">
              <a:rPr lang="es-419" smtClean="0"/>
              <a:t>‹Nº›</a:t>
            </a:fld>
            <a:endParaRPr lang="es-419"/>
          </a:p>
        </p:txBody>
      </p:sp>
    </p:spTree>
    <p:extLst>
      <p:ext uri="{BB962C8B-B14F-4D97-AF65-F5344CB8AC3E}">
        <p14:creationId xmlns:p14="http://schemas.microsoft.com/office/powerpoint/2010/main" val="373473050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731520" y="783468"/>
            <a:ext cx="6984555" cy="3016210"/>
          </a:xfrm>
          <a:prstGeom prst="rect">
            <a:avLst/>
          </a:prstGeom>
        </p:spPr>
        <p:txBody>
          <a:bodyPr vert="horz" wrap="square" lIns="0" tIns="0" rIns="0" bIns="0" rtlCol="0" anchor="t">
            <a:sp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419" sz="3200" dirty="0" smtClean="0"/>
              <a:t>MÓDULO FORMULACIÓN DE PROYECTOS</a:t>
            </a:r>
            <a:br>
              <a:rPr lang="es-419" sz="3200" dirty="0" smtClean="0"/>
            </a:br>
            <a:r>
              <a:rPr lang="es-419" dirty="0" smtClean="0"/>
              <a:t/>
            </a:r>
            <a:br>
              <a:rPr lang="es-419" dirty="0" smtClean="0"/>
            </a:br>
            <a:r>
              <a:rPr lang="es-419" sz="4800" dirty="0" smtClean="0"/>
              <a:t>Análisis del mercado competidor</a:t>
            </a:r>
            <a:endParaRPr lang="es-419" sz="4800" dirty="0"/>
          </a:p>
        </p:txBody>
      </p:sp>
      <p:sp>
        <p:nvSpPr>
          <p:cNvPr id="5" name="Subtítulo 2"/>
          <p:cNvSpPr txBox="1">
            <a:spLocks/>
          </p:cNvSpPr>
          <p:nvPr/>
        </p:nvSpPr>
        <p:spPr>
          <a:xfrm>
            <a:off x="762000" y="4221484"/>
            <a:ext cx="5868796" cy="2743199"/>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s-419" dirty="0" smtClean="0"/>
              <a:t>Docente: Tatiana Sánchez Viana</a:t>
            </a:r>
          </a:p>
          <a:p>
            <a:r>
              <a:rPr lang="es-419" dirty="0" smtClean="0"/>
              <a:t>Administradora de Empresas</a:t>
            </a:r>
          </a:p>
          <a:p>
            <a:r>
              <a:rPr lang="es-419" dirty="0" smtClean="0"/>
              <a:t>Especialista en Finanzas</a:t>
            </a:r>
          </a:p>
          <a:p>
            <a:r>
              <a:rPr lang="es-419" dirty="0" smtClean="0"/>
              <a:t>Magíster en Administración </a:t>
            </a:r>
          </a:p>
          <a:p>
            <a:endParaRPr lang="es-419" dirty="0"/>
          </a:p>
        </p:txBody>
      </p:sp>
      <p:sp>
        <p:nvSpPr>
          <p:cNvPr id="6" name="Título 1"/>
          <p:cNvSpPr txBox="1">
            <a:spLocks/>
          </p:cNvSpPr>
          <p:nvPr/>
        </p:nvSpPr>
        <p:spPr>
          <a:xfrm>
            <a:off x="762000" y="6394082"/>
            <a:ext cx="4181389" cy="463918"/>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r"/>
            <a:r>
              <a:rPr lang="es-ES" sz="1800" b="1" i="1" dirty="0">
                <a:solidFill>
                  <a:schemeClr val="bg1">
                    <a:lumMod val="50000"/>
                  </a:schemeClr>
                </a:solidFill>
              </a:rPr>
              <a:t>tatiana.sanchez@upb.edu.co</a:t>
            </a:r>
          </a:p>
        </p:txBody>
      </p:sp>
    </p:spTree>
    <p:extLst>
      <p:ext uri="{BB962C8B-B14F-4D97-AF65-F5344CB8AC3E}">
        <p14:creationId xmlns:p14="http://schemas.microsoft.com/office/powerpoint/2010/main" val="1441228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8600" y="1066800"/>
            <a:ext cx="6804913" cy="1320800"/>
          </a:xfrm>
        </p:spPr>
        <p:txBody>
          <a:bodyPr>
            <a:normAutofit fontScale="90000"/>
          </a:bodyPr>
          <a:lstStyle/>
          <a:p>
            <a:r>
              <a:rPr lang="es-419" b="1" spc="-10" dirty="0">
                <a:latin typeface="Arial"/>
                <a:cs typeface="Arial"/>
              </a:rPr>
              <a:t>ANÁLISIS </a:t>
            </a:r>
            <a:r>
              <a:rPr lang="es-419" b="1" spc="-5" dirty="0">
                <a:latin typeface="Arial"/>
                <a:cs typeface="Arial"/>
              </a:rPr>
              <a:t>DE LA</a:t>
            </a:r>
            <a:r>
              <a:rPr lang="es-419" b="1" spc="-20" dirty="0">
                <a:latin typeface="Arial"/>
                <a:cs typeface="Arial"/>
              </a:rPr>
              <a:t> </a:t>
            </a:r>
            <a:r>
              <a:rPr lang="es-419" b="1" dirty="0">
                <a:latin typeface="Arial"/>
                <a:cs typeface="Arial"/>
              </a:rPr>
              <a:t>COMPETENCIA</a:t>
            </a:r>
            <a:r>
              <a:rPr lang="es-419" dirty="0">
                <a:latin typeface="Arial"/>
                <a:cs typeface="Arial"/>
              </a:rPr>
              <a:t/>
            </a:r>
            <a:br>
              <a:rPr lang="es-419" dirty="0">
                <a:latin typeface="Arial"/>
                <a:cs typeface="Arial"/>
              </a:rPr>
            </a:br>
            <a:endParaRPr lang="es-419" dirty="0"/>
          </a:p>
        </p:txBody>
      </p:sp>
      <p:sp>
        <p:nvSpPr>
          <p:cNvPr id="3" name="Marcador de contenido 2"/>
          <p:cNvSpPr>
            <a:spLocks noGrp="1"/>
          </p:cNvSpPr>
          <p:nvPr>
            <p:ph idx="1"/>
          </p:nvPr>
        </p:nvSpPr>
        <p:spPr>
          <a:xfrm>
            <a:off x="609600" y="2667000"/>
            <a:ext cx="4267201" cy="3880773"/>
          </a:xfrm>
        </p:spPr>
        <p:txBody>
          <a:bodyPr/>
          <a:lstStyle/>
          <a:p>
            <a:pPr marL="0" indent="0" algn="just">
              <a:buNone/>
            </a:pPr>
            <a:r>
              <a:rPr lang="es-419" dirty="0"/>
              <a:t>La meta de cualquier organización es dar a los consumidores más valor que el que  dan sus competidores. El valor es la diferencia entre lo que pagan los  consumidores (con tiempo, dinero, y otros recursos) por un producto o servicio, en  comparación con los beneficios que reciben.</a:t>
            </a:r>
          </a:p>
          <a:p>
            <a:pPr algn="just"/>
            <a:endParaRPr lang="es-419" dirty="0"/>
          </a:p>
        </p:txBody>
      </p:sp>
      <p:sp>
        <p:nvSpPr>
          <p:cNvPr id="4" name="object 3"/>
          <p:cNvSpPr/>
          <p:nvPr/>
        </p:nvSpPr>
        <p:spPr>
          <a:xfrm>
            <a:off x="5257800" y="1981200"/>
            <a:ext cx="3886200" cy="3960495"/>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070294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000" y="1143000"/>
            <a:ext cx="3733800" cy="5715000"/>
          </a:xfrm>
          <a:prstGeom prst="rect">
            <a:avLst/>
          </a:prstGeom>
        </p:spPr>
        <p:txBody>
          <a:bodyPr vert="horz" lIns="91440" tIns="45720" rIns="91440" bIns="45720" rtlCol="0">
            <a:normAutofit/>
          </a:bodyPr>
          <a:lstStyle>
            <a:lvl1pPr indent="0" algn="just">
              <a:spcBef>
                <a:spcPts val="1000"/>
              </a:spcBef>
              <a:spcAft>
                <a:spcPts val="0"/>
              </a:spcAft>
              <a:buClr>
                <a:schemeClr val="accent1"/>
              </a:buClr>
              <a:buSzPct val="80000"/>
              <a:buFont typeface="Wingdings 3" charset="2"/>
              <a:buNone/>
              <a:defRPr>
                <a:solidFill>
                  <a:schemeClr val="tx1">
                    <a:lumMod val="75000"/>
                    <a:lumOff val="25000"/>
                  </a:schemeClr>
                </a:solidFill>
              </a:defRPr>
            </a:lvl1pPr>
            <a:lvl2pPr marL="742950" indent="-285750">
              <a:spcBef>
                <a:spcPts val="1000"/>
              </a:spcBef>
              <a:spcAft>
                <a:spcPts val="0"/>
              </a:spcAft>
              <a:buClr>
                <a:schemeClr val="accent1"/>
              </a:buClr>
              <a:buSzPct val="80000"/>
              <a:buFont typeface="Wingdings 3" charset="2"/>
              <a:buChar char=""/>
              <a:defRPr sz="1600">
                <a:solidFill>
                  <a:schemeClr val="tx1">
                    <a:lumMod val="75000"/>
                    <a:lumOff val="25000"/>
                  </a:schemeClr>
                </a:solidFill>
              </a:defRPr>
            </a:lvl2pPr>
            <a:lvl3pPr marL="1143000" indent="-228600">
              <a:spcBef>
                <a:spcPts val="1000"/>
              </a:spcBef>
              <a:spcAft>
                <a:spcPts val="0"/>
              </a:spcAft>
              <a:buClr>
                <a:schemeClr val="accent1"/>
              </a:buClr>
              <a:buSzPct val="80000"/>
              <a:buFont typeface="Wingdings 3" charset="2"/>
              <a:buChar char=""/>
              <a:defRPr sz="1400">
                <a:solidFill>
                  <a:schemeClr val="tx1">
                    <a:lumMod val="75000"/>
                    <a:lumOff val="25000"/>
                  </a:schemeClr>
                </a:solidFill>
              </a:defRPr>
            </a:lvl3pPr>
            <a:lvl4pPr marL="1600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4pPr>
            <a:lvl5pPr marL="20574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5pPr>
            <a:lvl6pPr marL="25146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6pPr>
            <a:lvl7pPr marL="29718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7pPr>
            <a:lvl8pPr marL="34290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8pPr>
            <a:lvl9pPr marL="3886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9pPr>
          </a:lstStyle>
          <a:p>
            <a:r>
              <a:rPr dirty="0"/>
              <a:t>En el estudio de la competencia, se debe identificar perfectamente la torta del  mercado, cómo está conformada, por estratos, edades, géneros etc. ¿En cuantos  pedazos está dividida? ¿De que sub mercados está hecha? ¿Qué segmentos o  nichos tiene y quien los atiende?, ¿quienes son los dueños de los diferentes   pedazos de torta? Es decir cuáles son las fortalezas y debilidades de los  diferentes dueños de la torta, y averiguar si existe un pedazo sin dueño y porqué,  para entrar a determinar si se puede tomar</a:t>
            </a:r>
            <a:r>
              <a:rPr dirty="0"/>
              <a:t>.</a:t>
            </a:r>
          </a:p>
        </p:txBody>
      </p:sp>
      <p:sp>
        <p:nvSpPr>
          <p:cNvPr id="3" name="object 3"/>
          <p:cNvSpPr/>
          <p:nvPr/>
        </p:nvSpPr>
        <p:spPr>
          <a:xfrm>
            <a:off x="4277996" y="1707070"/>
            <a:ext cx="4896484" cy="3672459"/>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4800" y="838200"/>
            <a:ext cx="6451600" cy="1674817"/>
          </a:xfrm>
          <a:prstGeom prst="rect">
            <a:avLst/>
          </a:prstGeom>
        </p:spPr>
        <p:txBody>
          <a:bodyPr vert="horz" wrap="square" lIns="0" tIns="12700" rIns="0" bIns="0" rtlCol="0">
            <a:spAutoFit/>
          </a:bodyPr>
          <a:lstStyle/>
          <a:p>
            <a:pPr marL="12700" marR="5080" algn="just">
              <a:lnSpc>
                <a:spcPct val="100000"/>
              </a:lnSpc>
              <a:spcBef>
                <a:spcPts val="100"/>
              </a:spcBef>
            </a:pPr>
            <a:r>
              <a:rPr dirty="0">
                <a:solidFill>
                  <a:schemeClr val="tx1">
                    <a:lumMod val="75000"/>
                    <a:lumOff val="25000"/>
                  </a:schemeClr>
                </a:solidFill>
              </a:rPr>
              <a:t>Algunos dicen que el mercado es guerra y paz, con cooperación cuando van a  hacer la torta y son competencia cuando van a repartirla. Las empresas actúan  simultáneamente en condiciones de competencia y cooperación con sus clientes,  proveedores, competidores y empresas que producen bienes sustitutos.</a:t>
            </a:r>
          </a:p>
        </p:txBody>
      </p:sp>
      <p:sp>
        <p:nvSpPr>
          <p:cNvPr id="3" name="object 3"/>
          <p:cNvSpPr/>
          <p:nvPr/>
        </p:nvSpPr>
        <p:spPr>
          <a:xfrm>
            <a:off x="2438400" y="3048000"/>
            <a:ext cx="3352800" cy="38100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2437" y="297560"/>
            <a:ext cx="6379363" cy="2667397"/>
          </a:xfrm>
          <a:prstGeom prst="rect">
            <a:avLst/>
          </a:prstGeom>
        </p:spPr>
        <p:txBody>
          <a:bodyPr vert="horz" wrap="square" lIns="0" tIns="12700" rIns="0" bIns="0" rtlCol="0">
            <a:spAutoFit/>
          </a:bodyPr>
          <a:lstStyle/>
          <a:p>
            <a:pPr marL="12700">
              <a:lnSpc>
                <a:spcPct val="100000"/>
              </a:lnSpc>
              <a:spcBef>
                <a:spcPts val="100"/>
              </a:spcBef>
            </a:pPr>
            <a:r>
              <a:rPr sz="3200" b="1" spc="-10" dirty="0">
                <a:solidFill>
                  <a:schemeClr val="accent1"/>
                </a:solidFill>
                <a:latin typeface="Arial"/>
                <a:ea typeface="+mj-ea"/>
                <a:cs typeface="Arial"/>
              </a:rPr>
              <a:t>La competencia es el conjunto de empresas</a:t>
            </a:r>
            <a:r>
              <a:rPr sz="3200" b="1" spc="-10" dirty="0">
                <a:solidFill>
                  <a:schemeClr val="accent1"/>
                </a:solidFill>
                <a:latin typeface="Arial"/>
                <a:ea typeface="+mj-ea"/>
                <a:cs typeface="Arial"/>
              </a:rPr>
              <a:t> que</a:t>
            </a:r>
            <a:r>
              <a:rPr sz="3200" b="1" spc="-10" dirty="0" smtClean="0">
                <a:solidFill>
                  <a:schemeClr val="accent1"/>
                </a:solidFill>
                <a:latin typeface="Arial"/>
                <a:ea typeface="+mj-ea"/>
                <a:cs typeface="Arial"/>
              </a:rPr>
              <a:t>:</a:t>
            </a:r>
            <a:endParaRPr lang="es-419" sz="3200" b="1" spc="-10" dirty="0" smtClean="0">
              <a:solidFill>
                <a:schemeClr val="accent1"/>
              </a:solidFill>
              <a:latin typeface="Arial"/>
              <a:ea typeface="+mj-ea"/>
              <a:cs typeface="Arial"/>
            </a:endParaRPr>
          </a:p>
          <a:p>
            <a:pPr>
              <a:lnSpc>
                <a:spcPct val="100000"/>
              </a:lnSpc>
              <a:spcBef>
                <a:spcPts val="30"/>
              </a:spcBef>
            </a:pPr>
            <a:endParaRPr sz="1850" dirty="0">
              <a:latin typeface="Times New Roman"/>
              <a:cs typeface="Times New Roman"/>
            </a:endParaRPr>
          </a:p>
          <a:p>
            <a:pPr marL="355600" indent="-342900">
              <a:lnSpc>
                <a:spcPct val="100000"/>
              </a:lnSpc>
              <a:buAutoNum type="arabicPeriod"/>
              <a:tabLst>
                <a:tab pos="354965" algn="l"/>
                <a:tab pos="355600" algn="l"/>
              </a:tabLst>
            </a:pPr>
            <a:r>
              <a:rPr dirty="0">
                <a:solidFill>
                  <a:schemeClr val="tx1">
                    <a:lumMod val="75000"/>
                    <a:lumOff val="25000"/>
                  </a:schemeClr>
                </a:solidFill>
              </a:rPr>
              <a:t>Ofrecen productos o servicios iguales a los míos</a:t>
            </a:r>
          </a:p>
          <a:p>
            <a:pPr marL="355600" marR="7620" indent="-342900">
              <a:lnSpc>
                <a:spcPct val="100000"/>
              </a:lnSpc>
              <a:buAutoNum type="arabicPeriod"/>
              <a:tabLst>
                <a:tab pos="354965" algn="l"/>
                <a:tab pos="355600" algn="l"/>
                <a:tab pos="1321435" algn="l"/>
                <a:tab pos="2478405" algn="l"/>
                <a:tab pos="2743835" algn="l"/>
                <a:tab pos="3786504" algn="l"/>
                <a:tab pos="4319905" algn="l"/>
                <a:tab pos="5234305" algn="l"/>
                <a:tab pos="6531609" algn="l"/>
                <a:tab pos="6976109" algn="l"/>
                <a:tab pos="7688580" algn="l"/>
              </a:tabLst>
            </a:pPr>
            <a:r>
              <a:rPr dirty="0">
                <a:solidFill>
                  <a:schemeClr val="tx1">
                    <a:lumMod val="75000"/>
                    <a:lumOff val="25000"/>
                  </a:schemeClr>
                </a:solidFill>
              </a:rPr>
              <a:t>Ofrecen	productos	y	servicios</a:t>
            </a:r>
            <a:r>
              <a:rPr dirty="0">
                <a:solidFill>
                  <a:schemeClr val="tx1">
                    <a:lumMod val="75000"/>
                    <a:lumOff val="25000"/>
                  </a:schemeClr>
                </a:solidFill>
              </a:rPr>
              <a:t>	que	</a:t>
            </a:r>
            <a:r>
              <a:rPr dirty="0" err="1" smtClean="0">
                <a:solidFill>
                  <a:schemeClr val="tx1">
                    <a:lumMod val="75000"/>
                    <a:lumOff val="25000"/>
                  </a:schemeClr>
                </a:solidFill>
              </a:rPr>
              <a:t>pueden</a:t>
            </a:r>
            <a:r>
              <a:rPr lang="es-419" dirty="0" smtClean="0">
                <a:solidFill>
                  <a:schemeClr val="tx1">
                    <a:lumMod val="75000"/>
                    <a:lumOff val="25000"/>
                  </a:schemeClr>
                </a:solidFill>
              </a:rPr>
              <a:t> </a:t>
            </a:r>
            <a:r>
              <a:rPr dirty="0" err="1" smtClean="0">
                <a:solidFill>
                  <a:schemeClr val="tx1">
                    <a:lumMod val="75000"/>
                    <a:lumOff val="25000"/>
                  </a:schemeClr>
                </a:solidFill>
              </a:rPr>
              <a:t>reemplazar</a:t>
            </a:r>
            <a:r>
              <a:rPr lang="es-419" dirty="0" smtClean="0">
                <a:solidFill>
                  <a:schemeClr val="tx1">
                    <a:lumMod val="75000"/>
                    <a:lumOff val="25000"/>
                  </a:schemeClr>
                </a:solidFill>
              </a:rPr>
              <a:t> </a:t>
            </a:r>
            <a:r>
              <a:rPr dirty="0" err="1" smtClean="0">
                <a:solidFill>
                  <a:schemeClr val="tx1">
                    <a:lumMod val="75000"/>
                    <a:lumOff val="25000"/>
                  </a:schemeClr>
                </a:solidFill>
              </a:rPr>
              <a:t>los</a:t>
            </a:r>
            <a:r>
              <a:rPr lang="es-419" dirty="0" smtClean="0">
                <a:solidFill>
                  <a:schemeClr val="tx1">
                    <a:lumMod val="75000"/>
                    <a:lumOff val="25000"/>
                  </a:schemeClr>
                </a:solidFill>
              </a:rPr>
              <a:t> </a:t>
            </a:r>
            <a:r>
              <a:rPr dirty="0" err="1" smtClean="0">
                <a:solidFill>
                  <a:schemeClr val="tx1">
                    <a:lumMod val="75000"/>
                    <a:lumOff val="25000"/>
                  </a:schemeClr>
                </a:solidFill>
              </a:rPr>
              <a:t>míos</a:t>
            </a:r>
            <a:r>
              <a:rPr dirty="0" smtClean="0">
                <a:solidFill>
                  <a:schemeClr val="tx1">
                    <a:lumMod val="75000"/>
                    <a:lumOff val="25000"/>
                  </a:schemeClr>
                </a:solidFill>
              </a:rPr>
              <a:t>,</a:t>
            </a:r>
            <a:r>
              <a:rPr lang="es-419" dirty="0" smtClean="0">
                <a:solidFill>
                  <a:schemeClr val="tx1">
                    <a:lumMod val="75000"/>
                    <a:lumOff val="25000"/>
                  </a:schemeClr>
                </a:solidFill>
              </a:rPr>
              <a:t> </a:t>
            </a:r>
            <a:r>
              <a:rPr dirty="0" err="1" smtClean="0">
                <a:solidFill>
                  <a:schemeClr val="tx1">
                    <a:lumMod val="75000"/>
                    <a:lumOff val="25000"/>
                  </a:schemeClr>
                </a:solidFill>
              </a:rPr>
              <a:t>porque</a:t>
            </a:r>
            <a:r>
              <a:rPr dirty="0" smtClean="0">
                <a:solidFill>
                  <a:schemeClr val="tx1">
                    <a:lumMod val="75000"/>
                    <a:lumOff val="25000"/>
                  </a:schemeClr>
                </a:solidFill>
              </a:rPr>
              <a:t>  </a:t>
            </a:r>
            <a:r>
              <a:rPr dirty="0">
                <a:solidFill>
                  <a:schemeClr val="tx1">
                    <a:lumMod val="75000"/>
                    <a:lumOff val="25000"/>
                  </a:schemeClr>
                </a:solidFill>
              </a:rPr>
              <a:t>satisfacen las mismas necesidades.</a:t>
            </a:r>
          </a:p>
          <a:p>
            <a:pPr marL="355600" marR="5080" indent="-342900">
              <a:lnSpc>
                <a:spcPct val="100000"/>
              </a:lnSpc>
              <a:spcBef>
                <a:spcPts val="5"/>
              </a:spcBef>
              <a:buAutoNum type="arabicPeriod"/>
              <a:tabLst>
                <a:tab pos="354965" algn="l"/>
                <a:tab pos="355600" algn="l"/>
              </a:tabLst>
            </a:pPr>
            <a:r>
              <a:rPr dirty="0">
                <a:solidFill>
                  <a:schemeClr val="tx1">
                    <a:lumMod val="75000"/>
                    <a:lumOff val="25000"/>
                  </a:schemeClr>
                </a:solidFill>
              </a:rPr>
              <a:t>Impiden que la gente compre mis productos porque los desplazan a otros  lugares.</a:t>
            </a:r>
          </a:p>
        </p:txBody>
      </p:sp>
      <p:sp>
        <p:nvSpPr>
          <p:cNvPr id="3" name="object 3"/>
          <p:cNvSpPr/>
          <p:nvPr/>
        </p:nvSpPr>
        <p:spPr>
          <a:xfrm>
            <a:off x="2362200" y="3276600"/>
            <a:ext cx="3528441" cy="3528441"/>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2436" y="329565"/>
            <a:ext cx="4779163" cy="505267"/>
          </a:xfrm>
          <a:prstGeom prst="rect">
            <a:avLst/>
          </a:prstGeom>
        </p:spPr>
        <p:txBody>
          <a:bodyPr vert="horz" wrap="square" lIns="0" tIns="12700" rIns="0" bIns="0" rtlCol="0">
            <a:spAutoFit/>
          </a:bodyPr>
          <a:lstStyle/>
          <a:p>
            <a:pPr marL="12700">
              <a:spcBef>
                <a:spcPts val="100"/>
              </a:spcBef>
            </a:pPr>
            <a:r>
              <a:rPr sz="3200" b="1" spc="-10" dirty="0">
                <a:latin typeface="Arial"/>
                <a:cs typeface="Arial"/>
              </a:rPr>
              <a:t>1. OBJETIVO GENERAL</a:t>
            </a:r>
          </a:p>
        </p:txBody>
      </p:sp>
      <p:sp>
        <p:nvSpPr>
          <p:cNvPr id="3" name="object 3"/>
          <p:cNvSpPr txBox="1"/>
          <p:nvPr/>
        </p:nvSpPr>
        <p:spPr>
          <a:xfrm>
            <a:off x="228600" y="1348389"/>
            <a:ext cx="6876728" cy="848360"/>
          </a:xfrm>
          <a:prstGeom prst="rect">
            <a:avLst/>
          </a:prstGeom>
        </p:spPr>
        <p:txBody>
          <a:bodyPr vert="horz" wrap="square" lIns="0" tIns="12700" rIns="0" bIns="0" rtlCol="0">
            <a:spAutoFit/>
          </a:bodyPr>
          <a:lstStyle/>
          <a:p>
            <a:pPr marL="12700" marR="5080" algn="just">
              <a:lnSpc>
                <a:spcPct val="100000"/>
              </a:lnSpc>
              <a:spcBef>
                <a:spcPts val="100"/>
              </a:spcBef>
            </a:pPr>
            <a:r>
              <a:rPr dirty="0">
                <a:solidFill>
                  <a:schemeClr val="tx1">
                    <a:lumMod val="75000"/>
                    <a:lumOff val="25000"/>
                  </a:schemeClr>
                </a:solidFill>
              </a:rPr>
              <a:t>Determinar la disponibilidad, disposición actual y características de los  proveedores, con el fin de seleccionar los mejores distribuidores, con base en  nuestros objetivos de mercado.</a:t>
            </a:r>
          </a:p>
        </p:txBody>
      </p:sp>
      <p:graphicFrame>
        <p:nvGraphicFramePr>
          <p:cNvPr id="4" name="object 4"/>
          <p:cNvGraphicFramePr>
            <a:graphicFrameLocks noGrp="1"/>
          </p:cNvGraphicFramePr>
          <p:nvPr>
            <p:extLst>
              <p:ext uri="{D42A27DB-BD31-4B8C-83A1-F6EECF244321}">
                <p14:modId xmlns:p14="http://schemas.microsoft.com/office/powerpoint/2010/main" val="2971593301"/>
              </p:ext>
            </p:extLst>
          </p:nvPr>
        </p:nvGraphicFramePr>
        <p:xfrm>
          <a:off x="417677" y="2710307"/>
          <a:ext cx="8039417" cy="4132453"/>
        </p:xfrm>
        <a:graphic>
          <a:graphicData uri="http://schemas.openxmlformats.org/drawingml/2006/table">
            <a:tbl>
              <a:tblPr firstRow="1" bandRow="1">
                <a:tableStyleId>{2D5ABB26-0587-4C30-8999-92F81FD0307C}</a:tableStyleId>
              </a:tblPr>
              <a:tblGrid>
                <a:gridCol w="2679806">
                  <a:extLst>
                    <a:ext uri="{9D8B030D-6E8A-4147-A177-3AD203B41FA5}">
                      <a16:colId xmlns:a16="http://schemas.microsoft.com/office/drawing/2014/main" val="20000"/>
                    </a:ext>
                  </a:extLst>
                </a:gridCol>
                <a:gridCol w="2679806">
                  <a:extLst>
                    <a:ext uri="{9D8B030D-6E8A-4147-A177-3AD203B41FA5}">
                      <a16:colId xmlns:a16="http://schemas.microsoft.com/office/drawing/2014/main" val="20001"/>
                    </a:ext>
                  </a:extLst>
                </a:gridCol>
                <a:gridCol w="2679805">
                  <a:extLst>
                    <a:ext uri="{9D8B030D-6E8A-4147-A177-3AD203B41FA5}">
                      <a16:colId xmlns:a16="http://schemas.microsoft.com/office/drawing/2014/main" val="20002"/>
                    </a:ext>
                  </a:extLst>
                </a:gridCol>
              </a:tblGrid>
              <a:tr h="533400">
                <a:tc>
                  <a:txBody>
                    <a:bodyPr/>
                    <a:lstStyle/>
                    <a:p>
                      <a:pPr marL="146685">
                        <a:lnSpc>
                          <a:spcPct val="100000"/>
                        </a:lnSpc>
                        <a:spcBef>
                          <a:spcPts val="1030"/>
                        </a:spcBef>
                      </a:pPr>
                      <a:r>
                        <a:rPr sz="1400" b="1" spc="-55" dirty="0" smtClean="0">
                          <a:latin typeface="Georgia"/>
                          <a:cs typeface="Georgia"/>
                        </a:rPr>
                        <a:t>ESTUDIO </a:t>
                      </a:r>
                      <a:r>
                        <a:rPr sz="1400" b="1" spc="-75" dirty="0">
                          <a:latin typeface="Georgia"/>
                          <a:cs typeface="Georgia"/>
                        </a:rPr>
                        <a:t>DE</a:t>
                      </a:r>
                      <a:r>
                        <a:rPr sz="1400" b="1" spc="-15" dirty="0">
                          <a:latin typeface="Georgia"/>
                          <a:cs typeface="Georgia"/>
                        </a:rPr>
                        <a:t> </a:t>
                      </a:r>
                      <a:r>
                        <a:rPr sz="1400" b="1" spc="-50" dirty="0">
                          <a:latin typeface="Georgia"/>
                          <a:cs typeface="Georgia"/>
                        </a:rPr>
                        <a:t>MERCADOS.</a:t>
                      </a:r>
                      <a:endParaRPr sz="1400" dirty="0">
                        <a:latin typeface="Georgia"/>
                        <a:cs typeface="Georgi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0075">
                        <a:lnSpc>
                          <a:spcPct val="100000"/>
                        </a:lnSpc>
                        <a:spcBef>
                          <a:spcPts val="1030"/>
                        </a:spcBef>
                      </a:pPr>
                      <a:r>
                        <a:rPr sz="1400" b="1" spc="-40" dirty="0" smtClean="0">
                          <a:latin typeface="Georgia"/>
                          <a:cs typeface="Georgia"/>
                        </a:rPr>
                        <a:t>INFORMACION</a:t>
                      </a:r>
                      <a:endParaRPr sz="1400" dirty="0">
                        <a:latin typeface="Georgia"/>
                        <a:cs typeface="Georgia"/>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0710" marR="579120" indent="138430">
                        <a:lnSpc>
                          <a:spcPct val="115100"/>
                        </a:lnSpc>
                      </a:pPr>
                      <a:r>
                        <a:rPr sz="1400" b="1" spc="-95" dirty="0" smtClean="0">
                          <a:latin typeface="Georgia"/>
                          <a:cs typeface="Georgia"/>
                        </a:rPr>
                        <a:t>FUENTES </a:t>
                      </a:r>
                      <a:r>
                        <a:rPr sz="1400" b="1" spc="-80" dirty="0">
                          <a:latin typeface="Georgia"/>
                          <a:cs typeface="Georgia"/>
                        </a:rPr>
                        <a:t>DE  </a:t>
                      </a:r>
                      <a:r>
                        <a:rPr sz="1400" b="1" dirty="0" smtClean="0">
                          <a:latin typeface="Georgia"/>
                          <a:cs typeface="Georgia"/>
                        </a:rPr>
                        <a:t>I</a:t>
                      </a:r>
                      <a:r>
                        <a:rPr sz="1400" b="1" spc="-10" dirty="0" smtClean="0">
                          <a:latin typeface="Georgia"/>
                          <a:cs typeface="Georgia"/>
                        </a:rPr>
                        <a:t>N</a:t>
                      </a:r>
                      <a:r>
                        <a:rPr sz="1400" b="1" spc="-5" dirty="0" smtClean="0">
                          <a:latin typeface="Georgia"/>
                          <a:cs typeface="Georgia"/>
                        </a:rPr>
                        <a:t>F</a:t>
                      </a:r>
                      <a:r>
                        <a:rPr sz="1400" b="1" spc="-10" dirty="0" smtClean="0">
                          <a:latin typeface="Georgia"/>
                          <a:cs typeface="Georgia"/>
                        </a:rPr>
                        <a:t>OR</a:t>
                      </a:r>
                      <a:r>
                        <a:rPr sz="1400" b="1" dirty="0" smtClean="0">
                          <a:latin typeface="Georgia"/>
                          <a:cs typeface="Georgia"/>
                        </a:rPr>
                        <a:t>MA</a:t>
                      </a:r>
                      <a:r>
                        <a:rPr sz="1400" b="1" spc="-10" dirty="0" smtClean="0">
                          <a:latin typeface="Georgia"/>
                          <a:cs typeface="Georgia"/>
                        </a:rPr>
                        <a:t>C</a:t>
                      </a:r>
                      <a:r>
                        <a:rPr sz="1400" b="1" dirty="0" smtClean="0">
                          <a:latin typeface="Georgia"/>
                          <a:cs typeface="Georgia"/>
                        </a:rPr>
                        <a:t>I</a:t>
                      </a:r>
                      <a:r>
                        <a:rPr sz="1400" b="1" spc="-10" dirty="0" smtClean="0">
                          <a:latin typeface="Georgia"/>
                          <a:cs typeface="Georgia"/>
                        </a:rPr>
                        <a:t>O</a:t>
                      </a:r>
                      <a:r>
                        <a:rPr lang="es-419" sz="1400" b="1" spc="-10" dirty="0" smtClean="0">
                          <a:latin typeface="Georgia"/>
                          <a:cs typeface="Georgia"/>
                        </a:rPr>
                        <a:t>N</a:t>
                      </a:r>
                      <a:endParaRPr sz="1400" dirty="0">
                        <a:latin typeface="Georgia"/>
                        <a:cs typeface="Georgia"/>
                      </a:endParaRPr>
                    </a:p>
                  </a:txBody>
                  <a:tcPr marL="0" marR="0" marT="3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587750">
                <a:tc>
                  <a:txBody>
                    <a:bodyPr/>
                    <a:lstStyle/>
                    <a:p>
                      <a:pPr marL="74930">
                        <a:lnSpc>
                          <a:spcPct val="100000"/>
                        </a:lnSpc>
                        <a:spcBef>
                          <a:spcPts val="55"/>
                        </a:spcBef>
                      </a:pPr>
                      <a:r>
                        <a:rPr sz="1400" dirty="0">
                          <a:latin typeface="Georgia"/>
                          <a:cs typeface="Georgia"/>
                        </a:rPr>
                        <a:t>Estudio </a:t>
                      </a:r>
                      <a:r>
                        <a:rPr sz="1400" spc="20" dirty="0">
                          <a:latin typeface="Georgia"/>
                          <a:cs typeface="Georgia"/>
                        </a:rPr>
                        <a:t>de </a:t>
                      </a:r>
                      <a:r>
                        <a:rPr sz="1400" dirty="0">
                          <a:latin typeface="Georgia"/>
                          <a:cs typeface="Georgia"/>
                        </a:rPr>
                        <a:t>la</a:t>
                      </a:r>
                      <a:r>
                        <a:rPr sz="1400" spc="-35" dirty="0">
                          <a:latin typeface="Georgia"/>
                          <a:cs typeface="Georgia"/>
                        </a:rPr>
                        <a:t> </a:t>
                      </a:r>
                      <a:r>
                        <a:rPr sz="1400" dirty="0">
                          <a:latin typeface="Georgia"/>
                          <a:cs typeface="Georgia"/>
                        </a:rPr>
                        <a:t>Competencia.</a:t>
                      </a:r>
                      <a:endParaRPr sz="1400">
                        <a:latin typeface="Georgia"/>
                        <a:cs typeface="Georgia"/>
                      </a:endParaRPr>
                    </a:p>
                  </a:txBody>
                  <a:tcPr marL="0" marR="0" marT="69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18465" indent="-342900">
                        <a:lnSpc>
                          <a:spcPct val="100000"/>
                        </a:lnSpc>
                        <a:spcBef>
                          <a:spcPts val="55"/>
                        </a:spcBef>
                        <a:buSzPct val="71428"/>
                        <a:buFont typeface="Symbol"/>
                        <a:buChar char=""/>
                        <a:tabLst>
                          <a:tab pos="418465" algn="l"/>
                          <a:tab pos="419100" algn="l"/>
                        </a:tabLst>
                      </a:pPr>
                      <a:r>
                        <a:rPr sz="1400" dirty="0">
                          <a:latin typeface="Georgia"/>
                          <a:cs typeface="Georgia"/>
                        </a:rPr>
                        <a:t>¿Quiénes </a:t>
                      </a:r>
                      <a:r>
                        <a:rPr sz="1400" spc="-5" dirty="0">
                          <a:latin typeface="Georgia"/>
                          <a:cs typeface="Georgia"/>
                        </a:rPr>
                        <a:t>son </a:t>
                      </a:r>
                      <a:r>
                        <a:rPr sz="1400" dirty="0">
                          <a:latin typeface="Georgia"/>
                          <a:cs typeface="Georgia"/>
                        </a:rPr>
                        <a:t>los</a:t>
                      </a:r>
                      <a:r>
                        <a:rPr sz="1400" spc="-15" dirty="0">
                          <a:latin typeface="Georgia"/>
                          <a:cs typeface="Georgia"/>
                        </a:rPr>
                        <a:t> </a:t>
                      </a:r>
                      <a:r>
                        <a:rPr sz="1400" dirty="0">
                          <a:latin typeface="Georgia"/>
                          <a:cs typeface="Georgia"/>
                        </a:rPr>
                        <a:t>posibles</a:t>
                      </a:r>
                      <a:endParaRPr sz="1400">
                        <a:latin typeface="Georgia"/>
                        <a:cs typeface="Georgia"/>
                      </a:endParaRPr>
                    </a:p>
                    <a:p>
                      <a:pPr marL="418465">
                        <a:lnSpc>
                          <a:spcPct val="100000"/>
                        </a:lnSpc>
                        <a:spcBef>
                          <a:spcPts val="254"/>
                        </a:spcBef>
                      </a:pPr>
                      <a:r>
                        <a:rPr sz="1400" spc="-5" dirty="0">
                          <a:latin typeface="Georgia"/>
                          <a:cs typeface="Georgia"/>
                        </a:rPr>
                        <a:t>competidores?</a:t>
                      </a:r>
                      <a:endParaRPr sz="1400">
                        <a:latin typeface="Georgia"/>
                        <a:cs typeface="Georgia"/>
                      </a:endParaRPr>
                    </a:p>
                    <a:p>
                      <a:pPr marL="418465" marR="316230" indent="-342900">
                        <a:lnSpc>
                          <a:spcPct val="114999"/>
                        </a:lnSpc>
                        <a:spcBef>
                          <a:spcPts val="994"/>
                        </a:spcBef>
                        <a:buSzPct val="71428"/>
                        <a:buFont typeface="Symbol"/>
                        <a:buChar char=""/>
                        <a:tabLst>
                          <a:tab pos="418465" algn="l"/>
                          <a:tab pos="419100" algn="l"/>
                        </a:tabLst>
                      </a:pPr>
                      <a:r>
                        <a:rPr sz="1400" spc="5" dirty="0">
                          <a:latin typeface="Georgia"/>
                          <a:cs typeface="Georgia"/>
                        </a:rPr>
                        <a:t>Productos </a:t>
                      </a:r>
                      <a:r>
                        <a:rPr sz="1400" spc="10" dirty="0">
                          <a:latin typeface="Georgia"/>
                          <a:cs typeface="Georgia"/>
                        </a:rPr>
                        <a:t>que </a:t>
                      </a:r>
                      <a:r>
                        <a:rPr sz="1400" spc="20" dirty="0">
                          <a:latin typeface="Georgia"/>
                          <a:cs typeface="Georgia"/>
                        </a:rPr>
                        <a:t>vende</a:t>
                      </a:r>
                      <a:r>
                        <a:rPr sz="1400" spc="-85" dirty="0">
                          <a:latin typeface="Georgia"/>
                          <a:cs typeface="Georgia"/>
                        </a:rPr>
                        <a:t> </a:t>
                      </a:r>
                      <a:r>
                        <a:rPr sz="1400" dirty="0">
                          <a:latin typeface="Georgia"/>
                          <a:cs typeface="Georgia"/>
                        </a:rPr>
                        <a:t>al  mercado.</a:t>
                      </a:r>
                      <a:endParaRPr sz="1400">
                        <a:latin typeface="Georgia"/>
                        <a:cs typeface="Georgia"/>
                      </a:endParaRPr>
                    </a:p>
                    <a:p>
                      <a:pPr marL="418465" indent="-342900">
                        <a:lnSpc>
                          <a:spcPct val="100000"/>
                        </a:lnSpc>
                        <a:spcBef>
                          <a:spcPts val="1250"/>
                        </a:spcBef>
                        <a:buSzPct val="71428"/>
                        <a:buFont typeface="Symbol"/>
                        <a:buChar char=""/>
                        <a:tabLst>
                          <a:tab pos="418465" algn="l"/>
                          <a:tab pos="419100" algn="l"/>
                        </a:tabLst>
                      </a:pPr>
                      <a:r>
                        <a:rPr sz="1400" spc="-5" dirty="0">
                          <a:latin typeface="Georgia"/>
                          <a:cs typeface="Georgia"/>
                        </a:rPr>
                        <a:t>Servicios </a:t>
                      </a:r>
                      <a:r>
                        <a:rPr sz="1400" spc="10" dirty="0">
                          <a:latin typeface="Georgia"/>
                          <a:cs typeface="Georgia"/>
                        </a:rPr>
                        <a:t>que </a:t>
                      </a:r>
                      <a:r>
                        <a:rPr sz="1400" spc="-10" dirty="0">
                          <a:latin typeface="Georgia"/>
                          <a:cs typeface="Georgia"/>
                        </a:rPr>
                        <a:t>presta.</a:t>
                      </a:r>
                      <a:endParaRPr sz="1400">
                        <a:latin typeface="Georgia"/>
                        <a:cs typeface="Georgia"/>
                      </a:endParaRPr>
                    </a:p>
                    <a:p>
                      <a:pPr marL="418465" indent="-342900">
                        <a:lnSpc>
                          <a:spcPct val="100000"/>
                        </a:lnSpc>
                        <a:spcBef>
                          <a:spcPts val="1260"/>
                        </a:spcBef>
                        <a:buSzPct val="71428"/>
                        <a:buFont typeface="Symbol"/>
                        <a:buChar char=""/>
                        <a:tabLst>
                          <a:tab pos="418465" algn="l"/>
                          <a:tab pos="419100" algn="l"/>
                        </a:tabLst>
                      </a:pPr>
                      <a:r>
                        <a:rPr sz="1400" spc="-10" dirty="0">
                          <a:latin typeface="Georgia"/>
                          <a:cs typeface="Georgia"/>
                        </a:rPr>
                        <a:t>Precios </a:t>
                      </a:r>
                      <a:r>
                        <a:rPr sz="1400" spc="10" dirty="0">
                          <a:latin typeface="Georgia"/>
                          <a:cs typeface="Georgia"/>
                        </a:rPr>
                        <a:t>que</a:t>
                      </a:r>
                      <a:r>
                        <a:rPr sz="1400" spc="5" dirty="0">
                          <a:latin typeface="Georgia"/>
                          <a:cs typeface="Georgia"/>
                        </a:rPr>
                        <a:t> </a:t>
                      </a:r>
                      <a:r>
                        <a:rPr sz="1400" spc="-25" dirty="0">
                          <a:latin typeface="Georgia"/>
                          <a:cs typeface="Georgia"/>
                        </a:rPr>
                        <a:t>maneja.</a:t>
                      </a:r>
                      <a:endParaRPr sz="1400">
                        <a:latin typeface="Georgia"/>
                        <a:cs typeface="Georgia"/>
                      </a:endParaRPr>
                    </a:p>
                    <a:p>
                      <a:pPr marL="418465" indent="-342900">
                        <a:lnSpc>
                          <a:spcPct val="100000"/>
                        </a:lnSpc>
                        <a:spcBef>
                          <a:spcPts val="1250"/>
                        </a:spcBef>
                        <a:buSzPct val="71428"/>
                        <a:buFont typeface="Symbol"/>
                        <a:buChar char=""/>
                        <a:tabLst>
                          <a:tab pos="418465" algn="l"/>
                          <a:tab pos="419100" algn="l"/>
                        </a:tabLst>
                      </a:pPr>
                      <a:r>
                        <a:rPr sz="1400" spc="-15" dirty="0">
                          <a:latin typeface="Georgia"/>
                          <a:cs typeface="Georgia"/>
                        </a:rPr>
                        <a:t>Estrategias </a:t>
                      </a:r>
                      <a:r>
                        <a:rPr sz="1400" spc="15" dirty="0">
                          <a:latin typeface="Georgia"/>
                          <a:cs typeface="Georgia"/>
                        </a:rPr>
                        <a:t>de</a:t>
                      </a:r>
                      <a:r>
                        <a:rPr sz="1400" spc="-10" dirty="0">
                          <a:latin typeface="Georgia"/>
                          <a:cs typeface="Georgia"/>
                        </a:rPr>
                        <a:t> </a:t>
                      </a:r>
                      <a:r>
                        <a:rPr sz="1400" spc="-5" dirty="0">
                          <a:latin typeface="Georgia"/>
                          <a:cs typeface="Georgia"/>
                        </a:rPr>
                        <a:t>mercado.</a:t>
                      </a:r>
                      <a:endParaRPr sz="1400">
                        <a:latin typeface="Georgia"/>
                        <a:cs typeface="Georgia"/>
                      </a:endParaRPr>
                    </a:p>
                    <a:p>
                      <a:pPr marL="418465" indent="-342900">
                        <a:lnSpc>
                          <a:spcPct val="100000"/>
                        </a:lnSpc>
                        <a:spcBef>
                          <a:spcPts val="1245"/>
                        </a:spcBef>
                        <a:buSzPct val="71428"/>
                        <a:buFont typeface="Symbol"/>
                        <a:buChar char=""/>
                        <a:tabLst>
                          <a:tab pos="418465" algn="l"/>
                          <a:tab pos="419100" algn="l"/>
                        </a:tabLst>
                      </a:pPr>
                      <a:r>
                        <a:rPr sz="1400" spc="5" dirty="0">
                          <a:latin typeface="Georgia"/>
                          <a:cs typeface="Georgia"/>
                        </a:rPr>
                        <a:t>Clientes </a:t>
                      </a:r>
                      <a:r>
                        <a:rPr sz="1400" spc="10" dirty="0">
                          <a:latin typeface="Georgia"/>
                          <a:cs typeface="Georgia"/>
                        </a:rPr>
                        <a:t>que</a:t>
                      </a:r>
                      <a:r>
                        <a:rPr sz="1400" spc="-10" dirty="0">
                          <a:latin typeface="Georgia"/>
                          <a:cs typeface="Georgia"/>
                        </a:rPr>
                        <a:t> </a:t>
                      </a:r>
                      <a:r>
                        <a:rPr sz="1400" spc="-20" dirty="0">
                          <a:latin typeface="Georgia"/>
                          <a:cs typeface="Georgia"/>
                        </a:rPr>
                        <a:t>maneja</a:t>
                      </a:r>
                      <a:endParaRPr sz="1400">
                        <a:latin typeface="Georgia"/>
                        <a:cs typeface="Georgia"/>
                      </a:endParaRPr>
                    </a:p>
                    <a:p>
                      <a:pPr marL="418465">
                        <a:lnSpc>
                          <a:spcPct val="100000"/>
                        </a:lnSpc>
                        <a:spcBef>
                          <a:spcPts val="254"/>
                        </a:spcBef>
                      </a:pPr>
                      <a:r>
                        <a:rPr sz="1400" spc="-10" dirty="0">
                          <a:latin typeface="Georgia"/>
                          <a:cs typeface="Georgia"/>
                        </a:rPr>
                        <a:t>actualmente.</a:t>
                      </a:r>
                      <a:endParaRPr sz="1400">
                        <a:latin typeface="Georgia"/>
                        <a:cs typeface="Georgia"/>
                      </a:endParaRPr>
                    </a:p>
                    <a:p>
                      <a:pPr marL="418465" indent="-342900">
                        <a:lnSpc>
                          <a:spcPct val="100000"/>
                        </a:lnSpc>
                        <a:spcBef>
                          <a:spcPts val="1260"/>
                        </a:spcBef>
                        <a:buSzPct val="71428"/>
                        <a:buFont typeface="Symbol"/>
                        <a:buChar char=""/>
                        <a:tabLst>
                          <a:tab pos="418465" algn="l"/>
                          <a:tab pos="419100" algn="l"/>
                        </a:tabLst>
                      </a:pPr>
                      <a:r>
                        <a:rPr sz="1400" spc="10" dirty="0">
                          <a:latin typeface="Georgia"/>
                          <a:cs typeface="Georgia"/>
                        </a:rPr>
                        <a:t>Volúmenes </a:t>
                      </a:r>
                      <a:r>
                        <a:rPr sz="1400" spc="15" dirty="0">
                          <a:latin typeface="Georgia"/>
                          <a:cs typeface="Georgia"/>
                        </a:rPr>
                        <a:t>de</a:t>
                      </a:r>
                      <a:r>
                        <a:rPr sz="1400" spc="-25" dirty="0">
                          <a:latin typeface="Georgia"/>
                          <a:cs typeface="Georgia"/>
                        </a:rPr>
                        <a:t> </a:t>
                      </a:r>
                      <a:r>
                        <a:rPr sz="1400" spc="5" dirty="0">
                          <a:latin typeface="Georgia"/>
                          <a:cs typeface="Georgia"/>
                        </a:rPr>
                        <a:t>producción</a:t>
                      </a:r>
                      <a:endParaRPr sz="1400">
                        <a:latin typeface="Georgia"/>
                        <a:cs typeface="Georgia"/>
                      </a:endParaRPr>
                    </a:p>
                    <a:p>
                      <a:pPr marL="418465" indent="-342900">
                        <a:lnSpc>
                          <a:spcPct val="100000"/>
                        </a:lnSpc>
                        <a:spcBef>
                          <a:spcPts val="1250"/>
                        </a:spcBef>
                        <a:buSzPct val="71428"/>
                        <a:buFont typeface="Symbol"/>
                        <a:buChar char=""/>
                        <a:tabLst>
                          <a:tab pos="418465" algn="l"/>
                          <a:tab pos="419100" algn="l"/>
                        </a:tabLst>
                      </a:pPr>
                      <a:r>
                        <a:rPr sz="1400" spc="5" dirty="0">
                          <a:latin typeface="Georgia"/>
                          <a:cs typeface="Georgia"/>
                        </a:rPr>
                        <a:t>Proveedores.</a:t>
                      </a:r>
                      <a:endParaRPr sz="1400">
                        <a:latin typeface="Georgia"/>
                        <a:cs typeface="Georgia"/>
                      </a:endParaRPr>
                    </a:p>
                  </a:txBody>
                  <a:tcPr marL="0" marR="0" marT="69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19100" indent="-342900">
                        <a:lnSpc>
                          <a:spcPct val="100000"/>
                        </a:lnSpc>
                        <a:spcBef>
                          <a:spcPts val="55"/>
                        </a:spcBef>
                        <a:buSzPct val="71428"/>
                        <a:buFont typeface="Symbol"/>
                        <a:buChar char=""/>
                        <a:tabLst>
                          <a:tab pos="419100" algn="l"/>
                          <a:tab pos="419734" algn="l"/>
                        </a:tabLst>
                      </a:pPr>
                      <a:r>
                        <a:rPr sz="1400" spc="-30" dirty="0">
                          <a:latin typeface="Georgia"/>
                          <a:cs typeface="Georgia"/>
                        </a:rPr>
                        <a:t>Internet.</a:t>
                      </a:r>
                      <a:endParaRPr sz="1400" dirty="0">
                        <a:latin typeface="Georgia"/>
                        <a:cs typeface="Georgia"/>
                      </a:endParaRPr>
                    </a:p>
                    <a:p>
                      <a:pPr marL="419100" marR="535940" indent="-342900">
                        <a:lnSpc>
                          <a:spcPct val="114999"/>
                        </a:lnSpc>
                        <a:spcBef>
                          <a:spcPts val="1000"/>
                        </a:spcBef>
                        <a:buSzPct val="71428"/>
                        <a:buFont typeface="Symbol"/>
                        <a:buChar char=""/>
                        <a:tabLst>
                          <a:tab pos="419100" algn="l"/>
                          <a:tab pos="419734" algn="l"/>
                        </a:tabLst>
                      </a:pPr>
                      <a:r>
                        <a:rPr sz="1400" spc="-10" dirty="0">
                          <a:latin typeface="Georgia"/>
                          <a:cs typeface="Georgia"/>
                        </a:rPr>
                        <a:t>Entrevista </a:t>
                      </a:r>
                      <a:r>
                        <a:rPr sz="1400" spc="-5" dirty="0">
                          <a:latin typeface="Georgia"/>
                          <a:cs typeface="Georgia"/>
                        </a:rPr>
                        <a:t>con </a:t>
                      </a:r>
                      <a:r>
                        <a:rPr sz="1400" dirty="0">
                          <a:latin typeface="Georgia"/>
                          <a:cs typeface="Georgia"/>
                        </a:rPr>
                        <a:t>los  competidores  </a:t>
                      </a:r>
                      <a:r>
                        <a:rPr sz="1400" spc="-5" dirty="0">
                          <a:latin typeface="Georgia"/>
                          <a:cs typeface="Georgia"/>
                        </a:rPr>
                        <a:t>personalmente </a:t>
                      </a:r>
                      <a:r>
                        <a:rPr sz="1400" spc="90" dirty="0">
                          <a:latin typeface="Georgia"/>
                          <a:cs typeface="Georgia"/>
                        </a:rPr>
                        <a:t>y</a:t>
                      </a:r>
                      <a:r>
                        <a:rPr sz="1400" spc="-55" dirty="0">
                          <a:latin typeface="Georgia"/>
                          <a:cs typeface="Georgia"/>
                        </a:rPr>
                        <a:t> </a:t>
                      </a:r>
                      <a:r>
                        <a:rPr sz="1400" spc="5" dirty="0">
                          <a:latin typeface="Georgia"/>
                          <a:cs typeface="Georgia"/>
                        </a:rPr>
                        <a:t>por  medios</a:t>
                      </a:r>
                      <a:r>
                        <a:rPr sz="1400" spc="-45" dirty="0">
                          <a:latin typeface="Georgia"/>
                          <a:cs typeface="Georgia"/>
                        </a:rPr>
                        <a:t> </a:t>
                      </a:r>
                      <a:r>
                        <a:rPr sz="1400" spc="-10" dirty="0">
                          <a:latin typeface="Georgia"/>
                          <a:cs typeface="Georgia"/>
                        </a:rPr>
                        <a:t>electrónicos.</a:t>
                      </a:r>
                      <a:endParaRPr sz="1400" dirty="0">
                        <a:latin typeface="Georgia"/>
                        <a:cs typeface="Georgia"/>
                      </a:endParaRPr>
                    </a:p>
                    <a:p>
                      <a:pPr marL="419100" indent="-342900">
                        <a:lnSpc>
                          <a:spcPct val="100000"/>
                        </a:lnSpc>
                        <a:spcBef>
                          <a:spcPts val="1250"/>
                        </a:spcBef>
                        <a:buSzPct val="71428"/>
                        <a:buFont typeface="Symbol"/>
                        <a:buChar char=""/>
                        <a:tabLst>
                          <a:tab pos="419100" algn="l"/>
                          <a:tab pos="419734" algn="l"/>
                        </a:tabLst>
                      </a:pPr>
                      <a:r>
                        <a:rPr sz="1400" spc="-10" dirty="0">
                          <a:latin typeface="Georgia"/>
                          <a:cs typeface="Georgia"/>
                        </a:rPr>
                        <a:t>Inteligencia </a:t>
                      </a:r>
                      <a:r>
                        <a:rPr sz="1400" spc="15" dirty="0">
                          <a:latin typeface="Georgia"/>
                          <a:cs typeface="Georgia"/>
                        </a:rPr>
                        <a:t>de</a:t>
                      </a:r>
                      <a:r>
                        <a:rPr sz="1400" spc="20" dirty="0">
                          <a:latin typeface="Georgia"/>
                          <a:cs typeface="Georgia"/>
                        </a:rPr>
                        <a:t> </a:t>
                      </a:r>
                      <a:r>
                        <a:rPr sz="1400" spc="-5" dirty="0">
                          <a:latin typeface="Georgia"/>
                          <a:cs typeface="Georgia"/>
                        </a:rPr>
                        <a:t>mercados.</a:t>
                      </a:r>
                      <a:endParaRPr sz="1400" dirty="0">
                        <a:latin typeface="Georgia"/>
                        <a:cs typeface="Georgia"/>
                      </a:endParaRPr>
                    </a:p>
                  </a:txBody>
                  <a:tcPr marL="0" marR="0" marT="69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1000" y="1447800"/>
            <a:ext cx="6719825" cy="2505814"/>
          </a:xfrm>
          <a:prstGeom prst="rect">
            <a:avLst/>
          </a:prstGeom>
        </p:spPr>
        <p:txBody>
          <a:bodyPr vert="horz" wrap="square" lIns="0" tIns="12700" rIns="0" bIns="0" rtlCol="0">
            <a:spAutoFit/>
          </a:bodyPr>
          <a:lstStyle/>
          <a:p>
            <a:pPr marL="12700" marR="5080" algn="just">
              <a:lnSpc>
                <a:spcPct val="100000"/>
              </a:lnSpc>
              <a:spcBef>
                <a:spcPts val="100"/>
              </a:spcBef>
            </a:pPr>
            <a:r>
              <a:rPr dirty="0">
                <a:solidFill>
                  <a:schemeClr val="tx1">
                    <a:lumMod val="75000"/>
                    <a:lumOff val="25000"/>
                  </a:schemeClr>
                </a:solidFill>
              </a:rPr>
              <a:t>Luego de identificar los objetivos se deben establecer los medios para logra la  información: entrevista, observación directa, investigación en fuentes secundarias  como gremios, cámara de comercio, Internet etc.</a:t>
            </a:r>
          </a:p>
          <a:p>
            <a:pPr>
              <a:lnSpc>
                <a:spcPct val="100000"/>
              </a:lnSpc>
              <a:spcBef>
                <a:spcPts val="35"/>
              </a:spcBef>
            </a:pPr>
            <a:endParaRPr dirty="0">
              <a:solidFill>
                <a:schemeClr val="tx1">
                  <a:lumMod val="75000"/>
                  <a:lumOff val="25000"/>
                </a:schemeClr>
              </a:solidFill>
            </a:endParaRPr>
          </a:p>
          <a:p>
            <a:pPr marL="12700" marR="5080" algn="just">
              <a:lnSpc>
                <a:spcPct val="100000"/>
              </a:lnSpc>
            </a:pPr>
            <a:r>
              <a:rPr dirty="0">
                <a:solidFill>
                  <a:schemeClr val="tx1">
                    <a:lumMod val="75000"/>
                    <a:lumOff val="25000"/>
                  </a:schemeClr>
                </a:solidFill>
              </a:rPr>
              <a:t>El resultado del análisis de la competencia nos permitirá compararnos con la  competencia y analizar el porqué lo prefieren los clientes, Establecer las   fortalezas y debilidades del competidor.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40789" y="2276932"/>
            <a:ext cx="5648960" cy="1489075"/>
          </a:xfrm>
          <a:prstGeom prst="rect">
            <a:avLst/>
          </a:prstGeom>
        </p:spPr>
        <p:txBody>
          <a:bodyPr vert="horz" wrap="square" lIns="0" tIns="12700" rIns="0" bIns="0" rtlCol="0">
            <a:spAutoFit/>
          </a:bodyPr>
          <a:lstStyle/>
          <a:p>
            <a:pPr marL="12700">
              <a:lnSpc>
                <a:spcPct val="100000"/>
              </a:lnSpc>
              <a:spcBef>
                <a:spcPts val="100"/>
              </a:spcBef>
            </a:pPr>
            <a:r>
              <a:rPr dirty="0"/>
              <a:t>GRACIAS</a:t>
            </a:r>
          </a:p>
        </p:txBody>
      </p:sp>
    </p:spTree>
  </p:cSld>
  <p:clrMapOvr>
    <a:masterClrMapping/>
  </p:clrMapOvr>
</p:sld>
</file>

<file path=ppt/theme/theme1.xml><?xml version="1.0" encoding="utf-8"?>
<a:theme xmlns:a="http://schemas.openxmlformats.org/drawingml/2006/main" name="Faceta">
  <a:themeElements>
    <a:clrScheme name="Marquesina">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0BE99E6FD9E1A46BA88A7920F6AD11C" ma:contentTypeVersion="3" ma:contentTypeDescription="Crear nuevo documento." ma:contentTypeScope="" ma:versionID="1cd865fdc3e5ee9e101d1a0a23d9539f">
  <xsd:schema xmlns:xsd="http://www.w3.org/2001/XMLSchema" xmlns:xs="http://www.w3.org/2001/XMLSchema" xmlns:p="http://schemas.microsoft.com/office/2006/metadata/properties" xmlns:ns2="d4bcf895-01d5-4637-9f93-cfcc952c2b7e" targetNamespace="http://schemas.microsoft.com/office/2006/metadata/properties" ma:root="true" ma:fieldsID="f78ab45fcf82c08f9e3163935ea0d046" ns2:_="">
    <xsd:import namespace="d4bcf895-01d5-4637-9f93-cfcc952c2b7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bcf895-01d5-4637-9f93-cfcc952c2b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AD62817-BCC7-463E-910C-46190645F426}"/>
</file>

<file path=customXml/itemProps2.xml><?xml version="1.0" encoding="utf-8"?>
<ds:datastoreItem xmlns:ds="http://schemas.openxmlformats.org/officeDocument/2006/customXml" ds:itemID="{90769310-A48A-40D1-84F2-2ABC1D224489}"/>
</file>

<file path=customXml/itemProps3.xml><?xml version="1.0" encoding="utf-8"?>
<ds:datastoreItem xmlns:ds="http://schemas.openxmlformats.org/officeDocument/2006/customXml" ds:itemID="{13767024-03B9-4FD6-8D00-54E58E86F5AE}"/>
</file>

<file path=docProps/app.xml><?xml version="1.0" encoding="utf-8"?>
<Properties xmlns="http://schemas.openxmlformats.org/officeDocument/2006/extended-properties" xmlns:vt="http://schemas.openxmlformats.org/officeDocument/2006/docPropsVTypes">
  <Template>Facet</Template>
  <TotalTime>17</TotalTime>
  <Words>410</Words>
  <Application>Microsoft Office PowerPoint</Application>
  <PresentationFormat>Presentación en pantalla (4:3)</PresentationFormat>
  <Paragraphs>38</Paragraphs>
  <Slides>8</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Arial</vt:lpstr>
      <vt:lpstr>Georgia</vt:lpstr>
      <vt:lpstr>Symbol</vt:lpstr>
      <vt:lpstr>Times New Roman</vt:lpstr>
      <vt:lpstr>Trebuchet MS</vt:lpstr>
      <vt:lpstr>Wingdings 3</vt:lpstr>
      <vt:lpstr>Faceta</vt:lpstr>
      <vt:lpstr>Presentación de PowerPoint</vt:lpstr>
      <vt:lpstr>ANÁLISIS DE LA COMPETENCIA </vt:lpstr>
      <vt:lpstr>Presentación de PowerPoint</vt:lpstr>
      <vt:lpstr>Presentación de PowerPoint</vt:lpstr>
      <vt:lpstr>Presentación de PowerPoint</vt:lpstr>
      <vt:lpstr>1. OBJETIVO GENERAL</vt:lpstr>
      <vt:lpstr>Presentación de PowerPoint</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isabel.zabala</dc:creator>
  <cp:lastModifiedBy>Tatiana Sanchez Viana</cp:lastModifiedBy>
  <cp:revision>2</cp:revision>
  <dcterms:created xsi:type="dcterms:W3CDTF">2019-05-07T14:57:41Z</dcterms:created>
  <dcterms:modified xsi:type="dcterms:W3CDTF">2019-05-07T15:15:21Z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2011-08-20T00:00:00Z</vt:filetime>
  </property>
  <property fmtid="{D5CDD505-2E9C-101B-9397-08002B2CF9AE}" pid="3" name="Creator">
    <vt:lpwstr>Microsoft® Office PowerPoint® 2007</vt:lpwstr>
  </property>
  <property fmtid="{D5CDD505-2E9C-101B-9397-08002B2CF9AE}" pid="4" name="LastSaved">
    <vt:filetime>2019-05-07T00:00:00Z</vt:filetime>
  </property>
  <property fmtid="{D5CDD505-2E9C-101B-9397-08002B2CF9AE}" pid="5" name="ContentTypeId">
    <vt:lpwstr>0x010100C0BE99E6FD9E1A46BA88A7920F6AD11C</vt:lpwstr>
  </property>
</Properties>
</file>